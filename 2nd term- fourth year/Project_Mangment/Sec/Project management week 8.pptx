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74" r:id="rId3"/>
    <p:sldId id="262" r:id="rId4"/>
    <p:sldId id="280" r:id="rId5"/>
    <p:sldId id="335" r:id="rId6"/>
    <p:sldId id="336" r:id="rId7"/>
    <p:sldId id="315" r:id="rId8"/>
    <p:sldId id="337" r:id="rId9"/>
    <p:sldId id="338" r:id="rId10"/>
    <p:sldId id="331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06160"/>
    <a:srgbClr val="F7EAE8"/>
    <a:srgbClr val="D15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1BE0-97E1-F031-2479-6634F7AD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8ED07-7E3D-B28F-013B-8F81A3EF3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92254-3230-0F64-0FC3-D487C4D31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3D2C7-5108-32B8-E1C5-F75716C54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0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4/18/2026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4/18/2026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5946D51-0A99-B3CC-2CF1-B95E60F0412D}"/>
              </a:ext>
            </a:extLst>
          </p:cNvPr>
          <p:cNvSpPr txBox="1">
            <a:spLocks/>
          </p:cNvSpPr>
          <p:nvPr/>
        </p:nvSpPr>
        <p:spPr>
          <a:xfrm>
            <a:off x="2838033" y="3200399"/>
            <a:ext cx="6515932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dirty="0">
                <a:solidFill>
                  <a:schemeClr val="tx1"/>
                </a:solidFill>
                <a:cs typeface="Times New Roman" panose="02020603050405020304" pitchFamily="18" charset="0"/>
              </a:rPr>
              <a:t>Software Project Management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AF970A9-D575-5C6C-CA6F-E93ACB862E93}"/>
              </a:ext>
            </a:extLst>
          </p:cNvPr>
          <p:cNvSpPr txBox="1">
            <a:spLocks/>
          </p:cNvSpPr>
          <p:nvPr/>
        </p:nvSpPr>
        <p:spPr>
          <a:xfrm>
            <a:off x="4795865" y="3788065"/>
            <a:ext cx="2600267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00" b="1" dirty="0">
                <a:latin typeface="+mj-lt"/>
                <a:cs typeface="Times New Roman" panose="02020603050405020304" pitchFamily="18" charset="0"/>
              </a:rPr>
              <a:t>Lab 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0806E3-59C7-811F-2028-7D82D45D2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63" y="222127"/>
            <a:ext cx="1397120" cy="1371600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AC8591F7-9237-8199-7A17-4ED94FB45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17" y="222127"/>
            <a:ext cx="1387736" cy="13716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DEF957E-140E-9046-7C6F-FC2849251B03}"/>
              </a:ext>
            </a:extLst>
          </p:cNvPr>
          <p:cNvSpPr txBox="1">
            <a:spLocks/>
          </p:cNvSpPr>
          <p:nvPr/>
        </p:nvSpPr>
        <p:spPr>
          <a:xfrm>
            <a:off x="3527257" y="130687"/>
            <a:ext cx="5137484" cy="15544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76000"/>
              </a:lnSpc>
              <a:spcBef>
                <a:spcPct val="0"/>
              </a:spcBef>
              <a:buNone/>
              <a:defRPr sz="8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Mansoura University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of Computers and Information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Semester- 2025-2026</a:t>
            </a:r>
            <a:br>
              <a:rPr lang="en-US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B4D1B8F-4055-F295-BAB7-1857459EFFC3}"/>
              </a:ext>
            </a:extLst>
          </p:cNvPr>
          <p:cNvSpPr txBox="1">
            <a:spLocks/>
          </p:cNvSpPr>
          <p:nvPr/>
        </p:nvSpPr>
        <p:spPr>
          <a:xfrm>
            <a:off x="4413319" y="4375730"/>
            <a:ext cx="3365358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Basma Yasser</a:t>
            </a:r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5480-5A69-3BEE-9DD2-514BF3E0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A42E-0186-ADCC-0789-877DED59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3800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1758-3E10-E64F-6E28-F94FB08B0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1254421"/>
            <a:ext cx="9601200" cy="3809999"/>
          </a:xfrm>
        </p:spPr>
        <p:txBody>
          <a:bodyPr>
            <a:normAutofit/>
          </a:bodyPr>
          <a:lstStyle/>
          <a:p>
            <a:r>
              <a:rPr lang="en-US" sz="3000" b="1" dirty="0"/>
              <a:t>Program Evaluation and Review Technique PERT.</a:t>
            </a:r>
          </a:p>
        </p:txBody>
      </p:sp>
    </p:spTree>
    <p:extLst>
      <p:ext uri="{BB962C8B-B14F-4D97-AF65-F5344CB8AC3E}">
        <p14:creationId xmlns:p14="http://schemas.microsoft.com/office/powerpoint/2010/main" val="91257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968" y="0"/>
            <a:ext cx="10925804" cy="114238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Program Evaluation and Review Technique PERT</a:t>
            </a:r>
            <a:endParaRPr lang="en-US" sz="3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797AC-2D8C-23AD-5A6D-09C6E962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476" y="1226276"/>
            <a:ext cx="10433198" cy="4899980"/>
          </a:xfrm>
        </p:spPr>
        <p:txBody>
          <a:bodyPr>
            <a:normAutofit/>
          </a:bodyPr>
          <a:lstStyle/>
          <a:p>
            <a:pPr algn="l" rtl="0" fontAlgn="base">
              <a:buFont typeface="Wingdings" panose="05000000000000000000" pitchFamily="2" charset="2"/>
              <a:buChar char="§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In CPM, the time estimates are assumed to be known with certainty. In certain projects like research and development, it is difficult to estimate the time of various activities.​</a:t>
            </a:r>
          </a:p>
          <a:p>
            <a:pPr algn="l" rtl="0" fontAlgn="base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Hence, PERT is used in such projects with a probabilistic method using three-time estimates for an activity, rather than a single estimate.</a:t>
            </a:r>
            <a:endParaRPr 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The three estimates to be obtained for each activity are:</a:t>
            </a:r>
          </a:p>
          <a:p>
            <a:pPr lvl="1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Optimistic Time (o): It is the shortest time taken to complete an activity.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+mj-lt"/>
              </a:rPr>
              <a:t>Most likely Time (m): It is the normal time taken to complete an activity.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+mj-lt"/>
              </a:rPr>
              <a:t>Pessimistic Time (p): It is the longest time taken to complete an activity.</a:t>
            </a:r>
            <a:endParaRPr lang="en-US" sz="2400" dirty="0">
              <a:latin typeface="+mj-lt"/>
            </a:endParaRP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A1E6-94BB-3782-A048-8195EEE0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98C5-FE6A-E9E8-DFB4-35346C70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76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4000" dirty="0"/>
              <a:t>PERT Formula</a:t>
            </a:r>
            <a:endParaRPr lang="en-US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2775F1-8A09-41C0-B822-036570696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0476" y="1311336"/>
                <a:ext cx="10411047" cy="489998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 Task duration is an average of three estimations:​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3400" b="0" i="0" baseline="-2500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 err="1"/>
                  <a:t>t</a:t>
                </a:r>
                <a:r>
                  <a:rPr lang="en-US" sz="2400" baseline="-25000" dirty="0" err="1"/>
                  <a:t>e</a:t>
                </a:r>
                <a:r>
                  <a:rPr lang="en-US" sz="2400" dirty="0"/>
                  <a:t> = expected time of an activity.</a:t>
                </a:r>
              </a:p>
              <a:p>
                <a:r>
                  <a:rPr lang="en-US" sz="2400" dirty="0"/>
                  <a:t>o = optimistic time estimate.</a:t>
                </a:r>
              </a:p>
              <a:p>
                <a:r>
                  <a:rPr lang="en-US" sz="2400" dirty="0"/>
                  <a:t>m = most likely time estimate. </a:t>
                </a:r>
              </a:p>
              <a:p>
                <a:r>
                  <a:rPr lang="en-US" sz="2400" dirty="0"/>
                  <a:t>p = pessimistic time estimate.</a:t>
                </a:r>
                <a:endParaRPr lang="ar-EG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2775F1-8A09-41C0-B822-036570696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0476" y="1311336"/>
                <a:ext cx="10411047" cy="4899980"/>
              </a:xfrm>
              <a:blipFill>
                <a:blip r:embed="rId2"/>
                <a:stretch>
                  <a:fillRect l="-761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51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1FBE-69C1-030C-EDDF-3E782134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D0C8-2717-73E1-1950-DC8BBDB84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76" y="0"/>
            <a:ext cx="9601200" cy="114238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Variance (σ2) and standard deviation (σ)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6474BB-7C20-3797-C29A-E2187C056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0476" y="1311336"/>
                <a:ext cx="10411047" cy="48999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>
                        <a:latin typeface="Cambria Math" panose="02040503050406030204" pitchFamily="18" charset="0"/>
                      </a:rPr>
                      <m:t>Variance</m:t>
                    </m:r>
                    <m:r>
                      <a:rPr lang="en-US" sz="34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340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l-GR" sz="3400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l-GR" sz="3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4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340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num>
                              <m:den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3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400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3100" dirty="0"/>
                      <m:t>standard</m:t>
                    </m:r>
                    <m:r>
                      <m:rPr>
                        <m:nor/>
                      </m:rPr>
                      <a:rPr lang="it-IT" sz="3100" dirty="0"/>
                      <m:t> </m:t>
                    </m:r>
                    <m:r>
                      <m:rPr>
                        <m:nor/>
                      </m:rPr>
                      <a:rPr lang="it-IT" sz="3100" dirty="0"/>
                      <m:t>deviation</m:t>
                    </m:r>
                    <m:r>
                      <m:rPr>
                        <m:nor/>
                      </m:rPr>
                      <a:rPr lang="it-IT" sz="3100" dirty="0"/>
                      <m:t> </m:t>
                    </m:r>
                    <m:r>
                      <m:rPr>
                        <m:nor/>
                      </m:rPr>
                      <a:rPr lang="el-GR" sz="3100" dirty="0"/>
                      <m:t>σ</m:t>
                    </m:r>
                    <m:r>
                      <m:rPr>
                        <m:nor/>
                      </m:rPr>
                      <a:rPr lang="en-US" sz="3100" dirty="0"/>
                      <m:t> </m:t>
                    </m:r>
                    <m:r>
                      <m:rPr>
                        <m:nor/>
                      </m:rPr>
                      <a:rPr lang="en-US" sz="3100" dirty="0"/>
                      <m:t>= </m:t>
                    </m:r>
                    <m:rad>
                      <m:radPr>
                        <m:degHide m:val="on"/>
                        <m:ctrlPr>
                          <a:rPr lang="en-US" sz="3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100" b="0" i="1" dirty="0" smtClean="0">
                            <a:latin typeface="Cambria Math" panose="02040503050406030204" pitchFamily="18" charset="0"/>
                          </a:rPr>
                          <m:t>𝑉𝑎𝑟𝑖𝑎𝑛𝑐𝑒</m:t>
                        </m:r>
                      </m:e>
                    </m:rad>
                  </m:oMath>
                </a14:m>
                <a:r>
                  <a:rPr lang="en-US" sz="2400" dirty="0"/>
                  <a:t>	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6474BB-7C20-3797-C29A-E2187C056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0476" y="1311336"/>
                <a:ext cx="10411047" cy="489998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3884-EE45-E5AC-8B29-0E48AC97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035D-823D-AD77-430B-4058D60E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76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4000" dirty="0"/>
              <a:t>Probability For Project Duration​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98309243-0521-5104-8C38-54CBB3B40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2876" y="1463736"/>
                <a:ext cx="10411047" cy="48999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1793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18288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7938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17938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18288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8012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 The probability of completing the project within the scheduled time (T</a:t>
                </a:r>
                <a:r>
                  <a:rPr lang="en-US" sz="2400" baseline="-25000" dirty="0"/>
                  <a:t>s</a:t>
                </a:r>
                <a:r>
                  <a:rPr lang="en-US" sz="2400" dirty="0"/>
                  <a:t>) is:​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 dirty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340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400" b="0" i="1" baseline="-2500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𝑇𝑒</m:t>
                        </m:r>
                      </m:num>
                      <m:den>
                        <m:r>
                          <m:rPr>
                            <m:nor/>
                          </m:rPr>
                          <a:rPr lang="ar-EG" sz="3400"/>
                          <m:t>σ</m:t>
                        </m:r>
                      </m:den>
                    </m:f>
                  </m:oMath>
                </a14:m>
                <a:endParaRPr lang="en-US" sz="3400" dirty="0"/>
              </a:p>
              <a:p>
                <a:r>
                  <a:rPr lang="en-US" sz="2400" dirty="0"/>
                  <a:t>Expected Time of the project  </a:t>
                </a:r>
                <a:r>
                  <a:rPr lang="en-US" sz="2400" dirty="0" err="1"/>
                  <a:t>T</a:t>
                </a:r>
                <a:r>
                  <a:rPr lang="en-US" sz="2400" baseline="-25000" dirty="0" err="1"/>
                  <a:t>e</a:t>
                </a:r>
                <a:r>
                  <a:rPr lang="en-US" sz="2400" dirty="0"/>
                  <a:t> = sum of the means of the durations for the activities on the mean critical path.</a:t>
                </a:r>
              </a:p>
              <a:p>
                <a:r>
                  <a:rPr lang="en-US" sz="2400" dirty="0"/>
                  <a:t>Variance σ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= sum of the variances of the durations for the activities on the mean critical path​.</a:t>
                </a:r>
                <a:endParaRPr lang="ar-EG" sz="2400" dirty="0"/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98309243-0521-5104-8C38-54CBB3B40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76" y="1463736"/>
                <a:ext cx="10411047" cy="4899980"/>
              </a:xfrm>
              <a:prstGeom prst="rect">
                <a:avLst/>
              </a:prstGeom>
              <a:blipFill>
                <a:blip r:embed="rId2"/>
                <a:stretch>
                  <a:fillRect l="-761" t="-1617" r="-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01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A23A-6942-F320-7E84-25DBAADE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3C37C-A899-7F7C-9E33-11EA53F7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811605"/>
            <a:ext cx="10411047" cy="1314907"/>
          </a:xfrm>
        </p:spPr>
        <p:txBody>
          <a:bodyPr>
            <a:noAutofit/>
          </a:bodyPr>
          <a:lstStyle/>
          <a:p>
            <a:r>
              <a:rPr lang="en-US" sz="2300" dirty="0"/>
              <a:t>Calculate the expected time t per activity.​</a:t>
            </a:r>
          </a:p>
          <a:p>
            <a:r>
              <a:rPr lang="en-US" sz="2300" dirty="0"/>
              <a:t>With the </a:t>
            </a:r>
            <a:r>
              <a:rPr lang="en-US" sz="2300" dirty="0" err="1"/>
              <a:t>t</a:t>
            </a:r>
            <a:r>
              <a:rPr lang="en-US" sz="2300" baseline="-25000" dirty="0" err="1"/>
              <a:t>e</a:t>
            </a:r>
            <a:r>
              <a:rPr lang="en-US" sz="2300" dirty="0"/>
              <a:t> as calculated, draw the network and find the critical path and the expected project duration </a:t>
            </a:r>
            <a:r>
              <a:rPr lang="en-US" sz="2300" dirty="0" err="1"/>
              <a:t>T</a:t>
            </a:r>
            <a:r>
              <a:rPr lang="en-US" sz="2300" baseline="-25000" dirty="0" err="1"/>
              <a:t>e</a:t>
            </a:r>
            <a:r>
              <a:rPr lang="en-US" sz="2300" dirty="0"/>
              <a:t> .​</a:t>
            </a:r>
          </a:p>
          <a:p>
            <a:pPr marL="0" indent="0">
              <a:buNone/>
            </a:pPr>
            <a:endParaRPr lang="en-US" sz="2300" dirty="0"/>
          </a:p>
          <a:p>
            <a:endParaRPr lang="en-US" sz="23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D8AC99-D0D9-EAF1-7A36-442426B5B94B}"/>
              </a:ext>
            </a:extLst>
          </p:cNvPr>
          <p:cNvSpPr txBox="1">
            <a:spLocks/>
          </p:cNvSpPr>
          <p:nvPr/>
        </p:nvSpPr>
        <p:spPr>
          <a:xfrm>
            <a:off x="886968" y="-330780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2E61880-3805-E8C9-1A74-D8573FEA6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615836"/>
              </p:ext>
            </p:extLst>
          </p:nvPr>
        </p:nvGraphicFramePr>
        <p:xfrm>
          <a:off x="886968" y="2156377"/>
          <a:ext cx="10411051" cy="2966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87293">
                  <a:extLst>
                    <a:ext uri="{9D8B030D-6E8A-4147-A177-3AD203B41FA5}">
                      <a16:colId xmlns:a16="http://schemas.microsoft.com/office/drawing/2014/main" val="4166062621"/>
                    </a:ext>
                  </a:extLst>
                </a:gridCol>
                <a:gridCol w="1651639">
                  <a:extLst>
                    <a:ext uri="{9D8B030D-6E8A-4147-A177-3AD203B41FA5}">
                      <a16:colId xmlns:a16="http://schemas.microsoft.com/office/drawing/2014/main" val="43756254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6331492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8598429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627065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55336735"/>
                    </a:ext>
                  </a:extLst>
                </a:gridCol>
                <a:gridCol w="1646019">
                  <a:extLst>
                    <a:ext uri="{9D8B030D-6E8A-4147-A177-3AD203B41FA5}">
                      <a16:colId xmlns:a16="http://schemas.microsoft.com/office/drawing/2014/main" val="4254384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Predecessor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Time (mean) </a:t>
                      </a:r>
                      <a:r>
                        <a:rPr lang="en-US" dirty="0" err="1"/>
                        <a:t>t</a:t>
                      </a:r>
                      <a:r>
                        <a:rPr lang="en-US" baseline="-25000" dirty="0" err="1"/>
                        <a:t>e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46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11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67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88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A,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17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6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C, 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83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02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18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4FC3-C7C9-751E-31F0-5B0C6491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F957EA-52A3-48C7-6492-F9714A51C2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2484" y="961498"/>
                <a:ext cx="3151632" cy="104259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10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3100" baseline="-250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31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31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F957EA-52A3-48C7-6492-F9714A51C2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2484" y="961498"/>
                <a:ext cx="3151632" cy="104259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8A578261-C31F-DE58-56AE-326C49C43A54}"/>
              </a:ext>
            </a:extLst>
          </p:cNvPr>
          <p:cNvSpPr txBox="1">
            <a:spLocks/>
          </p:cNvSpPr>
          <p:nvPr/>
        </p:nvSpPr>
        <p:spPr>
          <a:xfrm>
            <a:off x="886968" y="-330780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71A6F3-028A-2B5C-3D17-CD93940C9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309063"/>
              </p:ext>
            </p:extLst>
          </p:nvPr>
        </p:nvGraphicFramePr>
        <p:xfrm>
          <a:off x="886968" y="2156377"/>
          <a:ext cx="10411051" cy="2966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87293">
                  <a:extLst>
                    <a:ext uri="{9D8B030D-6E8A-4147-A177-3AD203B41FA5}">
                      <a16:colId xmlns:a16="http://schemas.microsoft.com/office/drawing/2014/main" val="4166062621"/>
                    </a:ext>
                  </a:extLst>
                </a:gridCol>
                <a:gridCol w="1651639">
                  <a:extLst>
                    <a:ext uri="{9D8B030D-6E8A-4147-A177-3AD203B41FA5}">
                      <a16:colId xmlns:a16="http://schemas.microsoft.com/office/drawing/2014/main" val="43756254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6331492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8598429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627065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55336735"/>
                    </a:ext>
                  </a:extLst>
                </a:gridCol>
                <a:gridCol w="1646019">
                  <a:extLst>
                    <a:ext uri="{9D8B030D-6E8A-4147-A177-3AD203B41FA5}">
                      <a16:colId xmlns:a16="http://schemas.microsoft.com/office/drawing/2014/main" val="4254384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Predecessor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Time (mean) </a:t>
                      </a:r>
                      <a:r>
                        <a:rPr lang="en-US" dirty="0" err="1"/>
                        <a:t>t</a:t>
                      </a:r>
                      <a:r>
                        <a:rPr lang="en-US" baseline="-25000" dirty="0" err="1"/>
                        <a:t>e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46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11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67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88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A,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17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6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C, 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83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02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56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17DB-6F80-E310-2B89-1CCF5158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CEED88-D0A1-BC59-2D63-46A3911C2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2484" y="961498"/>
                <a:ext cx="3151632" cy="104259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10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3100" baseline="-2500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sz="31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sz="31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31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0CEED88-D0A1-BC59-2D63-46A3911C2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2484" y="961498"/>
                <a:ext cx="3151632" cy="104259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68DA672D-C90E-A062-EC55-A1145505BFFB}"/>
              </a:ext>
            </a:extLst>
          </p:cNvPr>
          <p:cNvSpPr txBox="1">
            <a:spLocks/>
          </p:cNvSpPr>
          <p:nvPr/>
        </p:nvSpPr>
        <p:spPr>
          <a:xfrm>
            <a:off x="886968" y="-330780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D67FC0-6614-8DCA-D983-F6FE9D7FD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48994"/>
              </p:ext>
            </p:extLst>
          </p:nvPr>
        </p:nvGraphicFramePr>
        <p:xfrm>
          <a:off x="886968" y="2156377"/>
          <a:ext cx="10411051" cy="2966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87293">
                  <a:extLst>
                    <a:ext uri="{9D8B030D-6E8A-4147-A177-3AD203B41FA5}">
                      <a16:colId xmlns:a16="http://schemas.microsoft.com/office/drawing/2014/main" val="4166062621"/>
                    </a:ext>
                  </a:extLst>
                </a:gridCol>
                <a:gridCol w="1651639">
                  <a:extLst>
                    <a:ext uri="{9D8B030D-6E8A-4147-A177-3AD203B41FA5}">
                      <a16:colId xmlns:a16="http://schemas.microsoft.com/office/drawing/2014/main" val="43756254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6331492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8598429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627065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55336735"/>
                    </a:ext>
                  </a:extLst>
                </a:gridCol>
                <a:gridCol w="1646019">
                  <a:extLst>
                    <a:ext uri="{9D8B030D-6E8A-4147-A177-3AD203B41FA5}">
                      <a16:colId xmlns:a16="http://schemas.microsoft.com/office/drawing/2014/main" val="4254384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Predecessor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Time (mean) </a:t>
                      </a:r>
                      <a:r>
                        <a:rPr lang="en-US" dirty="0" err="1"/>
                        <a:t>t</a:t>
                      </a:r>
                      <a:r>
                        <a:rPr lang="en-US" baseline="-25000" dirty="0" err="1"/>
                        <a:t>e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46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11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67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88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A,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17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6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C, 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83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02439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3">
                <a:extLst>
                  <a:ext uri="{FF2B5EF4-FFF2-40B4-BE49-F238E27FC236}">
                    <a16:creationId xmlns:a16="http://schemas.microsoft.com/office/drawing/2014/main" id="{360D85E7-0918-D6D6-1921-E31AEA5558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7284" y="961498"/>
                <a:ext cx="5614415" cy="10425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1793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18288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7938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17938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18288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8012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Variance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20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l-GR" sz="3200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l-GR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100" dirty="0"/>
              </a:p>
            </p:txBody>
          </p:sp>
        </mc:Choice>
        <mc:Fallback>
          <p:sp>
            <p:nvSpPr>
              <p:cNvPr id="2" name="Content Placeholder 3">
                <a:extLst>
                  <a:ext uri="{FF2B5EF4-FFF2-40B4-BE49-F238E27FC236}">
                    <a16:creationId xmlns:a16="http://schemas.microsoft.com/office/drawing/2014/main" id="{360D85E7-0918-D6D6-1921-E31AEA555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284" y="961498"/>
                <a:ext cx="5614415" cy="1042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30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9D59-8D4F-F358-A369-B45FFCD8A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818C09C-A37B-7087-8E9A-ABC4D753705A}"/>
              </a:ext>
            </a:extLst>
          </p:cNvPr>
          <p:cNvSpPr txBox="1">
            <a:spLocks/>
          </p:cNvSpPr>
          <p:nvPr/>
        </p:nvSpPr>
        <p:spPr>
          <a:xfrm>
            <a:off x="124968" y="-551402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Forward Pass: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CDB17E9-4AD1-4ABE-A7C6-2DCCF63B40D8}"/>
              </a:ext>
            </a:extLst>
          </p:cNvPr>
          <p:cNvSpPr/>
          <p:nvPr/>
        </p:nvSpPr>
        <p:spPr>
          <a:xfrm>
            <a:off x="2025147" y="1382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201722F-A53E-43A4-8E28-20C27C5494CB}"/>
              </a:ext>
            </a:extLst>
          </p:cNvPr>
          <p:cNvSpPr/>
          <p:nvPr/>
        </p:nvSpPr>
        <p:spPr>
          <a:xfrm>
            <a:off x="4265220" y="1372948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C7EC5FB-FE3E-4142-AC23-48B10ED4C501}"/>
              </a:ext>
            </a:extLst>
          </p:cNvPr>
          <p:cNvSpPr/>
          <p:nvPr/>
        </p:nvSpPr>
        <p:spPr>
          <a:xfrm>
            <a:off x="6499106" y="3440588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64BE752E-1BB5-4E7E-AE4A-B264AB243FC5}"/>
              </a:ext>
            </a:extLst>
          </p:cNvPr>
          <p:cNvSpPr/>
          <p:nvPr/>
        </p:nvSpPr>
        <p:spPr>
          <a:xfrm>
            <a:off x="8859322" y="1382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F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880F09F4-29AF-4CC7-8646-9E49C90B1921}"/>
              </a:ext>
            </a:extLst>
          </p:cNvPr>
          <p:cNvSpPr/>
          <p:nvPr/>
        </p:nvSpPr>
        <p:spPr>
          <a:xfrm>
            <a:off x="9075033" y="3453939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CD7383B-E1A0-40E8-AF46-4F350850F8A7}"/>
              </a:ext>
            </a:extLst>
          </p:cNvPr>
          <p:cNvSpPr/>
          <p:nvPr/>
        </p:nvSpPr>
        <p:spPr>
          <a:xfrm>
            <a:off x="2025146" y="3429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8543F5C-83D1-4690-A2FD-8911F8A799C0}"/>
              </a:ext>
            </a:extLst>
          </p:cNvPr>
          <p:cNvSpPr/>
          <p:nvPr/>
        </p:nvSpPr>
        <p:spPr>
          <a:xfrm>
            <a:off x="4265219" y="3429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D</a:t>
            </a:r>
            <a:endParaRPr lang="ar-EG" sz="20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0768AC1-2BF9-4030-A31F-964DCB18AABF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116967" y="1912035"/>
            <a:ext cx="1148253" cy="21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71861F-39BD-5968-3AD9-09A9F9E17AAE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3116968" y="1921804"/>
            <a:ext cx="1148251" cy="2047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E96569-C4E3-7017-B4E1-116AAB6716BE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116965" y="3968804"/>
            <a:ext cx="1148254" cy="21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BE3811-40BC-5F07-32CE-1B5C7011655F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5357038" y="3968804"/>
            <a:ext cx="1142068" cy="10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43FCFEA-5F01-6071-D6EF-93A3C7A31338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357041" y="1912035"/>
            <a:ext cx="3502281" cy="97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A0514D7-90AE-4390-9A70-A15870F629EF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7590927" y="1921804"/>
            <a:ext cx="1268395" cy="2057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FFEE208-EFD4-DAE6-F93D-2D76DDBBFB90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590927" y="3989444"/>
            <a:ext cx="1484106" cy="35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0CB66A4-B632-0138-F17E-EF869D749EBA}"/>
              </a:ext>
            </a:extLst>
          </p:cNvPr>
          <p:cNvSpPr txBox="1"/>
          <p:nvPr/>
        </p:nvSpPr>
        <p:spPr>
          <a:xfrm>
            <a:off x="2412040" y="201610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0D5D0F-C93C-3199-F134-ACE51B445390}"/>
              </a:ext>
            </a:extLst>
          </p:cNvPr>
          <p:cNvSpPr txBox="1"/>
          <p:nvPr/>
        </p:nvSpPr>
        <p:spPr>
          <a:xfrm>
            <a:off x="2410483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55BBF8-3C9C-6E78-1B47-2232775721DE}"/>
              </a:ext>
            </a:extLst>
          </p:cNvPr>
          <p:cNvSpPr txBox="1"/>
          <p:nvPr/>
        </p:nvSpPr>
        <p:spPr>
          <a:xfrm>
            <a:off x="4576129" y="2016104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CBE153-7B06-FA6A-E799-A5F44256AF55}"/>
              </a:ext>
            </a:extLst>
          </p:cNvPr>
          <p:cNvSpPr txBox="1"/>
          <p:nvPr/>
        </p:nvSpPr>
        <p:spPr>
          <a:xfrm>
            <a:off x="4644370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0FB4D6-CBDF-2EF1-8EBF-014423F74599}"/>
              </a:ext>
            </a:extLst>
          </p:cNvPr>
          <p:cNvSpPr txBox="1"/>
          <p:nvPr/>
        </p:nvSpPr>
        <p:spPr>
          <a:xfrm>
            <a:off x="9241565" y="201610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8599DF-4F55-D718-B4C4-DAED00D1A11D}"/>
              </a:ext>
            </a:extLst>
          </p:cNvPr>
          <p:cNvSpPr txBox="1"/>
          <p:nvPr/>
        </p:nvSpPr>
        <p:spPr>
          <a:xfrm>
            <a:off x="6881349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308963-50DC-C786-A919-377200B69C4E}"/>
              </a:ext>
            </a:extLst>
          </p:cNvPr>
          <p:cNvSpPr txBox="1"/>
          <p:nvPr/>
        </p:nvSpPr>
        <p:spPr>
          <a:xfrm>
            <a:off x="9457276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8B6316-5766-2305-4124-2DC2FA6D9621}"/>
              </a:ext>
            </a:extLst>
          </p:cNvPr>
          <p:cNvSpPr txBox="1"/>
          <p:nvPr/>
        </p:nvSpPr>
        <p:spPr>
          <a:xfrm>
            <a:off x="2053927" y="931526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0        7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1EC158-7CA0-37AF-946B-67B60096645B}"/>
              </a:ext>
            </a:extLst>
          </p:cNvPr>
          <p:cNvSpPr txBox="1"/>
          <p:nvPr/>
        </p:nvSpPr>
        <p:spPr>
          <a:xfrm>
            <a:off x="2053927" y="2984930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0        9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9D6F4-1977-7107-7AA9-5ED0555E35B4}"/>
              </a:ext>
            </a:extLst>
          </p:cNvPr>
          <p:cNvSpPr txBox="1"/>
          <p:nvPr/>
        </p:nvSpPr>
        <p:spPr>
          <a:xfrm>
            <a:off x="4290908" y="926642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7        19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8E39F5-9CC4-7737-ECD4-5FE9D2B8C486}"/>
              </a:ext>
            </a:extLst>
          </p:cNvPr>
          <p:cNvSpPr txBox="1"/>
          <p:nvPr/>
        </p:nvSpPr>
        <p:spPr>
          <a:xfrm>
            <a:off x="4287813" y="2994699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9        17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D93A5D-0E47-48EF-F9C2-758AF9AD3EC2}"/>
              </a:ext>
            </a:extLst>
          </p:cNvPr>
          <p:cNvSpPr txBox="1"/>
          <p:nvPr/>
        </p:nvSpPr>
        <p:spPr>
          <a:xfrm>
            <a:off x="6532117" y="298493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17        26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416142-3698-D652-DAD6-EE69857FA1C2}"/>
              </a:ext>
            </a:extLst>
          </p:cNvPr>
          <p:cNvSpPr txBox="1"/>
          <p:nvPr/>
        </p:nvSpPr>
        <p:spPr>
          <a:xfrm>
            <a:off x="8916886" y="932545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26        32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08C578-0FEA-C7A2-455D-8B7FC5D3542A}"/>
              </a:ext>
            </a:extLst>
          </p:cNvPr>
          <p:cNvSpPr txBox="1"/>
          <p:nvPr/>
        </p:nvSpPr>
        <p:spPr>
          <a:xfrm>
            <a:off x="9103814" y="298493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26        31</a:t>
            </a:r>
          </a:p>
        </p:txBody>
      </p:sp>
    </p:spTree>
    <p:extLst>
      <p:ext uri="{BB962C8B-B14F-4D97-AF65-F5344CB8AC3E}">
        <p14:creationId xmlns:p14="http://schemas.microsoft.com/office/powerpoint/2010/main" val="109340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6" grpId="0"/>
      <p:bldP spid="57" grpId="0"/>
      <p:bldP spid="58" grpId="0"/>
      <p:bldP spid="59" grpId="0"/>
      <p:bldP spid="60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FBD54-3C16-99B5-9BB0-88E3C3C3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7875D9-9AB7-F69A-8C13-1F2E76B8C50D}"/>
              </a:ext>
            </a:extLst>
          </p:cNvPr>
          <p:cNvSpPr txBox="1">
            <a:spLocks/>
          </p:cNvSpPr>
          <p:nvPr/>
        </p:nvSpPr>
        <p:spPr>
          <a:xfrm>
            <a:off x="124968" y="-551402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Backward Pass: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1D78B55-A8D0-6965-F719-E4D8C0EBBCF5}"/>
              </a:ext>
            </a:extLst>
          </p:cNvPr>
          <p:cNvSpPr/>
          <p:nvPr/>
        </p:nvSpPr>
        <p:spPr>
          <a:xfrm>
            <a:off x="2025147" y="1382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03B320C-92EA-7BFD-EEC1-C23888E8784D}"/>
              </a:ext>
            </a:extLst>
          </p:cNvPr>
          <p:cNvSpPr/>
          <p:nvPr/>
        </p:nvSpPr>
        <p:spPr>
          <a:xfrm>
            <a:off x="4265220" y="1372948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5947134-9B5E-2CB7-5994-2F96F4B7CE77}"/>
              </a:ext>
            </a:extLst>
          </p:cNvPr>
          <p:cNvSpPr/>
          <p:nvPr/>
        </p:nvSpPr>
        <p:spPr>
          <a:xfrm>
            <a:off x="6499106" y="3440588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836A0FD-8FAA-261F-C7C3-3272FDE4C2B6}"/>
              </a:ext>
            </a:extLst>
          </p:cNvPr>
          <p:cNvSpPr/>
          <p:nvPr/>
        </p:nvSpPr>
        <p:spPr>
          <a:xfrm>
            <a:off x="8859322" y="1382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F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1F56425A-9EFF-D6C2-9521-936B2E3DACBB}"/>
              </a:ext>
            </a:extLst>
          </p:cNvPr>
          <p:cNvSpPr/>
          <p:nvPr/>
        </p:nvSpPr>
        <p:spPr>
          <a:xfrm>
            <a:off x="9075033" y="3453939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54A47B5C-FC2D-AD9C-7508-CB9FDF305828}"/>
              </a:ext>
            </a:extLst>
          </p:cNvPr>
          <p:cNvSpPr/>
          <p:nvPr/>
        </p:nvSpPr>
        <p:spPr>
          <a:xfrm>
            <a:off x="2025146" y="3429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46BF6A9-5B25-39D4-5B94-CA839B41A57B}"/>
              </a:ext>
            </a:extLst>
          </p:cNvPr>
          <p:cNvSpPr/>
          <p:nvPr/>
        </p:nvSpPr>
        <p:spPr>
          <a:xfrm>
            <a:off x="4265219" y="3429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D</a:t>
            </a:r>
            <a:endParaRPr lang="ar-EG" sz="20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8719B3-1ADA-F081-F566-5432B12601B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116967" y="1912035"/>
            <a:ext cx="1148253" cy="21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9F37961-4682-03F0-F207-A342F54A79E3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3116968" y="1921804"/>
            <a:ext cx="1148251" cy="2047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E44E24-661B-5FE6-3C60-AB2C078ED65F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116965" y="3968804"/>
            <a:ext cx="1148254" cy="21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65CEE6-3C9C-9814-9E25-01BBA34AE6F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5357038" y="3968804"/>
            <a:ext cx="1142068" cy="10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88BEAA1-2E89-09E3-C406-4EBC345DC85B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357041" y="1912035"/>
            <a:ext cx="3502281" cy="97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D8CF27-0D3E-AC8E-89DB-768C36C7CBD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7590927" y="1921804"/>
            <a:ext cx="1268395" cy="2057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18B994E-F212-2025-9D81-F3E49C591832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590927" y="3989444"/>
            <a:ext cx="1484106" cy="35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B633A1E-B1DD-DEBE-6803-198F5067D620}"/>
              </a:ext>
            </a:extLst>
          </p:cNvPr>
          <p:cNvSpPr txBox="1"/>
          <p:nvPr/>
        </p:nvSpPr>
        <p:spPr>
          <a:xfrm>
            <a:off x="2412040" y="201610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A553B6-35D7-DF70-E8DD-40C27FE3783E}"/>
              </a:ext>
            </a:extLst>
          </p:cNvPr>
          <p:cNvSpPr txBox="1"/>
          <p:nvPr/>
        </p:nvSpPr>
        <p:spPr>
          <a:xfrm>
            <a:off x="2410483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7D5E4A-E239-0AD4-8C6D-C5DD7CC372CA}"/>
              </a:ext>
            </a:extLst>
          </p:cNvPr>
          <p:cNvSpPr txBox="1"/>
          <p:nvPr/>
        </p:nvSpPr>
        <p:spPr>
          <a:xfrm>
            <a:off x="4576129" y="2016104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5D4A37-1D73-C584-F057-6CD163431D7D}"/>
              </a:ext>
            </a:extLst>
          </p:cNvPr>
          <p:cNvSpPr txBox="1"/>
          <p:nvPr/>
        </p:nvSpPr>
        <p:spPr>
          <a:xfrm>
            <a:off x="4644370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2EAB5B-FB13-2674-AEB5-B3EE62E67A75}"/>
              </a:ext>
            </a:extLst>
          </p:cNvPr>
          <p:cNvSpPr txBox="1"/>
          <p:nvPr/>
        </p:nvSpPr>
        <p:spPr>
          <a:xfrm>
            <a:off x="9241565" y="201610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EBC81E-44F8-816F-FB25-919AC1555B46}"/>
              </a:ext>
            </a:extLst>
          </p:cNvPr>
          <p:cNvSpPr txBox="1"/>
          <p:nvPr/>
        </p:nvSpPr>
        <p:spPr>
          <a:xfrm>
            <a:off x="6881349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5928C7-4D58-942E-B34F-78156214E9B7}"/>
              </a:ext>
            </a:extLst>
          </p:cNvPr>
          <p:cNvSpPr txBox="1"/>
          <p:nvPr/>
        </p:nvSpPr>
        <p:spPr>
          <a:xfrm>
            <a:off x="9457276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66B835-B28E-3933-1F4F-9D981F37D078}"/>
              </a:ext>
            </a:extLst>
          </p:cNvPr>
          <p:cNvSpPr txBox="1"/>
          <p:nvPr/>
        </p:nvSpPr>
        <p:spPr>
          <a:xfrm>
            <a:off x="2053927" y="931526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0        7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218BD3-C900-6498-3E4D-B6E3905EAE37}"/>
              </a:ext>
            </a:extLst>
          </p:cNvPr>
          <p:cNvSpPr txBox="1"/>
          <p:nvPr/>
        </p:nvSpPr>
        <p:spPr>
          <a:xfrm>
            <a:off x="2053927" y="2984930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0        9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DCDB31-2817-3C6A-296A-A125A59B0D83}"/>
              </a:ext>
            </a:extLst>
          </p:cNvPr>
          <p:cNvSpPr txBox="1"/>
          <p:nvPr/>
        </p:nvSpPr>
        <p:spPr>
          <a:xfrm>
            <a:off x="4290908" y="926642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7        19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56BB31-AC3C-49E9-D556-93C951F38D5C}"/>
              </a:ext>
            </a:extLst>
          </p:cNvPr>
          <p:cNvSpPr txBox="1"/>
          <p:nvPr/>
        </p:nvSpPr>
        <p:spPr>
          <a:xfrm>
            <a:off x="4287813" y="2994699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9        17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59159C-D608-42B4-CC19-BD6C25741B75}"/>
              </a:ext>
            </a:extLst>
          </p:cNvPr>
          <p:cNvSpPr txBox="1"/>
          <p:nvPr/>
        </p:nvSpPr>
        <p:spPr>
          <a:xfrm>
            <a:off x="6532117" y="298493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17        26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87452B-637F-2CEB-A901-91FFBE3D1BF0}"/>
              </a:ext>
            </a:extLst>
          </p:cNvPr>
          <p:cNvSpPr txBox="1"/>
          <p:nvPr/>
        </p:nvSpPr>
        <p:spPr>
          <a:xfrm>
            <a:off x="8916886" y="932545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26        32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E57925-F956-4BF7-164F-29C8F2AF5292}"/>
              </a:ext>
            </a:extLst>
          </p:cNvPr>
          <p:cNvSpPr txBox="1"/>
          <p:nvPr/>
        </p:nvSpPr>
        <p:spPr>
          <a:xfrm>
            <a:off x="9103814" y="298493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26        31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7DF99B-97CB-E8D0-66A9-309B39911297}"/>
              </a:ext>
            </a:extLst>
          </p:cNvPr>
          <p:cNvSpPr txBox="1"/>
          <p:nvPr/>
        </p:nvSpPr>
        <p:spPr>
          <a:xfrm>
            <a:off x="8961147" y="459492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27        32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DA513-5AAD-AAE0-418E-DBAECB39CB90}"/>
              </a:ext>
            </a:extLst>
          </p:cNvPr>
          <p:cNvSpPr txBox="1"/>
          <p:nvPr/>
        </p:nvSpPr>
        <p:spPr>
          <a:xfrm>
            <a:off x="8797480" y="246844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26        32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9ECE0-F970-50F9-2A25-BC4F74CBBD1E}"/>
              </a:ext>
            </a:extLst>
          </p:cNvPr>
          <p:cNvSpPr txBox="1"/>
          <p:nvPr/>
        </p:nvSpPr>
        <p:spPr>
          <a:xfrm>
            <a:off x="6385220" y="457431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17        26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2CA66-246A-B8E6-7C22-4DA06AFB5E3E}"/>
              </a:ext>
            </a:extLst>
          </p:cNvPr>
          <p:cNvSpPr txBox="1"/>
          <p:nvPr/>
        </p:nvSpPr>
        <p:spPr>
          <a:xfrm>
            <a:off x="4219574" y="4555976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9        17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F39B4-5D93-DFDB-2029-E9171E5A63DC}"/>
              </a:ext>
            </a:extLst>
          </p:cNvPr>
          <p:cNvSpPr txBox="1"/>
          <p:nvPr/>
        </p:nvSpPr>
        <p:spPr>
          <a:xfrm>
            <a:off x="4265219" y="251476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14        26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1B492-CCCA-5FF1-3EDE-9A8AB508E6FA}"/>
              </a:ext>
            </a:extLst>
          </p:cNvPr>
          <p:cNvSpPr txBox="1"/>
          <p:nvPr/>
        </p:nvSpPr>
        <p:spPr>
          <a:xfrm>
            <a:off x="2099969" y="2480340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2        9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4CBEB3-01E1-B2D3-0364-D1D4E08232E5}"/>
              </a:ext>
            </a:extLst>
          </p:cNvPr>
          <p:cNvSpPr txBox="1"/>
          <p:nvPr/>
        </p:nvSpPr>
        <p:spPr>
          <a:xfrm>
            <a:off x="2053927" y="4574310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0        9</a:t>
            </a:r>
          </a:p>
        </p:txBody>
      </p:sp>
    </p:spTree>
    <p:extLst>
      <p:ext uri="{BB962C8B-B14F-4D97-AF65-F5344CB8AC3E}">
        <p14:creationId xmlns:p14="http://schemas.microsoft.com/office/powerpoint/2010/main" val="287019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9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DCB0F-EF65-EF97-60F3-8B58AB42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1D0FD79-7DCD-E4BF-4B38-BBB767616FC7}"/>
              </a:ext>
            </a:extLst>
          </p:cNvPr>
          <p:cNvSpPr txBox="1">
            <a:spLocks/>
          </p:cNvSpPr>
          <p:nvPr/>
        </p:nvSpPr>
        <p:spPr>
          <a:xfrm>
            <a:off x="124968" y="-551402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Critical Path: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3C0A2472-E79F-FB6D-3BEB-EC0F4B56A59A}"/>
              </a:ext>
            </a:extLst>
          </p:cNvPr>
          <p:cNvSpPr/>
          <p:nvPr/>
        </p:nvSpPr>
        <p:spPr>
          <a:xfrm>
            <a:off x="2025147" y="1382717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13319A46-B97B-E5B7-66E3-E651D3E67EF1}"/>
              </a:ext>
            </a:extLst>
          </p:cNvPr>
          <p:cNvSpPr/>
          <p:nvPr/>
        </p:nvSpPr>
        <p:spPr>
          <a:xfrm>
            <a:off x="4265220" y="1372948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FF4219C-F310-EDE5-2C33-1F2697503467}"/>
              </a:ext>
            </a:extLst>
          </p:cNvPr>
          <p:cNvSpPr/>
          <p:nvPr/>
        </p:nvSpPr>
        <p:spPr>
          <a:xfrm>
            <a:off x="6499106" y="3440588"/>
            <a:ext cx="1091821" cy="1078174"/>
          </a:xfrm>
          <a:prstGeom prst="flowChartConnector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70C0"/>
                </a:solidFill>
              </a:rPr>
              <a:t>E</a:t>
            </a:r>
            <a:endParaRPr lang="ar-EG" sz="2000" b="1" dirty="0">
              <a:solidFill>
                <a:srgbClr val="0070C0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4E1AEC9-7F9C-42B7-68AF-98AFEE688A19}"/>
              </a:ext>
            </a:extLst>
          </p:cNvPr>
          <p:cNvSpPr/>
          <p:nvPr/>
        </p:nvSpPr>
        <p:spPr>
          <a:xfrm>
            <a:off x="8859322" y="1382717"/>
            <a:ext cx="1091821" cy="1078174"/>
          </a:xfrm>
          <a:prstGeom prst="flowChartConnector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70C0"/>
                </a:solidFill>
              </a:rPr>
              <a:t>F</a:t>
            </a:r>
            <a:endParaRPr lang="ar-EG" sz="2000" b="1" dirty="0">
              <a:solidFill>
                <a:srgbClr val="0070C0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B78D0C2-F0F9-C338-3D0E-27AF5F4D78F4}"/>
              </a:ext>
            </a:extLst>
          </p:cNvPr>
          <p:cNvSpPr/>
          <p:nvPr/>
        </p:nvSpPr>
        <p:spPr>
          <a:xfrm>
            <a:off x="9075033" y="3453939"/>
            <a:ext cx="1091821" cy="1078174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  <a:endParaRPr lang="ar-EG" sz="2000" b="1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2F07002-65C4-2945-EFDE-5AC1FF641711}"/>
              </a:ext>
            </a:extLst>
          </p:cNvPr>
          <p:cNvSpPr/>
          <p:nvPr/>
        </p:nvSpPr>
        <p:spPr>
          <a:xfrm>
            <a:off x="2025146" y="3429717"/>
            <a:ext cx="1091821" cy="1078174"/>
          </a:xfrm>
          <a:prstGeom prst="flowChartConnector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70C0"/>
                </a:solidFill>
              </a:rPr>
              <a:t>B</a:t>
            </a:r>
            <a:endParaRPr lang="ar-EG" sz="2000" b="1" dirty="0">
              <a:solidFill>
                <a:srgbClr val="0070C0"/>
              </a:solidFill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305D8B4-077E-3C9A-1AC8-3ADE35200A8B}"/>
              </a:ext>
            </a:extLst>
          </p:cNvPr>
          <p:cNvSpPr/>
          <p:nvPr/>
        </p:nvSpPr>
        <p:spPr>
          <a:xfrm>
            <a:off x="4265219" y="3429717"/>
            <a:ext cx="1091821" cy="1078174"/>
          </a:xfrm>
          <a:prstGeom prst="flowChartConnector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70C0"/>
                </a:solidFill>
              </a:rPr>
              <a:t>D</a:t>
            </a:r>
            <a:endParaRPr lang="ar-EG" sz="2000" b="1" dirty="0">
              <a:solidFill>
                <a:srgbClr val="0070C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6126B5-8733-C679-1945-BCFBDB64041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3116967" y="1912035"/>
            <a:ext cx="1148253" cy="21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43CAF3-425B-1842-B579-B9E4A74F1BDC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3116968" y="1921804"/>
            <a:ext cx="1148251" cy="2047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0C5D8E-90AF-F9A0-82E0-F7205F606D0E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116965" y="3968804"/>
            <a:ext cx="1148254" cy="21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9D5859-A6E6-3014-F50D-AA75A36FC140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5357038" y="3968804"/>
            <a:ext cx="1142068" cy="10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6D9D23-0B4D-BDDD-C1B6-CEAFAACCFB2A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357041" y="1912035"/>
            <a:ext cx="3502281" cy="97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772FEC0-B2B2-AFB9-D2C7-071086428948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7590927" y="1921804"/>
            <a:ext cx="1268395" cy="20578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154BFB5-067F-A7E5-9674-866E8F4A87CD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590927" y="3989444"/>
            <a:ext cx="1484106" cy="35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2EDEE98-0418-8C76-DBFB-2EE3E2300BF8}"/>
              </a:ext>
            </a:extLst>
          </p:cNvPr>
          <p:cNvSpPr txBox="1"/>
          <p:nvPr/>
        </p:nvSpPr>
        <p:spPr>
          <a:xfrm>
            <a:off x="2412040" y="201610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360B0C-157D-05FE-1822-A4BEA8227EB3}"/>
              </a:ext>
            </a:extLst>
          </p:cNvPr>
          <p:cNvSpPr txBox="1"/>
          <p:nvPr/>
        </p:nvSpPr>
        <p:spPr>
          <a:xfrm>
            <a:off x="2410483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0A8818-2587-6651-E0CB-09D5DAFBD107}"/>
              </a:ext>
            </a:extLst>
          </p:cNvPr>
          <p:cNvSpPr txBox="1"/>
          <p:nvPr/>
        </p:nvSpPr>
        <p:spPr>
          <a:xfrm>
            <a:off x="4576129" y="2016104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0C17C0-D305-E389-F107-667260E5ED2A}"/>
              </a:ext>
            </a:extLst>
          </p:cNvPr>
          <p:cNvSpPr txBox="1"/>
          <p:nvPr/>
        </p:nvSpPr>
        <p:spPr>
          <a:xfrm>
            <a:off x="4644370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86649E-6A79-D8EB-45C2-9DAEBBE0472A}"/>
              </a:ext>
            </a:extLst>
          </p:cNvPr>
          <p:cNvSpPr txBox="1"/>
          <p:nvPr/>
        </p:nvSpPr>
        <p:spPr>
          <a:xfrm>
            <a:off x="9241565" y="201610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180F8C-F91E-4AE8-4DD2-E08087FE9B1F}"/>
              </a:ext>
            </a:extLst>
          </p:cNvPr>
          <p:cNvSpPr txBox="1"/>
          <p:nvPr/>
        </p:nvSpPr>
        <p:spPr>
          <a:xfrm>
            <a:off x="6881349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5F1058-8967-F996-3A4E-09044C6706EC}"/>
              </a:ext>
            </a:extLst>
          </p:cNvPr>
          <p:cNvSpPr txBox="1"/>
          <p:nvPr/>
        </p:nvSpPr>
        <p:spPr>
          <a:xfrm>
            <a:off x="9457276" y="410778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4295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ED72-9C12-F5B9-65D8-A5DA7157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DDB844-E7A9-716A-05F8-619356FADA43}"/>
              </a:ext>
            </a:extLst>
          </p:cNvPr>
          <p:cNvSpPr txBox="1">
            <a:spLocks/>
          </p:cNvSpPr>
          <p:nvPr/>
        </p:nvSpPr>
        <p:spPr>
          <a:xfrm>
            <a:off x="886968" y="-330780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73679D-770C-84F9-F8C8-1E0CB9E85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52682"/>
              </p:ext>
            </p:extLst>
          </p:nvPr>
        </p:nvGraphicFramePr>
        <p:xfrm>
          <a:off x="886968" y="1229276"/>
          <a:ext cx="10411051" cy="4028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87293">
                  <a:extLst>
                    <a:ext uri="{9D8B030D-6E8A-4147-A177-3AD203B41FA5}">
                      <a16:colId xmlns:a16="http://schemas.microsoft.com/office/drawing/2014/main" val="4166062621"/>
                    </a:ext>
                  </a:extLst>
                </a:gridCol>
                <a:gridCol w="1651639">
                  <a:extLst>
                    <a:ext uri="{9D8B030D-6E8A-4147-A177-3AD203B41FA5}">
                      <a16:colId xmlns:a16="http://schemas.microsoft.com/office/drawing/2014/main" val="43756254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6331492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8598429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627065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55336735"/>
                    </a:ext>
                  </a:extLst>
                </a:gridCol>
                <a:gridCol w="1646019">
                  <a:extLst>
                    <a:ext uri="{9D8B030D-6E8A-4147-A177-3AD203B41FA5}">
                      <a16:colId xmlns:a16="http://schemas.microsoft.com/office/drawing/2014/main" val="4254384865"/>
                    </a:ext>
                  </a:extLst>
                </a:gridCol>
              </a:tblGrid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Predecessor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Time (mean) </a:t>
                      </a:r>
                      <a:r>
                        <a:rPr lang="en-US" dirty="0" err="1"/>
                        <a:t>t</a:t>
                      </a:r>
                      <a:r>
                        <a:rPr lang="en-US" baseline="-25000" dirty="0" err="1"/>
                        <a:t>e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461425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111922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2.777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672240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883497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A,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175536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2.777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669200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C, 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836672"/>
                  </a:ext>
                </a:extLst>
              </a:tr>
              <a:tr h="503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02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10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F15B-E4A6-4A96-B4DD-2BDF3561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F12A-37F3-79CD-9DD3-A98BEC7F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76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4000" dirty="0"/>
              <a:t>Probability For Project Duration​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6F90856-EA7E-C932-C1FB-5C713F4588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2876" y="1463736"/>
                <a:ext cx="10411047" cy="48999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1793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18288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7938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600200" indent="-17938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828800" indent="-18288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8012" indent="0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 The probability of completing the project within the scheduled time (T</a:t>
                </a:r>
                <a:r>
                  <a:rPr lang="en-US" sz="2400" baseline="-25000" dirty="0"/>
                  <a:t>s</a:t>
                </a:r>
                <a:r>
                  <a:rPr lang="en-US" sz="2400" dirty="0"/>
                  <a:t>) is:​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 dirty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340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400" b="0" i="1" baseline="-2500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𝑇𝑒</m:t>
                        </m:r>
                      </m:num>
                      <m:den>
                        <m:r>
                          <m:rPr>
                            <m:nor/>
                          </m:rPr>
                          <a:rPr lang="ar-EG" sz="3400"/>
                          <m:t>σ</m:t>
                        </m:r>
                      </m:den>
                    </m:f>
                  </m:oMath>
                </a14:m>
                <a:endParaRPr lang="en-US" sz="3400" dirty="0"/>
              </a:p>
              <a:p>
                <a:r>
                  <a:rPr lang="en-US" sz="2400" dirty="0"/>
                  <a:t>Expected Time of the project  </a:t>
                </a:r>
                <a:r>
                  <a:rPr lang="en-US" sz="2400" dirty="0" err="1"/>
                  <a:t>T</a:t>
                </a:r>
                <a:r>
                  <a:rPr lang="en-US" sz="2400" baseline="-25000" dirty="0" err="1"/>
                  <a:t>e</a:t>
                </a:r>
                <a:r>
                  <a:rPr lang="en-US" sz="2400" dirty="0"/>
                  <a:t> = sum of the means of the durations for the activities on the mean critical path.</a:t>
                </a:r>
              </a:p>
              <a:p>
                <a:r>
                  <a:rPr lang="en-US" sz="2400" dirty="0"/>
                  <a:t>Variance σ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= sum of the variances of the durations for the activities on the mean critical path​.</a:t>
                </a:r>
                <a:endParaRPr lang="ar-EG" sz="2400" dirty="0"/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86F90856-EA7E-C932-C1FB-5C713F458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76" y="1463736"/>
                <a:ext cx="10411047" cy="4899980"/>
              </a:xfrm>
              <a:prstGeom prst="rect">
                <a:avLst/>
              </a:prstGeom>
              <a:blipFill>
                <a:blip r:embed="rId2"/>
                <a:stretch>
                  <a:fillRect l="-761" t="-1617" r="-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31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B289-988A-F2D6-EF5A-5BD4EFE2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FA2A574-6BFD-CC9B-7FE4-59462D9BBA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968" y="811605"/>
                <a:ext cx="10411047" cy="5347895"/>
              </a:xfrm>
            </p:spPr>
            <p:txBody>
              <a:bodyPr>
                <a:noAutofit/>
              </a:bodyPr>
              <a:lstStyle/>
              <a:p>
                <a:r>
                  <a:rPr lang="en-US" sz="2500" dirty="0"/>
                  <a:t>T</a:t>
                </a:r>
                <a:r>
                  <a:rPr lang="en-US" sz="2500" baseline="-25000" dirty="0" err="1"/>
                  <a:t>e</a:t>
                </a:r>
                <a:r>
                  <a:rPr lang="en-US" sz="2500" baseline="-25000" dirty="0"/>
                  <a:t> </a:t>
                </a:r>
                <a:r>
                  <a:rPr lang="en-US" sz="2500" dirty="0"/>
                  <a:t>​= 9 + 8 + 9 + 6 = </a:t>
                </a:r>
                <a:r>
                  <a:rPr lang="en-US" sz="2500" b="1" dirty="0"/>
                  <a:t>32</a:t>
                </a:r>
                <a:r>
                  <a:rPr lang="en-US" sz="2500" dirty="0"/>
                  <a:t> (the total of </a:t>
                </a:r>
                <a:r>
                  <a:rPr lang="en-US" sz="2500" dirty="0" err="1"/>
                  <a:t>t</a:t>
                </a:r>
                <a:r>
                  <a:rPr lang="en-US" sz="2500" baseline="-25000" dirty="0" err="1"/>
                  <a:t>e</a:t>
                </a:r>
                <a:r>
                  <a:rPr lang="en-US" sz="2500" dirty="0"/>
                  <a:t> for activities on the Critical Path).</a:t>
                </a:r>
              </a:p>
              <a:p>
                <a:r>
                  <a:rPr lang="en-US" sz="2500" dirty="0"/>
                  <a:t>Variance of the Critical Path = 2.777 + 1.777 + 2.777 + 1= </a:t>
                </a:r>
                <a:r>
                  <a:rPr lang="en-US" sz="2500" b="1" dirty="0"/>
                  <a:t>8.331​</a:t>
                </a:r>
                <a:r>
                  <a:rPr lang="en-US" sz="2500" dirty="0"/>
                  <a:t>.​</a:t>
                </a:r>
              </a:p>
              <a:p>
                <a:r>
                  <a:rPr lang="en-US" sz="2500" dirty="0"/>
                  <a:t>Standard Deviation (SD)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2500" dirty="0"/>
                          <m:t>8.331</m:t>
                        </m:r>
                      </m:e>
                    </m:rad>
                  </m:oMath>
                </a14:m>
                <a:r>
                  <a:rPr lang="en-US" sz="2500" dirty="0"/>
                  <a:t> = </a:t>
                </a:r>
                <a:r>
                  <a:rPr lang="en-US" sz="2500" b="1" dirty="0"/>
                  <a:t>2.886</a:t>
                </a:r>
                <a:r>
                  <a:rPr lang="en-US" sz="2500" dirty="0"/>
                  <a:t>​.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500"/>
                  </a:spcBef>
                  <a:buNone/>
                </a:pPr>
                <a:r>
                  <a:rPr lang="en-US" sz="2800" dirty="0">
                    <a:solidFill>
                      <a:schemeClr val="accent1">
                        <a:lumMod val="75000"/>
                      </a:schemeClr>
                    </a:solidFill>
                  </a:rPr>
                  <a:t>Determine the probability that the project will be completed in less than 35 weeks.</a:t>
                </a:r>
                <a:endParaRPr lang="en-US" sz="2800" dirty="0"/>
              </a:p>
              <a:p>
                <a:pPr marL="137160">
                  <a:lnSpc>
                    <a:spcPct val="100000"/>
                  </a:lnSpc>
                  <a:spcBef>
                    <a:spcPts val="1500"/>
                  </a:spcBef>
                </a:pPr>
                <a:r>
                  <a:rPr lang="pl-PL" sz="2500" dirty="0"/>
                  <a:t>T</a:t>
                </a:r>
                <a:r>
                  <a:rPr lang="pl-PL" sz="2500" baseline="-25000" dirty="0"/>
                  <a:t>s</a:t>
                </a:r>
                <a:r>
                  <a:rPr lang="pl-PL" sz="2500" dirty="0"/>
                  <a:t> =</a:t>
                </a:r>
                <a:r>
                  <a:rPr lang="en-US" sz="2500" dirty="0"/>
                  <a:t> </a:t>
                </a:r>
                <a:r>
                  <a:rPr lang="pl-PL" sz="2500" dirty="0"/>
                  <a:t>35​</a:t>
                </a:r>
                <a:r>
                  <a:rPr lang="en-US" sz="2500" dirty="0"/>
                  <a:t>, </a:t>
                </a:r>
                <a:r>
                  <a:rPr lang="pl-PL" sz="2500" dirty="0"/>
                  <a:t>T</a:t>
                </a:r>
                <a:r>
                  <a:rPr lang="pl-PL" sz="2500" baseline="-25000" dirty="0"/>
                  <a:t>e</a:t>
                </a:r>
                <a:r>
                  <a:rPr lang="pl-PL" sz="2500" dirty="0"/>
                  <a:t> = 32​</a:t>
                </a:r>
                <a:r>
                  <a:rPr lang="en-US" sz="2500" dirty="0"/>
                  <a:t>, </a:t>
                </a:r>
                <a:r>
                  <a:rPr lang="pl-PL" sz="2500" dirty="0"/>
                  <a:t>σ</a:t>
                </a:r>
                <a:r>
                  <a:rPr lang="en-US" sz="2500" dirty="0"/>
                  <a:t> </a:t>
                </a:r>
                <a:r>
                  <a:rPr lang="pl-PL" sz="2500" dirty="0"/>
                  <a:t>=</a:t>
                </a:r>
                <a:r>
                  <a:rPr lang="en-US" sz="2500" dirty="0"/>
                  <a:t> </a:t>
                </a:r>
                <a:r>
                  <a:rPr lang="pl-PL" sz="2500" dirty="0"/>
                  <a:t>2.886​</a:t>
                </a:r>
              </a:p>
              <a:p>
                <a:r>
                  <a:rPr lang="pl-PL" sz="2500" dirty="0"/>
                  <a:t>Z</a:t>
                </a:r>
                <a:r>
                  <a:rPr lang="en-US" sz="2500" dirty="0"/>
                  <a:t> </a:t>
                </a:r>
                <a:r>
                  <a:rPr lang="pl-PL" sz="2500" dirty="0"/>
                  <a:t>=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886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endParaRPr lang="pl-PL" sz="2500" dirty="0"/>
              </a:p>
              <a:p>
                <a:r>
                  <a:rPr lang="pl-PL" sz="2500" dirty="0"/>
                  <a:t>P(z &lt; 1.04)</a:t>
                </a:r>
                <a:r>
                  <a:rPr lang="en-US" sz="2500" dirty="0"/>
                  <a:t> </a:t>
                </a:r>
                <a:r>
                  <a:rPr lang="pl-PL" sz="2500" dirty="0"/>
                  <a:t>=​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FA2A574-6BFD-CC9B-7FE4-59462D9BB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968" y="811605"/>
                <a:ext cx="10411047" cy="5347895"/>
              </a:xfrm>
              <a:blipFill>
                <a:blip r:embed="rId2"/>
                <a:stretch>
                  <a:fillRect l="-1230" t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F6126279-A83B-E961-3D83-195FCB26C5FB}"/>
              </a:ext>
            </a:extLst>
          </p:cNvPr>
          <p:cNvSpPr txBox="1">
            <a:spLocks/>
          </p:cNvSpPr>
          <p:nvPr/>
        </p:nvSpPr>
        <p:spPr>
          <a:xfrm>
            <a:off x="886968" y="-330780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74C040-9262-7774-8713-7C2F55FA6C0A}"/>
                  </a:ext>
                </a:extLst>
              </p:cNvPr>
              <p:cNvSpPr txBox="1"/>
              <p:nvPr/>
            </p:nvSpPr>
            <p:spPr>
              <a:xfrm>
                <a:off x="8108670" y="3314700"/>
                <a:ext cx="2379498" cy="958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dirty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3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3000" i="1" baseline="-2500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𝑇𝑒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ar-EG" sz="3000"/>
                            <m:t>σ</m:t>
                          </m:r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74C040-9262-7774-8713-7C2F55FA6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670" y="3314700"/>
                <a:ext cx="2379498" cy="958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07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C7CC-931B-300C-522F-55CB083A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FD2B68-6F7E-F2FF-B11D-C5155CBA9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50"/>
          <a:stretch>
            <a:fillRect/>
          </a:stretch>
        </p:blipFill>
        <p:spPr bwMode="auto">
          <a:xfrm>
            <a:off x="2057400" y="119062"/>
            <a:ext cx="8077200" cy="584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20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74DA-1614-F22E-0163-97A5AB04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7E4C68-1D8D-8259-C233-BA01A7A19B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6968" y="811605"/>
                <a:ext cx="10411047" cy="5347895"/>
              </a:xfrm>
            </p:spPr>
            <p:txBody>
              <a:bodyPr>
                <a:noAutofit/>
              </a:bodyPr>
              <a:lstStyle/>
              <a:p>
                <a:r>
                  <a:rPr lang="en-US" sz="2500" dirty="0"/>
                  <a:t>T</a:t>
                </a:r>
                <a:r>
                  <a:rPr lang="en-US" sz="2500" baseline="-25000" dirty="0" err="1"/>
                  <a:t>e</a:t>
                </a:r>
                <a:r>
                  <a:rPr lang="en-US" sz="2500" baseline="-25000" dirty="0"/>
                  <a:t> </a:t>
                </a:r>
                <a:r>
                  <a:rPr lang="en-US" sz="2500" dirty="0"/>
                  <a:t>​= 9 + 8 + 9 + 6 = </a:t>
                </a:r>
                <a:r>
                  <a:rPr lang="en-US" sz="2500" b="1" dirty="0"/>
                  <a:t>32</a:t>
                </a:r>
                <a:r>
                  <a:rPr lang="en-US" sz="2500" dirty="0"/>
                  <a:t> (the total of </a:t>
                </a:r>
                <a:r>
                  <a:rPr lang="en-US" sz="2500" dirty="0" err="1"/>
                  <a:t>t</a:t>
                </a:r>
                <a:r>
                  <a:rPr lang="en-US" sz="2500" baseline="-25000" dirty="0" err="1"/>
                  <a:t>e</a:t>
                </a:r>
                <a:r>
                  <a:rPr lang="en-US" sz="2500" dirty="0"/>
                  <a:t> for activities on the Critical Path).</a:t>
                </a:r>
              </a:p>
              <a:p>
                <a:r>
                  <a:rPr lang="en-US" sz="2500" dirty="0"/>
                  <a:t>Variance of the Critical Path = 2.777 + 1.777 + 2.777 + 1= </a:t>
                </a:r>
                <a:r>
                  <a:rPr lang="en-US" sz="2500" b="1" dirty="0"/>
                  <a:t>8.331​</a:t>
                </a:r>
                <a:r>
                  <a:rPr lang="en-US" sz="2500" dirty="0"/>
                  <a:t>.​</a:t>
                </a:r>
              </a:p>
              <a:p>
                <a:r>
                  <a:rPr lang="en-US" sz="2500" dirty="0"/>
                  <a:t>Standard Deviation (SD)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2500" dirty="0"/>
                          <m:t>8.331</m:t>
                        </m:r>
                      </m:e>
                    </m:rad>
                  </m:oMath>
                </a14:m>
                <a:r>
                  <a:rPr lang="en-US" sz="2500" dirty="0"/>
                  <a:t> = </a:t>
                </a:r>
                <a:r>
                  <a:rPr lang="en-US" sz="2500" b="1" dirty="0"/>
                  <a:t>2.886</a:t>
                </a:r>
                <a:r>
                  <a:rPr lang="en-US" sz="2500" dirty="0"/>
                  <a:t>​.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500"/>
                  </a:spcBef>
                  <a:buNone/>
                </a:pPr>
                <a:r>
                  <a:rPr lang="en-US" sz="2800" dirty="0">
                    <a:solidFill>
                      <a:schemeClr val="accent1">
                        <a:lumMod val="75000"/>
                      </a:schemeClr>
                    </a:solidFill>
                  </a:rPr>
                  <a:t>Determine the probability that the project will be completed in less than 35 weeks.</a:t>
                </a:r>
                <a:endParaRPr lang="en-US" sz="2800" dirty="0"/>
              </a:p>
              <a:p>
                <a:pPr marL="137160">
                  <a:lnSpc>
                    <a:spcPct val="100000"/>
                  </a:lnSpc>
                  <a:spcBef>
                    <a:spcPts val="1500"/>
                  </a:spcBef>
                </a:pPr>
                <a:r>
                  <a:rPr lang="pl-PL" sz="2500" dirty="0"/>
                  <a:t>T</a:t>
                </a:r>
                <a:r>
                  <a:rPr lang="pl-PL" sz="2500" baseline="-25000" dirty="0"/>
                  <a:t>s</a:t>
                </a:r>
                <a:r>
                  <a:rPr lang="pl-PL" sz="2500" dirty="0"/>
                  <a:t> =</a:t>
                </a:r>
                <a:r>
                  <a:rPr lang="en-US" sz="2500" dirty="0"/>
                  <a:t> </a:t>
                </a:r>
                <a:r>
                  <a:rPr lang="pl-PL" sz="2500" dirty="0"/>
                  <a:t>35​</a:t>
                </a:r>
                <a:r>
                  <a:rPr lang="en-US" sz="2500" dirty="0"/>
                  <a:t>, </a:t>
                </a:r>
                <a:r>
                  <a:rPr lang="pl-PL" sz="2500" dirty="0"/>
                  <a:t>T</a:t>
                </a:r>
                <a:r>
                  <a:rPr lang="pl-PL" sz="2500" baseline="-25000" dirty="0"/>
                  <a:t>e</a:t>
                </a:r>
                <a:r>
                  <a:rPr lang="pl-PL" sz="2500" dirty="0"/>
                  <a:t> = 32​</a:t>
                </a:r>
                <a:r>
                  <a:rPr lang="en-US" sz="2500" dirty="0"/>
                  <a:t>, </a:t>
                </a:r>
                <a:r>
                  <a:rPr lang="pl-PL" sz="2500" dirty="0"/>
                  <a:t>σ</a:t>
                </a:r>
                <a:r>
                  <a:rPr lang="en-US" sz="2500" dirty="0"/>
                  <a:t> </a:t>
                </a:r>
                <a:r>
                  <a:rPr lang="pl-PL" sz="2500" dirty="0"/>
                  <a:t>=</a:t>
                </a:r>
                <a:r>
                  <a:rPr lang="en-US" sz="2500" dirty="0"/>
                  <a:t> </a:t>
                </a:r>
                <a:r>
                  <a:rPr lang="pl-PL" sz="2500" dirty="0"/>
                  <a:t>2.886​</a:t>
                </a:r>
              </a:p>
              <a:p>
                <a:r>
                  <a:rPr lang="pl-PL" sz="2500" dirty="0"/>
                  <a:t>Z</a:t>
                </a:r>
                <a:r>
                  <a:rPr lang="en-US" sz="2500" dirty="0"/>
                  <a:t> </a:t>
                </a:r>
                <a:r>
                  <a:rPr lang="pl-PL" sz="2500" dirty="0"/>
                  <a:t>=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886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endParaRPr lang="pl-PL" sz="2500" dirty="0"/>
              </a:p>
              <a:p>
                <a:r>
                  <a:rPr lang="pl-PL" sz="2500" dirty="0"/>
                  <a:t>P(z &lt; 1.04)</a:t>
                </a:r>
                <a:r>
                  <a:rPr lang="en-US" sz="2500" dirty="0"/>
                  <a:t> </a:t>
                </a:r>
                <a:r>
                  <a:rPr lang="pl-PL" sz="2500" dirty="0"/>
                  <a:t>=​</a:t>
                </a:r>
                <a:r>
                  <a:rPr lang="en-US" sz="2500" dirty="0"/>
                  <a:t> 0.8508 = 85.08%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7E4C68-1D8D-8259-C233-BA01A7A19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968" y="811605"/>
                <a:ext cx="10411047" cy="5347895"/>
              </a:xfrm>
              <a:blipFill>
                <a:blip r:embed="rId2"/>
                <a:stretch>
                  <a:fillRect l="-1230" t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B9BF64EF-6AF5-FEC5-15FD-D60EAA6411EE}"/>
              </a:ext>
            </a:extLst>
          </p:cNvPr>
          <p:cNvSpPr txBox="1">
            <a:spLocks/>
          </p:cNvSpPr>
          <p:nvPr/>
        </p:nvSpPr>
        <p:spPr>
          <a:xfrm>
            <a:off x="886968" y="-330780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4EBD06-34C3-C3A9-749F-5D431A11C95C}"/>
                  </a:ext>
                </a:extLst>
              </p:cNvPr>
              <p:cNvSpPr txBox="1"/>
              <p:nvPr/>
            </p:nvSpPr>
            <p:spPr>
              <a:xfrm>
                <a:off x="8108670" y="3314700"/>
                <a:ext cx="2379498" cy="958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dirty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3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3000" i="1" baseline="-2500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𝑇𝑒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ar-EG" sz="3000"/>
                            <m:t>σ</m:t>
                          </m:r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4EBD06-34C3-C3A9-749F-5D431A11C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670" y="3314700"/>
                <a:ext cx="2379498" cy="9581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21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D127-9033-C54D-4703-E59324792629}"/>
              </a:ext>
            </a:extLst>
          </p:cNvPr>
          <p:cNvSpPr txBox="1">
            <a:spLocks/>
          </p:cNvSpPr>
          <p:nvPr/>
        </p:nvSpPr>
        <p:spPr>
          <a:xfrm>
            <a:off x="2792529" y="2857807"/>
            <a:ext cx="6606941" cy="11423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15431</TotalTime>
  <Words>956</Words>
  <Application>Microsoft Office PowerPoint</Application>
  <PresentationFormat>Widescreen</PresentationFormat>
  <Paragraphs>334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Times New Roman</vt:lpstr>
      <vt:lpstr>Wingdings</vt:lpstr>
      <vt:lpstr>Diamond Grid 16x9</vt:lpstr>
      <vt:lpstr>PowerPoint Presentation</vt:lpstr>
      <vt:lpstr>Outlines</vt:lpstr>
      <vt:lpstr>Program Evaluation and Review Technique PERT</vt:lpstr>
      <vt:lpstr>PERT Formula</vt:lpstr>
      <vt:lpstr>Variance (σ2) and standard deviation (σ)</vt:lpstr>
      <vt:lpstr>Probability For Project Duration​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Probability For Project Duration​</vt:lpstr>
      <vt:lpstr>PowerPoint Presentation</vt:lpstr>
      <vt:lpstr>PowerPoint Presentation</vt:lpstr>
      <vt:lpstr>PowerPoint Presentation</vt:lpstr>
      <vt:lpstr>PowerPoint Presentation</vt:lpstr>
    </vt:vector>
  </TitlesOfParts>
  <Company>Ahmed-Under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basma yasser mohamed</dc:creator>
  <cp:lastModifiedBy>basma yasser mohamed</cp:lastModifiedBy>
  <cp:revision>124</cp:revision>
  <dcterms:created xsi:type="dcterms:W3CDTF">2026-02-13T09:00:52Z</dcterms:created>
  <dcterms:modified xsi:type="dcterms:W3CDTF">2026-04-23T22:28:15Z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