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handoutMasterIdLst>
    <p:handoutMasterId r:id="rId14"/>
  </p:handoutMasterIdLst>
  <p:sldIdLst>
    <p:sldId id="257" r:id="rId2"/>
    <p:sldId id="274" r:id="rId3"/>
    <p:sldId id="262" r:id="rId4"/>
    <p:sldId id="280" r:id="rId5"/>
    <p:sldId id="315" r:id="rId6"/>
    <p:sldId id="331" r:id="rId7"/>
    <p:sldId id="332" r:id="rId8"/>
    <p:sldId id="333" r:id="rId9"/>
    <p:sldId id="316" r:id="rId10"/>
    <p:sldId id="334"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6160"/>
    <a:srgbClr val="F7EAE8"/>
    <a:srgbClr val="0000FF"/>
    <a:srgbClr val="D15A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6" autoAdjust="0"/>
  </p:normalViewPr>
  <p:slideViewPr>
    <p:cSldViewPr snapToGrid="0">
      <p:cViewPr varScale="1">
        <p:scale>
          <a:sx n="60" d="100"/>
          <a:sy n="60" d="100"/>
        </p:scale>
        <p:origin x="908" y="6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1</a:t>
            </a:fld>
            <a:endParaRPr lang="en-US"/>
          </a:p>
        </p:txBody>
      </p:sp>
    </p:spTree>
    <p:extLst>
      <p:ext uri="{BB962C8B-B14F-4D97-AF65-F5344CB8AC3E}">
        <p14:creationId xmlns:p14="http://schemas.microsoft.com/office/powerpoint/2010/main" val="1980303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01BE0-97E1-F031-2479-6634F7AD5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8ED07-7E3D-B28F-013B-8F81A3EF3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92254-3230-0F64-0FC3-D487C4D318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63D2C7-5108-32B8-E1C5-F75716C547C7}"/>
              </a:ext>
            </a:extLst>
          </p:cNvPr>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3672802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3/27/2026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3/27/2026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3/27/2026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3/27/2026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3/27/2026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3/27/2026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3/27/2026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3/27/2026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3/27/2026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5946D51-0A99-B3CC-2CF1-B95E60F0412D}"/>
              </a:ext>
            </a:extLst>
          </p:cNvPr>
          <p:cNvSpPr txBox="1">
            <a:spLocks/>
          </p:cNvSpPr>
          <p:nvPr/>
        </p:nvSpPr>
        <p:spPr>
          <a:xfrm>
            <a:off x="2838033" y="3200399"/>
            <a:ext cx="6515932" cy="45720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2600" dirty="0">
                <a:solidFill>
                  <a:schemeClr val="tx1"/>
                </a:solidFill>
                <a:cs typeface="Times New Roman" panose="02020603050405020304" pitchFamily="18" charset="0"/>
              </a:rPr>
              <a:t>Software Project Management</a:t>
            </a:r>
          </a:p>
        </p:txBody>
      </p:sp>
      <p:sp>
        <p:nvSpPr>
          <p:cNvPr id="10" name="Subtitle 2">
            <a:extLst>
              <a:ext uri="{FF2B5EF4-FFF2-40B4-BE49-F238E27FC236}">
                <a16:creationId xmlns:a16="http://schemas.microsoft.com/office/drawing/2014/main" id="{9AF970A9-D575-5C6C-CA6F-E93ACB862E93}"/>
              </a:ext>
            </a:extLst>
          </p:cNvPr>
          <p:cNvSpPr txBox="1">
            <a:spLocks/>
          </p:cNvSpPr>
          <p:nvPr/>
        </p:nvSpPr>
        <p:spPr>
          <a:xfrm>
            <a:off x="4795865" y="3788065"/>
            <a:ext cx="2600267" cy="4572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0"/>
              </a:spcBef>
              <a:buClr>
                <a:schemeClr val="accent1">
                  <a:lumMod val="75000"/>
                </a:schemeClr>
              </a:buClr>
              <a:buSzPct val="100000"/>
              <a:buFont typeface="Arial" pitchFamily="34" charset="0"/>
              <a:buNone/>
              <a:defRPr sz="2000" b="0" kern="1200">
                <a:solidFill>
                  <a:schemeClr val="accent1">
                    <a:lumMod val="75000"/>
                  </a:schemeClr>
                </a:solidFill>
                <a:latin typeface="+mn-lt"/>
                <a:ea typeface="+mn-ea"/>
                <a:cs typeface="+mn-cs"/>
              </a:defRPr>
            </a:lvl1pPr>
            <a:lvl2pPr marL="457200" indent="0" algn="ctr" defTabSz="914400" rtl="0" eaLnBrk="1" latinLnBrk="0" hangingPunct="1">
              <a:lnSpc>
                <a:spcPct val="90000"/>
              </a:lnSpc>
              <a:spcBef>
                <a:spcPts val="1200"/>
              </a:spcBef>
              <a:buClr>
                <a:schemeClr val="accent1">
                  <a:lumMod val="75000"/>
                </a:schemeClr>
              </a:buClr>
              <a:buSzPct val="100000"/>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800"/>
              </a:spcBef>
              <a:buClr>
                <a:schemeClr val="accent1">
                  <a:lumMod val="75000"/>
                </a:schemeClr>
              </a:buClr>
              <a:buSzPct val="100000"/>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800"/>
              </a:spcBef>
              <a:buClr>
                <a:schemeClr val="accent1">
                  <a:lumMod val="75000"/>
                </a:schemeClr>
              </a:buClr>
              <a:buSzPct val="100000"/>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600"/>
              </a:spcBef>
              <a:buClr>
                <a:schemeClr val="accent1">
                  <a:lumMod val="75000"/>
                </a:schemeClr>
              </a:buClr>
              <a:buSzPct val="100000"/>
              <a:buFont typeface="Arial" pitchFamily="34" charset="0"/>
              <a:buNone/>
              <a:defRPr sz="1600" kern="1200">
                <a:solidFill>
                  <a:schemeClr val="tx1"/>
                </a:solidFill>
                <a:latin typeface="+mn-lt"/>
                <a:ea typeface="+mn-ea"/>
                <a:cs typeface="+mn-cs"/>
              </a:defRPr>
            </a:lvl9pPr>
          </a:lstStyle>
          <a:p>
            <a:pPr algn="ctr"/>
            <a:r>
              <a:rPr lang="en-US" sz="2600" b="1" dirty="0">
                <a:latin typeface="+mj-lt"/>
                <a:cs typeface="Times New Roman" panose="02020603050405020304" pitchFamily="18" charset="0"/>
              </a:rPr>
              <a:t>Lab 6</a:t>
            </a:r>
          </a:p>
        </p:txBody>
      </p:sp>
      <p:pic>
        <p:nvPicPr>
          <p:cNvPr id="11" name="Picture 10">
            <a:extLst>
              <a:ext uri="{FF2B5EF4-FFF2-40B4-BE49-F238E27FC236}">
                <a16:creationId xmlns:a16="http://schemas.microsoft.com/office/drawing/2014/main" id="{930806E3-59C7-811F-2028-7D82D45D2469}"/>
              </a:ext>
            </a:extLst>
          </p:cNvPr>
          <p:cNvPicPr>
            <a:picLocks noChangeAspect="1"/>
          </p:cNvPicPr>
          <p:nvPr/>
        </p:nvPicPr>
        <p:blipFill>
          <a:blip r:embed="rId3"/>
          <a:stretch>
            <a:fillRect/>
          </a:stretch>
        </p:blipFill>
        <p:spPr>
          <a:xfrm>
            <a:off x="9724663" y="222127"/>
            <a:ext cx="1397120" cy="1371600"/>
          </a:xfrm>
          <a:prstGeom prst="rect">
            <a:avLst/>
          </a:prstGeom>
        </p:spPr>
      </p:pic>
      <p:pic>
        <p:nvPicPr>
          <p:cNvPr id="12" name="Picture 11" descr="Logo&#10;&#10;Description automatically generated">
            <a:extLst>
              <a:ext uri="{FF2B5EF4-FFF2-40B4-BE49-F238E27FC236}">
                <a16:creationId xmlns:a16="http://schemas.microsoft.com/office/drawing/2014/main" id="{AC8591F7-9237-8199-7A17-4ED94FB45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0217" y="222127"/>
            <a:ext cx="1387736" cy="1371600"/>
          </a:xfrm>
          <a:prstGeom prst="rect">
            <a:avLst/>
          </a:prstGeom>
        </p:spPr>
      </p:pic>
      <p:sp>
        <p:nvSpPr>
          <p:cNvPr id="13" name="Title 1">
            <a:extLst>
              <a:ext uri="{FF2B5EF4-FFF2-40B4-BE49-F238E27FC236}">
                <a16:creationId xmlns:a16="http://schemas.microsoft.com/office/drawing/2014/main" id="{EDEF957E-140E-9046-7C6F-FC2849251B03}"/>
              </a:ext>
            </a:extLst>
          </p:cNvPr>
          <p:cNvSpPr txBox="1">
            <a:spLocks/>
          </p:cNvSpPr>
          <p:nvPr/>
        </p:nvSpPr>
        <p:spPr>
          <a:xfrm>
            <a:off x="3527257" y="130687"/>
            <a:ext cx="5137484" cy="1554480"/>
          </a:xfrm>
          <a:prstGeom prst="rect">
            <a:avLst/>
          </a:prstGeom>
        </p:spPr>
        <p:txBody>
          <a:bodyPr vert="horz" lIns="91440" tIns="45720" rIns="91440" bIns="45720" rtlCol="0" anchor="b">
            <a:normAutofit fontScale="97500"/>
          </a:bodyPr>
          <a:lstStyle>
            <a:lvl1pPr algn="l" defTabSz="914400" rtl="0" eaLnBrk="1" latinLnBrk="0" hangingPunct="1">
              <a:lnSpc>
                <a:spcPct val="76000"/>
              </a:lnSpc>
              <a:spcBef>
                <a:spcPct val="0"/>
              </a:spcBef>
              <a:buNone/>
              <a:defRPr sz="8000" b="1" kern="1200" cap="none" baseline="0">
                <a:solidFill>
                  <a:schemeClr val="tx1"/>
                </a:solidFill>
                <a:latin typeface="+mj-lt"/>
                <a:ea typeface="+mj-ea"/>
                <a:cs typeface="+mj-cs"/>
              </a:defRPr>
            </a:lvl1pPr>
          </a:lstStyle>
          <a:p>
            <a:pPr algn="ctr" eaLnBrk="0" fontAlgn="base" hangingPunct="0">
              <a:spcAft>
                <a:spcPct val="0"/>
              </a:spcAft>
            </a:pPr>
            <a:r>
              <a:rPr lang="en-US" altLang="en-US" sz="2000" dirty="0">
                <a:latin typeface="Times New Roman" panose="02020603050405020304" pitchFamily="18" charset="0"/>
                <a:cs typeface="Times New Roman" panose="02020603050405020304" pitchFamily="18" charset="0"/>
              </a:rPr>
              <a:t>Mansoura University</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 Faculty of Computers and Information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Department of Computer Science</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Second Semester- 2025-2026</a:t>
            </a:r>
            <a:br>
              <a:rPr lang="en-US" altLang="en-US" sz="2000" dirty="0">
                <a:latin typeface="Times New Roman" panose="02020603050405020304" pitchFamily="18" charset="0"/>
                <a:ea typeface="Calibri" panose="020F0502020204030204" pitchFamily="34"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14" name="Subtitle 2">
            <a:extLst>
              <a:ext uri="{FF2B5EF4-FFF2-40B4-BE49-F238E27FC236}">
                <a16:creationId xmlns:a16="http://schemas.microsoft.com/office/drawing/2014/main" id="{8B4D1B8F-4055-F295-BAB7-1857459EFFC3}"/>
              </a:ext>
            </a:extLst>
          </p:cNvPr>
          <p:cNvSpPr txBox="1">
            <a:spLocks/>
          </p:cNvSpPr>
          <p:nvPr/>
        </p:nvSpPr>
        <p:spPr>
          <a:xfrm>
            <a:off x="4413319" y="4375730"/>
            <a:ext cx="3365358"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spcBef>
                <a:spcPts val="0"/>
              </a:spcBef>
              <a:buNone/>
            </a:pPr>
            <a:r>
              <a:rPr lang="en-US" sz="2600" b="1" dirty="0">
                <a:solidFill>
                  <a:schemeClr val="accent1">
                    <a:lumMod val="75000"/>
                  </a:schemeClr>
                </a:solidFill>
                <a:latin typeface="+mj-lt"/>
                <a:cs typeface="Times New Roman" panose="02020603050405020304" pitchFamily="18" charset="0"/>
              </a:rPr>
              <a:t>Basma Yasser</a:t>
            </a:r>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55480-5A69-3BEE-9DD2-514BF3E09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8A42E-0186-ADCC-0789-877DED59C4B0}"/>
              </a:ext>
            </a:extLst>
          </p:cNvPr>
          <p:cNvSpPr>
            <a:spLocks noGrp="1"/>
          </p:cNvSpPr>
          <p:nvPr>
            <p:ph type="title"/>
          </p:nvPr>
        </p:nvSpPr>
        <p:spPr>
          <a:xfrm>
            <a:off x="886968" y="0"/>
            <a:ext cx="9601200" cy="1142385"/>
          </a:xfrm>
        </p:spPr>
        <p:txBody>
          <a:bodyPr>
            <a:normAutofit/>
          </a:bodyPr>
          <a:lstStyle/>
          <a:p>
            <a:r>
              <a:rPr lang="en-US" sz="3800" dirty="0"/>
              <a:t>Outlines</a:t>
            </a:r>
          </a:p>
        </p:txBody>
      </p:sp>
      <p:sp>
        <p:nvSpPr>
          <p:cNvPr id="3" name="Content Placeholder 2">
            <a:extLst>
              <a:ext uri="{FF2B5EF4-FFF2-40B4-BE49-F238E27FC236}">
                <a16:creationId xmlns:a16="http://schemas.microsoft.com/office/drawing/2014/main" id="{26281758-3E10-E64F-6E28-F94FB08B091B}"/>
              </a:ext>
            </a:extLst>
          </p:cNvPr>
          <p:cNvSpPr>
            <a:spLocks noGrp="1"/>
          </p:cNvSpPr>
          <p:nvPr>
            <p:ph idx="1"/>
          </p:nvPr>
        </p:nvSpPr>
        <p:spPr>
          <a:xfrm>
            <a:off x="886968" y="1254421"/>
            <a:ext cx="9601200" cy="3809999"/>
          </a:xfrm>
        </p:spPr>
        <p:txBody>
          <a:bodyPr>
            <a:normAutofit/>
          </a:bodyPr>
          <a:lstStyle/>
          <a:p>
            <a:r>
              <a:rPr lang="en-US" sz="3000" b="1" dirty="0"/>
              <a:t>Techniques to Assess Value and Risks.</a:t>
            </a:r>
          </a:p>
          <a:p>
            <a:r>
              <a:rPr lang="en-US" sz="3000" b="1" dirty="0"/>
              <a:t>Score Matrix.</a:t>
            </a:r>
          </a:p>
          <a:p>
            <a:r>
              <a:rPr lang="en-US" sz="3000" b="1" dirty="0"/>
              <a:t>SWOT Analysis.</a:t>
            </a:r>
          </a:p>
        </p:txBody>
      </p:sp>
    </p:spTree>
    <p:extLst>
      <p:ext uri="{BB962C8B-B14F-4D97-AF65-F5344CB8AC3E}">
        <p14:creationId xmlns:p14="http://schemas.microsoft.com/office/powerpoint/2010/main" val="912570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0"/>
            <a:ext cx="9601200" cy="1142385"/>
          </a:xfrm>
        </p:spPr>
        <p:txBody>
          <a:bodyPr>
            <a:normAutofit/>
          </a:bodyPr>
          <a:lstStyle/>
          <a:p>
            <a:r>
              <a:rPr lang="en-US" sz="4000" dirty="0"/>
              <a:t>Techniques to Assess Value and Risks</a:t>
            </a:r>
            <a:endParaRPr lang="en-US" sz="3800" dirty="0"/>
          </a:p>
        </p:txBody>
      </p:sp>
      <p:sp>
        <p:nvSpPr>
          <p:cNvPr id="4" name="Content Placeholder 3">
            <a:extLst>
              <a:ext uri="{FF2B5EF4-FFF2-40B4-BE49-F238E27FC236}">
                <a16:creationId xmlns:a16="http://schemas.microsoft.com/office/drawing/2014/main" id="{EF6797AC-2D8C-23AD-5A6D-09C6E962DE8C}"/>
              </a:ext>
            </a:extLst>
          </p:cNvPr>
          <p:cNvSpPr>
            <a:spLocks noGrp="1"/>
          </p:cNvSpPr>
          <p:nvPr>
            <p:ph idx="1"/>
          </p:nvPr>
        </p:nvSpPr>
        <p:spPr>
          <a:xfrm>
            <a:off x="890476" y="1226276"/>
            <a:ext cx="10433198" cy="4899980"/>
          </a:xfrm>
        </p:spPr>
        <p:txBody>
          <a:bodyPr>
            <a:normAutofit/>
          </a:bodyPr>
          <a:lstStyle/>
          <a:p>
            <a:pPr algn="l" rtl="0" fontAlgn="base">
              <a:buFont typeface="Wingdings" panose="05000000000000000000" pitchFamily="2" charset="2"/>
              <a:buChar char="§"/>
            </a:pPr>
            <a:r>
              <a:rPr lang="en-US" sz="2400" b="0" i="0" u="none" strike="noStrike" dirty="0">
                <a:solidFill>
                  <a:srgbClr val="000000"/>
                </a:solidFill>
                <a:effectLst/>
                <a:latin typeface="+mj-lt"/>
              </a:rPr>
              <a:t>Diﬀerent techniques are available to assess the value and risk generated by a project. Some are based on </a:t>
            </a:r>
            <a:r>
              <a:rPr lang="en-US" sz="2400" b="1" u="none" strike="noStrike" dirty="0">
                <a:solidFill>
                  <a:schemeClr val="accent1">
                    <a:lumMod val="75000"/>
                  </a:schemeClr>
                </a:solidFill>
                <a:effectLst/>
                <a:latin typeface="+mj-lt"/>
              </a:rPr>
              <a:t>ﬁnancial</a:t>
            </a:r>
            <a:r>
              <a:rPr lang="en-US" sz="2400" b="0" i="0" u="none" strike="noStrike" dirty="0">
                <a:solidFill>
                  <a:srgbClr val="000000"/>
                </a:solidFill>
                <a:effectLst/>
                <a:latin typeface="+mj-lt"/>
              </a:rPr>
              <a:t> considerations, while others are more </a:t>
            </a:r>
            <a:r>
              <a:rPr lang="en-US" sz="2400" b="1" u="none" strike="noStrike" dirty="0">
                <a:solidFill>
                  <a:schemeClr val="accent1">
                    <a:lumMod val="75000"/>
                  </a:schemeClr>
                </a:solidFill>
                <a:effectLst/>
                <a:latin typeface="+mj-lt"/>
              </a:rPr>
              <a:t>qualitative</a:t>
            </a:r>
            <a:r>
              <a:rPr lang="en-US" sz="2400" b="0" i="0" u="none" strike="noStrike" dirty="0">
                <a:solidFill>
                  <a:srgbClr val="000000"/>
                </a:solidFill>
                <a:effectLst/>
                <a:latin typeface="+mj-lt"/>
              </a:rPr>
              <a:t>. </a:t>
            </a:r>
            <a:r>
              <a:rPr lang="en-US" sz="2400" dirty="0">
                <a:solidFill>
                  <a:srgbClr val="000000"/>
                </a:solidFill>
                <a:latin typeface="+mj-lt"/>
              </a:rPr>
              <a:t>Next, </a:t>
            </a:r>
            <a:r>
              <a:rPr lang="en-US" sz="2400" b="0" i="0" u="none" strike="noStrike" dirty="0">
                <a:solidFill>
                  <a:srgbClr val="000000"/>
                </a:solidFill>
                <a:effectLst/>
                <a:latin typeface="+mj-lt"/>
              </a:rPr>
              <a:t>we present some of the most used techniques.</a:t>
            </a:r>
            <a:r>
              <a:rPr lang="en-US" sz="2800" b="0" i="0" dirty="0">
                <a:solidFill>
                  <a:srgbClr val="000000"/>
                </a:solidFill>
                <a:effectLst/>
                <a:latin typeface="Gill Sans MT" panose="020B0502020104020203" pitchFamily="34" charset="0"/>
              </a:rPr>
              <a:t>​</a:t>
            </a:r>
            <a:endParaRPr lang="en-US" sz="2800" b="0" i="0" dirty="0">
              <a:solidFill>
                <a:srgbClr val="000000"/>
              </a:solidFill>
              <a:effectLst/>
              <a:latin typeface="Arial" panose="020B0604020202020204" pitchFamily="34" charset="0"/>
            </a:endParaRPr>
          </a:p>
          <a:p>
            <a:pPr marL="514350" indent="-514350">
              <a:buFont typeface="+mj-lt"/>
              <a:buAutoNum type="arabicPeriod"/>
            </a:pPr>
            <a:r>
              <a:rPr lang="en-US" sz="2800" b="1" dirty="0">
                <a:solidFill>
                  <a:schemeClr val="accent1">
                    <a:lumMod val="75000"/>
                  </a:schemeClr>
                </a:solidFill>
              </a:rPr>
              <a:t>Qualitative Methods:</a:t>
            </a:r>
          </a:p>
          <a:p>
            <a:pPr lvl="1"/>
            <a:r>
              <a:rPr lang="en-US" sz="2400" b="0" i="0" u="none" strike="noStrike" dirty="0">
                <a:solidFill>
                  <a:srgbClr val="000000"/>
                </a:solidFill>
                <a:effectLst/>
                <a:latin typeface="+mj-lt"/>
              </a:rPr>
              <a:t>Score Matrix, and SWOT Analysis.</a:t>
            </a:r>
            <a:endParaRPr lang="en-US" sz="2400" dirty="0">
              <a:latin typeface="+mj-lt"/>
            </a:endParaRPr>
          </a:p>
          <a:p>
            <a:endParaRPr lang="en-US" sz="2800" dirty="0"/>
          </a:p>
          <a:p>
            <a:endParaRPr lang="en-US" sz="2800" dirty="0"/>
          </a:p>
          <a:p>
            <a:endParaRPr lang="en-US" sz="2800" dirty="0"/>
          </a:p>
        </p:txBody>
      </p:sp>
    </p:spTree>
    <p:extLst>
      <p:ext uri="{BB962C8B-B14F-4D97-AF65-F5344CB8AC3E}">
        <p14:creationId xmlns:p14="http://schemas.microsoft.com/office/powerpoint/2010/main" val="1476019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4A1E6-94BB-3782-A048-8195EEE05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698C5-FE6A-E9E8-DFB4-35346C706FE1}"/>
              </a:ext>
            </a:extLst>
          </p:cNvPr>
          <p:cNvSpPr>
            <a:spLocks noGrp="1"/>
          </p:cNvSpPr>
          <p:nvPr>
            <p:ph type="title"/>
          </p:nvPr>
        </p:nvSpPr>
        <p:spPr>
          <a:xfrm>
            <a:off x="890476" y="0"/>
            <a:ext cx="9601200" cy="1142385"/>
          </a:xfrm>
        </p:spPr>
        <p:txBody>
          <a:bodyPr>
            <a:normAutofit/>
          </a:bodyPr>
          <a:lstStyle/>
          <a:p>
            <a:r>
              <a:rPr lang="en-US" sz="4000" dirty="0"/>
              <a:t>Score Matrix</a:t>
            </a:r>
            <a:endParaRPr lang="en-US" sz="3800" dirty="0"/>
          </a:p>
        </p:txBody>
      </p:sp>
      <p:sp>
        <p:nvSpPr>
          <p:cNvPr id="4" name="Content Placeholder 3">
            <a:extLst>
              <a:ext uri="{FF2B5EF4-FFF2-40B4-BE49-F238E27FC236}">
                <a16:creationId xmlns:a16="http://schemas.microsoft.com/office/drawing/2014/main" id="{BF2775F1-8A09-41C0-B822-036570696C73}"/>
              </a:ext>
            </a:extLst>
          </p:cNvPr>
          <p:cNvSpPr>
            <a:spLocks noGrp="1"/>
          </p:cNvSpPr>
          <p:nvPr>
            <p:ph idx="1"/>
          </p:nvPr>
        </p:nvSpPr>
        <p:spPr>
          <a:xfrm>
            <a:off x="890476" y="1311336"/>
            <a:ext cx="10411047" cy="4899980"/>
          </a:xfrm>
        </p:spPr>
        <p:txBody>
          <a:bodyPr>
            <a:normAutofit/>
          </a:bodyPr>
          <a:lstStyle/>
          <a:p>
            <a:r>
              <a:rPr lang="en-US" sz="2400" dirty="0"/>
              <a:t> A score matrix is used to measure a project along several dimensions and assign it a value.​</a:t>
            </a:r>
          </a:p>
          <a:p>
            <a:r>
              <a:rPr lang="en-US" sz="2400" dirty="0"/>
              <a:t>A score matrix is a list of project criteria, each of which is assigned a weight, which measures the importance the criteria have for us, or for the organization we work for.</a:t>
            </a:r>
            <a:r>
              <a:rPr lang="en-US" sz="2800" dirty="0"/>
              <a:t>​</a:t>
            </a:r>
          </a:p>
          <a:p>
            <a:r>
              <a:rPr lang="en-US" sz="2400" dirty="0"/>
              <a:t>The weights of desirable features are positive numbers (e.g., from 1 to 5) and the weights of undesirable features are negative numbers(e.g., from −1 to −5).</a:t>
            </a:r>
          </a:p>
        </p:txBody>
      </p:sp>
    </p:spTree>
    <p:extLst>
      <p:ext uri="{BB962C8B-B14F-4D97-AF65-F5344CB8AC3E}">
        <p14:creationId xmlns:p14="http://schemas.microsoft.com/office/powerpoint/2010/main" val="763514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A23A-6942-F320-7E84-25DBAADEF62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ED3C37C-A899-7F7C-9E33-11EA53F71D04}"/>
              </a:ext>
            </a:extLst>
          </p:cNvPr>
          <p:cNvSpPr>
            <a:spLocks noGrp="1"/>
          </p:cNvSpPr>
          <p:nvPr>
            <p:ph idx="1"/>
          </p:nvPr>
        </p:nvSpPr>
        <p:spPr>
          <a:xfrm>
            <a:off x="886968" y="1733681"/>
            <a:ext cx="10411047" cy="456027"/>
          </a:xfrm>
        </p:spPr>
        <p:txBody>
          <a:bodyPr>
            <a:noAutofit/>
          </a:bodyPr>
          <a:lstStyle/>
          <a:p>
            <a:pPr marL="0" indent="0">
              <a:buNone/>
            </a:pPr>
            <a:r>
              <a:rPr lang="en-US" sz="2300" dirty="0"/>
              <a:t>The starting point is a list of criteria and weights.​</a:t>
            </a:r>
          </a:p>
          <a:p>
            <a:pPr marL="0" indent="0">
              <a:buNone/>
            </a:pPr>
            <a:endParaRPr lang="en-US" sz="2300" dirty="0"/>
          </a:p>
          <a:p>
            <a:endParaRPr lang="en-US" sz="2300" dirty="0"/>
          </a:p>
        </p:txBody>
      </p:sp>
      <p:sp>
        <p:nvSpPr>
          <p:cNvPr id="6" name="Title 1">
            <a:extLst>
              <a:ext uri="{FF2B5EF4-FFF2-40B4-BE49-F238E27FC236}">
                <a16:creationId xmlns:a16="http://schemas.microsoft.com/office/drawing/2014/main" id="{498757D4-FC2D-4809-B980-712AA9E076AA}"/>
              </a:ext>
            </a:extLst>
          </p:cNvPr>
          <p:cNvSpPr>
            <a:spLocks noGrp="1"/>
          </p:cNvSpPr>
          <p:nvPr>
            <p:ph type="title"/>
          </p:nvPr>
        </p:nvSpPr>
        <p:spPr>
          <a:xfrm>
            <a:off x="886968" y="0"/>
            <a:ext cx="9601200" cy="1142385"/>
          </a:xfrm>
        </p:spPr>
        <p:txBody>
          <a:bodyPr>
            <a:normAutofit/>
          </a:bodyPr>
          <a:lstStyle/>
          <a:p>
            <a:r>
              <a:rPr lang="en-US" sz="4000" dirty="0"/>
              <a:t>Score Matrix</a:t>
            </a:r>
            <a:endParaRPr lang="en-US" sz="3800" dirty="0"/>
          </a:p>
        </p:txBody>
      </p:sp>
      <p:sp>
        <p:nvSpPr>
          <p:cNvPr id="7" name="Title 1">
            <a:extLst>
              <a:ext uri="{FF2B5EF4-FFF2-40B4-BE49-F238E27FC236}">
                <a16:creationId xmlns:a16="http://schemas.microsoft.com/office/drawing/2014/main" id="{26D8AC99-D0D9-EAF1-7A36-442426B5B94B}"/>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a:t>
            </a:r>
          </a:p>
        </p:txBody>
      </p:sp>
      <p:graphicFrame>
        <p:nvGraphicFramePr>
          <p:cNvPr id="8" name="Table 7">
            <a:extLst>
              <a:ext uri="{FF2B5EF4-FFF2-40B4-BE49-F238E27FC236}">
                <a16:creationId xmlns:a16="http://schemas.microsoft.com/office/drawing/2014/main" id="{72876E9C-3E47-5BB2-8A47-1F1C3371C9BD}"/>
              </a:ext>
            </a:extLst>
          </p:cNvPr>
          <p:cNvGraphicFramePr>
            <a:graphicFrameLocks noGrp="1"/>
          </p:cNvGraphicFramePr>
          <p:nvPr>
            <p:extLst>
              <p:ext uri="{D42A27DB-BD31-4B8C-83A1-F6EECF244321}">
                <p14:modId xmlns:p14="http://schemas.microsoft.com/office/powerpoint/2010/main" val="1829096430"/>
              </p:ext>
            </p:extLst>
          </p:nvPr>
        </p:nvGraphicFramePr>
        <p:xfrm>
          <a:off x="1634310" y="2424229"/>
          <a:ext cx="8923379" cy="3474720"/>
        </p:xfrm>
        <a:graphic>
          <a:graphicData uri="http://schemas.openxmlformats.org/drawingml/2006/table">
            <a:tbl>
              <a:tblPr firstRow="1" bandRow="1">
                <a:tableStyleId>{B301B821-A1FF-4177-AEE7-76D212191A09}</a:tableStyleId>
              </a:tblPr>
              <a:tblGrid>
                <a:gridCol w="1606207">
                  <a:extLst>
                    <a:ext uri="{9D8B030D-6E8A-4147-A177-3AD203B41FA5}">
                      <a16:colId xmlns:a16="http://schemas.microsoft.com/office/drawing/2014/main" val="638438743"/>
                    </a:ext>
                  </a:extLst>
                </a:gridCol>
                <a:gridCol w="1795307">
                  <a:extLst>
                    <a:ext uri="{9D8B030D-6E8A-4147-A177-3AD203B41FA5}">
                      <a16:colId xmlns:a16="http://schemas.microsoft.com/office/drawing/2014/main" val="711821203"/>
                    </a:ext>
                  </a:extLst>
                </a:gridCol>
                <a:gridCol w="993343">
                  <a:extLst>
                    <a:ext uri="{9D8B030D-6E8A-4147-A177-3AD203B41FA5}">
                      <a16:colId xmlns:a16="http://schemas.microsoft.com/office/drawing/2014/main" val="3341800028"/>
                    </a:ext>
                  </a:extLst>
                </a:gridCol>
                <a:gridCol w="909598">
                  <a:extLst>
                    <a:ext uri="{9D8B030D-6E8A-4147-A177-3AD203B41FA5}">
                      <a16:colId xmlns:a16="http://schemas.microsoft.com/office/drawing/2014/main" val="1287793908"/>
                    </a:ext>
                  </a:extLst>
                </a:gridCol>
                <a:gridCol w="904731">
                  <a:extLst>
                    <a:ext uri="{9D8B030D-6E8A-4147-A177-3AD203B41FA5}">
                      <a16:colId xmlns:a16="http://schemas.microsoft.com/office/drawing/2014/main" val="3602661042"/>
                    </a:ext>
                  </a:extLst>
                </a:gridCol>
                <a:gridCol w="904731">
                  <a:extLst>
                    <a:ext uri="{9D8B030D-6E8A-4147-A177-3AD203B41FA5}">
                      <a16:colId xmlns:a16="http://schemas.microsoft.com/office/drawing/2014/main" val="3790710213"/>
                    </a:ext>
                  </a:extLst>
                </a:gridCol>
                <a:gridCol w="904731">
                  <a:extLst>
                    <a:ext uri="{9D8B030D-6E8A-4147-A177-3AD203B41FA5}">
                      <a16:colId xmlns:a16="http://schemas.microsoft.com/office/drawing/2014/main" val="1998664288"/>
                    </a:ext>
                  </a:extLst>
                </a:gridCol>
                <a:gridCol w="904731">
                  <a:extLst>
                    <a:ext uri="{9D8B030D-6E8A-4147-A177-3AD203B41FA5}">
                      <a16:colId xmlns:a16="http://schemas.microsoft.com/office/drawing/2014/main" val="3504896125"/>
                    </a:ext>
                  </a:extLst>
                </a:gridCol>
              </a:tblGrid>
              <a:tr h="373445">
                <a:tc gridSpan="8">
                  <a:txBody>
                    <a:bodyPr/>
                    <a:lstStyle/>
                    <a:p>
                      <a:pPr algn="ctr"/>
                      <a:r>
                        <a:rPr lang="en-US" sz="2000" b="1" dirty="0"/>
                        <a:t>Score Matrix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8101082"/>
                  </a:ext>
                </a:extLst>
              </a:tr>
              <a:tr h="315992">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a:r>
                        <a:rPr lang="en-US" sz="1600" b="1" dirty="0"/>
                        <a:t>Options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565675"/>
                  </a:ext>
                </a:extLst>
              </a:tr>
              <a:tr h="315992">
                <a:tc>
                  <a:txBody>
                    <a:bodyPr/>
                    <a:lstStyle/>
                    <a:p>
                      <a:pPr algn="ctr"/>
                      <a:r>
                        <a:rPr lang="en-US" sz="1600" b="1" dirty="0"/>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5111303"/>
                  </a:ext>
                </a:extLst>
              </a:tr>
              <a:tr h="315992">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009686"/>
                  </a:ext>
                </a:extLst>
              </a:tr>
              <a:tr h="315992">
                <a:tc>
                  <a:txBody>
                    <a:bodyPr/>
                    <a:lstStyle/>
                    <a:p>
                      <a:pPr algn="ctr"/>
                      <a:r>
                        <a:rPr lang="en-US" sz="1600" b="0" dirty="0"/>
                        <a:t>Criteria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590702"/>
                  </a:ext>
                </a:extLst>
              </a:tr>
              <a:tr h="315992">
                <a:tc>
                  <a:txBody>
                    <a:bodyPr/>
                    <a:lstStyle/>
                    <a:p>
                      <a:pPr algn="ctr"/>
                      <a:r>
                        <a:rPr lang="en-US" sz="1600" b="0" dirty="0"/>
                        <a:t>Criteria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131480"/>
                  </a:ext>
                </a:extLst>
              </a:tr>
              <a:tr h="315992">
                <a:tc>
                  <a:txBody>
                    <a:bodyPr/>
                    <a:lstStyle/>
                    <a:p>
                      <a:pPr algn="ctr"/>
                      <a:r>
                        <a:rPr lang="en-US" sz="1600" b="0" dirty="0"/>
                        <a:t>Criteria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880246"/>
                  </a:ext>
                </a:extLst>
              </a:tr>
              <a:tr h="315992">
                <a:tc>
                  <a:txBody>
                    <a:bodyPr/>
                    <a:lstStyle/>
                    <a:p>
                      <a:pPr algn="ctr"/>
                      <a:r>
                        <a:rPr lang="en-US" sz="1600" b="0" dirty="0"/>
                        <a:t>Criteria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319033"/>
                  </a:ext>
                </a:extLst>
              </a:tr>
              <a:tr h="315992">
                <a:tc>
                  <a:txBody>
                    <a:bodyPr/>
                    <a:lstStyle/>
                    <a:p>
                      <a:pPr algn="ctr"/>
                      <a:r>
                        <a:rPr lang="en-US" sz="1600" b="0" dirty="0"/>
                        <a:t>Criteria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441544"/>
                  </a:ext>
                </a:extLst>
              </a:tr>
              <a:tr h="373445">
                <a:tc gridSpan="2">
                  <a:txBody>
                    <a:bodyPr/>
                    <a:lstStyle/>
                    <a:p>
                      <a:pPr algn="ctr"/>
                      <a:r>
                        <a:rPr lang="en-US" sz="2000" b="1"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1535384"/>
                  </a:ext>
                </a:extLst>
              </a:tr>
            </a:tbl>
          </a:graphicData>
        </a:graphic>
      </p:graphicFrame>
    </p:spTree>
    <p:extLst>
      <p:ext uri="{BB962C8B-B14F-4D97-AF65-F5344CB8AC3E}">
        <p14:creationId xmlns:p14="http://schemas.microsoft.com/office/powerpoint/2010/main" val="256618324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F9D59-8D4F-F358-A369-B45FFCD8A4C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11329D-A63B-8B83-0D63-EB8DFA8977C0}"/>
              </a:ext>
            </a:extLst>
          </p:cNvPr>
          <p:cNvSpPr>
            <a:spLocks noGrp="1"/>
          </p:cNvSpPr>
          <p:nvPr>
            <p:ph idx="1"/>
          </p:nvPr>
        </p:nvSpPr>
        <p:spPr>
          <a:xfrm>
            <a:off x="890476" y="1640954"/>
            <a:ext cx="10411047" cy="676944"/>
          </a:xfrm>
        </p:spPr>
        <p:txBody>
          <a:bodyPr>
            <a:noAutofit/>
          </a:bodyPr>
          <a:lstStyle/>
          <a:p>
            <a:pPr marL="457200" indent="-457200">
              <a:buFont typeface="+mj-lt"/>
              <a:buAutoNum type="arabicPeriod"/>
            </a:pPr>
            <a:r>
              <a:rPr lang="en-US" sz="2300" dirty="0"/>
              <a:t>The value of weight will then be multiplied by the value of the criteria for each option to get a total score for that option.</a:t>
            </a:r>
          </a:p>
          <a:p>
            <a:endParaRPr lang="en-US" sz="2300" dirty="0"/>
          </a:p>
        </p:txBody>
      </p:sp>
      <p:sp>
        <p:nvSpPr>
          <p:cNvPr id="6" name="Title 1">
            <a:extLst>
              <a:ext uri="{FF2B5EF4-FFF2-40B4-BE49-F238E27FC236}">
                <a16:creationId xmlns:a16="http://schemas.microsoft.com/office/drawing/2014/main" id="{EF68CB7E-DD38-D6C1-9662-F0DA9FF49B32}"/>
              </a:ext>
            </a:extLst>
          </p:cNvPr>
          <p:cNvSpPr>
            <a:spLocks noGrp="1"/>
          </p:cNvSpPr>
          <p:nvPr>
            <p:ph type="title"/>
          </p:nvPr>
        </p:nvSpPr>
        <p:spPr>
          <a:xfrm>
            <a:off x="886968" y="0"/>
            <a:ext cx="9601200" cy="1142385"/>
          </a:xfrm>
        </p:spPr>
        <p:txBody>
          <a:bodyPr>
            <a:normAutofit/>
          </a:bodyPr>
          <a:lstStyle/>
          <a:p>
            <a:r>
              <a:rPr lang="en-US" sz="4000" dirty="0"/>
              <a:t>Score Matrix</a:t>
            </a:r>
            <a:endParaRPr lang="en-US" sz="3800" dirty="0"/>
          </a:p>
        </p:txBody>
      </p:sp>
      <p:sp>
        <p:nvSpPr>
          <p:cNvPr id="7" name="Title 1">
            <a:extLst>
              <a:ext uri="{FF2B5EF4-FFF2-40B4-BE49-F238E27FC236}">
                <a16:creationId xmlns:a16="http://schemas.microsoft.com/office/drawing/2014/main" id="{D818C09C-A37B-7087-8E9A-ABC4D753705A}"/>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a:t>
            </a:r>
          </a:p>
        </p:txBody>
      </p:sp>
      <p:graphicFrame>
        <p:nvGraphicFramePr>
          <p:cNvPr id="2" name="Table 1">
            <a:extLst>
              <a:ext uri="{FF2B5EF4-FFF2-40B4-BE49-F238E27FC236}">
                <a16:creationId xmlns:a16="http://schemas.microsoft.com/office/drawing/2014/main" id="{0FE0468D-77A2-3DBB-95A5-B87870AE454C}"/>
              </a:ext>
            </a:extLst>
          </p:cNvPr>
          <p:cNvGraphicFramePr>
            <a:graphicFrameLocks noGrp="1"/>
          </p:cNvGraphicFramePr>
          <p:nvPr>
            <p:extLst>
              <p:ext uri="{D42A27DB-BD31-4B8C-83A1-F6EECF244321}">
                <p14:modId xmlns:p14="http://schemas.microsoft.com/office/powerpoint/2010/main" val="3416901255"/>
              </p:ext>
            </p:extLst>
          </p:nvPr>
        </p:nvGraphicFramePr>
        <p:xfrm>
          <a:off x="1634310" y="2424229"/>
          <a:ext cx="8923379" cy="3474720"/>
        </p:xfrm>
        <a:graphic>
          <a:graphicData uri="http://schemas.openxmlformats.org/drawingml/2006/table">
            <a:tbl>
              <a:tblPr firstRow="1" bandRow="1">
                <a:tableStyleId>{B301B821-A1FF-4177-AEE7-76D212191A09}</a:tableStyleId>
              </a:tblPr>
              <a:tblGrid>
                <a:gridCol w="1606207">
                  <a:extLst>
                    <a:ext uri="{9D8B030D-6E8A-4147-A177-3AD203B41FA5}">
                      <a16:colId xmlns:a16="http://schemas.microsoft.com/office/drawing/2014/main" val="638438743"/>
                    </a:ext>
                  </a:extLst>
                </a:gridCol>
                <a:gridCol w="1795307">
                  <a:extLst>
                    <a:ext uri="{9D8B030D-6E8A-4147-A177-3AD203B41FA5}">
                      <a16:colId xmlns:a16="http://schemas.microsoft.com/office/drawing/2014/main" val="711821203"/>
                    </a:ext>
                  </a:extLst>
                </a:gridCol>
                <a:gridCol w="993343">
                  <a:extLst>
                    <a:ext uri="{9D8B030D-6E8A-4147-A177-3AD203B41FA5}">
                      <a16:colId xmlns:a16="http://schemas.microsoft.com/office/drawing/2014/main" val="3341800028"/>
                    </a:ext>
                  </a:extLst>
                </a:gridCol>
                <a:gridCol w="909598">
                  <a:extLst>
                    <a:ext uri="{9D8B030D-6E8A-4147-A177-3AD203B41FA5}">
                      <a16:colId xmlns:a16="http://schemas.microsoft.com/office/drawing/2014/main" val="1287793908"/>
                    </a:ext>
                  </a:extLst>
                </a:gridCol>
                <a:gridCol w="904731">
                  <a:extLst>
                    <a:ext uri="{9D8B030D-6E8A-4147-A177-3AD203B41FA5}">
                      <a16:colId xmlns:a16="http://schemas.microsoft.com/office/drawing/2014/main" val="3602661042"/>
                    </a:ext>
                  </a:extLst>
                </a:gridCol>
                <a:gridCol w="904731">
                  <a:extLst>
                    <a:ext uri="{9D8B030D-6E8A-4147-A177-3AD203B41FA5}">
                      <a16:colId xmlns:a16="http://schemas.microsoft.com/office/drawing/2014/main" val="3790710213"/>
                    </a:ext>
                  </a:extLst>
                </a:gridCol>
                <a:gridCol w="904731">
                  <a:extLst>
                    <a:ext uri="{9D8B030D-6E8A-4147-A177-3AD203B41FA5}">
                      <a16:colId xmlns:a16="http://schemas.microsoft.com/office/drawing/2014/main" val="1998664288"/>
                    </a:ext>
                  </a:extLst>
                </a:gridCol>
                <a:gridCol w="904731">
                  <a:extLst>
                    <a:ext uri="{9D8B030D-6E8A-4147-A177-3AD203B41FA5}">
                      <a16:colId xmlns:a16="http://schemas.microsoft.com/office/drawing/2014/main" val="3504896125"/>
                    </a:ext>
                  </a:extLst>
                </a:gridCol>
              </a:tblGrid>
              <a:tr h="373445">
                <a:tc gridSpan="8">
                  <a:txBody>
                    <a:bodyPr/>
                    <a:lstStyle/>
                    <a:p>
                      <a:pPr algn="ctr"/>
                      <a:r>
                        <a:rPr lang="en-US" sz="2000" b="1" dirty="0"/>
                        <a:t>Score Matrix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8101082"/>
                  </a:ext>
                </a:extLst>
              </a:tr>
              <a:tr h="315992">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a:r>
                        <a:rPr lang="en-US" sz="1600" b="1" dirty="0"/>
                        <a:t>Options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565675"/>
                  </a:ext>
                </a:extLst>
              </a:tr>
              <a:tr h="315992">
                <a:tc>
                  <a:txBody>
                    <a:bodyPr/>
                    <a:lstStyle/>
                    <a:p>
                      <a:pPr algn="ctr"/>
                      <a:r>
                        <a:rPr lang="en-US" sz="1600" b="1" dirty="0"/>
                        <a:t>Criteria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Weight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600" b="1" dirty="0"/>
                        <a:t>Option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5111303"/>
                  </a:ext>
                </a:extLst>
              </a:tr>
              <a:tr h="315992">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009686"/>
                  </a:ext>
                </a:extLst>
              </a:tr>
              <a:tr h="315992">
                <a:tc>
                  <a:txBody>
                    <a:bodyPr/>
                    <a:lstStyle/>
                    <a:p>
                      <a:pPr algn="ctr"/>
                      <a:r>
                        <a:rPr lang="en-US" sz="1600" b="0" dirty="0"/>
                        <a:t>Criteria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590702"/>
                  </a:ext>
                </a:extLst>
              </a:tr>
              <a:tr h="315992">
                <a:tc>
                  <a:txBody>
                    <a:bodyPr/>
                    <a:lstStyle/>
                    <a:p>
                      <a:pPr algn="ctr"/>
                      <a:r>
                        <a:rPr lang="en-US" sz="1600" b="0" dirty="0"/>
                        <a:t>Criteria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131480"/>
                  </a:ext>
                </a:extLst>
              </a:tr>
              <a:tr h="315992">
                <a:tc>
                  <a:txBody>
                    <a:bodyPr/>
                    <a:lstStyle/>
                    <a:p>
                      <a:pPr algn="ctr"/>
                      <a:r>
                        <a:rPr lang="en-US" sz="1600" b="0" dirty="0"/>
                        <a:t>Criteria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7880246"/>
                  </a:ext>
                </a:extLst>
              </a:tr>
              <a:tr h="315992">
                <a:tc>
                  <a:txBody>
                    <a:bodyPr/>
                    <a:lstStyle/>
                    <a:p>
                      <a:pPr algn="ctr"/>
                      <a:r>
                        <a:rPr lang="en-US" sz="1600" b="0" dirty="0"/>
                        <a:t>Criteria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4319033"/>
                  </a:ext>
                </a:extLst>
              </a:tr>
              <a:tr h="315992">
                <a:tc>
                  <a:txBody>
                    <a:bodyPr/>
                    <a:lstStyle/>
                    <a:p>
                      <a:pPr algn="ctr"/>
                      <a:r>
                        <a:rPr lang="en-US" sz="1600" b="0" dirty="0"/>
                        <a:t>Criteria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chemeClr val="accent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5441544"/>
                  </a:ext>
                </a:extLst>
              </a:tr>
              <a:tr h="373445">
                <a:tc gridSpan="2">
                  <a:txBody>
                    <a:bodyPr/>
                    <a:lstStyle/>
                    <a:p>
                      <a:pPr algn="ctr"/>
                      <a:r>
                        <a:rPr lang="en-US" sz="2000" b="1"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800" b="1" dirty="0">
                          <a:solidFill>
                            <a:schemeClr val="accent1"/>
                          </a:solidFill>
                        </a:rPr>
                        <a:t>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800" b="1" dirty="0">
                          <a:solidFill>
                            <a:schemeClr val="accent1"/>
                          </a:solidFill>
                        </a:rPr>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sz="1800" b="1" dirty="0">
                          <a:solidFill>
                            <a:schemeClr val="accent1"/>
                          </a:solidFill>
                        </a:rPr>
                        <a:t>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1535384"/>
                  </a:ext>
                </a:extLst>
              </a:tr>
            </a:tbl>
          </a:graphicData>
        </a:graphic>
      </p:graphicFrame>
    </p:spTree>
    <p:extLst>
      <p:ext uri="{BB962C8B-B14F-4D97-AF65-F5344CB8AC3E}">
        <p14:creationId xmlns:p14="http://schemas.microsoft.com/office/powerpoint/2010/main" val="109340361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9758-5D57-08F2-8F11-7305FE49E2D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BAE703-31F5-7EE1-7CCF-AD0052B552DA}"/>
              </a:ext>
            </a:extLst>
          </p:cNvPr>
          <p:cNvSpPr>
            <a:spLocks noGrp="1"/>
          </p:cNvSpPr>
          <p:nvPr>
            <p:ph idx="1"/>
          </p:nvPr>
        </p:nvSpPr>
        <p:spPr>
          <a:xfrm>
            <a:off x="890476" y="1640953"/>
            <a:ext cx="10411047" cy="2144238"/>
          </a:xfrm>
        </p:spPr>
        <p:txBody>
          <a:bodyPr>
            <a:noAutofit/>
          </a:bodyPr>
          <a:lstStyle/>
          <a:p>
            <a:pPr marL="457200" indent="-457200">
              <a:buFont typeface="+mj-lt"/>
              <a:buAutoNum type="arabicPeriod" startAt="2"/>
            </a:pPr>
            <a:r>
              <a:rPr lang="en-US" sz="2400" dirty="0"/>
              <a:t>The ﬁnal step is computing the total scores for each option, which are shown in the last row of the table. The option with the highest total score is the preferred option, or the </a:t>
            </a:r>
            <a:r>
              <a:rPr lang="en-US" sz="2400" b="1" dirty="0"/>
              <a:t>“winner”</a:t>
            </a:r>
            <a:r>
              <a:rPr lang="en-US" sz="2400" dirty="0"/>
              <a:t>​.</a:t>
            </a:r>
          </a:p>
          <a:p>
            <a:r>
              <a:rPr lang="en-US" sz="2400" b="1" dirty="0"/>
              <a:t>Option 2</a:t>
            </a:r>
            <a:r>
              <a:rPr lang="en-US" sz="2400" dirty="0"/>
              <a:t> is the winner in our example.</a:t>
            </a:r>
          </a:p>
        </p:txBody>
      </p:sp>
      <p:sp>
        <p:nvSpPr>
          <p:cNvPr id="6" name="Title 1">
            <a:extLst>
              <a:ext uri="{FF2B5EF4-FFF2-40B4-BE49-F238E27FC236}">
                <a16:creationId xmlns:a16="http://schemas.microsoft.com/office/drawing/2014/main" id="{A576F3A9-1CCA-EF1B-7E8B-693C68135DB7}"/>
              </a:ext>
            </a:extLst>
          </p:cNvPr>
          <p:cNvSpPr>
            <a:spLocks noGrp="1"/>
          </p:cNvSpPr>
          <p:nvPr>
            <p:ph type="title"/>
          </p:nvPr>
        </p:nvSpPr>
        <p:spPr>
          <a:xfrm>
            <a:off x="886968" y="0"/>
            <a:ext cx="9601200" cy="1142385"/>
          </a:xfrm>
        </p:spPr>
        <p:txBody>
          <a:bodyPr>
            <a:normAutofit/>
          </a:bodyPr>
          <a:lstStyle/>
          <a:p>
            <a:r>
              <a:rPr lang="en-US" sz="4000" dirty="0"/>
              <a:t>Score Matrix</a:t>
            </a:r>
            <a:endParaRPr lang="en-US" sz="3800" dirty="0"/>
          </a:p>
        </p:txBody>
      </p:sp>
      <p:sp>
        <p:nvSpPr>
          <p:cNvPr id="7" name="Title 1">
            <a:extLst>
              <a:ext uri="{FF2B5EF4-FFF2-40B4-BE49-F238E27FC236}">
                <a16:creationId xmlns:a16="http://schemas.microsoft.com/office/drawing/2014/main" id="{A9B49D12-3297-055C-4968-3B95F2F76550}"/>
              </a:ext>
            </a:extLst>
          </p:cNvPr>
          <p:cNvSpPr txBox="1">
            <a:spLocks/>
          </p:cNvSpPr>
          <p:nvPr/>
        </p:nvSpPr>
        <p:spPr>
          <a:xfrm>
            <a:off x="886968" y="477298"/>
            <a:ext cx="96012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sz="2400" dirty="0"/>
              <a:t>Example:</a:t>
            </a:r>
          </a:p>
        </p:txBody>
      </p:sp>
    </p:spTree>
    <p:extLst>
      <p:ext uri="{BB962C8B-B14F-4D97-AF65-F5344CB8AC3E}">
        <p14:creationId xmlns:p14="http://schemas.microsoft.com/office/powerpoint/2010/main" val="268363995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60A6-3FFD-B9EE-942E-2C944E72A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A76AA-7445-6856-567A-330531F3AD9E}"/>
              </a:ext>
            </a:extLst>
          </p:cNvPr>
          <p:cNvSpPr>
            <a:spLocks noGrp="1"/>
          </p:cNvSpPr>
          <p:nvPr>
            <p:ph type="title"/>
          </p:nvPr>
        </p:nvSpPr>
        <p:spPr>
          <a:xfrm>
            <a:off x="890476" y="0"/>
            <a:ext cx="9601200" cy="1142385"/>
          </a:xfrm>
        </p:spPr>
        <p:txBody>
          <a:bodyPr>
            <a:normAutofit/>
          </a:bodyPr>
          <a:lstStyle/>
          <a:p>
            <a:r>
              <a:rPr lang="en-US" sz="4000" dirty="0"/>
              <a:t>SWOT Analysis</a:t>
            </a:r>
            <a:endParaRPr lang="en-US" sz="3800" dirty="0"/>
          </a:p>
        </p:txBody>
      </p:sp>
      <p:sp>
        <p:nvSpPr>
          <p:cNvPr id="4" name="Content Placeholder 3">
            <a:extLst>
              <a:ext uri="{FF2B5EF4-FFF2-40B4-BE49-F238E27FC236}">
                <a16:creationId xmlns:a16="http://schemas.microsoft.com/office/drawing/2014/main" id="{08FE3469-66A3-5858-5436-731C46F80FB4}"/>
              </a:ext>
            </a:extLst>
          </p:cNvPr>
          <p:cNvSpPr>
            <a:spLocks noGrp="1"/>
          </p:cNvSpPr>
          <p:nvPr>
            <p:ph idx="1"/>
          </p:nvPr>
        </p:nvSpPr>
        <p:spPr>
          <a:xfrm>
            <a:off x="890476" y="1311336"/>
            <a:ext cx="10411047" cy="4899980"/>
          </a:xfrm>
        </p:spPr>
        <p:txBody>
          <a:bodyPr>
            <a:normAutofit/>
          </a:bodyPr>
          <a:lstStyle/>
          <a:p>
            <a:r>
              <a:rPr lang="en-US" sz="2400" dirty="0"/>
              <a:t> A SWOT analysis can support effective strategic planning based on an examination of the firm's capabilities and its external environment.​</a:t>
            </a:r>
          </a:p>
          <a:p>
            <a:r>
              <a:rPr lang="en-US" sz="2400" dirty="0"/>
              <a:t>A SWOT analysis is a business tool that allows the assessment of a product or organization in terms of its strengths, weaknesses, opportunities, and threats.</a:t>
            </a:r>
            <a:r>
              <a:rPr lang="en-US" sz="2800" dirty="0"/>
              <a:t>​</a:t>
            </a:r>
          </a:p>
          <a:p>
            <a:r>
              <a:rPr lang="en-US" sz="2400" dirty="0"/>
              <a:t>The strengths and weaknesses are a summary of the present position of the product or organization, whereas the opportunities and threats represent the future potential or concerns of the business.</a:t>
            </a:r>
          </a:p>
          <a:p>
            <a:r>
              <a:rPr lang="en-US" sz="2400" dirty="0"/>
              <a:t>Use SWOT Analysis to assess your organization's current position before you decide on any new strategy.</a:t>
            </a:r>
          </a:p>
        </p:txBody>
      </p:sp>
    </p:spTree>
    <p:extLst>
      <p:ext uri="{BB962C8B-B14F-4D97-AF65-F5344CB8AC3E}">
        <p14:creationId xmlns:p14="http://schemas.microsoft.com/office/powerpoint/2010/main" val="36169975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1B0F9-03DD-9292-C3EC-63A2364EA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E4203-1ADC-1491-C533-C0010F02F596}"/>
              </a:ext>
            </a:extLst>
          </p:cNvPr>
          <p:cNvSpPr>
            <a:spLocks noGrp="1"/>
          </p:cNvSpPr>
          <p:nvPr>
            <p:ph type="title"/>
          </p:nvPr>
        </p:nvSpPr>
        <p:spPr>
          <a:xfrm>
            <a:off x="886968" y="0"/>
            <a:ext cx="9601200" cy="1142385"/>
          </a:xfrm>
        </p:spPr>
        <p:txBody>
          <a:bodyPr>
            <a:normAutofit/>
          </a:bodyPr>
          <a:lstStyle/>
          <a:p>
            <a:r>
              <a:rPr lang="en-US" sz="4000" dirty="0"/>
              <a:t>SWOT Analysis</a:t>
            </a:r>
            <a:endParaRPr lang="en-US" sz="3800" dirty="0"/>
          </a:p>
        </p:txBody>
      </p:sp>
      <p:sp>
        <p:nvSpPr>
          <p:cNvPr id="4" name="Content Placeholder 3">
            <a:extLst>
              <a:ext uri="{FF2B5EF4-FFF2-40B4-BE49-F238E27FC236}">
                <a16:creationId xmlns:a16="http://schemas.microsoft.com/office/drawing/2014/main" id="{22049476-0EA0-5439-7B5D-3FA685C60D3A}"/>
              </a:ext>
            </a:extLst>
          </p:cNvPr>
          <p:cNvSpPr>
            <a:spLocks noGrp="1"/>
          </p:cNvSpPr>
          <p:nvPr>
            <p:ph idx="1"/>
          </p:nvPr>
        </p:nvSpPr>
        <p:spPr>
          <a:xfrm>
            <a:off x="1671471" y="2256918"/>
            <a:ext cx="2969141" cy="432403"/>
          </a:xfrm>
        </p:spPr>
        <p:txBody>
          <a:bodyPr>
            <a:noAutofit/>
          </a:bodyPr>
          <a:lstStyle/>
          <a:p>
            <a:pPr marL="0" indent="0" algn="ctr">
              <a:buNone/>
            </a:pPr>
            <a:r>
              <a:rPr lang="en-US" sz="2800" dirty="0"/>
              <a:t>Internal Factors</a:t>
            </a:r>
          </a:p>
        </p:txBody>
      </p:sp>
      <p:sp>
        <p:nvSpPr>
          <p:cNvPr id="3" name="Content Placeholder 3">
            <a:extLst>
              <a:ext uri="{FF2B5EF4-FFF2-40B4-BE49-F238E27FC236}">
                <a16:creationId xmlns:a16="http://schemas.microsoft.com/office/drawing/2014/main" id="{7F25A7DE-2B04-0DA6-B882-95633C0E0931}"/>
              </a:ext>
            </a:extLst>
          </p:cNvPr>
          <p:cNvSpPr txBox="1">
            <a:spLocks/>
          </p:cNvSpPr>
          <p:nvPr/>
        </p:nvSpPr>
        <p:spPr>
          <a:xfrm>
            <a:off x="1671471" y="4488461"/>
            <a:ext cx="2969141" cy="4324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800" dirty="0"/>
              <a:t>External Factors</a:t>
            </a:r>
          </a:p>
        </p:txBody>
      </p:sp>
      <p:grpSp>
        <p:nvGrpSpPr>
          <p:cNvPr id="25" name="Group 24">
            <a:extLst>
              <a:ext uri="{FF2B5EF4-FFF2-40B4-BE49-F238E27FC236}">
                <a16:creationId xmlns:a16="http://schemas.microsoft.com/office/drawing/2014/main" id="{A0549B1D-F778-2A1F-C2E3-BAA645C64B8C}"/>
              </a:ext>
            </a:extLst>
          </p:cNvPr>
          <p:cNvGrpSpPr/>
          <p:nvPr/>
        </p:nvGrpSpPr>
        <p:grpSpPr>
          <a:xfrm>
            <a:off x="4894535" y="1270019"/>
            <a:ext cx="2519917" cy="2307268"/>
            <a:chOff x="4710223" y="1403498"/>
            <a:chExt cx="2732568" cy="2473829"/>
          </a:xfrm>
        </p:grpSpPr>
        <p:sp>
          <p:nvSpPr>
            <p:cNvPr id="5" name="Rectangle 4">
              <a:extLst>
                <a:ext uri="{FF2B5EF4-FFF2-40B4-BE49-F238E27FC236}">
                  <a16:creationId xmlns:a16="http://schemas.microsoft.com/office/drawing/2014/main" id="{86A96406-F315-5FC3-270C-221989C6DFC4}"/>
                </a:ext>
              </a:extLst>
            </p:cNvPr>
            <p:cNvSpPr/>
            <p:nvPr/>
          </p:nvSpPr>
          <p:spPr>
            <a:xfrm>
              <a:off x="4710223" y="140349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nvGrpSpPr>
            <p:cNvPr id="8" name="Group 7">
              <a:extLst>
                <a:ext uri="{FF2B5EF4-FFF2-40B4-BE49-F238E27FC236}">
                  <a16:creationId xmlns:a16="http://schemas.microsoft.com/office/drawing/2014/main" id="{76F9C224-3F21-E72F-3543-0F897349A680}"/>
                </a:ext>
              </a:extLst>
            </p:cNvPr>
            <p:cNvGrpSpPr/>
            <p:nvPr/>
          </p:nvGrpSpPr>
          <p:grpSpPr>
            <a:xfrm>
              <a:off x="5099308" y="1855621"/>
              <a:ext cx="1993384" cy="1569581"/>
              <a:chOff x="4967396" y="1728210"/>
              <a:chExt cx="1675958" cy="1240363"/>
            </a:xfrm>
          </p:grpSpPr>
          <p:sp>
            <p:nvSpPr>
              <p:cNvPr id="6" name="Content Placeholder 3">
                <a:extLst>
                  <a:ext uri="{FF2B5EF4-FFF2-40B4-BE49-F238E27FC236}">
                    <a16:creationId xmlns:a16="http://schemas.microsoft.com/office/drawing/2014/main" id="{78E2C101-DFA4-D141-3012-78200819AE1B}"/>
                  </a:ext>
                </a:extLst>
              </p:cNvPr>
              <p:cNvSpPr txBox="1">
                <a:spLocks/>
              </p:cNvSpPr>
              <p:nvPr/>
            </p:nvSpPr>
            <p:spPr>
              <a:xfrm>
                <a:off x="5434232" y="1728210"/>
                <a:ext cx="742287" cy="829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8000" b="1" dirty="0">
                    <a:ln w="9525">
                      <a:solidFill>
                        <a:schemeClr val="bg1"/>
                      </a:solidFill>
                      <a:prstDash val="solid"/>
                    </a:ln>
                    <a:effectLst>
                      <a:outerShdw blurRad="12700" dist="38100" dir="2700000" algn="tl" rotWithShape="0">
                        <a:schemeClr val="bg1">
                          <a:lumMod val="50000"/>
                        </a:schemeClr>
                      </a:outerShdw>
                    </a:effectLst>
                  </a:rPr>
                  <a:t>S</a:t>
                </a:r>
              </a:p>
            </p:txBody>
          </p:sp>
          <p:sp>
            <p:nvSpPr>
              <p:cNvPr id="7" name="Content Placeholder 3">
                <a:extLst>
                  <a:ext uri="{FF2B5EF4-FFF2-40B4-BE49-F238E27FC236}">
                    <a16:creationId xmlns:a16="http://schemas.microsoft.com/office/drawing/2014/main" id="{A612E804-C23E-E32A-F8E8-8964856C2B31}"/>
                  </a:ext>
                </a:extLst>
              </p:cNvPr>
              <p:cNvSpPr txBox="1">
                <a:spLocks/>
              </p:cNvSpPr>
              <p:nvPr/>
            </p:nvSpPr>
            <p:spPr>
              <a:xfrm>
                <a:off x="4967396" y="2536170"/>
                <a:ext cx="1675958" cy="4324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400" b="1" dirty="0">
                    <a:ln w="9525">
                      <a:solidFill>
                        <a:schemeClr val="bg1"/>
                      </a:solidFill>
                      <a:prstDash val="solid"/>
                    </a:ln>
                    <a:effectLst>
                      <a:outerShdw blurRad="12700" dist="38100" dir="2700000" algn="tl" rotWithShape="0">
                        <a:schemeClr val="bg1">
                          <a:lumMod val="50000"/>
                        </a:schemeClr>
                      </a:outerShdw>
                    </a:effectLst>
                  </a:rPr>
                  <a:t>Strengths</a:t>
                </a:r>
              </a:p>
            </p:txBody>
          </p:sp>
        </p:grpSp>
      </p:grpSp>
      <p:grpSp>
        <p:nvGrpSpPr>
          <p:cNvPr id="26" name="Group 25">
            <a:extLst>
              <a:ext uri="{FF2B5EF4-FFF2-40B4-BE49-F238E27FC236}">
                <a16:creationId xmlns:a16="http://schemas.microsoft.com/office/drawing/2014/main" id="{3CBB3780-E594-8D54-C418-A925C7A2F128}"/>
              </a:ext>
            </a:extLst>
          </p:cNvPr>
          <p:cNvGrpSpPr/>
          <p:nvPr/>
        </p:nvGrpSpPr>
        <p:grpSpPr>
          <a:xfrm>
            <a:off x="7414452" y="1270019"/>
            <a:ext cx="2519917" cy="2307268"/>
            <a:chOff x="7442791" y="1403498"/>
            <a:chExt cx="2732568" cy="2473829"/>
          </a:xfrm>
        </p:grpSpPr>
        <p:sp>
          <p:nvSpPr>
            <p:cNvPr id="13" name="Rectangle 12">
              <a:extLst>
                <a:ext uri="{FF2B5EF4-FFF2-40B4-BE49-F238E27FC236}">
                  <a16:creationId xmlns:a16="http://schemas.microsoft.com/office/drawing/2014/main" id="{A871B02A-09CF-54FD-A662-867D476B5531}"/>
                </a:ext>
              </a:extLst>
            </p:cNvPr>
            <p:cNvSpPr/>
            <p:nvPr/>
          </p:nvSpPr>
          <p:spPr>
            <a:xfrm>
              <a:off x="7442791" y="140349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nvGrpSpPr>
            <p:cNvPr id="14" name="Group 13">
              <a:extLst>
                <a:ext uri="{FF2B5EF4-FFF2-40B4-BE49-F238E27FC236}">
                  <a16:creationId xmlns:a16="http://schemas.microsoft.com/office/drawing/2014/main" id="{2B9481AE-0078-3367-5973-C8D49D0D5AC7}"/>
                </a:ext>
              </a:extLst>
            </p:cNvPr>
            <p:cNvGrpSpPr/>
            <p:nvPr/>
          </p:nvGrpSpPr>
          <p:grpSpPr>
            <a:xfrm>
              <a:off x="7706445" y="1855621"/>
              <a:ext cx="2205259" cy="1569581"/>
              <a:chOff x="4967396" y="1728210"/>
              <a:chExt cx="1675958" cy="1240363"/>
            </a:xfrm>
          </p:grpSpPr>
          <p:sp>
            <p:nvSpPr>
              <p:cNvPr id="15" name="Content Placeholder 3">
                <a:extLst>
                  <a:ext uri="{FF2B5EF4-FFF2-40B4-BE49-F238E27FC236}">
                    <a16:creationId xmlns:a16="http://schemas.microsoft.com/office/drawing/2014/main" id="{7E674779-FE5B-E78E-24A2-8B558115A3CE}"/>
                  </a:ext>
                </a:extLst>
              </p:cNvPr>
              <p:cNvSpPr txBox="1">
                <a:spLocks/>
              </p:cNvSpPr>
              <p:nvPr/>
            </p:nvSpPr>
            <p:spPr>
              <a:xfrm>
                <a:off x="5434232" y="1728210"/>
                <a:ext cx="742287" cy="829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8000" b="1" dirty="0">
                    <a:ln w="9525">
                      <a:solidFill>
                        <a:schemeClr val="bg1"/>
                      </a:solidFill>
                      <a:prstDash val="solid"/>
                    </a:ln>
                    <a:effectLst>
                      <a:outerShdw blurRad="12700" dist="38100" dir="2700000" algn="tl" rotWithShape="0">
                        <a:schemeClr val="bg1">
                          <a:lumMod val="50000"/>
                        </a:schemeClr>
                      </a:outerShdw>
                    </a:effectLst>
                  </a:rPr>
                  <a:t>W</a:t>
                </a:r>
              </a:p>
            </p:txBody>
          </p:sp>
          <p:sp>
            <p:nvSpPr>
              <p:cNvPr id="16" name="Content Placeholder 3">
                <a:extLst>
                  <a:ext uri="{FF2B5EF4-FFF2-40B4-BE49-F238E27FC236}">
                    <a16:creationId xmlns:a16="http://schemas.microsoft.com/office/drawing/2014/main" id="{4B8B8127-D273-E09E-7935-60C1C964D775}"/>
                  </a:ext>
                </a:extLst>
              </p:cNvPr>
              <p:cNvSpPr txBox="1">
                <a:spLocks/>
              </p:cNvSpPr>
              <p:nvPr/>
            </p:nvSpPr>
            <p:spPr>
              <a:xfrm>
                <a:off x="4967396" y="2536170"/>
                <a:ext cx="1675958" cy="4324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400" b="1" dirty="0">
                    <a:ln w="9525">
                      <a:solidFill>
                        <a:schemeClr val="bg1"/>
                      </a:solidFill>
                      <a:prstDash val="solid"/>
                    </a:ln>
                    <a:effectLst>
                      <a:outerShdw blurRad="12700" dist="38100" dir="2700000" algn="tl" rotWithShape="0">
                        <a:schemeClr val="bg1">
                          <a:lumMod val="50000"/>
                        </a:schemeClr>
                      </a:outerShdw>
                    </a:effectLst>
                  </a:rPr>
                  <a:t>Weaknesses</a:t>
                </a:r>
              </a:p>
            </p:txBody>
          </p:sp>
        </p:grpSp>
      </p:grpSp>
      <p:grpSp>
        <p:nvGrpSpPr>
          <p:cNvPr id="27" name="Group 26">
            <a:extLst>
              <a:ext uri="{FF2B5EF4-FFF2-40B4-BE49-F238E27FC236}">
                <a16:creationId xmlns:a16="http://schemas.microsoft.com/office/drawing/2014/main" id="{52F94774-5BAC-5752-F60D-3CAA50D3119E}"/>
              </a:ext>
            </a:extLst>
          </p:cNvPr>
          <p:cNvGrpSpPr/>
          <p:nvPr/>
        </p:nvGrpSpPr>
        <p:grpSpPr>
          <a:xfrm>
            <a:off x="4894535" y="3577287"/>
            <a:ext cx="2519917" cy="2307268"/>
            <a:chOff x="4710223" y="3877327"/>
            <a:chExt cx="2732568" cy="2473829"/>
          </a:xfrm>
        </p:grpSpPr>
        <p:sp>
          <p:nvSpPr>
            <p:cNvPr id="17" name="Rectangle 16">
              <a:extLst>
                <a:ext uri="{FF2B5EF4-FFF2-40B4-BE49-F238E27FC236}">
                  <a16:creationId xmlns:a16="http://schemas.microsoft.com/office/drawing/2014/main" id="{0ED197DB-FCDD-88F6-D4B6-9304FAC4AC2F}"/>
                </a:ext>
              </a:extLst>
            </p:cNvPr>
            <p:cNvSpPr/>
            <p:nvPr/>
          </p:nvSpPr>
          <p:spPr>
            <a:xfrm>
              <a:off x="4710223" y="3877327"/>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nvGrpSpPr>
            <p:cNvPr id="18" name="Group 17">
              <a:extLst>
                <a:ext uri="{FF2B5EF4-FFF2-40B4-BE49-F238E27FC236}">
                  <a16:creationId xmlns:a16="http://schemas.microsoft.com/office/drawing/2014/main" id="{27F647AD-DE01-7CE5-58D9-E661CF497CD5}"/>
                </a:ext>
              </a:extLst>
            </p:cNvPr>
            <p:cNvGrpSpPr/>
            <p:nvPr/>
          </p:nvGrpSpPr>
          <p:grpSpPr>
            <a:xfrm>
              <a:off x="4901159" y="4329450"/>
              <a:ext cx="2389679" cy="1569581"/>
              <a:chOff x="4916417" y="1728210"/>
              <a:chExt cx="1807399" cy="1240363"/>
            </a:xfrm>
          </p:grpSpPr>
          <p:sp>
            <p:nvSpPr>
              <p:cNvPr id="19" name="Content Placeholder 3">
                <a:extLst>
                  <a:ext uri="{FF2B5EF4-FFF2-40B4-BE49-F238E27FC236}">
                    <a16:creationId xmlns:a16="http://schemas.microsoft.com/office/drawing/2014/main" id="{63B0B751-CE13-C1F6-DB38-5F06D047C762}"/>
                  </a:ext>
                </a:extLst>
              </p:cNvPr>
              <p:cNvSpPr txBox="1">
                <a:spLocks/>
              </p:cNvSpPr>
              <p:nvPr/>
            </p:nvSpPr>
            <p:spPr>
              <a:xfrm>
                <a:off x="5434232" y="1728210"/>
                <a:ext cx="742287" cy="829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8000" b="1" dirty="0">
                    <a:ln w="9525">
                      <a:solidFill>
                        <a:schemeClr val="bg1"/>
                      </a:solidFill>
                      <a:prstDash val="solid"/>
                    </a:ln>
                    <a:effectLst>
                      <a:outerShdw blurRad="12700" dist="38100" dir="2700000" algn="tl" rotWithShape="0">
                        <a:schemeClr val="bg1">
                          <a:lumMod val="50000"/>
                        </a:schemeClr>
                      </a:outerShdw>
                    </a:effectLst>
                  </a:rPr>
                  <a:t>O</a:t>
                </a:r>
              </a:p>
            </p:txBody>
          </p:sp>
          <p:sp>
            <p:nvSpPr>
              <p:cNvPr id="20" name="Content Placeholder 3">
                <a:extLst>
                  <a:ext uri="{FF2B5EF4-FFF2-40B4-BE49-F238E27FC236}">
                    <a16:creationId xmlns:a16="http://schemas.microsoft.com/office/drawing/2014/main" id="{F7638A30-D636-1CA6-4D9D-4D66E05DE962}"/>
                  </a:ext>
                </a:extLst>
              </p:cNvPr>
              <p:cNvSpPr txBox="1">
                <a:spLocks/>
              </p:cNvSpPr>
              <p:nvPr/>
            </p:nvSpPr>
            <p:spPr>
              <a:xfrm>
                <a:off x="4916417" y="2536170"/>
                <a:ext cx="1807399" cy="4324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400" b="1" dirty="0">
                    <a:ln w="9525">
                      <a:solidFill>
                        <a:schemeClr val="bg1"/>
                      </a:solidFill>
                      <a:prstDash val="solid"/>
                    </a:ln>
                    <a:effectLst>
                      <a:outerShdw blurRad="12700" dist="38100" dir="2700000" algn="tl" rotWithShape="0">
                        <a:schemeClr val="bg1">
                          <a:lumMod val="50000"/>
                        </a:schemeClr>
                      </a:outerShdw>
                    </a:effectLst>
                  </a:rPr>
                  <a:t>Opportunities</a:t>
                </a:r>
              </a:p>
            </p:txBody>
          </p:sp>
        </p:grpSp>
      </p:grpSp>
      <p:grpSp>
        <p:nvGrpSpPr>
          <p:cNvPr id="28" name="Group 27">
            <a:extLst>
              <a:ext uri="{FF2B5EF4-FFF2-40B4-BE49-F238E27FC236}">
                <a16:creationId xmlns:a16="http://schemas.microsoft.com/office/drawing/2014/main" id="{7A28D30E-EECC-3F18-9163-20F01BC9BCC2}"/>
              </a:ext>
            </a:extLst>
          </p:cNvPr>
          <p:cNvGrpSpPr/>
          <p:nvPr/>
        </p:nvGrpSpPr>
        <p:grpSpPr>
          <a:xfrm>
            <a:off x="7414452" y="3577287"/>
            <a:ext cx="2519917" cy="2307268"/>
            <a:chOff x="7442791" y="3877327"/>
            <a:chExt cx="2732568" cy="2473829"/>
          </a:xfrm>
        </p:grpSpPr>
        <p:sp>
          <p:nvSpPr>
            <p:cNvPr id="21" name="Rectangle 20">
              <a:extLst>
                <a:ext uri="{FF2B5EF4-FFF2-40B4-BE49-F238E27FC236}">
                  <a16:creationId xmlns:a16="http://schemas.microsoft.com/office/drawing/2014/main" id="{31065EB7-520F-EEEC-E1E6-031051986FB3}"/>
                </a:ext>
              </a:extLst>
            </p:cNvPr>
            <p:cNvSpPr/>
            <p:nvPr/>
          </p:nvSpPr>
          <p:spPr>
            <a:xfrm>
              <a:off x="7442791" y="3877327"/>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nvGrpSpPr>
            <p:cNvPr id="22" name="Group 21">
              <a:extLst>
                <a:ext uri="{FF2B5EF4-FFF2-40B4-BE49-F238E27FC236}">
                  <a16:creationId xmlns:a16="http://schemas.microsoft.com/office/drawing/2014/main" id="{B24C42A6-0242-FCD3-44B7-F1E65D52D2BB}"/>
                </a:ext>
              </a:extLst>
            </p:cNvPr>
            <p:cNvGrpSpPr/>
            <p:nvPr/>
          </p:nvGrpSpPr>
          <p:grpSpPr>
            <a:xfrm>
              <a:off x="7831876" y="4329450"/>
              <a:ext cx="1993384" cy="1569581"/>
              <a:chOff x="4967396" y="1728210"/>
              <a:chExt cx="1675958" cy="1240363"/>
            </a:xfrm>
          </p:grpSpPr>
          <p:sp>
            <p:nvSpPr>
              <p:cNvPr id="23" name="Content Placeholder 3">
                <a:extLst>
                  <a:ext uri="{FF2B5EF4-FFF2-40B4-BE49-F238E27FC236}">
                    <a16:creationId xmlns:a16="http://schemas.microsoft.com/office/drawing/2014/main" id="{4734B48C-B1EB-42AB-0784-2D05261DE183}"/>
                  </a:ext>
                </a:extLst>
              </p:cNvPr>
              <p:cNvSpPr txBox="1">
                <a:spLocks/>
              </p:cNvSpPr>
              <p:nvPr/>
            </p:nvSpPr>
            <p:spPr>
              <a:xfrm>
                <a:off x="5434232" y="1728210"/>
                <a:ext cx="742287" cy="8294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8000" b="1" dirty="0">
                    <a:ln w="9525">
                      <a:solidFill>
                        <a:schemeClr val="bg1"/>
                      </a:solidFill>
                      <a:prstDash val="solid"/>
                    </a:ln>
                    <a:effectLst>
                      <a:outerShdw blurRad="12700" dist="38100" dir="2700000" algn="tl" rotWithShape="0">
                        <a:schemeClr val="bg1">
                          <a:lumMod val="50000"/>
                        </a:schemeClr>
                      </a:outerShdw>
                    </a:effectLst>
                  </a:rPr>
                  <a:t>T</a:t>
                </a:r>
              </a:p>
            </p:txBody>
          </p:sp>
          <p:sp>
            <p:nvSpPr>
              <p:cNvPr id="24" name="Content Placeholder 3">
                <a:extLst>
                  <a:ext uri="{FF2B5EF4-FFF2-40B4-BE49-F238E27FC236}">
                    <a16:creationId xmlns:a16="http://schemas.microsoft.com/office/drawing/2014/main" id="{00102107-963C-E9CB-5C37-7F08FC615AB6}"/>
                  </a:ext>
                </a:extLst>
              </p:cNvPr>
              <p:cNvSpPr txBox="1">
                <a:spLocks/>
              </p:cNvSpPr>
              <p:nvPr/>
            </p:nvSpPr>
            <p:spPr>
              <a:xfrm>
                <a:off x="4967396" y="2536170"/>
                <a:ext cx="1675958" cy="4324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400" b="1" dirty="0">
                    <a:ln w="9525">
                      <a:solidFill>
                        <a:schemeClr val="bg1"/>
                      </a:solidFill>
                      <a:prstDash val="solid"/>
                    </a:ln>
                    <a:effectLst>
                      <a:outerShdw blurRad="12700" dist="38100" dir="2700000" algn="tl" rotWithShape="0">
                        <a:schemeClr val="bg1">
                          <a:lumMod val="50000"/>
                        </a:schemeClr>
                      </a:outerShdw>
                    </a:effectLst>
                  </a:rPr>
                  <a:t>Threats</a:t>
                </a:r>
              </a:p>
            </p:txBody>
          </p:sp>
        </p:grpSp>
      </p:grpSp>
    </p:spTree>
    <p:extLst>
      <p:ext uri="{BB962C8B-B14F-4D97-AF65-F5344CB8AC3E}">
        <p14:creationId xmlns:p14="http://schemas.microsoft.com/office/powerpoint/2010/main" val="337266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4700F-B836-F21A-8F60-884237AD7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C0D18-A3F9-E3B2-D6B0-09A6234CE9B0}"/>
              </a:ext>
            </a:extLst>
          </p:cNvPr>
          <p:cNvSpPr>
            <a:spLocks noGrp="1"/>
          </p:cNvSpPr>
          <p:nvPr>
            <p:ph type="title"/>
          </p:nvPr>
        </p:nvSpPr>
        <p:spPr>
          <a:xfrm>
            <a:off x="886968" y="-629892"/>
            <a:ext cx="9601200" cy="1142385"/>
          </a:xfrm>
        </p:spPr>
        <p:txBody>
          <a:bodyPr>
            <a:normAutofit/>
          </a:bodyPr>
          <a:lstStyle/>
          <a:p>
            <a:r>
              <a:rPr lang="en-US" sz="2600" dirty="0"/>
              <a:t>SWOT Analysis of McDonald’s</a:t>
            </a:r>
          </a:p>
        </p:txBody>
      </p:sp>
      <p:grpSp>
        <p:nvGrpSpPr>
          <p:cNvPr id="57" name="Group 56">
            <a:extLst>
              <a:ext uri="{FF2B5EF4-FFF2-40B4-BE49-F238E27FC236}">
                <a16:creationId xmlns:a16="http://schemas.microsoft.com/office/drawing/2014/main" id="{E1493A22-40AA-B030-2193-5E871285C756}"/>
              </a:ext>
            </a:extLst>
          </p:cNvPr>
          <p:cNvGrpSpPr/>
          <p:nvPr/>
        </p:nvGrpSpPr>
        <p:grpSpPr>
          <a:xfrm>
            <a:off x="6082821" y="624552"/>
            <a:ext cx="4554736" cy="2682668"/>
            <a:chOff x="6082927" y="539919"/>
            <a:chExt cx="3732718" cy="2776197"/>
          </a:xfrm>
        </p:grpSpPr>
        <p:grpSp>
          <p:nvGrpSpPr>
            <p:cNvPr id="31" name="Group 30">
              <a:extLst>
                <a:ext uri="{FF2B5EF4-FFF2-40B4-BE49-F238E27FC236}">
                  <a16:creationId xmlns:a16="http://schemas.microsoft.com/office/drawing/2014/main" id="{AA692F78-E233-EA4A-5DF2-FD1DABAA42E9}"/>
                </a:ext>
              </a:extLst>
            </p:cNvPr>
            <p:cNvGrpSpPr/>
            <p:nvPr/>
          </p:nvGrpSpPr>
          <p:grpSpPr>
            <a:xfrm>
              <a:off x="6093578" y="539919"/>
              <a:ext cx="3722067" cy="2776197"/>
              <a:chOff x="831426" y="1263938"/>
              <a:chExt cx="3395806" cy="3393122"/>
            </a:xfrm>
          </p:grpSpPr>
          <p:grpSp>
            <p:nvGrpSpPr>
              <p:cNvPr id="25" name="Group 24">
                <a:extLst>
                  <a:ext uri="{FF2B5EF4-FFF2-40B4-BE49-F238E27FC236}">
                    <a16:creationId xmlns:a16="http://schemas.microsoft.com/office/drawing/2014/main" id="{4D522E2C-720C-BB88-A262-22457011C8A9}"/>
                  </a:ext>
                </a:extLst>
              </p:cNvPr>
              <p:cNvGrpSpPr/>
              <p:nvPr/>
            </p:nvGrpSpPr>
            <p:grpSpPr>
              <a:xfrm>
                <a:off x="831426" y="1263938"/>
                <a:ext cx="3395806" cy="3393122"/>
                <a:chOff x="961297" y="1799267"/>
                <a:chExt cx="2732568" cy="2478270"/>
              </a:xfrm>
            </p:grpSpPr>
            <p:sp>
              <p:nvSpPr>
                <p:cNvPr id="5" name="Rectangle 4">
                  <a:extLst>
                    <a:ext uri="{FF2B5EF4-FFF2-40B4-BE49-F238E27FC236}">
                      <a16:creationId xmlns:a16="http://schemas.microsoft.com/office/drawing/2014/main" id="{D8E1F1FC-5A00-8771-CEEB-5593F103B891}"/>
                    </a:ext>
                  </a:extLst>
                </p:cNvPr>
                <p:cNvSpPr/>
                <p:nvPr/>
              </p:nvSpPr>
              <p:spPr>
                <a:xfrm>
                  <a:off x="961297" y="180370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Content Placeholder 3">
                  <a:extLst>
                    <a:ext uri="{FF2B5EF4-FFF2-40B4-BE49-F238E27FC236}">
                      <a16:creationId xmlns:a16="http://schemas.microsoft.com/office/drawing/2014/main" id="{0B0EB146-8D0E-C15B-0901-166742229E43}"/>
                    </a:ext>
                  </a:extLst>
                </p:cNvPr>
                <p:cNvSpPr txBox="1">
                  <a:spLocks/>
                </p:cNvSpPr>
                <p:nvPr/>
              </p:nvSpPr>
              <p:spPr>
                <a:xfrm>
                  <a:off x="1146762" y="1799267"/>
                  <a:ext cx="2361637" cy="5471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800" b="1" dirty="0">
                      <a:ln w="9525">
                        <a:solidFill>
                          <a:schemeClr val="bg1"/>
                        </a:solidFill>
                        <a:prstDash val="solid"/>
                      </a:ln>
                    </a:rPr>
                    <a:t>Weaknesses</a:t>
                  </a:r>
                </a:p>
              </p:txBody>
            </p:sp>
          </p:grpSp>
          <p:cxnSp>
            <p:nvCxnSpPr>
              <p:cNvPr id="12" name="Straight Connector 11">
                <a:extLst>
                  <a:ext uri="{FF2B5EF4-FFF2-40B4-BE49-F238E27FC236}">
                    <a16:creationId xmlns:a16="http://schemas.microsoft.com/office/drawing/2014/main" id="{3C54F8D4-E067-871E-0987-F2969918D448}"/>
                  </a:ext>
                </a:extLst>
              </p:cNvPr>
              <p:cNvCxnSpPr>
                <a:cxnSpLocks/>
              </p:cNvCxnSpPr>
              <p:nvPr/>
            </p:nvCxnSpPr>
            <p:spPr>
              <a:xfrm>
                <a:off x="831426" y="1818167"/>
                <a:ext cx="3395806"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51" name="Content Placeholder 3">
              <a:extLst>
                <a:ext uri="{FF2B5EF4-FFF2-40B4-BE49-F238E27FC236}">
                  <a16:creationId xmlns:a16="http://schemas.microsoft.com/office/drawing/2014/main" id="{AEFD6A32-5039-36C1-CB7C-3B2744DE1B34}"/>
                </a:ext>
              </a:extLst>
            </p:cNvPr>
            <p:cNvSpPr txBox="1">
              <a:spLocks/>
            </p:cNvSpPr>
            <p:nvPr/>
          </p:nvSpPr>
          <p:spPr>
            <a:xfrm>
              <a:off x="6082927" y="997409"/>
              <a:ext cx="3625231" cy="2252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spcBef>
                  <a:spcPts val="600"/>
                </a:spcBef>
              </a:pPr>
              <a:r>
                <a:rPr lang="en-US" sz="1700" b="1" dirty="0"/>
                <a:t>Limited menu​.</a:t>
              </a:r>
            </a:p>
            <a:p>
              <a:pPr>
                <a:spcBef>
                  <a:spcPts val="600"/>
                </a:spcBef>
              </a:pPr>
              <a:r>
                <a:rPr lang="en-US" sz="1700" b="1" dirty="0"/>
                <a:t>High staff turnover.​</a:t>
              </a:r>
            </a:p>
            <a:p>
              <a:pPr>
                <a:spcBef>
                  <a:spcPts val="600"/>
                </a:spcBef>
              </a:pPr>
              <a:r>
                <a:rPr lang="en-US" sz="1700" b="1" dirty="0"/>
                <a:t>Unhealthy food​.</a:t>
              </a:r>
            </a:p>
            <a:p>
              <a:pPr>
                <a:spcBef>
                  <a:spcPts val="600"/>
                </a:spcBef>
              </a:pPr>
              <a:r>
                <a:rPr lang="en-US" sz="1700" b="1" dirty="0"/>
                <a:t>Breakfast finishes too early in some countries, resulting in loss of sales​​.</a:t>
              </a:r>
            </a:p>
          </p:txBody>
        </p:sp>
      </p:grpSp>
      <p:grpSp>
        <p:nvGrpSpPr>
          <p:cNvPr id="56" name="Group 55">
            <a:extLst>
              <a:ext uri="{FF2B5EF4-FFF2-40B4-BE49-F238E27FC236}">
                <a16:creationId xmlns:a16="http://schemas.microsoft.com/office/drawing/2014/main" id="{A46AFFF1-13DF-927C-6D51-DEF0B8628D72}"/>
              </a:ext>
            </a:extLst>
          </p:cNvPr>
          <p:cNvGrpSpPr/>
          <p:nvPr/>
        </p:nvGrpSpPr>
        <p:grpSpPr>
          <a:xfrm>
            <a:off x="6082821" y="3291191"/>
            <a:ext cx="4560644" cy="2694940"/>
            <a:chOff x="6082927" y="3299528"/>
            <a:chExt cx="3737560" cy="2788896"/>
          </a:xfrm>
        </p:grpSpPr>
        <p:grpSp>
          <p:nvGrpSpPr>
            <p:cNvPr id="42" name="Group 41">
              <a:extLst>
                <a:ext uri="{FF2B5EF4-FFF2-40B4-BE49-F238E27FC236}">
                  <a16:creationId xmlns:a16="http://schemas.microsoft.com/office/drawing/2014/main" id="{2CDF5D70-C984-664B-5356-38022FB13E99}"/>
                </a:ext>
              </a:extLst>
            </p:cNvPr>
            <p:cNvGrpSpPr/>
            <p:nvPr/>
          </p:nvGrpSpPr>
          <p:grpSpPr>
            <a:xfrm>
              <a:off x="6098420" y="3299528"/>
              <a:ext cx="3722067" cy="2788896"/>
              <a:chOff x="831426" y="1248416"/>
              <a:chExt cx="3395806" cy="3408644"/>
            </a:xfrm>
          </p:grpSpPr>
          <p:grpSp>
            <p:nvGrpSpPr>
              <p:cNvPr id="43" name="Group 42">
                <a:extLst>
                  <a:ext uri="{FF2B5EF4-FFF2-40B4-BE49-F238E27FC236}">
                    <a16:creationId xmlns:a16="http://schemas.microsoft.com/office/drawing/2014/main" id="{68B59D47-3B7A-70A6-50F9-197FA976488F}"/>
                  </a:ext>
                </a:extLst>
              </p:cNvPr>
              <p:cNvGrpSpPr/>
              <p:nvPr/>
            </p:nvGrpSpPr>
            <p:grpSpPr>
              <a:xfrm>
                <a:off x="831426" y="1248416"/>
                <a:ext cx="3395806" cy="3408644"/>
                <a:chOff x="961297" y="1787930"/>
                <a:chExt cx="2732568" cy="2489607"/>
              </a:xfrm>
            </p:grpSpPr>
            <p:sp>
              <p:nvSpPr>
                <p:cNvPr id="45" name="Rectangle 44">
                  <a:extLst>
                    <a:ext uri="{FF2B5EF4-FFF2-40B4-BE49-F238E27FC236}">
                      <a16:creationId xmlns:a16="http://schemas.microsoft.com/office/drawing/2014/main" id="{43856311-7C19-BD8A-9F9B-932083F9A72F}"/>
                    </a:ext>
                  </a:extLst>
                </p:cNvPr>
                <p:cNvSpPr/>
                <p:nvPr/>
              </p:nvSpPr>
              <p:spPr>
                <a:xfrm>
                  <a:off x="961297" y="180370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6" name="Content Placeholder 3">
                  <a:extLst>
                    <a:ext uri="{FF2B5EF4-FFF2-40B4-BE49-F238E27FC236}">
                      <a16:creationId xmlns:a16="http://schemas.microsoft.com/office/drawing/2014/main" id="{4E777405-82C6-F96E-CBDE-2040739B8C56}"/>
                    </a:ext>
                  </a:extLst>
                </p:cNvPr>
                <p:cNvSpPr txBox="1">
                  <a:spLocks/>
                </p:cNvSpPr>
                <p:nvPr/>
              </p:nvSpPr>
              <p:spPr>
                <a:xfrm>
                  <a:off x="1146762" y="1787930"/>
                  <a:ext cx="2361637" cy="5471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800" b="1" dirty="0">
                      <a:ln w="9525">
                        <a:solidFill>
                          <a:schemeClr val="bg1"/>
                        </a:solidFill>
                        <a:prstDash val="solid"/>
                      </a:ln>
                    </a:rPr>
                    <a:t>Threats</a:t>
                  </a:r>
                </a:p>
              </p:txBody>
            </p:sp>
          </p:grpSp>
          <p:cxnSp>
            <p:nvCxnSpPr>
              <p:cNvPr id="44" name="Straight Connector 43">
                <a:extLst>
                  <a:ext uri="{FF2B5EF4-FFF2-40B4-BE49-F238E27FC236}">
                    <a16:creationId xmlns:a16="http://schemas.microsoft.com/office/drawing/2014/main" id="{FBB2DB22-EF5C-1491-545B-7053723E3BA8}"/>
                  </a:ext>
                </a:extLst>
              </p:cNvPr>
              <p:cNvCxnSpPr>
                <a:cxnSpLocks/>
              </p:cNvCxnSpPr>
              <p:nvPr/>
            </p:nvCxnSpPr>
            <p:spPr>
              <a:xfrm>
                <a:off x="831426" y="1818167"/>
                <a:ext cx="3395806"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53" name="Content Placeholder 3">
              <a:extLst>
                <a:ext uri="{FF2B5EF4-FFF2-40B4-BE49-F238E27FC236}">
                  <a16:creationId xmlns:a16="http://schemas.microsoft.com/office/drawing/2014/main" id="{6D06E6C1-0975-7458-308D-B282847F9DCE}"/>
                </a:ext>
              </a:extLst>
            </p:cNvPr>
            <p:cNvSpPr txBox="1">
              <a:spLocks/>
            </p:cNvSpPr>
            <p:nvPr/>
          </p:nvSpPr>
          <p:spPr>
            <a:xfrm>
              <a:off x="6082927" y="3781655"/>
              <a:ext cx="3625231" cy="2252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spcBef>
                  <a:spcPts val="600"/>
                </a:spcBef>
              </a:pPr>
              <a:r>
                <a:rPr lang="en-US" sz="1700" b="1" dirty="0"/>
                <a:t>Trend towards healthy eating​.</a:t>
              </a:r>
            </a:p>
            <a:p>
              <a:pPr>
                <a:spcBef>
                  <a:spcPts val="600"/>
                </a:spcBef>
              </a:pPr>
              <a:r>
                <a:rPr lang="en-US" sz="1700" b="1" dirty="0"/>
                <a:t>Competitors such as KFC and Burger King​.</a:t>
              </a:r>
            </a:p>
            <a:p>
              <a:pPr>
                <a:spcBef>
                  <a:spcPts val="600"/>
                </a:spcBef>
              </a:pPr>
              <a:r>
                <a:rPr lang="en-US" sz="1700" b="1" dirty="0"/>
                <a:t>The rising number of local fast-food chains and their lower meal prices.</a:t>
              </a:r>
            </a:p>
          </p:txBody>
        </p:sp>
      </p:grpSp>
      <p:grpSp>
        <p:nvGrpSpPr>
          <p:cNvPr id="59" name="Group 58">
            <a:extLst>
              <a:ext uri="{FF2B5EF4-FFF2-40B4-BE49-F238E27FC236}">
                <a16:creationId xmlns:a16="http://schemas.microsoft.com/office/drawing/2014/main" id="{F24E599B-8FC4-0125-E362-5F1A429F3869}"/>
              </a:ext>
            </a:extLst>
          </p:cNvPr>
          <p:cNvGrpSpPr/>
          <p:nvPr/>
        </p:nvGrpSpPr>
        <p:grpSpPr>
          <a:xfrm>
            <a:off x="1548534" y="3289539"/>
            <a:ext cx="4547466" cy="2694940"/>
            <a:chOff x="2366967" y="3297818"/>
            <a:chExt cx="3726760" cy="2788896"/>
          </a:xfrm>
        </p:grpSpPr>
        <p:grpSp>
          <p:nvGrpSpPr>
            <p:cNvPr id="37" name="Group 36">
              <a:extLst>
                <a:ext uri="{FF2B5EF4-FFF2-40B4-BE49-F238E27FC236}">
                  <a16:creationId xmlns:a16="http://schemas.microsoft.com/office/drawing/2014/main" id="{A9768F07-3C1F-6F15-7B25-A0B9033EAFB4}"/>
                </a:ext>
              </a:extLst>
            </p:cNvPr>
            <p:cNvGrpSpPr/>
            <p:nvPr/>
          </p:nvGrpSpPr>
          <p:grpSpPr>
            <a:xfrm>
              <a:off x="2371660" y="3297818"/>
              <a:ext cx="3722067" cy="2788896"/>
              <a:chOff x="831426" y="1248416"/>
              <a:chExt cx="3395806" cy="3408644"/>
            </a:xfrm>
          </p:grpSpPr>
          <p:grpSp>
            <p:nvGrpSpPr>
              <p:cNvPr id="38" name="Group 37">
                <a:extLst>
                  <a:ext uri="{FF2B5EF4-FFF2-40B4-BE49-F238E27FC236}">
                    <a16:creationId xmlns:a16="http://schemas.microsoft.com/office/drawing/2014/main" id="{1200B03A-D36D-7236-ECB9-CDC989AAB7E2}"/>
                  </a:ext>
                </a:extLst>
              </p:cNvPr>
              <p:cNvGrpSpPr/>
              <p:nvPr/>
            </p:nvGrpSpPr>
            <p:grpSpPr>
              <a:xfrm>
                <a:off x="831426" y="1248416"/>
                <a:ext cx="3395806" cy="3408644"/>
                <a:chOff x="961297" y="1787930"/>
                <a:chExt cx="2732568" cy="2489607"/>
              </a:xfrm>
            </p:grpSpPr>
            <p:sp>
              <p:nvSpPr>
                <p:cNvPr id="40" name="Rectangle 39">
                  <a:extLst>
                    <a:ext uri="{FF2B5EF4-FFF2-40B4-BE49-F238E27FC236}">
                      <a16:creationId xmlns:a16="http://schemas.microsoft.com/office/drawing/2014/main" id="{49281C8C-A508-17AA-E6CB-D555CD5EBF87}"/>
                    </a:ext>
                  </a:extLst>
                </p:cNvPr>
                <p:cNvSpPr/>
                <p:nvPr/>
              </p:nvSpPr>
              <p:spPr>
                <a:xfrm>
                  <a:off x="961297" y="180370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1" name="Content Placeholder 3">
                  <a:extLst>
                    <a:ext uri="{FF2B5EF4-FFF2-40B4-BE49-F238E27FC236}">
                      <a16:creationId xmlns:a16="http://schemas.microsoft.com/office/drawing/2014/main" id="{2D3192AC-3C8C-B8B8-E25E-45C5EE61EF9E}"/>
                    </a:ext>
                  </a:extLst>
                </p:cNvPr>
                <p:cNvSpPr txBox="1">
                  <a:spLocks/>
                </p:cNvSpPr>
                <p:nvPr/>
              </p:nvSpPr>
              <p:spPr>
                <a:xfrm>
                  <a:off x="1146762" y="1787930"/>
                  <a:ext cx="2361637" cy="5471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800" b="1" dirty="0">
                      <a:ln w="9525">
                        <a:solidFill>
                          <a:schemeClr val="bg1"/>
                        </a:solidFill>
                        <a:prstDash val="solid"/>
                      </a:ln>
                    </a:rPr>
                    <a:t>Opportunities</a:t>
                  </a:r>
                </a:p>
              </p:txBody>
            </p:sp>
          </p:grpSp>
          <p:cxnSp>
            <p:nvCxnSpPr>
              <p:cNvPr id="39" name="Straight Connector 38">
                <a:extLst>
                  <a:ext uri="{FF2B5EF4-FFF2-40B4-BE49-F238E27FC236}">
                    <a16:creationId xmlns:a16="http://schemas.microsoft.com/office/drawing/2014/main" id="{4B678470-5790-C38A-BF41-D8DFA2DA5A5E}"/>
                  </a:ext>
                </a:extLst>
              </p:cNvPr>
              <p:cNvCxnSpPr>
                <a:cxnSpLocks/>
              </p:cNvCxnSpPr>
              <p:nvPr/>
            </p:nvCxnSpPr>
            <p:spPr>
              <a:xfrm>
                <a:off x="831426" y="1818167"/>
                <a:ext cx="3395806"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54" name="Content Placeholder 3">
              <a:extLst>
                <a:ext uri="{FF2B5EF4-FFF2-40B4-BE49-F238E27FC236}">
                  <a16:creationId xmlns:a16="http://schemas.microsoft.com/office/drawing/2014/main" id="{CE398719-5BD0-8136-877B-6F95D1578958}"/>
                </a:ext>
              </a:extLst>
            </p:cNvPr>
            <p:cNvSpPr txBox="1">
              <a:spLocks/>
            </p:cNvSpPr>
            <p:nvPr/>
          </p:nvSpPr>
          <p:spPr>
            <a:xfrm>
              <a:off x="2366967" y="3762269"/>
              <a:ext cx="3625231" cy="2252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spcBef>
                  <a:spcPts val="600"/>
                </a:spcBef>
              </a:pPr>
              <a:r>
                <a:rPr lang="en-US" sz="1700" b="1" dirty="0"/>
                <a:t>Expanding or providing different types of food and beverages​.</a:t>
              </a:r>
            </a:p>
            <a:p>
              <a:pPr>
                <a:spcBef>
                  <a:spcPts val="600"/>
                </a:spcBef>
              </a:pPr>
              <a:r>
                <a:rPr lang="en-US" sz="1700" b="1" dirty="0"/>
                <a:t>Healthy food option​.</a:t>
              </a:r>
            </a:p>
            <a:p>
              <a:pPr>
                <a:spcBef>
                  <a:spcPts val="600"/>
                </a:spcBef>
              </a:pPr>
              <a:r>
                <a:rPr lang="en-US" sz="1700" b="1" dirty="0"/>
                <a:t>New restaurant locations​.</a:t>
              </a:r>
            </a:p>
          </p:txBody>
        </p:sp>
      </p:grpSp>
      <p:grpSp>
        <p:nvGrpSpPr>
          <p:cNvPr id="60" name="Group 59">
            <a:extLst>
              <a:ext uri="{FF2B5EF4-FFF2-40B4-BE49-F238E27FC236}">
                <a16:creationId xmlns:a16="http://schemas.microsoft.com/office/drawing/2014/main" id="{92005F45-7FB9-8580-5C28-6976C297DB43}"/>
              </a:ext>
            </a:extLst>
          </p:cNvPr>
          <p:cNvGrpSpPr/>
          <p:nvPr/>
        </p:nvGrpSpPr>
        <p:grpSpPr>
          <a:xfrm>
            <a:off x="1553902" y="612280"/>
            <a:ext cx="4541918" cy="2694940"/>
            <a:chOff x="2371366" y="527219"/>
            <a:chExt cx="3722214" cy="2788896"/>
          </a:xfrm>
        </p:grpSpPr>
        <p:grpSp>
          <p:nvGrpSpPr>
            <p:cNvPr id="32" name="Group 31">
              <a:extLst>
                <a:ext uri="{FF2B5EF4-FFF2-40B4-BE49-F238E27FC236}">
                  <a16:creationId xmlns:a16="http://schemas.microsoft.com/office/drawing/2014/main" id="{2556AAFB-E051-EBC7-6B09-048123321A2A}"/>
                </a:ext>
              </a:extLst>
            </p:cNvPr>
            <p:cNvGrpSpPr/>
            <p:nvPr/>
          </p:nvGrpSpPr>
          <p:grpSpPr>
            <a:xfrm>
              <a:off x="2371513" y="527219"/>
              <a:ext cx="3722067" cy="2788896"/>
              <a:chOff x="831426" y="1248416"/>
              <a:chExt cx="3395806" cy="3408644"/>
            </a:xfrm>
          </p:grpSpPr>
          <p:grpSp>
            <p:nvGrpSpPr>
              <p:cNvPr id="33" name="Group 32">
                <a:extLst>
                  <a:ext uri="{FF2B5EF4-FFF2-40B4-BE49-F238E27FC236}">
                    <a16:creationId xmlns:a16="http://schemas.microsoft.com/office/drawing/2014/main" id="{400FD41D-E768-1ED3-0090-A1D3E165A55A}"/>
                  </a:ext>
                </a:extLst>
              </p:cNvPr>
              <p:cNvGrpSpPr/>
              <p:nvPr/>
            </p:nvGrpSpPr>
            <p:grpSpPr>
              <a:xfrm>
                <a:off x="831426" y="1248416"/>
                <a:ext cx="3395806" cy="3408644"/>
                <a:chOff x="961297" y="1787930"/>
                <a:chExt cx="2732568" cy="2489607"/>
              </a:xfrm>
            </p:grpSpPr>
            <p:sp>
              <p:nvSpPr>
                <p:cNvPr id="35" name="Rectangle 34">
                  <a:extLst>
                    <a:ext uri="{FF2B5EF4-FFF2-40B4-BE49-F238E27FC236}">
                      <a16:creationId xmlns:a16="http://schemas.microsoft.com/office/drawing/2014/main" id="{3D255440-6A87-4C43-605F-B2577B76F5E8}"/>
                    </a:ext>
                  </a:extLst>
                </p:cNvPr>
                <p:cNvSpPr/>
                <p:nvPr/>
              </p:nvSpPr>
              <p:spPr>
                <a:xfrm>
                  <a:off x="961297" y="1803708"/>
                  <a:ext cx="2732568" cy="2473829"/>
                </a:xfrm>
                <a:prstGeom prst="rect">
                  <a:avLst/>
                </a:prstGeom>
                <a:noFill/>
                <a:ln w="38100">
                  <a:solidFill>
                    <a:schemeClr val="tx2">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6" name="Content Placeholder 3">
                  <a:extLst>
                    <a:ext uri="{FF2B5EF4-FFF2-40B4-BE49-F238E27FC236}">
                      <a16:creationId xmlns:a16="http://schemas.microsoft.com/office/drawing/2014/main" id="{FBDFC60A-19AB-AB43-444B-F66D6C793B85}"/>
                    </a:ext>
                  </a:extLst>
                </p:cNvPr>
                <p:cNvSpPr txBox="1">
                  <a:spLocks/>
                </p:cNvSpPr>
                <p:nvPr/>
              </p:nvSpPr>
              <p:spPr>
                <a:xfrm>
                  <a:off x="1146762" y="1787930"/>
                  <a:ext cx="2361637" cy="54717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marL="0" indent="0" algn="ctr">
                    <a:buFont typeface="Arial" pitchFamily="34" charset="0"/>
                    <a:buNone/>
                  </a:pPr>
                  <a:r>
                    <a:rPr lang="en-US" sz="2800" b="1" dirty="0">
                      <a:ln w="9525">
                        <a:solidFill>
                          <a:schemeClr val="bg1"/>
                        </a:solidFill>
                        <a:prstDash val="solid"/>
                      </a:ln>
                      <a:latin typeface="+mj-lt"/>
                    </a:rPr>
                    <a:t>Strengths</a:t>
                  </a:r>
                </a:p>
              </p:txBody>
            </p:sp>
          </p:grpSp>
          <p:cxnSp>
            <p:nvCxnSpPr>
              <p:cNvPr id="34" name="Straight Connector 33">
                <a:extLst>
                  <a:ext uri="{FF2B5EF4-FFF2-40B4-BE49-F238E27FC236}">
                    <a16:creationId xmlns:a16="http://schemas.microsoft.com/office/drawing/2014/main" id="{ADBBD477-4E44-62FB-159A-2C8E1D5EC5EE}"/>
                  </a:ext>
                </a:extLst>
              </p:cNvPr>
              <p:cNvCxnSpPr>
                <a:cxnSpLocks/>
              </p:cNvCxnSpPr>
              <p:nvPr/>
            </p:nvCxnSpPr>
            <p:spPr>
              <a:xfrm>
                <a:off x="831426" y="1818167"/>
                <a:ext cx="3395806" cy="0"/>
              </a:xfrm>
              <a:prstGeom prst="line">
                <a:avLst/>
              </a:prstGeom>
              <a:ln w="38100"/>
            </p:spPr>
            <p:style>
              <a:lnRef idx="1">
                <a:schemeClr val="dk1"/>
              </a:lnRef>
              <a:fillRef idx="0">
                <a:schemeClr val="dk1"/>
              </a:fillRef>
              <a:effectRef idx="0">
                <a:schemeClr val="dk1"/>
              </a:effectRef>
              <a:fontRef idx="minor">
                <a:schemeClr val="tx1"/>
              </a:fontRef>
            </p:style>
          </p:cxnSp>
        </p:grpSp>
        <p:sp>
          <p:nvSpPr>
            <p:cNvPr id="58" name="Content Placeholder 3">
              <a:extLst>
                <a:ext uri="{FF2B5EF4-FFF2-40B4-BE49-F238E27FC236}">
                  <a16:creationId xmlns:a16="http://schemas.microsoft.com/office/drawing/2014/main" id="{B443AF71-3597-42F5-5266-BD41FEDCCD4D}"/>
                </a:ext>
              </a:extLst>
            </p:cNvPr>
            <p:cNvSpPr txBox="1">
              <a:spLocks/>
            </p:cNvSpPr>
            <p:nvPr/>
          </p:nvSpPr>
          <p:spPr>
            <a:xfrm>
              <a:off x="2371366" y="1008255"/>
              <a:ext cx="3625231" cy="2252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spcBef>
                  <a:spcPts val="600"/>
                </a:spcBef>
              </a:pPr>
              <a:r>
                <a:rPr lang="en-US" sz="1700" b="1" dirty="0"/>
                <a:t>Largest fast food market share in the world​.</a:t>
              </a:r>
            </a:p>
            <a:p>
              <a:pPr>
                <a:spcBef>
                  <a:spcPts val="600"/>
                </a:spcBef>
              </a:pPr>
              <a:r>
                <a:rPr lang="en-US" sz="1700" b="1" dirty="0"/>
                <a:t>Quick food service.​</a:t>
              </a:r>
            </a:p>
            <a:p>
              <a:pPr>
                <a:spcBef>
                  <a:spcPts val="600"/>
                </a:spcBef>
              </a:pPr>
              <a:r>
                <a:rPr lang="en-US" sz="1700" b="1" dirty="0"/>
                <a:t>Large budget for advertising​.</a:t>
              </a:r>
            </a:p>
            <a:p>
              <a:pPr>
                <a:spcBef>
                  <a:spcPts val="600"/>
                </a:spcBef>
              </a:pPr>
              <a:r>
                <a:rPr lang="en-US" sz="1700" b="1" dirty="0"/>
                <a:t>Using food delivery apps​</a:t>
              </a:r>
            </a:p>
            <a:p>
              <a:pPr>
                <a:spcBef>
                  <a:spcPts val="600"/>
                </a:spcBef>
              </a:pPr>
              <a:r>
                <a:rPr lang="en-US" sz="1700" b="1" dirty="0"/>
                <a:t>Children targeting​</a:t>
              </a:r>
            </a:p>
            <a:p>
              <a:pPr>
                <a:spcBef>
                  <a:spcPts val="600"/>
                </a:spcBef>
              </a:pPr>
              <a:r>
                <a:rPr lang="en-US" sz="1700" b="1" dirty="0"/>
                <a:t>Partnerships with the best brands​.</a:t>
              </a:r>
            </a:p>
          </p:txBody>
        </p:sp>
      </p:grpSp>
    </p:spTree>
    <p:extLst>
      <p:ext uri="{BB962C8B-B14F-4D97-AF65-F5344CB8AC3E}">
        <p14:creationId xmlns:p14="http://schemas.microsoft.com/office/powerpoint/2010/main" val="27782610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AD127-9033-C54D-4703-E59324792629}"/>
              </a:ext>
            </a:extLst>
          </p:cNvPr>
          <p:cNvSpPr txBox="1">
            <a:spLocks/>
          </p:cNvSpPr>
          <p:nvPr/>
        </p:nvSpPr>
        <p:spPr>
          <a:xfrm>
            <a:off x="2792529" y="2857807"/>
            <a:ext cx="6606941" cy="1142385"/>
          </a:xfrm>
          <a:prstGeom prst="rect">
            <a:avLst/>
          </a:prstGeom>
        </p:spPr>
        <p:txBody>
          <a:bodyPr>
            <a:no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pPr algn="ctr"/>
            <a:r>
              <a:rPr lang="en-US" sz="10000" dirty="0"/>
              <a:t>Thank You</a:t>
            </a:r>
          </a:p>
        </p:txBody>
      </p:sp>
    </p:spTree>
    <p:extLst>
      <p:ext uri="{BB962C8B-B14F-4D97-AF65-F5344CB8AC3E}">
        <p14:creationId xmlns:p14="http://schemas.microsoft.com/office/powerpoint/2010/main" val="1544302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7180</TotalTime>
  <Words>652</Words>
  <Application>Microsoft Office PowerPoint</Application>
  <PresentationFormat>Widescreen</PresentationFormat>
  <Paragraphs>163</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Gill Sans MT</vt:lpstr>
      <vt:lpstr>Times New Roman</vt:lpstr>
      <vt:lpstr>Wingdings</vt:lpstr>
      <vt:lpstr>Diamond Grid 16x9</vt:lpstr>
      <vt:lpstr>PowerPoint Presentation</vt:lpstr>
      <vt:lpstr>Outlines</vt:lpstr>
      <vt:lpstr>Techniques to Assess Value and Risks</vt:lpstr>
      <vt:lpstr>Score Matrix</vt:lpstr>
      <vt:lpstr>Score Matrix</vt:lpstr>
      <vt:lpstr>Score Matrix</vt:lpstr>
      <vt:lpstr>Score Matrix</vt:lpstr>
      <vt:lpstr>SWOT Analysis</vt:lpstr>
      <vt:lpstr>SWOT Analysis</vt:lpstr>
      <vt:lpstr>SWOT Analysis of McDonald’s</vt:lpstr>
      <vt:lpstr>PowerPoint Presentation</vt:lpstr>
    </vt:vector>
  </TitlesOfParts>
  <Company>Ahmed-Under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basma yasser mohamed</dc:creator>
  <cp:lastModifiedBy>basma yasser mohamed</cp:lastModifiedBy>
  <cp:revision>99</cp:revision>
  <dcterms:created xsi:type="dcterms:W3CDTF">2026-02-13T09:00:52Z</dcterms:created>
  <dcterms:modified xsi:type="dcterms:W3CDTF">2026-03-27T23:18:16Z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