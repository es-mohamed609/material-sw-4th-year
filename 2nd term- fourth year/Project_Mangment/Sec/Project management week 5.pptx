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handoutMasterIdLst>
    <p:handoutMasterId r:id="rId21"/>
  </p:handoutMasterIdLst>
  <p:sldIdLst>
    <p:sldId id="257" r:id="rId2"/>
    <p:sldId id="274" r:id="rId3"/>
    <p:sldId id="262" r:id="rId4"/>
    <p:sldId id="280" r:id="rId5"/>
    <p:sldId id="315" r:id="rId6"/>
    <p:sldId id="316" r:id="rId7"/>
    <p:sldId id="317" r:id="rId8"/>
    <p:sldId id="319" r:id="rId9"/>
    <p:sldId id="324" r:id="rId10"/>
    <p:sldId id="321" r:id="rId11"/>
    <p:sldId id="322" r:id="rId12"/>
    <p:sldId id="325" r:id="rId13"/>
    <p:sldId id="326" r:id="rId14"/>
    <p:sldId id="327" r:id="rId15"/>
    <p:sldId id="328" r:id="rId16"/>
    <p:sldId id="329" r:id="rId17"/>
    <p:sldId id="330" r:id="rId18"/>
    <p:sldId id="26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EAE8"/>
    <a:srgbClr val="0000FF"/>
    <a:srgbClr val="D15A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706" autoAdjust="0"/>
  </p:normalViewPr>
  <p:slideViewPr>
    <p:cSldViewPr snapToGrid="0">
      <p:cViewPr varScale="1">
        <p:scale>
          <a:sx n="60" d="100"/>
          <a:sy n="60" d="100"/>
        </p:scale>
        <p:origin x="908" y="64"/>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2" d="100"/>
          <a:sy n="82" d="100"/>
        </p:scale>
        <p:origin x="3852"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41DB8-B66F-4DC8-A96E-33677E0F90FF}" type="datetimeFigureOut">
              <a:rPr lang="en-US" smtClean="0"/>
              <a:t>3/26/2026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04A0D4-B89B-4ADD-AF9E-38636B40EE4E}" type="slidenum">
              <a:rPr lang="en-US" smtClean="0"/>
              <a:t>‹#›</a:t>
            </a:fld>
            <a:endParaRPr lang="en-US"/>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B49C4A-65AC-492D-9701-81B46C3AD0E4}" type="datetimeFigureOut">
              <a:rPr lang="en-US" smtClean="0"/>
              <a:t>3/26/2026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869989-EB00-4EE7-BCB5-25BDC5BB29F8}" type="slidenum">
              <a:rPr lang="en-US" smtClean="0"/>
              <a:t>‹#›</a:t>
            </a:fld>
            <a:endParaRPr lang="en-US"/>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2869989-EB00-4EE7-BCB5-25BDC5BB29F8}" type="slidenum">
              <a:rPr lang="en-US" smtClean="0"/>
              <a:t>1</a:t>
            </a:fld>
            <a:endParaRPr lang="en-US"/>
          </a:p>
        </p:txBody>
      </p:sp>
    </p:spTree>
    <p:extLst>
      <p:ext uri="{BB962C8B-B14F-4D97-AF65-F5344CB8AC3E}">
        <p14:creationId xmlns:p14="http://schemas.microsoft.com/office/powerpoint/2010/main" val="1980303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01BE0-97E1-F031-2479-6634F7AD5E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38ED07-7E3D-B28F-013B-8F81A3EF3B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292254-3230-0F64-0FC3-D487C4D3180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D63D2C7-5108-32B8-E1C5-F75716C547C7}"/>
              </a:ext>
            </a:extLst>
          </p:cNvPr>
          <p:cNvSpPr>
            <a:spLocks noGrp="1"/>
          </p:cNvSpPr>
          <p:nvPr>
            <p:ph type="sldNum" sz="quarter" idx="10"/>
          </p:nvPr>
        </p:nvSpPr>
        <p:spPr/>
        <p:txBody>
          <a:bodyPr/>
          <a:lstStyle/>
          <a:p>
            <a:fld id="{82869989-EB00-4EE7-BCB5-25BDC5BB29F8}" type="slidenum">
              <a:rPr lang="en-US" smtClean="0"/>
              <a:t>2</a:t>
            </a:fld>
            <a:endParaRPr lang="en-US"/>
          </a:p>
        </p:txBody>
      </p:sp>
    </p:spTree>
    <p:extLst>
      <p:ext uri="{BB962C8B-B14F-4D97-AF65-F5344CB8AC3E}">
        <p14:creationId xmlns:p14="http://schemas.microsoft.com/office/powerpoint/2010/main" val="36728029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5" name="Group 4"/>
          <p:cNvGrpSpPr/>
          <p:nvPr userDrawn="1"/>
        </p:nvGrpSpPr>
        <p:grpSpPr bwMode="hidden">
          <a:xfrm>
            <a:off x="-1" y="0"/>
            <a:ext cx="12192002" cy="6858000"/>
            <a:chOff x="-1" y="0"/>
            <a:chExt cx="12192002" cy="6858000"/>
          </a:xfrm>
        </p:grpSpPr>
        <p:cxnSp>
          <p:nvCxnSpPr>
            <p:cNvPr id="6" name="Straight Connector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p:cNvGrpSpPr/>
            <p:nvPr userDrawn="1"/>
          </p:nvGrpSpPr>
          <p:grpSpPr bwMode="hidden">
            <a:xfrm>
              <a:off x="-1" y="0"/>
              <a:ext cx="12192001" cy="6858000"/>
              <a:chOff x="-1" y="0"/>
              <a:chExt cx="12192001" cy="6858000"/>
            </a:xfrm>
          </p:grpSpPr>
          <p:cxnSp>
            <p:nvCxnSpPr>
              <p:cNvPr id="41" name="Straight Connector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Group 45"/>
              <p:cNvGrpSpPr/>
              <p:nvPr/>
            </p:nvGrpSpPr>
            <p:grpSpPr bwMode="hidden">
              <a:xfrm>
                <a:off x="6327885" y="0"/>
                <a:ext cx="5864115" cy="5898673"/>
                <a:chOff x="6327885" y="0"/>
                <a:chExt cx="5864115" cy="5898673"/>
              </a:xfrm>
            </p:grpSpPr>
            <p:cxnSp>
              <p:nvCxnSpPr>
                <p:cNvPr id="52" name="Straight Connector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Straight Connector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userDrawn="1"/>
          </p:nvGrpSpPr>
          <p:grpSpPr bwMode="hidden">
            <a:xfrm flipH="1">
              <a:off x="0" y="0"/>
              <a:ext cx="12192001" cy="6858000"/>
              <a:chOff x="-1" y="0"/>
              <a:chExt cx="12192001" cy="6858000"/>
            </a:xfrm>
          </p:grpSpPr>
          <p:cxnSp>
            <p:nvCxnSpPr>
              <p:cNvPr id="25" name="Straight Connector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bwMode="hidden">
              <a:xfrm>
                <a:off x="6327885" y="0"/>
                <a:ext cx="5864115" cy="5898673"/>
                <a:chOff x="6327885" y="0"/>
                <a:chExt cx="5864115" cy="5898673"/>
              </a:xfrm>
            </p:grpSpPr>
            <p:cxnSp>
              <p:nvCxnSpPr>
                <p:cNvPr id="36" name="Straight Connector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Straight Connector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ctrTitle"/>
          </p:nvPr>
        </p:nvSpPr>
        <p:spPr>
          <a:xfrm>
            <a:off x="1293845" y="1909346"/>
            <a:ext cx="9604310" cy="3383280"/>
          </a:xfrm>
        </p:spPr>
        <p:txBody>
          <a:bodyPr anchor="b">
            <a:normAutofit/>
          </a:bodyPr>
          <a:lstStyle>
            <a:lvl1pPr algn="l">
              <a:lnSpc>
                <a:spcPct val="76000"/>
              </a:lnSpc>
              <a:defRPr sz="8000" cap="none"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93845" y="5432564"/>
            <a:ext cx="9604310" cy="457200"/>
          </a:xfrm>
        </p:spPr>
        <p:txBody>
          <a:bodyPr>
            <a:normAutofit/>
          </a:bodyPr>
          <a:lstStyle>
            <a:lvl1pPr marL="0" indent="0" algn="l">
              <a:spcBef>
                <a:spcPts val="0"/>
              </a:spcBef>
              <a:buNone/>
              <a:defRPr sz="2000" b="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58" name="Straight Connector 57"/>
          <p:cNvCxnSpPr/>
          <p:nvPr userDrawn="1"/>
        </p:nvCxnSpPr>
        <p:spPr>
          <a:xfrm>
            <a:off x="1295400" y="5294175"/>
            <a:ext cx="96012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AE374B5B-21A0-4192-BF4C-38187F1A68D8}" type="datetime1">
              <a:rPr lang="en-US" smtClean="0"/>
              <a:t>3/26/2026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Group 6"/>
          <p:cNvGrpSpPr/>
          <p:nvPr userDrawn="1"/>
        </p:nvGrpSpPr>
        <p:grpSpPr bwMode="hidden">
          <a:xfrm>
            <a:off x="-1" y="0"/>
            <a:ext cx="12192002" cy="6858000"/>
            <a:chOff x="-1" y="0"/>
            <a:chExt cx="12192002" cy="6858000"/>
          </a:xfrm>
        </p:grpSpPr>
        <p:cxnSp>
          <p:nvCxnSpPr>
            <p:cNvPr id="8" name="Straight Connector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Group 23"/>
            <p:cNvGrpSpPr/>
            <p:nvPr userDrawn="1"/>
          </p:nvGrpSpPr>
          <p:grpSpPr bwMode="hidden">
            <a:xfrm>
              <a:off x="-1" y="0"/>
              <a:ext cx="12192001" cy="6858000"/>
              <a:chOff x="-1" y="0"/>
              <a:chExt cx="12192001" cy="6858000"/>
            </a:xfrm>
          </p:grpSpPr>
          <p:cxnSp>
            <p:nvCxnSpPr>
              <p:cNvPr id="42" name="Straight Connector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Group 46"/>
              <p:cNvGrpSpPr/>
              <p:nvPr/>
            </p:nvGrpSpPr>
            <p:grpSpPr bwMode="hidden">
              <a:xfrm>
                <a:off x="6327885" y="0"/>
                <a:ext cx="5864115" cy="5898673"/>
                <a:chOff x="6327885" y="0"/>
                <a:chExt cx="5864115" cy="5898673"/>
              </a:xfrm>
            </p:grpSpPr>
            <p:cxnSp>
              <p:nvCxnSpPr>
                <p:cNvPr id="53" name="Straight Connector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Straight Connector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userDrawn="1"/>
          </p:nvGrpSpPr>
          <p:grpSpPr bwMode="hidden">
            <a:xfrm flipH="1">
              <a:off x="0" y="0"/>
              <a:ext cx="12192001" cy="6858000"/>
              <a:chOff x="-1" y="0"/>
              <a:chExt cx="12192001" cy="6858000"/>
            </a:xfrm>
          </p:grpSpPr>
          <p:cxnSp>
            <p:nvCxnSpPr>
              <p:cNvPr id="26" name="Straight Connector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Group 30"/>
              <p:cNvGrpSpPr/>
              <p:nvPr/>
            </p:nvGrpSpPr>
            <p:grpSpPr bwMode="hidden">
              <a:xfrm>
                <a:off x="6327885" y="0"/>
                <a:ext cx="5864115" cy="5898673"/>
                <a:chOff x="6327885" y="0"/>
                <a:chExt cx="5864115" cy="5898673"/>
              </a:xfrm>
            </p:grpSpPr>
            <p:cxnSp>
              <p:nvCxnSpPr>
                <p:cNvPr id="37" name="Straight Connector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295400" y="2541573"/>
            <a:ext cx="9601200" cy="2743200"/>
          </a:xfrm>
        </p:spPr>
        <p:txBody>
          <a:bodyPr anchor="b">
            <a:normAutofit/>
          </a:bodyPr>
          <a:lstStyle>
            <a:lvl1pPr>
              <a:lnSpc>
                <a:spcPct val="85000"/>
              </a:lnSpc>
              <a:defRPr sz="6000" cap="none"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295400" y="5431536"/>
            <a:ext cx="9601200" cy="457200"/>
          </a:xfrm>
        </p:spPr>
        <p:txBody>
          <a:bodyPr>
            <a:normAutofit/>
          </a:bodyPr>
          <a:lstStyle>
            <a:lvl1pPr marL="0" indent="0">
              <a:spcBef>
                <a:spcPts val="0"/>
              </a:spcBef>
              <a:buNone/>
              <a:defRPr sz="2000" b="0">
                <a:solidFill>
                  <a:schemeClr val="tx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cxnSp>
        <p:nvCxnSpPr>
          <p:cNvPr id="58" name="Straight Connector 57"/>
          <p:cNvCxnSpPr/>
          <p:nvPr userDrawn="1"/>
        </p:nvCxnSpPr>
        <p:spPr>
          <a:xfrm>
            <a:off x="1295400" y="5294175"/>
            <a:ext cx="960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778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54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33B5CF7C-B333-48E1-A4A6-83A3C8B73AC0}" type="datetime1">
              <a:rPr lang="en-US" smtClean="0"/>
              <a:t>3/26/2026</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954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46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AE320762-5CBF-4210-AB54-376B091119F8}" type="datetime1">
              <a:rPr lang="en-US" smtClean="0"/>
              <a:t>3/26/2026</a:t>
            </a:fld>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7F0DB371-BF5F-4058-A212-1A908E4D2674}" type="datetime1">
              <a:rPr lang="en-US" smtClean="0"/>
              <a:t>3/26/2026</a:t>
            </a:fld>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161" name="Group 160"/>
          <p:cNvGrpSpPr/>
          <p:nvPr userDrawn="1"/>
        </p:nvGrpSpPr>
        <p:grpSpPr bwMode="hidden">
          <a:xfrm>
            <a:off x="-1" y="0"/>
            <a:ext cx="12192002" cy="6858000"/>
            <a:chOff x="-1" y="0"/>
            <a:chExt cx="12192002" cy="6858000"/>
          </a:xfrm>
        </p:grpSpPr>
        <p:cxnSp>
          <p:nvCxnSpPr>
            <p:cNvPr id="162" name="Straight Connector 161"/>
            <p:cNvCxnSpPr/>
            <p:nvPr/>
          </p:nvCxnSpPr>
          <p:spPr bwMode="hidden">
            <a:xfrm>
              <a:off x="61019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bwMode="hidden">
            <a:xfrm>
              <a:off x="182933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bwMode="hidden">
            <a:xfrm>
              <a:off x="304847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bwMode="hidden">
            <a:xfrm>
              <a:off x="426760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bwMode="hidden">
            <a:xfrm>
              <a:off x="548674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bwMode="hidden">
            <a:xfrm>
              <a:off x="670588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bwMode="hidden">
            <a:xfrm>
              <a:off x="792502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bwMode="hidden">
            <a:xfrm>
              <a:off x="914416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bwMode="hidden">
            <a:xfrm>
              <a:off x="1036329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bwMode="hidden">
            <a:xfrm>
              <a:off x="1158243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bwMode="hidden">
            <a:xfrm>
              <a:off x="2819" y="38648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bwMode="hidden">
            <a:xfrm>
              <a:off x="2819" y="1611181"/>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bwMode="hidden">
            <a:xfrm>
              <a:off x="2819" y="2835877"/>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bwMode="hidden">
            <a:xfrm>
              <a:off x="2819" y="4060573"/>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bwMode="hidden">
            <a:xfrm>
              <a:off x="2819" y="5285269"/>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bwMode="hidden">
            <a:xfrm>
              <a:off x="2819" y="650996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78" name="Group 177"/>
            <p:cNvGrpSpPr/>
            <p:nvPr userDrawn="1"/>
          </p:nvGrpSpPr>
          <p:grpSpPr bwMode="hidden">
            <a:xfrm>
              <a:off x="-1" y="0"/>
              <a:ext cx="12192001" cy="6858000"/>
              <a:chOff x="-1" y="0"/>
              <a:chExt cx="12192001" cy="6858000"/>
            </a:xfrm>
          </p:grpSpPr>
          <p:cxnSp>
            <p:nvCxnSpPr>
              <p:cNvPr id="196" name="Straight Connector 195"/>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01" name="Group 200"/>
              <p:cNvGrpSpPr/>
              <p:nvPr/>
            </p:nvGrpSpPr>
            <p:grpSpPr bwMode="hidden">
              <a:xfrm>
                <a:off x="6327885" y="0"/>
                <a:ext cx="5864115" cy="5898673"/>
                <a:chOff x="6327885" y="0"/>
                <a:chExt cx="5864115" cy="5898673"/>
              </a:xfrm>
            </p:grpSpPr>
            <p:cxnSp>
              <p:nvCxnSpPr>
                <p:cNvPr id="207" name="Straight Connector 206"/>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202" name="Straight Connector 201"/>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bwMode="hidden">
            <a:xfrm flipH="1">
              <a:off x="0" y="0"/>
              <a:ext cx="12192001" cy="6858000"/>
              <a:chOff x="-1" y="0"/>
              <a:chExt cx="12192001" cy="6858000"/>
            </a:xfrm>
          </p:grpSpPr>
          <p:cxnSp>
            <p:nvCxnSpPr>
              <p:cNvPr id="180" name="Straight Connector 179"/>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85" name="Group 184"/>
              <p:cNvGrpSpPr/>
              <p:nvPr/>
            </p:nvGrpSpPr>
            <p:grpSpPr bwMode="hidden">
              <a:xfrm>
                <a:off x="6327885" y="0"/>
                <a:ext cx="5864115" cy="5898673"/>
                <a:chOff x="6327885" y="0"/>
                <a:chExt cx="5864115" cy="5898673"/>
              </a:xfrm>
            </p:grpSpPr>
            <p:cxnSp>
              <p:nvCxnSpPr>
                <p:cNvPr id="191" name="Straight Connector 190"/>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186" name="Straight Connector 18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sp>
        <p:nvSpPr>
          <p:cNvPr id="213" name="Footer Placeholder 212"/>
          <p:cNvSpPr>
            <a:spLocks noGrp="1"/>
          </p:cNvSpPr>
          <p:nvPr>
            <p:ph type="ftr" sz="quarter" idx="11"/>
          </p:nvPr>
        </p:nvSpPr>
        <p:spPr/>
        <p:txBody>
          <a:bodyPr/>
          <a:lstStyle/>
          <a:p>
            <a:r>
              <a:rPr lang="en-US" dirty="0"/>
              <a:t>Add a footer</a:t>
            </a:r>
          </a:p>
        </p:txBody>
      </p:sp>
      <p:sp>
        <p:nvSpPr>
          <p:cNvPr id="212" name="Date Placeholder 211"/>
          <p:cNvSpPr>
            <a:spLocks noGrp="1"/>
          </p:cNvSpPr>
          <p:nvPr>
            <p:ph type="dt" sz="half" idx="10"/>
          </p:nvPr>
        </p:nvSpPr>
        <p:spPr/>
        <p:txBody>
          <a:bodyPr/>
          <a:lstStyle/>
          <a:p>
            <a:fld id="{60A4083B-90AA-48CF-BAD5-00AA24D7F288}" type="datetime1">
              <a:rPr lang="en-US" smtClean="0"/>
              <a:t>3/26/2026</a:t>
            </a:fld>
            <a:endParaRPr lang="en-US"/>
          </a:p>
        </p:txBody>
      </p:sp>
      <p:sp>
        <p:nvSpPr>
          <p:cNvPr id="214" name="Slide Number Placeholder 213"/>
          <p:cNvSpPr>
            <a:spLocks noGrp="1"/>
          </p:cNvSpPr>
          <p:nvPr>
            <p:ph type="sldNum" sz="quarter" idx="12"/>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Group 8"/>
          <p:cNvGrpSpPr/>
          <p:nvPr userDrawn="1"/>
        </p:nvGrpSpPr>
        <p:grpSpPr bwMode="hidden">
          <a:xfrm>
            <a:off x="-1" y="0"/>
            <a:ext cx="12192002" cy="6858000"/>
            <a:chOff x="-1" y="0"/>
            <a:chExt cx="12192002" cy="6858000"/>
          </a:xfrm>
        </p:grpSpPr>
        <p:cxnSp>
          <p:nvCxnSpPr>
            <p:cNvPr id="10" name="Straight Connector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Group 25"/>
            <p:cNvGrpSpPr/>
            <p:nvPr userDrawn="1"/>
          </p:nvGrpSpPr>
          <p:grpSpPr bwMode="hidden">
            <a:xfrm>
              <a:off x="-1" y="0"/>
              <a:ext cx="12192001" cy="6858000"/>
              <a:chOff x="-1" y="0"/>
              <a:chExt cx="12192001" cy="6858000"/>
            </a:xfrm>
          </p:grpSpPr>
          <p:cxnSp>
            <p:nvCxnSpPr>
              <p:cNvPr id="44" name="Straight Connector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Group 48"/>
              <p:cNvGrpSpPr/>
              <p:nvPr/>
            </p:nvGrpSpPr>
            <p:grpSpPr bwMode="hidden">
              <a:xfrm>
                <a:off x="6327885" y="0"/>
                <a:ext cx="5864115" cy="5898673"/>
                <a:chOff x="6327885" y="0"/>
                <a:chExt cx="5864115" cy="5898673"/>
              </a:xfrm>
            </p:grpSpPr>
            <p:cxnSp>
              <p:nvCxnSpPr>
                <p:cNvPr id="55" name="Straight Connector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Straight Connector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userDrawn="1"/>
          </p:nvGrpSpPr>
          <p:grpSpPr bwMode="hidden">
            <a:xfrm flipH="1">
              <a:off x="0" y="0"/>
              <a:ext cx="12192001" cy="6858000"/>
              <a:chOff x="-1" y="0"/>
              <a:chExt cx="12192001" cy="6858000"/>
            </a:xfrm>
          </p:grpSpPr>
          <p:cxnSp>
            <p:nvCxnSpPr>
              <p:cNvPr id="28" name="Straight Connector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bwMode="hidden">
              <a:xfrm>
                <a:off x="6327885" y="0"/>
                <a:ext cx="5864115" cy="5898673"/>
                <a:chOff x="6327885" y="0"/>
                <a:chExt cx="5864115" cy="5898673"/>
              </a:xfrm>
            </p:grpSpPr>
            <p:cxnSp>
              <p:nvCxnSpPr>
                <p:cNvPr id="39" name="Straight Connector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Straight Connector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Rectangle 6"/>
          <p:cNvSpPr/>
          <p:nvPr userDrawn="1"/>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13152" y="571500"/>
            <a:ext cx="3657600" cy="2197100"/>
          </a:xfrm>
        </p:spPr>
        <p:txBody>
          <a:bodyPr anchor="b">
            <a:normAutofit/>
          </a:bodyPr>
          <a:lstStyle>
            <a:lvl1pPr>
              <a:defRPr sz="2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43197" y="571500"/>
            <a:ext cx="6217920" cy="571500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913152" y="2995012"/>
            <a:ext cx="3657600" cy="2285950"/>
          </a:xfrm>
        </p:spPr>
        <p:txBody>
          <a:bodyPr>
            <a:normAutofit/>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lvl1pPr>
              <a:defRPr>
                <a:solidFill>
                  <a:schemeClr val="bg1"/>
                </a:solidFill>
              </a:defRPr>
            </a:lvl1pPr>
          </a:lstStyle>
          <a:p>
            <a:fld id="{F5BAF629-ECA2-4CF3-B790-9D9BDED98269}" type="datetime1">
              <a:rPr lang="en-US" smtClean="0"/>
              <a:pPr/>
              <a:t>3/26/2026</a:t>
            </a:fld>
            <a:endParaRPr lang="en-US"/>
          </a:p>
        </p:txBody>
      </p:sp>
      <p:sp>
        <p:nvSpPr>
          <p:cNvPr id="8" name="Slide Number Placeholder 7"/>
          <p:cNvSpPr>
            <a:spLocks noGrp="1"/>
          </p:cNvSpPr>
          <p:nvPr>
            <p:ph type="sldNum" sz="quarter" idx="12"/>
          </p:nvPr>
        </p:nvSpPr>
        <p:spPr/>
        <p:txBody>
          <a:bodyPr/>
          <a:lstStyle>
            <a:lvl1pPr>
              <a:defRPr>
                <a:solidFill>
                  <a:schemeClr val="bg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Group 7"/>
          <p:cNvGrpSpPr/>
          <p:nvPr/>
        </p:nvGrpSpPr>
        <p:grpSpPr bwMode="hidden">
          <a:xfrm>
            <a:off x="-1" y="0"/>
            <a:ext cx="12192002" cy="6858000"/>
            <a:chOff x="-1" y="0"/>
            <a:chExt cx="12192002" cy="6858000"/>
          </a:xfrm>
        </p:grpSpPr>
        <p:cxnSp>
          <p:nvCxnSpPr>
            <p:cNvPr id="9" name="Straight Connector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bwMode="hidden">
            <a:xfrm>
              <a:off x="-1" y="0"/>
              <a:ext cx="12192001" cy="6858000"/>
              <a:chOff x="-1" y="0"/>
              <a:chExt cx="12192001" cy="6858000"/>
            </a:xfrm>
          </p:grpSpPr>
          <p:cxnSp>
            <p:nvCxnSpPr>
              <p:cNvPr id="43" name="Straight Connector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Group 47"/>
              <p:cNvGrpSpPr/>
              <p:nvPr/>
            </p:nvGrpSpPr>
            <p:grpSpPr bwMode="hidden">
              <a:xfrm>
                <a:off x="6327885" y="0"/>
                <a:ext cx="5864115" cy="5898673"/>
                <a:chOff x="6327885" y="0"/>
                <a:chExt cx="5864115" cy="5898673"/>
              </a:xfrm>
            </p:grpSpPr>
            <p:cxnSp>
              <p:nvCxnSpPr>
                <p:cNvPr id="54" name="Straight Connector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Straight Connector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bwMode="hidden">
            <a:xfrm flipH="1">
              <a:off x="0" y="0"/>
              <a:ext cx="12192001" cy="6858000"/>
              <a:chOff x="-1" y="0"/>
              <a:chExt cx="12192001" cy="6858000"/>
            </a:xfrm>
          </p:grpSpPr>
          <p:cxnSp>
            <p:nvCxnSpPr>
              <p:cNvPr id="27" name="Straight Connector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bwMode="hidden">
              <a:xfrm>
                <a:off x="6327885" y="0"/>
                <a:ext cx="5864115" cy="5898673"/>
                <a:chOff x="6327885" y="0"/>
                <a:chExt cx="5864115" cy="5898673"/>
              </a:xfrm>
            </p:grpSpPr>
            <p:cxnSp>
              <p:nvCxnSpPr>
                <p:cNvPr id="38" name="Straight Connector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Rectangle 59"/>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909560" y="576072"/>
            <a:ext cx="3657600" cy="2194560"/>
          </a:xfrm>
        </p:spPr>
        <p:txBody>
          <a:bodyPr anchor="b">
            <a:normAutofit/>
          </a:bodyPr>
          <a:lstStyle>
            <a:lvl1pPr>
              <a:defRPr sz="2600">
                <a:solidFill>
                  <a:schemeClr val="bg1"/>
                </a:solidFill>
              </a:defRPr>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4412" y="-159"/>
            <a:ext cx="7315200" cy="685800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09560" y="2999232"/>
            <a:ext cx="3657600" cy="2286000"/>
          </a:xfrm>
        </p:spPr>
        <p:txBody>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62031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384A29A4-78C8-47AB-BA06-22CB45938951}" type="datetime1">
              <a:rPr lang="en-US" smtClean="0"/>
              <a:t>3/26/2026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09314" y="489856"/>
            <a:ext cx="1687286" cy="530134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9" y="489856"/>
            <a:ext cx="7587344" cy="53013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1ED4ACF-2D82-46F2-A8E9-23963AA34E86}" type="datetime1">
              <a:rPr lang="en-US" smtClean="0"/>
              <a:t>3/26/2026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Group 95"/>
          <p:cNvGrpSpPr/>
          <p:nvPr userDrawn="1"/>
        </p:nvGrpSpPr>
        <p:grpSpPr bwMode="hidden">
          <a:xfrm>
            <a:off x="-1" y="-195943"/>
            <a:ext cx="12192002" cy="6858000"/>
            <a:chOff x="-1" y="0"/>
            <a:chExt cx="12192002" cy="6858000"/>
          </a:xfrm>
        </p:grpSpPr>
        <p:cxnSp>
          <p:nvCxnSpPr>
            <p:cNvPr id="97" name="Straight Connector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Group 112"/>
            <p:cNvGrpSpPr/>
            <p:nvPr userDrawn="1"/>
          </p:nvGrpSpPr>
          <p:grpSpPr bwMode="hidden">
            <a:xfrm>
              <a:off x="-1" y="0"/>
              <a:ext cx="12192001" cy="6858000"/>
              <a:chOff x="-1" y="0"/>
              <a:chExt cx="12192001" cy="6858000"/>
            </a:xfrm>
          </p:grpSpPr>
          <p:cxnSp>
            <p:nvCxnSpPr>
              <p:cNvPr id="131" name="Straight Connector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Group 135"/>
              <p:cNvGrpSpPr/>
              <p:nvPr/>
            </p:nvGrpSpPr>
            <p:grpSpPr bwMode="hidden">
              <a:xfrm>
                <a:off x="6327885" y="0"/>
                <a:ext cx="5864115" cy="5898673"/>
                <a:chOff x="6327885" y="0"/>
                <a:chExt cx="5864115" cy="5898673"/>
              </a:xfrm>
            </p:grpSpPr>
            <p:cxnSp>
              <p:nvCxnSpPr>
                <p:cNvPr id="142" name="Straight Connector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Straight Connector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p:cNvGrpSpPr/>
            <p:nvPr userDrawn="1"/>
          </p:nvGrpSpPr>
          <p:grpSpPr bwMode="hidden">
            <a:xfrm flipH="1">
              <a:off x="0" y="0"/>
              <a:ext cx="12192001" cy="6858000"/>
              <a:chOff x="-1" y="0"/>
              <a:chExt cx="12192001" cy="6858000"/>
            </a:xfrm>
          </p:grpSpPr>
          <p:cxnSp>
            <p:nvCxnSpPr>
              <p:cNvPr id="115" name="Straight Connector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Group 119"/>
              <p:cNvGrpSpPr/>
              <p:nvPr/>
            </p:nvGrpSpPr>
            <p:grpSpPr bwMode="hidden">
              <a:xfrm>
                <a:off x="6327885" y="0"/>
                <a:ext cx="5864115" cy="5898673"/>
                <a:chOff x="6327885" y="0"/>
                <a:chExt cx="5864115" cy="5898673"/>
              </a:xfrm>
            </p:grpSpPr>
            <p:cxnSp>
              <p:nvCxnSpPr>
                <p:cNvPr id="126" name="Straight Connector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Straight Connector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p:ph type="title"/>
          </p:nvPr>
        </p:nvSpPr>
        <p:spPr>
          <a:xfrm>
            <a:off x="1295400" y="503853"/>
            <a:ext cx="9601200" cy="114238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95400" y="1981201"/>
            <a:ext cx="9601200" cy="38099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48" name="Straight Connector 147"/>
          <p:cNvCxnSpPr/>
          <p:nvPr userDrawn="1"/>
        </p:nvCxnSpPr>
        <p:spPr>
          <a:xfrm>
            <a:off x="609600" y="6172200"/>
            <a:ext cx="109728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p:cNvSpPr>
            <a:spLocks noGrp="1"/>
          </p:cNvSpPr>
          <p:nvPr>
            <p:ph type="ftr" sz="quarter" idx="3"/>
          </p:nvPr>
        </p:nvSpPr>
        <p:spPr>
          <a:xfrm>
            <a:off x="609601" y="6289679"/>
            <a:ext cx="6128030" cy="222436"/>
          </a:xfrm>
          <a:prstGeom prst="rect">
            <a:avLst/>
          </a:prstGeom>
        </p:spPr>
        <p:txBody>
          <a:bodyPr vert="horz" lIns="91440" tIns="45720" rIns="91440" bIns="45720" rtlCol="0" anchor="ctr"/>
          <a:lstStyle>
            <a:lvl1pPr algn="l">
              <a:defRPr sz="1100">
                <a:solidFill>
                  <a:schemeClr val="tx1">
                    <a:lumMod val="90000"/>
                    <a:lumOff val="10000"/>
                  </a:schemeClr>
                </a:solidFill>
              </a:defRPr>
            </a:lvl1pPr>
          </a:lstStyle>
          <a:p>
            <a:r>
              <a:rPr lang="en-US" dirty="0"/>
              <a:t>Add a footer</a:t>
            </a:r>
          </a:p>
        </p:txBody>
      </p:sp>
      <p:sp>
        <p:nvSpPr>
          <p:cNvPr id="4" name="Date Placeholder 3"/>
          <p:cNvSpPr>
            <a:spLocks noGrp="1"/>
          </p:cNvSpPr>
          <p:nvPr>
            <p:ph type="dt" sz="half" idx="2"/>
          </p:nvPr>
        </p:nvSpPr>
        <p:spPr>
          <a:xfrm>
            <a:off x="9294042" y="6289679"/>
            <a:ext cx="965946"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B51B2453-8663-4C69-AF73-9FD7B1DEC5D0}" type="datetime1">
              <a:rPr lang="en-US" smtClean="0"/>
              <a:pPr/>
              <a:t>3/26/2026</a:t>
            </a:fld>
            <a:endParaRPr lang="en-US" dirty="0"/>
          </a:p>
        </p:txBody>
      </p:sp>
      <p:sp>
        <p:nvSpPr>
          <p:cNvPr id="6" name="Slide Number Placeholder 5"/>
          <p:cNvSpPr>
            <a:spLocks noGrp="1"/>
          </p:cNvSpPr>
          <p:nvPr>
            <p:ph type="sldNum" sz="quarter" idx="4"/>
          </p:nvPr>
        </p:nvSpPr>
        <p:spPr>
          <a:xfrm>
            <a:off x="10665311" y="6289679"/>
            <a:ext cx="918882"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9"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5946D51-0A99-B3CC-2CF1-B95E60F0412D}"/>
              </a:ext>
            </a:extLst>
          </p:cNvPr>
          <p:cNvSpPr txBox="1">
            <a:spLocks/>
          </p:cNvSpPr>
          <p:nvPr/>
        </p:nvSpPr>
        <p:spPr>
          <a:xfrm>
            <a:off x="2838033" y="3200399"/>
            <a:ext cx="6515932" cy="45720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pPr algn="ctr"/>
            <a:r>
              <a:rPr lang="en-US" sz="2600" dirty="0">
                <a:solidFill>
                  <a:schemeClr val="tx1"/>
                </a:solidFill>
                <a:cs typeface="Times New Roman" panose="02020603050405020304" pitchFamily="18" charset="0"/>
              </a:rPr>
              <a:t>Software Project Management</a:t>
            </a:r>
          </a:p>
        </p:txBody>
      </p:sp>
      <p:sp>
        <p:nvSpPr>
          <p:cNvPr id="10" name="Subtitle 2">
            <a:extLst>
              <a:ext uri="{FF2B5EF4-FFF2-40B4-BE49-F238E27FC236}">
                <a16:creationId xmlns:a16="http://schemas.microsoft.com/office/drawing/2014/main" id="{9AF970A9-D575-5C6C-CA6F-E93ACB862E93}"/>
              </a:ext>
            </a:extLst>
          </p:cNvPr>
          <p:cNvSpPr txBox="1">
            <a:spLocks/>
          </p:cNvSpPr>
          <p:nvPr/>
        </p:nvSpPr>
        <p:spPr>
          <a:xfrm>
            <a:off x="4795865" y="3788065"/>
            <a:ext cx="2600267" cy="4572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0"/>
              </a:spcBef>
              <a:buClr>
                <a:schemeClr val="accent1">
                  <a:lumMod val="75000"/>
                </a:schemeClr>
              </a:buClr>
              <a:buSzPct val="100000"/>
              <a:buFont typeface="Arial" pitchFamily="34" charset="0"/>
              <a:buNone/>
              <a:defRPr sz="2000" b="0" kern="1200">
                <a:solidFill>
                  <a:schemeClr val="accent1">
                    <a:lumMod val="75000"/>
                  </a:schemeClr>
                </a:solidFill>
                <a:latin typeface="+mn-lt"/>
                <a:ea typeface="+mn-ea"/>
                <a:cs typeface="+mn-cs"/>
              </a:defRPr>
            </a:lvl1pPr>
            <a:lvl2pPr marL="457200" indent="0" algn="ctr" defTabSz="914400" rtl="0" eaLnBrk="1" latinLnBrk="0" hangingPunct="1">
              <a:lnSpc>
                <a:spcPct val="90000"/>
              </a:lnSpc>
              <a:spcBef>
                <a:spcPts val="1200"/>
              </a:spcBef>
              <a:buClr>
                <a:schemeClr val="accent1">
                  <a:lumMod val="75000"/>
                </a:schemeClr>
              </a:buClr>
              <a:buSzPct val="100000"/>
              <a:buFont typeface="Arial"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800"/>
              </a:spcBef>
              <a:buClr>
                <a:schemeClr val="accent1">
                  <a:lumMod val="75000"/>
                </a:schemeClr>
              </a:buClr>
              <a:buSzPct val="100000"/>
              <a:buFont typeface="Arial"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800"/>
              </a:spcBef>
              <a:buClr>
                <a:schemeClr val="accent1">
                  <a:lumMod val="75000"/>
                </a:schemeClr>
              </a:buClr>
              <a:buSzPct val="100000"/>
              <a:buFont typeface="Arial"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600"/>
              </a:spcBef>
              <a:buClr>
                <a:schemeClr val="accent1">
                  <a:lumMod val="75000"/>
                </a:schemeClr>
              </a:buClr>
              <a:buSzPct val="100000"/>
              <a:buFont typeface="Arial"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600"/>
              </a:spcBef>
              <a:buClr>
                <a:schemeClr val="accent1">
                  <a:lumMod val="75000"/>
                </a:schemeClr>
              </a:buClr>
              <a:buSzPct val="100000"/>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600"/>
              </a:spcBef>
              <a:buClr>
                <a:schemeClr val="accent1">
                  <a:lumMod val="75000"/>
                </a:schemeClr>
              </a:buClr>
              <a:buSzPct val="100000"/>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600"/>
              </a:spcBef>
              <a:buClr>
                <a:schemeClr val="accent1">
                  <a:lumMod val="75000"/>
                </a:schemeClr>
              </a:buClr>
              <a:buSzPct val="100000"/>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600"/>
              </a:spcBef>
              <a:buClr>
                <a:schemeClr val="accent1">
                  <a:lumMod val="75000"/>
                </a:schemeClr>
              </a:buClr>
              <a:buSzPct val="100000"/>
              <a:buFont typeface="Arial" pitchFamily="34" charset="0"/>
              <a:buNone/>
              <a:defRPr sz="1600" kern="1200">
                <a:solidFill>
                  <a:schemeClr val="tx1"/>
                </a:solidFill>
                <a:latin typeface="+mn-lt"/>
                <a:ea typeface="+mn-ea"/>
                <a:cs typeface="+mn-cs"/>
              </a:defRPr>
            </a:lvl9pPr>
          </a:lstStyle>
          <a:p>
            <a:pPr algn="ctr"/>
            <a:r>
              <a:rPr lang="en-US" sz="2600" b="1" dirty="0">
                <a:latin typeface="+mj-lt"/>
                <a:cs typeface="Times New Roman" panose="02020603050405020304" pitchFamily="18" charset="0"/>
              </a:rPr>
              <a:t>Lab 5</a:t>
            </a:r>
          </a:p>
        </p:txBody>
      </p:sp>
      <p:pic>
        <p:nvPicPr>
          <p:cNvPr id="11" name="Picture 10">
            <a:extLst>
              <a:ext uri="{FF2B5EF4-FFF2-40B4-BE49-F238E27FC236}">
                <a16:creationId xmlns:a16="http://schemas.microsoft.com/office/drawing/2014/main" id="{930806E3-59C7-811F-2028-7D82D45D2469}"/>
              </a:ext>
            </a:extLst>
          </p:cNvPr>
          <p:cNvPicPr>
            <a:picLocks noChangeAspect="1"/>
          </p:cNvPicPr>
          <p:nvPr/>
        </p:nvPicPr>
        <p:blipFill>
          <a:blip r:embed="rId3"/>
          <a:stretch>
            <a:fillRect/>
          </a:stretch>
        </p:blipFill>
        <p:spPr>
          <a:xfrm>
            <a:off x="9724663" y="222127"/>
            <a:ext cx="1397120" cy="1371600"/>
          </a:xfrm>
          <a:prstGeom prst="rect">
            <a:avLst/>
          </a:prstGeom>
        </p:spPr>
      </p:pic>
      <p:pic>
        <p:nvPicPr>
          <p:cNvPr id="12" name="Picture 11" descr="Logo&#10;&#10;Description automatically generated">
            <a:extLst>
              <a:ext uri="{FF2B5EF4-FFF2-40B4-BE49-F238E27FC236}">
                <a16:creationId xmlns:a16="http://schemas.microsoft.com/office/drawing/2014/main" id="{AC8591F7-9237-8199-7A17-4ED94FB45C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0217" y="222127"/>
            <a:ext cx="1387736" cy="1371600"/>
          </a:xfrm>
          <a:prstGeom prst="rect">
            <a:avLst/>
          </a:prstGeom>
        </p:spPr>
      </p:pic>
      <p:sp>
        <p:nvSpPr>
          <p:cNvPr id="13" name="Title 1">
            <a:extLst>
              <a:ext uri="{FF2B5EF4-FFF2-40B4-BE49-F238E27FC236}">
                <a16:creationId xmlns:a16="http://schemas.microsoft.com/office/drawing/2014/main" id="{EDEF957E-140E-9046-7C6F-FC2849251B03}"/>
              </a:ext>
            </a:extLst>
          </p:cNvPr>
          <p:cNvSpPr txBox="1">
            <a:spLocks/>
          </p:cNvSpPr>
          <p:nvPr/>
        </p:nvSpPr>
        <p:spPr>
          <a:xfrm>
            <a:off x="3527257" y="130687"/>
            <a:ext cx="5137484" cy="1554480"/>
          </a:xfrm>
          <a:prstGeom prst="rect">
            <a:avLst/>
          </a:prstGeom>
        </p:spPr>
        <p:txBody>
          <a:bodyPr vert="horz" lIns="91440" tIns="45720" rIns="91440" bIns="45720" rtlCol="0" anchor="b">
            <a:normAutofit fontScale="97500"/>
          </a:bodyPr>
          <a:lstStyle>
            <a:lvl1pPr algn="l" defTabSz="914400" rtl="0" eaLnBrk="1" latinLnBrk="0" hangingPunct="1">
              <a:lnSpc>
                <a:spcPct val="76000"/>
              </a:lnSpc>
              <a:spcBef>
                <a:spcPct val="0"/>
              </a:spcBef>
              <a:buNone/>
              <a:defRPr sz="8000" b="1" kern="1200" cap="none" baseline="0">
                <a:solidFill>
                  <a:schemeClr val="tx1"/>
                </a:solidFill>
                <a:latin typeface="+mj-lt"/>
                <a:ea typeface="+mj-ea"/>
                <a:cs typeface="+mj-cs"/>
              </a:defRPr>
            </a:lvl1pPr>
          </a:lstStyle>
          <a:p>
            <a:pPr algn="ctr" eaLnBrk="0" fontAlgn="base" hangingPunct="0">
              <a:spcAft>
                <a:spcPct val="0"/>
              </a:spcAft>
            </a:pPr>
            <a:r>
              <a:rPr lang="en-US" altLang="en-US" sz="2000" dirty="0">
                <a:latin typeface="Times New Roman" panose="02020603050405020304" pitchFamily="18" charset="0"/>
                <a:cs typeface="Times New Roman" panose="02020603050405020304" pitchFamily="18" charset="0"/>
              </a:rPr>
              <a:t>Mansoura University</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 Faculty of Computers and Information</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Department of Computer Science</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Second Semester- 2025-2026</a:t>
            </a:r>
            <a:br>
              <a:rPr lang="en-US" altLang="en-US" sz="2000" dirty="0">
                <a:latin typeface="Times New Roman" panose="02020603050405020304" pitchFamily="18" charset="0"/>
                <a:ea typeface="Calibri" panose="020F0502020204030204" pitchFamily="34"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14" name="Subtitle 2">
            <a:extLst>
              <a:ext uri="{FF2B5EF4-FFF2-40B4-BE49-F238E27FC236}">
                <a16:creationId xmlns:a16="http://schemas.microsoft.com/office/drawing/2014/main" id="{8B4D1B8F-4055-F295-BAB7-1857459EFFC3}"/>
              </a:ext>
            </a:extLst>
          </p:cNvPr>
          <p:cNvSpPr txBox="1">
            <a:spLocks/>
          </p:cNvSpPr>
          <p:nvPr/>
        </p:nvSpPr>
        <p:spPr>
          <a:xfrm>
            <a:off x="4413319" y="4375730"/>
            <a:ext cx="3365358" cy="4572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ctr">
              <a:spcBef>
                <a:spcPts val="0"/>
              </a:spcBef>
              <a:buNone/>
            </a:pPr>
            <a:r>
              <a:rPr lang="en-US" sz="2600" b="1" dirty="0">
                <a:solidFill>
                  <a:schemeClr val="accent1">
                    <a:lumMod val="75000"/>
                  </a:schemeClr>
                </a:solidFill>
                <a:latin typeface="+mj-lt"/>
                <a:cs typeface="Times New Roman" panose="02020603050405020304" pitchFamily="18" charset="0"/>
              </a:rPr>
              <a:t>Basma Yasser</a:t>
            </a:r>
          </a:p>
        </p:txBody>
      </p:sp>
    </p:spTree>
    <p:extLst>
      <p:ext uri="{BB962C8B-B14F-4D97-AF65-F5344CB8AC3E}">
        <p14:creationId xmlns:p14="http://schemas.microsoft.com/office/powerpoint/2010/main" val="39846177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55480-5A69-3BEE-9DD2-514BF3E097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58A42E-0186-ADCC-0789-877DED59C4B0}"/>
              </a:ext>
            </a:extLst>
          </p:cNvPr>
          <p:cNvSpPr>
            <a:spLocks noGrp="1"/>
          </p:cNvSpPr>
          <p:nvPr>
            <p:ph type="title"/>
          </p:nvPr>
        </p:nvSpPr>
        <p:spPr>
          <a:xfrm>
            <a:off x="886968" y="0"/>
            <a:ext cx="9601200" cy="1142385"/>
          </a:xfrm>
        </p:spPr>
        <p:txBody>
          <a:bodyPr>
            <a:normAutofit/>
          </a:bodyPr>
          <a:lstStyle/>
          <a:p>
            <a:r>
              <a:rPr lang="en-US" sz="3800" dirty="0"/>
              <a:t>Outlines</a:t>
            </a:r>
          </a:p>
        </p:txBody>
      </p:sp>
      <p:sp>
        <p:nvSpPr>
          <p:cNvPr id="3" name="Content Placeholder 2">
            <a:extLst>
              <a:ext uri="{FF2B5EF4-FFF2-40B4-BE49-F238E27FC236}">
                <a16:creationId xmlns:a16="http://schemas.microsoft.com/office/drawing/2014/main" id="{26281758-3E10-E64F-6E28-F94FB08B091B}"/>
              </a:ext>
            </a:extLst>
          </p:cNvPr>
          <p:cNvSpPr>
            <a:spLocks noGrp="1"/>
          </p:cNvSpPr>
          <p:nvPr>
            <p:ph idx="1"/>
          </p:nvPr>
        </p:nvSpPr>
        <p:spPr>
          <a:xfrm>
            <a:off x="886968" y="1254421"/>
            <a:ext cx="9601200" cy="3809999"/>
          </a:xfrm>
        </p:spPr>
        <p:txBody>
          <a:bodyPr>
            <a:normAutofit/>
          </a:bodyPr>
          <a:lstStyle/>
          <a:p>
            <a:r>
              <a:rPr lang="en-US" sz="3000" b="1" dirty="0"/>
              <a:t>Techniques to Assess Value and Risks.</a:t>
            </a:r>
          </a:p>
          <a:p>
            <a:r>
              <a:rPr lang="en-US" sz="3000" b="1" dirty="0"/>
              <a:t>Payback.</a:t>
            </a:r>
          </a:p>
          <a:p>
            <a:r>
              <a:rPr lang="en-US" sz="3000" b="1" dirty="0"/>
              <a:t>Return on Investment (ROI).</a:t>
            </a:r>
          </a:p>
          <a:p>
            <a:r>
              <a:rPr lang="en-US" sz="3000" b="1" dirty="0"/>
              <a:t>Net Present Value (NPV).</a:t>
            </a:r>
          </a:p>
        </p:txBody>
      </p:sp>
    </p:spTree>
    <p:extLst>
      <p:ext uri="{BB962C8B-B14F-4D97-AF65-F5344CB8AC3E}">
        <p14:creationId xmlns:p14="http://schemas.microsoft.com/office/powerpoint/2010/main" val="9125709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6968" y="0"/>
            <a:ext cx="9601200" cy="1142385"/>
          </a:xfrm>
        </p:spPr>
        <p:txBody>
          <a:bodyPr>
            <a:normAutofit/>
          </a:bodyPr>
          <a:lstStyle/>
          <a:p>
            <a:r>
              <a:rPr lang="en-US" sz="4000" dirty="0"/>
              <a:t>Techniques to Assess Value and Risks</a:t>
            </a:r>
            <a:endParaRPr lang="en-US" sz="3800" dirty="0"/>
          </a:p>
        </p:txBody>
      </p:sp>
      <p:sp>
        <p:nvSpPr>
          <p:cNvPr id="4" name="Content Placeholder 3">
            <a:extLst>
              <a:ext uri="{FF2B5EF4-FFF2-40B4-BE49-F238E27FC236}">
                <a16:creationId xmlns:a16="http://schemas.microsoft.com/office/drawing/2014/main" id="{EF6797AC-2D8C-23AD-5A6D-09C6E962DE8C}"/>
              </a:ext>
            </a:extLst>
          </p:cNvPr>
          <p:cNvSpPr>
            <a:spLocks noGrp="1"/>
          </p:cNvSpPr>
          <p:nvPr>
            <p:ph idx="1"/>
          </p:nvPr>
        </p:nvSpPr>
        <p:spPr>
          <a:xfrm>
            <a:off x="890476" y="1226276"/>
            <a:ext cx="10433198" cy="4899980"/>
          </a:xfrm>
        </p:spPr>
        <p:txBody>
          <a:bodyPr>
            <a:normAutofit/>
          </a:bodyPr>
          <a:lstStyle/>
          <a:p>
            <a:pPr algn="l" rtl="0" fontAlgn="base">
              <a:buFont typeface="Wingdings" panose="05000000000000000000" pitchFamily="2" charset="2"/>
              <a:buChar char="§"/>
            </a:pPr>
            <a:r>
              <a:rPr lang="en-US" sz="2400" b="0" i="0" u="none" strike="noStrike" dirty="0">
                <a:solidFill>
                  <a:srgbClr val="000000"/>
                </a:solidFill>
                <a:effectLst/>
                <a:latin typeface="+mj-lt"/>
              </a:rPr>
              <a:t>Diﬀerent techniques are available to assess the value and risk generated by a project. Some are based on </a:t>
            </a:r>
            <a:r>
              <a:rPr lang="en-US" sz="2400" b="1" u="none" strike="noStrike" dirty="0">
                <a:solidFill>
                  <a:schemeClr val="accent1">
                    <a:lumMod val="75000"/>
                  </a:schemeClr>
                </a:solidFill>
                <a:effectLst/>
                <a:latin typeface="+mj-lt"/>
              </a:rPr>
              <a:t>ﬁnancial</a:t>
            </a:r>
            <a:r>
              <a:rPr lang="en-US" sz="2400" b="0" i="0" u="none" strike="noStrike" dirty="0">
                <a:solidFill>
                  <a:srgbClr val="000000"/>
                </a:solidFill>
                <a:effectLst/>
                <a:latin typeface="+mj-lt"/>
              </a:rPr>
              <a:t> considerations, while others are more </a:t>
            </a:r>
            <a:r>
              <a:rPr lang="en-US" sz="2400" b="1" u="none" strike="noStrike" dirty="0">
                <a:solidFill>
                  <a:schemeClr val="accent1">
                    <a:lumMod val="75000"/>
                  </a:schemeClr>
                </a:solidFill>
                <a:effectLst/>
                <a:latin typeface="+mj-lt"/>
              </a:rPr>
              <a:t>qualitative</a:t>
            </a:r>
            <a:r>
              <a:rPr lang="en-US" sz="2400" b="0" i="0" u="none" strike="noStrike" dirty="0">
                <a:solidFill>
                  <a:srgbClr val="000000"/>
                </a:solidFill>
                <a:effectLst/>
                <a:latin typeface="+mj-lt"/>
              </a:rPr>
              <a:t>. </a:t>
            </a:r>
            <a:r>
              <a:rPr lang="en-US" sz="2400" dirty="0">
                <a:solidFill>
                  <a:srgbClr val="000000"/>
                </a:solidFill>
                <a:latin typeface="+mj-lt"/>
              </a:rPr>
              <a:t>Next, </a:t>
            </a:r>
            <a:r>
              <a:rPr lang="en-US" sz="2400" b="0" i="0" u="none" strike="noStrike" dirty="0">
                <a:solidFill>
                  <a:srgbClr val="000000"/>
                </a:solidFill>
                <a:effectLst/>
                <a:latin typeface="+mj-lt"/>
              </a:rPr>
              <a:t>we present some of the most used techniques.</a:t>
            </a:r>
            <a:r>
              <a:rPr lang="en-US" sz="2800" b="0" i="0" dirty="0">
                <a:solidFill>
                  <a:srgbClr val="000000"/>
                </a:solidFill>
                <a:effectLst/>
                <a:latin typeface="Gill Sans MT" panose="020B0502020104020203" pitchFamily="34" charset="0"/>
              </a:rPr>
              <a:t>​</a:t>
            </a:r>
            <a:endParaRPr lang="en-US" sz="2800" b="0" i="0" dirty="0">
              <a:solidFill>
                <a:srgbClr val="000000"/>
              </a:solidFill>
              <a:effectLst/>
              <a:latin typeface="Arial" panose="020B0604020202020204" pitchFamily="34" charset="0"/>
            </a:endParaRPr>
          </a:p>
          <a:p>
            <a:pPr marL="514350" indent="-514350">
              <a:buFont typeface="+mj-lt"/>
              <a:buAutoNum type="arabicPeriod"/>
            </a:pPr>
            <a:r>
              <a:rPr lang="en-US" sz="2800" b="1" dirty="0">
                <a:solidFill>
                  <a:schemeClr val="accent1">
                    <a:lumMod val="75000"/>
                  </a:schemeClr>
                </a:solidFill>
              </a:rPr>
              <a:t>Financial Methods:</a:t>
            </a:r>
          </a:p>
          <a:p>
            <a:pPr lvl="1"/>
            <a:r>
              <a:rPr lang="en-US" sz="2400" b="0" i="0" u="none" strike="noStrike" dirty="0">
                <a:solidFill>
                  <a:srgbClr val="000000"/>
                </a:solidFill>
                <a:effectLst/>
                <a:latin typeface="+mj-lt"/>
              </a:rPr>
              <a:t>Payback, Return on Investment (ROI), and Net Present Value (NPV).</a:t>
            </a:r>
            <a:endParaRPr lang="en-US" sz="2400" dirty="0">
              <a:latin typeface="+mj-lt"/>
            </a:endParaRPr>
          </a:p>
          <a:p>
            <a:endParaRPr lang="en-US" sz="2800" dirty="0"/>
          </a:p>
          <a:p>
            <a:endParaRPr lang="en-US" sz="2800" dirty="0"/>
          </a:p>
          <a:p>
            <a:endParaRPr lang="en-US" sz="2800" dirty="0"/>
          </a:p>
        </p:txBody>
      </p:sp>
    </p:spTree>
    <p:extLst>
      <p:ext uri="{BB962C8B-B14F-4D97-AF65-F5344CB8AC3E}">
        <p14:creationId xmlns:p14="http://schemas.microsoft.com/office/powerpoint/2010/main" val="14760197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4A1E6-94BB-3782-A048-8195EEE059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4698C5-FE6A-E9E8-DFB4-35346C706FE1}"/>
              </a:ext>
            </a:extLst>
          </p:cNvPr>
          <p:cNvSpPr>
            <a:spLocks noGrp="1"/>
          </p:cNvSpPr>
          <p:nvPr>
            <p:ph type="title"/>
          </p:nvPr>
        </p:nvSpPr>
        <p:spPr>
          <a:xfrm>
            <a:off x="890476" y="0"/>
            <a:ext cx="9601200" cy="1142385"/>
          </a:xfrm>
        </p:spPr>
        <p:txBody>
          <a:bodyPr>
            <a:normAutofit/>
          </a:bodyPr>
          <a:lstStyle/>
          <a:p>
            <a:r>
              <a:rPr lang="en-US" sz="4000" dirty="0"/>
              <a:t>Payback</a:t>
            </a:r>
            <a:endParaRPr lang="en-US" sz="3800"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F2775F1-8A09-41C0-B822-036570696C73}"/>
                  </a:ext>
                </a:extLst>
              </p:cNvPr>
              <p:cNvSpPr>
                <a:spLocks noGrp="1"/>
              </p:cNvSpPr>
              <p:nvPr>
                <p:ph idx="1"/>
              </p:nvPr>
            </p:nvSpPr>
            <p:spPr>
              <a:xfrm>
                <a:off x="890476" y="1311336"/>
                <a:ext cx="10411047" cy="4899980"/>
              </a:xfrm>
            </p:spPr>
            <p:txBody>
              <a:bodyPr>
                <a:normAutofit/>
              </a:bodyPr>
              <a:lstStyle/>
              <a:p>
                <a:r>
                  <a:rPr lang="en-US" sz="2400" dirty="0"/>
                  <a:t>The simplest ﬁnancial evaluation is the payback method, which measures how long it will take to return a project’s investment.</a:t>
                </a:r>
              </a:p>
              <a:p>
                <a:pPr marL="0" indent="0">
                  <a:buNone/>
                </a:pPr>
                <a:r>
                  <a:rPr lang="en-US" sz="2800" b="1" dirty="0">
                    <a:solidFill>
                      <a:schemeClr val="accent1">
                        <a:lumMod val="75000"/>
                      </a:schemeClr>
                    </a:solidFill>
                  </a:rPr>
                  <a:t>Payback Period Calculation with Uniform Cash Flows​:</a:t>
                </a:r>
              </a:p>
              <a:p>
                <a:r>
                  <a:rPr lang="en-US" sz="2400" dirty="0"/>
                  <a:t>When cash flows are uniform over the useful life of the asset then the calculation of the payback period is made through the following formula.</a:t>
                </a:r>
                <a:r>
                  <a:rPr lang="en-US" sz="2800" dirty="0"/>
                  <a:t>​</a:t>
                </a:r>
              </a:p>
              <a:p>
                <a14:m>
                  <m:oMath xmlns:m="http://schemas.openxmlformats.org/officeDocument/2006/math">
                    <m:r>
                      <a:rPr lang="en-US" sz="2800" b="1" i="1" smtClean="0">
                        <a:latin typeface="Cambria Math" panose="02040503050406030204" pitchFamily="18" charset="0"/>
                      </a:rPr>
                      <m:t>𝑷𝒂𝒚𝒃𝒂𝒄𝒌</m:t>
                    </m:r>
                    <m:r>
                      <a:rPr lang="en-US" sz="2800" b="1" i="1" smtClean="0">
                        <a:latin typeface="Cambria Math" panose="02040503050406030204" pitchFamily="18" charset="0"/>
                      </a:rPr>
                      <m:t> </m:t>
                    </m:r>
                    <m:r>
                      <a:rPr lang="en-US" sz="2800" b="1" i="1" smtClean="0">
                        <a:latin typeface="Cambria Math" panose="02040503050406030204" pitchFamily="18" charset="0"/>
                      </a:rPr>
                      <m:t>𝒑𝒆𝒓𝒊𝒐𝒅</m:t>
                    </m:r>
                    <m:r>
                      <a:rPr lang="en-US" sz="2800" b="1" i="1" smtClean="0">
                        <a:latin typeface="Cambria Math" panose="02040503050406030204" pitchFamily="18" charset="0"/>
                      </a:rPr>
                      <m:t>=</m:t>
                    </m:r>
                    <m:f>
                      <m:fPr>
                        <m:ctrlPr>
                          <a:rPr lang="en-US" sz="2800" b="1" i="1" smtClean="0">
                            <a:latin typeface="Cambria Math" panose="02040503050406030204" pitchFamily="18" charset="0"/>
                          </a:rPr>
                        </m:ctrlPr>
                      </m:fPr>
                      <m:num>
                        <m:r>
                          <a:rPr lang="en-US" sz="2800" b="1" i="1" smtClean="0">
                            <a:latin typeface="Cambria Math" panose="02040503050406030204" pitchFamily="18" charset="0"/>
                          </a:rPr>
                          <m:t>𝑻𝒐𝒕𝒂𝒍</m:t>
                        </m:r>
                        <m:r>
                          <a:rPr lang="en-US" sz="2800" b="1" i="1" smtClean="0">
                            <a:latin typeface="Cambria Math" panose="02040503050406030204" pitchFamily="18" charset="0"/>
                          </a:rPr>
                          <m:t> </m:t>
                        </m:r>
                        <m:r>
                          <a:rPr lang="en-US" sz="2800" b="1" i="1" smtClean="0">
                            <a:latin typeface="Cambria Math" panose="02040503050406030204" pitchFamily="18" charset="0"/>
                          </a:rPr>
                          <m:t>𝒊𝒏𝒊𝒕𝒊𝒂𝒍</m:t>
                        </m:r>
                        <m:r>
                          <a:rPr lang="en-US" sz="2800" b="1" i="1" smtClean="0">
                            <a:latin typeface="Cambria Math" panose="02040503050406030204" pitchFamily="18" charset="0"/>
                          </a:rPr>
                          <m:t> </m:t>
                        </m:r>
                        <m:r>
                          <a:rPr lang="en-US" sz="2800" b="1" i="1" smtClean="0">
                            <a:latin typeface="Cambria Math" panose="02040503050406030204" pitchFamily="18" charset="0"/>
                          </a:rPr>
                          <m:t>𝒊𝒏𝒗𝒆𝒔𝒕𝒎𝒆𝒏𝒕</m:t>
                        </m:r>
                      </m:num>
                      <m:den>
                        <m:r>
                          <a:rPr lang="en-US" sz="2800" b="1" i="1" smtClean="0">
                            <a:latin typeface="Cambria Math" panose="02040503050406030204" pitchFamily="18" charset="0"/>
                          </a:rPr>
                          <m:t>𝑬𝒙𝒑𝒆𝒄𝒕𝒆𝒅</m:t>
                        </m:r>
                        <m:r>
                          <a:rPr lang="en-US" sz="2800" b="1" i="1" smtClean="0">
                            <a:latin typeface="Cambria Math" panose="02040503050406030204" pitchFamily="18" charset="0"/>
                          </a:rPr>
                          <m:t> </m:t>
                        </m:r>
                        <m:r>
                          <a:rPr lang="en-US" sz="2800" b="1" i="1" smtClean="0">
                            <a:latin typeface="Cambria Math" panose="02040503050406030204" pitchFamily="18" charset="0"/>
                          </a:rPr>
                          <m:t>𝒂𝒏𝒏𝒖𝒂𝒍</m:t>
                        </m:r>
                        <m:r>
                          <a:rPr lang="en-US" sz="2800" b="1" i="1" smtClean="0">
                            <a:latin typeface="Cambria Math" panose="02040503050406030204" pitchFamily="18" charset="0"/>
                          </a:rPr>
                          <m:t> </m:t>
                        </m:r>
                        <m:r>
                          <a:rPr lang="en-US" sz="2800" b="1" i="1" smtClean="0">
                            <a:latin typeface="Cambria Math" panose="02040503050406030204" pitchFamily="18" charset="0"/>
                          </a:rPr>
                          <m:t>𝒄𝒂𝒔𝒉</m:t>
                        </m:r>
                        <m:r>
                          <a:rPr lang="en-US" sz="2800" b="1" i="1" smtClean="0">
                            <a:latin typeface="Cambria Math" panose="02040503050406030204" pitchFamily="18" charset="0"/>
                          </a:rPr>
                          <m:t> </m:t>
                        </m:r>
                        <m:r>
                          <a:rPr lang="en-US" sz="2800" b="1" i="1" smtClean="0">
                            <a:latin typeface="Cambria Math" panose="02040503050406030204" pitchFamily="18" charset="0"/>
                          </a:rPr>
                          <m:t>𝒇𝒍𝒐𝒘</m:t>
                        </m:r>
                      </m:den>
                    </m:f>
                  </m:oMath>
                </a14:m>
                <a:endParaRPr lang="en-US" sz="2800" b="1" dirty="0"/>
              </a:p>
            </p:txBody>
          </p:sp>
        </mc:Choice>
        <mc:Fallback xmlns="">
          <p:sp>
            <p:nvSpPr>
              <p:cNvPr id="4" name="Content Placeholder 3">
                <a:extLst>
                  <a:ext uri="{FF2B5EF4-FFF2-40B4-BE49-F238E27FC236}">
                    <a16:creationId xmlns:a16="http://schemas.microsoft.com/office/drawing/2014/main" id="{BF2775F1-8A09-41C0-B822-036570696C73}"/>
                  </a:ext>
                </a:extLst>
              </p:cNvPr>
              <p:cNvSpPr>
                <a:spLocks noGrp="1" noRot="1" noChangeAspect="1" noMove="1" noResize="1" noEditPoints="1" noAdjustHandles="1" noChangeArrowheads="1" noChangeShapeType="1" noTextEdit="1"/>
              </p:cNvSpPr>
              <p:nvPr>
                <p:ph idx="1"/>
              </p:nvPr>
            </p:nvSpPr>
            <p:spPr>
              <a:xfrm>
                <a:off x="890476" y="1311336"/>
                <a:ext cx="10411047" cy="4899980"/>
              </a:xfrm>
              <a:blipFill>
                <a:blip r:embed="rId2"/>
                <a:stretch>
                  <a:fillRect l="-1171" t="-1617" r="-995"/>
                </a:stretch>
              </a:blipFill>
            </p:spPr>
            <p:txBody>
              <a:bodyPr/>
              <a:lstStyle/>
              <a:p>
                <a:r>
                  <a:rPr lang="en-US">
                    <a:noFill/>
                  </a:rPr>
                  <a:t> </a:t>
                </a:r>
              </a:p>
            </p:txBody>
          </p:sp>
        </mc:Fallback>
      </mc:AlternateContent>
    </p:spTree>
    <p:extLst>
      <p:ext uri="{BB962C8B-B14F-4D97-AF65-F5344CB8AC3E}">
        <p14:creationId xmlns:p14="http://schemas.microsoft.com/office/powerpoint/2010/main" val="7635147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7A23A-6942-F320-7E84-25DBAADEF621}"/>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ED3C37C-A899-7F7C-9E33-11EA53F71D04}"/>
              </a:ext>
            </a:extLst>
          </p:cNvPr>
          <p:cNvSpPr>
            <a:spLocks noGrp="1"/>
          </p:cNvSpPr>
          <p:nvPr>
            <p:ph idx="1"/>
          </p:nvPr>
        </p:nvSpPr>
        <p:spPr>
          <a:xfrm>
            <a:off x="890476" y="1640954"/>
            <a:ext cx="10411047" cy="4600359"/>
          </a:xfrm>
        </p:spPr>
        <p:txBody>
          <a:bodyPr>
            <a:noAutofit/>
          </a:bodyPr>
          <a:lstStyle/>
          <a:p>
            <a:pPr marL="0" indent="0">
              <a:buNone/>
            </a:pPr>
            <a:r>
              <a:rPr lang="en-US" sz="2300" dirty="0"/>
              <a:t>The Delta company is planning to purchase a machine known as machine X. Machine X would cost </a:t>
            </a:r>
            <a:r>
              <a:rPr lang="en-US" sz="2300" b="1" dirty="0">
                <a:solidFill>
                  <a:schemeClr val="accent1">
                    <a:lumMod val="75000"/>
                  </a:schemeClr>
                </a:solidFill>
              </a:rPr>
              <a:t>$25,000 </a:t>
            </a:r>
            <a:r>
              <a:rPr lang="en-US" sz="2300" dirty="0"/>
              <a:t>and would have a useful life of </a:t>
            </a:r>
            <a:r>
              <a:rPr lang="en-US" sz="2300" b="1" dirty="0">
                <a:solidFill>
                  <a:schemeClr val="accent1">
                    <a:lumMod val="75000"/>
                  </a:schemeClr>
                </a:solidFill>
              </a:rPr>
              <a:t>10 years</a:t>
            </a:r>
            <a:r>
              <a:rPr lang="en-US" sz="2300" dirty="0"/>
              <a:t>. The expected annual cash inflow of the machine is </a:t>
            </a:r>
            <a:r>
              <a:rPr lang="en-US" sz="2300" b="1" dirty="0">
                <a:solidFill>
                  <a:schemeClr val="accent1">
                    <a:lumMod val="75000"/>
                  </a:schemeClr>
                </a:solidFill>
              </a:rPr>
              <a:t>$10,000</a:t>
            </a:r>
            <a:r>
              <a:rPr lang="en-US" sz="2300" dirty="0"/>
              <a:t>.​</a:t>
            </a:r>
          </a:p>
          <a:p>
            <a:pPr marL="0" indent="0">
              <a:buNone/>
            </a:pPr>
            <a:r>
              <a:rPr lang="en-US" sz="2300" b="1" dirty="0"/>
              <a:t>Compute payback period of machine X and conclude whether or not the machine would be purchased if the maximum desired payback period of Delta company is 3 years</a:t>
            </a:r>
            <a:r>
              <a:rPr lang="en-US" sz="2300" dirty="0"/>
              <a:t>​.</a:t>
            </a:r>
          </a:p>
          <a:p>
            <a:pPr marL="0" indent="0">
              <a:buNone/>
            </a:pPr>
            <a:r>
              <a:rPr lang="en-US" sz="2300" b="1" dirty="0">
                <a:solidFill>
                  <a:schemeClr val="accent1">
                    <a:lumMod val="75000"/>
                  </a:schemeClr>
                </a:solidFill>
              </a:rPr>
              <a:t>Solution:</a:t>
            </a:r>
          </a:p>
          <a:p>
            <a:r>
              <a:rPr lang="en-US" sz="2300" dirty="0"/>
              <a:t>Payback period = $25,000/$10,000= </a:t>
            </a:r>
            <a:r>
              <a:rPr lang="en-US" sz="2300" b="1" dirty="0">
                <a:solidFill>
                  <a:schemeClr val="accent1">
                    <a:lumMod val="75000"/>
                  </a:schemeClr>
                </a:solidFill>
              </a:rPr>
              <a:t>2.5 years</a:t>
            </a:r>
            <a:r>
              <a:rPr lang="en-US" sz="2300" dirty="0"/>
              <a:t>.</a:t>
            </a:r>
          </a:p>
          <a:p>
            <a:r>
              <a:rPr lang="en-US" sz="2300" dirty="0"/>
              <a:t>According to payback period analysis, the purchase of machine X is </a:t>
            </a:r>
            <a:r>
              <a:rPr lang="en-US" sz="2300" b="1" dirty="0"/>
              <a:t>desirable</a:t>
            </a:r>
            <a:r>
              <a:rPr lang="en-US" sz="2300" dirty="0"/>
              <a:t> because its payback period is 2.5 years which is shorter than the maximum payback period of the company.​</a:t>
            </a:r>
          </a:p>
          <a:p>
            <a:pPr marL="0" indent="0">
              <a:buNone/>
            </a:pPr>
            <a:endParaRPr lang="en-US" sz="2300" dirty="0"/>
          </a:p>
          <a:p>
            <a:endParaRPr lang="en-US" sz="2300" dirty="0"/>
          </a:p>
        </p:txBody>
      </p:sp>
      <p:sp>
        <p:nvSpPr>
          <p:cNvPr id="6" name="Title 1">
            <a:extLst>
              <a:ext uri="{FF2B5EF4-FFF2-40B4-BE49-F238E27FC236}">
                <a16:creationId xmlns:a16="http://schemas.microsoft.com/office/drawing/2014/main" id="{498757D4-FC2D-4809-B980-712AA9E076AA}"/>
              </a:ext>
            </a:extLst>
          </p:cNvPr>
          <p:cNvSpPr>
            <a:spLocks noGrp="1"/>
          </p:cNvSpPr>
          <p:nvPr>
            <p:ph type="title"/>
          </p:nvPr>
        </p:nvSpPr>
        <p:spPr>
          <a:xfrm>
            <a:off x="886968" y="0"/>
            <a:ext cx="9601200" cy="1142385"/>
          </a:xfrm>
        </p:spPr>
        <p:txBody>
          <a:bodyPr>
            <a:normAutofit/>
          </a:bodyPr>
          <a:lstStyle/>
          <a:p>
            <a:r>
              <a:rPr lang="en-US" sz="4000" dirty="0"/>
              <a:t>Payback</a:t>
            </a:r>
            <a:endParaRPr lang="en-US" sz="3800" dirty="0"/>
          </a:p>
        </p:txBody>
      </p:sp>
      <p:sp>
        <p:nvSpPr>
          <p:cNvPr id="7" name="Title 1">
            <a:extLst>
              <a:ext uri="{FF2B5EF4-FFF2-40B4-BE49-F238E27FC236}">
                <a16:creationId xmlns:a16="http://schemas.microsoft.com/office/drawing/2014/main" id="{26D8AC99-D0D9-EAF1-7A36-442426B5B94B}"/>
              </a:ext>
            </a:extLst>
          </p:cNvPr>
          <p:cNvSpPr txBox="1">
            <a:spLocks/>
          </p:cNvSpPr>
          <p:nvPr/>
        </p:nvSpPr>
        <p:spPr>
          <a:xfrm>
            <a:off x="886968" y="477298"/>
            <a:ext cx="9601200" cy="114238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sz="2400" dirty="0"/>
              <a:t>Example:</a:t>
            </a:r>
          </a:p>
        </p:txBody>
      </p:sp>
    </p:spTree>
    <p:extLst>
      <p:ext uri="{BB962C8B-B14F-4D97-AF65-F5344CB8AC3E}">
        <p14:creationId xmlns:p14="http://schemas.microsoft.com/office/powerpoint/2010/main" val="25661832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1B0F9-03DD-9292-C3EC-63A2364EAD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8E4203-1ADC-1491-C533-C0010F02F596}"/>
              </a:ext>
            </a:extLst>
          </p:cNvPr>
          <p:cNvSpPr>
            <a:spLocks noGrp="1"/>
          </p:cNvSpPr>
          <p:nvPr>
            <p:ph type="title"/>
          </p:nvPr>
        </p:nvSpPr>
        <p:spPr>
          <a:xfrm>
            <a:off x="886968" y="0"/>
            <a:ext cx="9601200" cy="1142385"/>
          </a:xfrm>
        </p:spPr>
        <p:txBody>
          <a:bodyPr>
            <a:normAutofit/>
          </a:bodyPr>
          <a:lstStyle/>
          <a:p>
            <a:r>
              <a:rPr lang="en-US" sz="4000" dirty="0"/>
              <a:t>Payback</a:t>
            </a:r>
            <a:endParaRPr lang="en-US" sz="3800"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2049476-0EA0-5439-7B5D-3FA685C60D3A}"/>
                  </a:ext>
                </a:extLst>
              </p:cNvPr>
              <p:cNvSpPr>
                <a:spLocks noGrp="1"/>
              </p:cNvSpPr>
              <p:nvPr>
                <p:ph idx="1"/>
              </p:nvPr>
            </p:nvSpPr>
            <p:spPr>
              <a:xfrm>
                <a:off x="890476" y="1258174"/>
                <a:ext cx="10411047" cy="4899980"/>
              </a:xfrm>
            </p:spPr>
            <p:txBody>
              <a:bodyPr>
                <a:normAutofit/>
              </a:bodyPr>
              <a:lstStyle/>
              <a:p>
                <a:pPr marL="0" indent="0">
                  <a:buNone/>
                </a:pPr>
                <a:r>
                  <a:rPr lang="en-US" sz="2800" b="1" dirty="0">
                    <a:solidFill>
                      <a:schemeClr val="accent1">
                        <a:lumMod val="75000"/>
                      </a:schemeClr>
                    </a:solidFill>
                  </a:rPr>
                  <a:t>Payback Period Calculation with Nonuniform Cash Flows​:</a:t>
                </a:r>
              </a:p>
              <a:p>
                <a:r>
                  <a:rPr lang="en-US" sz="2400" b="0" i="0" u="none" strike="noStrike" dirty="0">
                    <a:solidFill>
                      <a:srgbClr val="000000"/>
                    </a:solidFill>
                    <a:effectLst/>
                    <a:latin typeface="+mj-lt"/>
                  </a:rPr>
                  <a:t>When cash flows are </a:t>
                </a:r>
                <a:r>
                  <a:rPr lang="en-US" sz="2400" b="1" i="0" u="none" strike="noStrike" dirty="0">
                    <a:solidFill>
                      <a:schemeClr val="accent1">
                        <a:lumMod val="75000"/>
                      </a:schemeClr>
                    </a:solidFill>
                    <a:effectLst/>
                    <a:latin typeface="+mj-lt"/>
                  </a:rPr>
                  <a:t>not uniform</a:t>
                </a:r>
                <a:r>
                  <a:rPr lang="en-US" sz="2400" b="0" i="0" u="none" strike="noStrike" dirty="0">
                    <a:solidFill>
                      <a:srgbClr val="000000"/>
                    </a:solidFill>
                    <a:effectLst/>
                    <a:latin typeface="+mj-lt"/>
                  </a:rPr>
                  <a:t> over the useful life of the asset then the </a:t>
                </a:r>
                <a:r>
                  <a:rPr lang="en-US" sz="2400" b="1" u="none" strike="noStrike" dirty="0">
                    <a:solidFill>
                      <a:schemeClr val="accent1">
                        <a:lumMod val="75000"/>
                      </a:schemeClr>
                    </a:solidFill>
                    <a:effectLst/>
                    <a:latin typeface="+mj-lt"/>
                  </a:rPr>
                  <a:t>cumulative cash flow </a:t>
                </a:r>
                <a:r>
                  <a:rPr lang="en-US" sz="2400" b="0" i="0" u="none" strike="noStrike" dirty="0">
                    <a:solidFill>
                      <a:srgbClr val="000000"/>
                    </a:solidFill>
                    <a:effectLst/>
                    <a:latin typeface="+mj-lt"/>
                  </a:rPr>
                  <a:t>must be calculated for each year. In this case, the </a:t>
                </a:r>
                <a:r>
                  <a:rPr lang="en-US" sz="2400" b="1" u="none" strike="noStrike" dirty="0">
                    <a:solidFill>
                      <a:schemeClr val="accent1">
                        <a:lumMod val="75000"/>
                      </a:schemeClr>
                    </a:solidFill>
                    <a:effectLst/>
                    <a:latin typeface="+mj-lt"/>
                  </a:rPr>
                  <a:t>payback period </a:t>
                </a:r>
                <a:r>
                  <a:rPr lang="en-US" sz="2400" b="0" i="0" u="none" strike="noStrike" dirty="0">
                    <a:solidFill>
                      <a:srgbClr val="000000"/>
                    </a:solidFill>
                    <a:effectLst/>
                    <a:latin typeface="+mj-lt"/>
                  </a:rPr>
                  <a:t>shall be the corresponding period when </a:t>
                </a:r>
                <a:r>
                  <a:rPr lang="en-US" sz="2400" b="1" u="none" strike="noStrike" dirty="0">
                    <a:solidFill>
                      <a:schemeClr val="accent1">
                        <a:lumMod val="75000"/>
                      </a:schemeClr>
                    </a:solidFill>
                    <a:effectLst/>
                    <a:latin typeface="+mj-lt"/>
                  </a:rPr>
                  <a:t>cumulative cash flows are equal to the initial cash outlay</a:t>
                </a:r>
                <a:r>
                  <a:rPr lang="en-US" sz="2400" b="0" i="1" u="none" strike="noStrike" dirty="0">
                    <a:solidFill>
                      <a:srgbClr val="000000"/>
                    </a:solidFill>
                    <a:effectLst/>
                    <a:latin typeface="+mj-lt"/>
                  </a:rPr>
                  <a:t>.</a:t>
                </a:r>
                <a:endParaRPr lang="en-US" sz="2400" dirty="0"/>
              </a:p>
              <a:p>
                <a14:m>
                  <m:oMath xmlns:m="http://schemas.openxmlformats.org/officeDocument/2006/math">
                    <m:r>
                      <a:rPr lang="en-US" b="1" i="0" smtClean="0">
                        <a:latin typeface="Cambria Math" panose="02040503050406030204" pitchFamily="18" charset="0"/>
                      </a:rPr>
                      <m:t>𝐏𝐚𝐲𝐛𝐚𝐜𝐤</m:t>
                    </m:r>
                    <m:r>
                      <a:rPr lang="en-US" b="1" i="0" smtClean="0">
                        <a:latin typeface="Cambria Math" panose="02040503050406030204" pitchFamily="18" charset="0"/>
                      </a:rPr>
                      <m:t> </m:t>
                    </m:r>
                    <m:r>
                      <a:rPr lang="en-US" b="1" i="0" smtClean="0">
                        <a:latin typeface="Cambria Math" panose="02040503050406030204" pitchFamily="18" charset="0"/>
                      </a:rPr>
                      <m:t>𝐩𝐞𝐫𝐢𝐨𝐝</m:t>
                    </m:r>
                    <m:r>
                      <a:rPr lang="en-US" b="1" i="0" smtClean="0">
                        <a:latin typeface="Cambria Math" panose="02040503050406030204" pitchFamily="18" charset="0"/>
                      </a:rPr>
                      <m:t>= </m:t>
                    </m:r>
                    <m:r>
                      <a:rPr lang="en-US" b="1" i="1" smtClean="0">
                        <a:latin typeface="Cambria Math" panose="02040503050406030204" pitchFamily="18" charset="0"/>
                      </a:rPr>
                      <m:t>𝒀𝒆𝒂𝒓𝒔</m:t>
                    </m:r>
                    <m:r>
                      <a:rPr lang="en-US" b="1" i="1" smtClean="0">
                        <a:latin typeface="Cambria Math" panose="02040503050406030204" pitchFamily="18" charset="0"/>
                      </a:rPr>
                      <m:t> </m:t>
                    </m:r>
                    <m:r>
                      <a:rPr lang="en-US" b="1" i="1" smtClean="0">
                        <a:latin typeface="Cambria Math" panose="02040503050406030204" pitchFamily="18" charset="0"/>
                      </a:rPr>
                      <m:t>𝒃𝒆𝒇𝒐𝒓𝒆</m:t>
                    </m:r>
                    <m:r>
                      <a:rPr lang="en-US" b="1" i="1" smtClean="0">
                        <a:latin typeface="Cambria Math" panose="02040503050406030204" pitchFamily="18" charset="0"/>
                      </a:rPr>
                      <m:t> </m:t>
                    </m:r>
                    <m:r>
                      <a:rPr lang="en-US" b="1" i="1" smtClean="0">
                        <a:latin typeface="Cambria Math" panose="02040503050406030204" pitchFamily="18" charset="0"/>
                      </a:rPr>
                      <m:t>𝒇𝒖𝒍𝒍</m:t>
                    </m:r>
                    <m:r>
                      <a:rPr lang="en-US" b="1" i="1" smtClean="0">
                        <a:latin typeface="Cambria Math" panose="02040503050406030204" pitchFamily="18" charset="0"/>
                      </a:rPr>
                      <m:t> </m:t>
                    </m:r>
                    <m:r>
                      <a:rPr lang="en-US" b="1" i="1" smtClean="0">
                        <a:latin typeface="Cambria Math" panose="02040503050406030204" pitchFamily="18" charset="0"/>
                      </a:rPr>
                      <m:t>𝒓𝒆𝒄𝒐𝒗𝒆𝒓𝒚</m:t>
                    </m:r>
                    <m:r>
                      <a:rPr lang="en-US" b="1" i="1" smtClean="0">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𝑼𝒏𝒓𝒆𝒄𝒐𝒗𝒆𝒓𝒆𝒅</m:t>
                        </m:r>
                        <m:r>
                          <a:rPr lang="en-US" b="1" i="1">
                            <a:latin typeface="Cambria Math" panose="02040503050406030204" pitchFamily="18" charset="0"/>
                          </a:rPr>
                          <m:t> </m:t>
                        </m:r>
                        <m:r>
                          <a:rPr lang="en-US" b="1" i="1">
                            <a:latin typeface="Cambria Math" panose="02040503050406030204" pitchFamily="18" charset="0"/>
                          </a:rPr>
                          <m:t>𝒄𝒐𝒔𝒕</m:t>
                        </m:r>
                        <m:r>
                          <a:rPr lang="en-US" b="1" i="1">
                            <a:latin typeface="Cambria Math" panose="02040503050406030204" pitchFamily="18" charset="0"/>
                          </a:rPr>
                          <m:t> </m:t>
                        </m:r>
                        <m:r>
                          <a:rPr lang="en-US" b="1" i="1">
                            <a:latin typeface="Cambria Math" panose="02040503050406030204" pitchFamily="18" charset="0"/>
                          </a:rPr>
                          <m:t>𝒂𝒕</m:t>
                        </m:r>
                        <m:r>
                          <a:rPr lang="en-US" b="1" i="1">
                            <a:latin typeface="Cambria Math" panose="02040503050406030204" pitchFamily="18" charset="0"/>
                          </a:rPr>
                          <m:t> </m:t>
                        </m:r>
                        <m:r>
                          <a:rPr lang="en-US" b="1" i="1">
                            <a:latin typeface="Cambria Math" panose="02040503050406030204" pitchFamily="18" charset="0"/>
                          </a:rPr>
                          <m:t>𝒕𝒉𝒆</m:t>
                        </m:r>
                        <m:r>
                          <a:rPr lang="en-US" b="1" i="1">
                            <a:latin typeface="Cambria Math" panose="02040503050406030204" pitchFamily="18" charset="0"/>
                          </a:rPr>
                          <m:t> </m:t>
                        </m:r>
                        <m:r>
                          <a:rPr lang="en-US" b="1" i="1">
                            <a:latin typeface="Cambria Math" panose="02040503050406030204" pitchFamily="18" charset="0"/>
                          </a:rPr>
                          <m:t>𝒔𝒕𝒂𝒓𝒕</m:t>
                        </m:r>
                        <m:r>
                          <a:rPr lang="en-US" b="1" i="1">
                            <a:latin typeface="Cambria Math" panose="02040503050406030204" pitchFamily="18" charset="0"/>
                          </a:rPr>
                          <m:t> </m:t>
                        </m:r>
                        <m:r>
                          <a:rPr lang="en-US" b="1" i="1">
                            <a:latin typeface="Cambria Math" panose="02040503050406030204" pitchFamily="18" charset="0"/>
                          </a:rPr>
                          <m:t>𝒐𝒇</m:t>
                        </m:r>
                        <m:r>
                          <a:rPr lang="en-US" b="1" i="1">
                            <a:latin typeface="Cambria Math" panose="02040503050406030204" pitchFamily="18" charset="0"/>
                          </a:rPr>
                          <m:t> </m:t>
                        </m:r>
                        <m:r>
                          <a:rPr lang="en-US" b="1" i="1">
                            <a:latin typeface="Cambria Math" panose="02040503050406030204" pitchFamily="18" charset="0"/>
                          </a:rPr>
                          <m:t>𝒕𝒉𝒆</m:t>
                        </m:r>
                        <m:r>
                          <a:rPr lang="en-US" b="1" i="1">
                            <a:latin typeface="Cambria Math" panose="02040503050406030204" pitchFamily="18" charset="0"/>
                          </a:rPr>
                          <m:t> </m:t>
                        </m:r>
                        <m:r>
                          <a:rPr lang="en-US" b="1" i="1">
                            <a:latin typeface="Cambria Math" panose="02040503050406030204" pitchFamily="18" charset="0"/>
                          </a:rPr>
                          <m:t>𝒚𝒆𝒂𝒓</m:t>
                        </m:r>
                      </m:num>
                      <m:den>
                        <m:r>
                          <a:rPr lang="en-US" b="1" i="1">
                            <a:latin typeface="Cambria Math" panose="02040503050406030204" pitchFamily="18" charset="0"/>
                          </a:rPr>
                          <m:t>𝑪𝒂𝒔𝒉</m:t>
                        </m:r>
                        <m:r>
                          <a:rPr lang="en-US" b="1" i="1">
                            <a:latin typeface="Cambria Math" panose="02040503050406030204" pitchFamily="18" charset="0"/>
                          </a:rPr>
                          <m:t> </m:t>
                        </m:r>
                        <m:r>
                          <a:rPr lang="en-US" b="1" i="1">
                            <a:latin typeface="Cambria Math" panose="02040503050406030204" pitchFamily="18" charset="0"/>
                          </a:rPr>
                          <m:t>𝒇𝒍𝒐𝒘</m:t>
                        </m:r>
                        <m:r>
                          <a:rPr lang="en-US" b="1" i="1">
                            <a:latin typeface="Cambria Math" panose="02040503050406030204" pitchFamily="18" charset="0"/>
                          </a:rPr>
                          <m:t> </m:t>
                        </m:r>
                        <m:r>
                          <a:rPr lang="en-US" b="1" i="1">
                            <a:latin typeface="Cambria Math" panose="02040503050406030204" pitchFamily="18" charset="0"/>
                          </a:rPr>
                          <m:t>𝒅𝒖𝒓𝒊𝒏𝒈</m:t>
                        </m:r>
                        <m:r>
                          <a:rPr lang="en-US" b="1" i="1">
                            <a:latin typeface="Cambria Math" panose="02040503050406030204" pitchFamily="18" charset="0"/>
                          </a:rPr>
                          <m:t> </m:t>
                        </m:r>
                        <m:r>
                          <a:rPr lang="en-US" b="1" i="1">
                            <a:latin typeface="Cambria Math" panose="02040503050406030204" pitchFamily="18" charset="0"/>
                          </a:rPr>
                          <m:t>𝒕𝒉𝒆</m:t>
                        </m:r>
                        <m:r>
                          <a:rPr lang="en-US" b="1" i="1">
                            <a:latin typeface="Cambria Math" panose="02040503050406030204" pitchFamily="18" charset="0"/>
                          </a:rPr>
                          <m:t> </m:t>
                        </m:r>
                        <m:r>
                          <a:rPr lang="en-US" b="1" i="1">
                            <a:latin typeface="Cambria Math" panose="02040503050406030204" pitchFamily="18" charset="0"/>
                          </a:rPr>
                          <m:t>𝒚𝒆𝒂𝒓</m:t>
                        </m:r>
                      </m:den>
                    </m:f>
                  </m:oMath>
                </a14:m>
                <a:endParaRPr lang="en-US" b="1" dirty="0"/>
              </a:p>
            </p:txBody>
          </p:sp>
        </mc:Choice>
        <mc:Fallback xmlns="">
          <p:sp>
            <p:nvSpPr>
              <p:cNvPr id="4" name="Content Placeholder 3">
                <a:extLst>
                  <a:ext uri="{FF2B5EF4-FFF2-40B4-BE49-F238E27FC236}">
                    <a16:creationId xmlns:a16="http://schemas.microsoft.com/office/drawing/2014/main" id="{22049476-0EA0-5439-7B5D-3FA685C60D3A}"/>
                  </a:ext>
                </a:extLst>
              </p:cNvPr>
              <p:cNvSpPr>
                <a:spLocks noGrp="1" noRot="1" noChangeAspect="1" noMove="1" noResize="1" noEditPoints="1" noAdjustHandles="1" noChangeArrowheads="1" noChangeShapeType="1" noTextEdit="1"/>
              </p:cNvSpPr>
              <p:nvPr>
                <p:ph idx="1"/>
              </p:nvPr>
            </p:nvSpPr>
            <p:spPr>
              <a:xfrm>
                <a:off x="890476" y="1258174"/>
                <a:ext cx="10411047" cy="4899980"/>
              </a:xfrm>
              <a:blipFill>
                <a:blip r:embed="rId2"/>
                <a:stretch>
                  <a:fillRect l="-1171" t="-2114" r="-234"/>
                </a:stretch>
              </a:blipFill>
            </p:spPr>
            <p:txBody>
              <a:bodyPr/>
              <a:lstStyle/>
              <a:p>
                <a:r>
                  <a:rPr lang="en-US">
                    <a:noFill/>
                  </a:rPr>
                  <a:t> </a:t>
                </a:r>
              </a:p>
            </p:txBody>
          </p:sp>
        </mc:Fallback>
      </mc:AlternateContent>
    </p:spTree>
    <p:extLst>
      <p:ext uri="{BB962C8B-B14F-4D97-AF65-F5344CB8AC3E}">
        <p14:creationId xmlns:p14="http://schemas.microsoft.com/office/powerpoint/2010/main" val="3372660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81873-E39F-750F-E3A3-96E0B93DDAC5}"/>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06A8426-1ACA-8EAE-A189-107793609263}"/>
              </a:ext>
            </a:extLst>
          </p:cNvPr>
          <p:cNvSpPr>
            <a:spLocks noGrp="1"/>
          </p:cNvSpPr>
          <p:nvPr>
            <p:ph idx="1"/>
          </p:nvPr>
        </p:nvSpPr>
        <p:spPr>
          <a:xfrm>
            <a:off x="890476" y="1672848"/>
            <a:ext cx="10411047" cy="4899980"/>
          </a:xfrm>
        </p:spPr>
        <p:txBody>
          <a:bodyPr>
            <a:noAutofit/>
          </a:bodyPr>
          <a:lstStyle/>
          <a:p>
            <a:pPr marL="0" indent="0">
              <a:buNone/>
            </a:pPr>
            <a:r>
              <a:rPr lang="en-US" sz="2400" dirty="0"/>
              <a:t>Suppose a particular company is analyzing a project which requires an investment of </a:t>
            </a:r>
            <a:r>
              <a:rPr lang="en-US" sz="2400" b="1" dirty="0">
                <a:solidFill>
                  <a:schemeClr val="accent1">
                    <a:lumMod val="75000"/>
                  </a:schemeClr>
                </a:solidFill>
              </a:rPr>
              <a:t>$200,000 </a:t>
            </a:r>
            <a:r>
              <a:rPr lang="en-US" sz="2400" dirty="0"/>
              <a:t>and it is expected to generate cash flows as follows:​​</a:t>
            </a:r>
          </a:p>
          <a:p>
            <a:pPr marL="0" indent="0">
              <a:buNone/>
            </a:pPr>
            <a:endParaRPr lang="en-US" sz="2400" dirty="0"/>
          </a:p>
          <a:p>
            <a:endParaRPr lang="en-US" sz="2400" dirty="0"/>
          </a:p>
          <a:p>
            <a:endParaRPr lang="en-US" sz="2400" dirty="0"/>
          </a:p>
          <a:p>
            <a:endParaRPr lang="en-US" sz="2400" dirty="0"/>
          </a:p>
        </p:txBody>
      </p:sp>
      <p:graphicFrame>
        <p:nvGraphicFramePr>
          <p:cNvPr id="3" name="Table 2">
            <a:extLst>
              <a:ext uri="{FF2B5EF4-FFF2-40B4-BE49-F238E27FC236}">
                <a16:creationId xmlns:a16="http://schemas.microsoft.com/office/drawing/2014/main" id="{2134F854-E1BE-1198-ABE1-879A73AFF5E5}"/>
              </a:ext>
            </a:extLst>
          </p:cNvPr>
          <p:cNvGraphicFramePr>
            <a:graphicFrameLocks noGrp="1"/>
          </p:cNvGraphicFramePr>
          <p:nvPr>
            <p:extLst>
              <p:ext uri="{D42A27DB-BD31-4B8C-83A1-F6EECF244321}">
                <p14:modId xmlns:p14="http://schemas.microsoft.com/office/powerpoint/2010/main" val="3610813957"/>
              </p:ext>
            </p:extLst>
          </p:nvPr>
        </p:nvGraphicFramePr>
        <p:xfrm>
          <a:off x="3013148" y="2991002"/>
          <a:ext cx="6165702" cy="1981200"/>
        </p:xfrm>
        <a:graphic>
          <a:graphicData uri="http://schemas.openxmlformats.org/drawingml/2006/table">
            <a:tbl>
              <a:tblPr firstRow="1" bandRow="1">
                <a:tableStyleId>{B301B821-A1FF-4177-AEE7-76D212191A09}</a:tableStyleId>
              </a:tblPr>
              <a:tblGrid>
                <a:gridCol w="3082851">
                  <a:extLst>
                    <a:ext uri="{9D8B030D-6E8A-4147-A177-3AD203B41FA5}">
                      <a16:colId xmlns:a16="http://schemas.microsoft.com/office/drawing/2014/main" val="2424542934"/>
                    </a:ext>
                  </a:extLst>
                </a:gridCol>
                <a:gridCol w="3082851">
                  <a:extLst>
                    <a:ext uri="{9D8B030D-6E8A-4147-A177-3AD203B41FA5}">
                      <a16:colId xmlns:a16="http://schemas.microsoft.com/office/drawing/2014/main" val="632205471"/>
                    </a:ext>
                  </a:extLst>
                </a:gridCol>
              </a:tblGrid>
              <a:tr h="370840">
                <a:tc>
                  <a:txBody>
                    <a:bodyPr/>
                    <a:lstStyle/>
                    <a:p>
                      <a:pPr algn="ctr"/>
                      <a:r>
                        <a:rPr lang="en-US" sz="2000" dirty="0"/>
                        <a:t>Year</a:t>
                      </a:r>
                      <a:endParaRPr lang="en-US" sz="2000" b="1" dirty="0"/>
                    </a:p>
                  </a:txBody>
                  <a:tcPr anchor="ctr"/>
                </a:tc>
                <a:tc>
                  <a:txBody>
                    <a:bodyPr/>
                    <a:lstStyle/>
                    <a:p>
                      <a:pPr algn="ctr"/>
                      <a:r>
                        <a:rPr lang="en-US" sz="2000" dirty="0" err="1"/>
                        <a:t>Annaul</a:t>
                      </a:r>
                      <a:r>
                        <a:rPr lang="en-US" sz="2000" dirty="0"/>
                        <a:t> cash inflow</a:t>
                      </a:r>
                      <a:endParaRPr lang="en-US" sz="2000" b="1" dirty="0"/>
                    </a:p>
                  </a:txBody>
                  <a:tcPr anchor="ctr"/>
                </a:tc>
                <a:extLst>
                  <a:ext uri="{0D108BD9-81ED-4DB2-BD59-A6C34878D82A}">
                    <a16:rowId xmlns:a16="http://schemas.microsoft.com/office/drawing/2014/main" val="2229366715"/>
                  </a:ext>
                </a:extLst>
              </a:tr>
              <a:tr h="370840">
                <a:tc>
                  <a:txBody>
                    <a:bodyPr/>
                    <a:lstStyle/>
                    <a:p>
                      <a:pPr algn="ctr"/>
                      <a:r>
                        <a:rPr lang="en-US" sz="2000" b="1" dirty="0"/>
                        <a:t>1</a:t>
                      </a:r>
                    </a:p>
                  </a:txBody>
                  <a:tcPr anchor="ctr"/>
                </a:tc>
                <a:tc>
                  <a:txBody>
                    <a:bodyPr/>
                    <a:lstStyle/>
                    <a:p>
                      <a:pPr algn="ctr"/>
                      <a:r>
                        <a:rPr lang="en-US" sz="2000" b="1" dirty="0"/>
                        <a:t>80,000</a:t>
                      </a:r>
                    </a:p>
                  </a:txBody>
                  <a:tcPr anchor="ctr"/>
                </a:tc>
                <a:extLst>
                  <a:ext uri="{0D108BD9-81ED-4DB2-BD59-A6C34878D82A}">
                    <a16:rowId xmlns:a16="http://schemas.microsoft.com/office/drawing/2014/main" val="3995193334"/>
                  </a:ext>
                </a:extLst>
              </a:tr>
              <a:tr h="370840">
                <a:tc>
                  <a:txBody>
                    <a:bodyPr/>
                    <a:lstStyle/>
                    <a:p>
                      <a:pPr algn="ctr"/>
                      <a:r>
                        <a:rPr lang="en-US" sz="2000" b="1" dirty="0"/>
                        <a:t>2</a:t>
                      </a:r>
                    </a:p>
                  </a:txBody>
                  <a:tcPr anchor="ctr"/>
                </a:tc>
                <a:tc>
                  <a:txBody>
                    <a:bodyPr/>
                    <a:lstStyle/>
                    <a:p>
                      <a:pPr algn="ctr"/>
                      <a:r>
                        <a:rPr lang="en-US" sz="2000" b="1" dirty="0"/>
                        <a:t>60,000</a:t>
                      </a:r>
                    </a:p>
                  </a:txBody>
                  <a:tcPr anchor="ctr"/>
                </a:tc>
                <a:extLst>
                  <a:ext uri="{0D108BD9-81ED-4DB2-BD59-A6C34878D82A}">
                    <a16:rowId xmlns:a16="http://schemas.microsoft.com/office/drawing/2014/main" val="2141374553"/>
                  </a:ext>
                </a:extLst>
              </a:tr>
              <a:tr h="370840">
                <a:tc>
                  <a:txBody>
                    <a:bodyPr/>
                    <a:lstStyle/>
                    <a:p>
                      <a:pPr algn="ctr"/>
                      <a:r>
                        <a:rPr lang="en-US" sz="2000" b="1" dirty="0"/>
                        <a:t>3</a:t>
                      </a:r>
                    </a:p>
                  </a:txBody>
                  <a:tcPr anchor="ctr"/>
                </a:tc>
                <a:tc>
                  <a:txBody>
                    <a:bodyPr/>
                    <a:lstStyle/>
                    <a:p>
                      <a:pPr algn="ctr"/>
                      <a:r>
                        <a:rPr lang="en-US" sz="2000" b="1" dirty="0"/>
                        <a:t>60,000</a:t>
                      </a:r>
                    </a:p>
                  </a:txBody>
                  <a:tcPr anchor="ctr"/>
                </a:tc>
                <a:extLst>
                  <a:ext uri="{0D108BD9-81ED-4DB2-BD59-A6C34878D82A}">
                    <a16:rowId xmlns:a16="http://schemas.microsoft.com/office/drawing/2014/main" val="4087394348"/>
                  </a:ext>
                </a:extLst>
              </a:tr>
              <a:tr h="370840">
                <a:tc>
                  <a:txBody>
                    <a:bodyPr/>
                    <a:lstStyle/>
                    <a:p>
                      <a:pPr algn="ctr"/>
                      <a:r>
                        <a:rPr lang="en-US" sz="2000" b="1" dirty="0"/>
                        <a:t>4</a:t>
                      </a:r>
                    </a:p>
                  </a:txBody>
                  <a:tcPr anchor="ctr"/>
                </a:tc>
                <a:tc>
                  <a:txBody>
                    <a:bodyPr/>
                    <a:lstStyle/>
                    <a:p>
                      <a:pPr algn="ctr"/>
                      <a:r>
                        <a:rPr lang="en-US" sz="2000" b="1" dirty="0"/>
                        <a:t>20,000</a:t>
                      </a:r>
                    </a:p>
                  </a:txBody>
                  <a:tcPr anchor="ctr"/>
                </a:tc>
                <a:extLst>
                  <a:ext uri="{0D108BD9-81ED-4DB2-BD59-A6C34878D82A}">
                    <a16:rowId xmlns:a16="http://schemas.microsoft.com/office/drawing/2014/main" val="739677366"/>
                  </a:ext>
                </a:extLst>
              </a:tr>
            </a:tbl>
          </a:graphicData>
        </a:graphic>
      </p:graphicFrame>
      <p:sp>
        <p:nvSpPr>
          <p:cNvPr id="8" name="Title 1">
            <a:extLst>
              <a:ext uri="{FF2B5EF4-FFF2-40B4-BE49-F238E27FC236}">
                <a16:creationId xmlns:a16="http://schemas.microsoft.com/office/drawing/2014/main" id="{26D7BBA4-F897-4E5F-9342-A4EF0E9D845A}"/>
              </a:ext>
            </a:extLst>
          </p:cNvPr>
          <p:cNvSpPr>
            <a:spLocks noGrp="1"/>
          </p:cNvSpPr>
          <p:nvPr>
            <p:ph type="title"/>
          </p:nvPr>
        </p:nvSpPr>
        <p:spPr>
          <a:xfrm>
            <a:off x="886968" y="0"/>
            <a:ext cx="9601200" cy="1142385"/>
          </a:xfrm>
        </p:spPr>
        <p:txBody>
          <a:bodyPr>
            <a:normAutofit/>
          </a:bodyPr>
          <a:lstStyle/>
          <a:p>
            <a:r>
              <a:rPr lang="en-US" sz="4000" dirty="0"/>
              <a:t>Payback</a:t>
            </a:r>
            <a:endParaRPr lang="en-US" sz="3800" dirty="0"/>
          </a:p>
        </p:txBody>
      </p:sp>
      <p:sp>
        <p:nvSpPr>
          <p:cNvPr id="9" name="Title 1">
            <a:extLst>
              <a:ext uri="{FF2B5EF4-FFF2-40B4-BE49-F238E27FC236}">
                <a16:creationId xmlns:a16="http://schemas.microsoft.com/office/drawing/2014/main" id="{4202BC5B-53AE-DB24-D29A-03C2086350BE}"/>
              </a:ext>
            </a:extLst>
          </p:cNvPr>
          <p:cNvSpPr txBox="1">
            <a:spLocks/>
          </p:cNvSpPr>
          <p:nvPr/>
        </p:nvSpPr>
        <p:spPr>
          <a:xfrm>
            <a:off x="886968" y="477298"/>
            <a:ext cx="9601200" cy="114238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sz="2400" dirty="0"/>
              <a:t>Example:</a:t>
            </a:r>
          </a:p>
        </p:txBody>
      </p:sp>
    </p:spTree>
    <p:extLst>
      <p:ext uri="{BB962C8B-B14F-4D97-AF65-F5344CB8AC3E}">
        <p14:creationId xmlns:p14="http://schemas.microsoft.com/office/powerpoint/2010/main" val="16993004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34C10-EAFC-BF00-0FFC-727699212068}"/>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6D83A81-94A3-95AC-EAB4-58CEB0A9A69A}"/>
              </a:ext>
            </a:extLst>
          </p:cNvPr>
          <p:cNvSpPr>
            <a:spLocks noGrp="1"/>
          </p:cNvSpPr>
          <p:nvPr>
            <p:ph idx="1"/>
          </p:nvPr>
        </p:nvSpPr>
        <p:spPr>
          <a:xfrm>
            <a:off x="890476" y="1194378"/>
            <a:ext cx="10411047" cy="4899980"/>
          </a:xfrm>
        </p:spPr>
        <p:txBody>
          <a:bodyPr>
            <a:noAutofit/>
          </a:bodyPr>
          <a:lstStyle/>
          <a:p>
            <a:pPr marL="0" indent="0">
              <a:buNone/>
            </a:pPr>
            <a:r>
              <a:rPr lang="en-US" sz="2400" dirty="0"/>
              <a:t>Payback period can be calculated as follows by calculating cumulative cash flows:</a:t>
            </a:r>
          </a:p>
          <a:p>
            <a:endParaRPr lang="en-US" sz="2400" dirty="0"/>
          </a:p>
          <a:p>
            <a:endParaRPr lang="en-US" sz="2400" dirty="0"/>
          </a:p>
          <a:p>
            <a:endParaRPr lang="en-US" sz="2400" dirty="0"/>
          </a:p>
        </p:txBody>
      </p:sp>
      <p:graphicFrame>
        <p:nvGraphicFramePr>
          <p:cNvPr id="3" name="Table 2">
            <a:extLst>
              <a:ext uri="{FF2B5EF4-FFF2-40B4-BE49-F238E27FC236}">
                <a16:creationId xmlns:a16="http://schemas.microsoft.com/office/drawing/2014/main" id="{0331EB6A-01C4-4CDF-90B1-1F37747E4AAD}"/>
              </a:ext>
            </a:extLst>
          </p:cNvPr>
          <p:cNvGraphicFramePr>
            <a:graphicFrameLocks noGrp="1"/>
          </p:cNvGraphicFramePr>
          <p:nvPr>
            <p:extLst>
              <p:ext uri="{D42A27DB-BD31-4B8C-83A1-F6EECF244321}">
                <p14:modId xmlns:p14="http://schemas.microsoft.com/office/powerpoint/2010/main" val="770718050"/>
              </p:ext>
            </p:extLst>
          </p:nvPr>
        </p:nvGraphicFramePr>
        <p:xfrm>
          <a:off x="1016810" y="2011680"/>
          <a:ext cx="10158378" cy="3241959"/>
        </p:xfrm>
        <a:graphic>
          <a:graphicData uri="http://schemas.openxmlformats.org/drawingml/2006/table">
            <a:tbl>
              <a:tblPr firstRow="1" bandRow="1">
                <a:tableStyleId>{B301B821-A1FF-4177-AEE7-76D212191A09}</a:tableStyleId>
              </a:tblPr>
              <a:tblGrid>
                <a:gridCol w="984611">
                  <a:extLst>
                    <a:ext uri="{9D8B030D-6E8A-4147-A177-3AD203B41FA5}">
                      <a16:colId xmlns:a16="http://schemas.microsoft.com/office/drawing/2014/main" val="2424542934"/>
                    </a:ext>
                  </a:extLst>
                </a:gridCol>
                <a:gridCol w="2761965">
                  <a:extLst>
                    <a:ext uri="{9D8B030D-6E8A-4147-A177-3AD203B41FA5}">
                      <a16:colId xmlns:a16="http://schemas.microsoft.com/office/drawing/2014/main" val="632205471"/>
                    </a:ext>
                  </a:extLst>
                </a:gridCol>
                <a:gridCol w="4253023">
                  <a:extLst>
                    <a:ext uri="{9D8B030D-6E8A-4147-A177-3AD203B41FA5}">
                      <a16:colId xmlns:a16="http://schemas.microsoft.com/office/drawing/2014/main" val="1269586240"/>
                    </a:ext>
                  </a:extLst>
                </a:gridCol>
                <a:gridCol w="2158779">
                  <a:extLst>
                    <a:ext uri="{9D8B030D-6E8A-4147-A177-3AD203B41FA5}">
                      <a16:colId xmlns:a16="http://schemas.microsoft.com/office/drawing/2014/main" val="1695615380"/>
                    </a:ext>
                  </a:extLst>
                </a:gridCol>
              </a:tblGrid>
              <a:tr h="767447">
                <a:tc>
                  <a:txBody>
                    <a:bodyPr/>
                    <a:lstStyle/>
                    <a:p>
                      <a:pPr algn="ctr"/>
                      <a:r>
                        <a:rPr lang="en-US" sz="2000" dirty="0"/>
                        <a:t>Year</a:t>
                      </a:r>
                      <a:endParaRPr lang="en-US" sz="2000" b="1" dirty="0"/>
                    </a:p>
                  </a:txBody>
                  <a:tcPr anchor="ctr"/>
                </a:tc>
                <a:tc>
                  <a:txBody>
                    <a:bodyPr/>
                    <a:lstStyle/>
                    <a:p>
                      <a:pPr algn="ctr"/>
                      <a:r>
                        <a:rPr lang="en-US" sz="2000" dirty="0" err="1"/>
                        <a:t>Annaul</a:t>
                      </a:r>
                      <a:r>
                        <a:rPr lang="en-US" sz="2000" dirty="0"/>
                        <a:t> cash inflow</a:t>
                      </a:r>
                      <a:endParaRPr lang="en-US" sz="2000" b="1" dirty="0"/>
                    </a:p>
                  </a:txBody>
                  <a:tcPr anchor="ctr"/>
                </a:tc>
                <a:tc>
                  <a:txBody>
                    <a:bodyPr/>
                    <a:lstStyle/>
                    <a:p>
                      <a:pPr algn="ctr"/>
                      <a:r>
                        <a:rPr lang="en-US" sz="2000" b="1" dirty="0"/>
                        <a:t>Cumulative annual cash inflows </a:t>
                      </a:r>
                    </a:p>
                  </a:txBody>
                  <a:tcPr anchor="ctr"/>
                </a:tc>
                <a:tc>
                  <a:txBody>
                    <a:bodyPr/>
                    <a:lstStyle/>
                    <a:p>
                      <a:pPr algn="ctr"/>
                      <a:r>
                        <a:rPr lang="en-US" sz="2000" b="1" dirty="0"/>
                        <a:t>Payback period</a:t>
                      </a:r>
                    </a:p>
                  </a:txBody>
                  <a:tcPr anchor="ctr"/>
                </a:tc>
                <a:extLst>
                  <a:ext uri="{0D108BD9-81ED-4DB2-BD59-A6C34878D82A}">
                    <a16:rowId xmlns:a16="http://schemas.microsoft.com/office/drawing/2014/main" val="2229366715"/>
                  </a:ext>
                </a:extLst>
              </a:tr>
              <a:tr h="618628">
                <a:tc>
                  <a:txBody>
                    <a:bodyPr/>
                    <a:lstStyle/>
                    <a:p>
                      <a:pPr algn="ctr"/>
                      <a:r>
                        <a:rPr lang="en-US" sz="2000" b="1" dirty="0"/>
                        <a:t>1</a:t>
                      </a:r>
                    </a:p>
                  </a:txBody>
                  <a:tcPr anchor="ctr"/>
                </a:tc>
                <a:tc>
                  <a:txBody>
                    <a:bodyPr/>
                    <a:lstStyle/>
                    <a:p>
                      <a:pPr algn="ctr"/>
                      <a:r>
                        <a:rPr lang="en-US" sz="2000" b="1" dirty="0"/>
                        <a:t>80,000</a:t>
                      </a:r>
                    </a:p>
                  </a:txBody>
                  <a:tcPr anchor="ctr"/>
                </a:tc>
                <a:tc>
                  <a:txBody>
                    <a:bodyPr/>
                    <a:lstStyle/>
                    <a:p>
                      <a:pPr algn="ctr"/>
                      <a:r>
                        <a:rPr lang="en-US" sz="2000" b="1" dirty="0"/>
                        <a:t>80,000</a:t>
                      </a:r>
                    </a:p>
                  </a:txBody>
                  <a:tcPr anchor="ctr"/>
                </a:tc>
                <a:tc>
                  <a:txBody>
                    <a:bodyPr/>
                    <a:lstStyle/>
                    <a:p>
                      <a:pPr algn="ctr"/>
                      <a:endParaRPr lang="en-US" sz="2000" b="1" dirty="0"/>
                    </a:p>
                  </a:txBody>
                  <a:tcPr anchor="ctr"/>
                </a:tc>
                <a:extLst>
                  <a:ext uri="{0D108BD9-81ED-4DB2-BD59-A6C34878D82A}">
                    <a16:rowId xmlns:a16="http://schemas.microsoft.com/office/drawing/2014/main" val="3995193334"/>
                  </a:ext>
                </a:extLst>
              </a:tr>
              <a:tr h="618628">
                <a:tc>
                  <a:txBody>
                    <a:bodyPr/>
                    <a:lstStyle/>
                    <a:p>
                      <a:pPr algn="ctr"/>
                      <a:r>
                        <a:rPr lang="en-US" sz="2000" b="1" dirty="0"/>
                        <a:t>2</a:t>
                      </a:r>
                    </a:p>
                  </a:txBody>
                  <a:tcPr anchor="ctr"/>
                </a:tc>
                <a:tc>
                  <a:txBody>
                    <a:bodyPr/>
                    <a:lstStyle/>
                    <a:p>
                      <a:pPr algn="ctr"/>
                      <a:r>
                        <a:rPr lang="en-US" sz="2000" b="1" dirty="0"/>
                        <a:t>60,000</a:t>
                      </a:r>
                    </a:p>
                  </a:txBody>
                  <a:tcPr anchor="ctr"/>
                </a:tc>
                <a:tc>
                  <a:txBody>
                    <a:bodyPr/>
                    <a:lstStyle/>
                    <a:p>
                      <a:pPr algn="ctr"/>
                      <a:r>
                        <a:rPr lang="en-US" sz="2000" b="1" dirty="0"/>
                        <a:t>140,000</a:t>
                      </a:r>
                    </a:p>
                  </a:txBody>
                  <a:tcPr anchor="ctr"/>
                </a:tc>
                <a:tc>
                  <a:txBody>
                    <a:bodyPr/>
                    <a:lstStyle/>
                    <a:p>
                      <a:pPr algn="ctr"/>
                      <a:endParaRPr lang="en-US" sz="2000" b="1" dirty="0"/>
                    </a:p>
                  </a:txBody>
                  <a:tcPr anchor="ctr"/>
                </a:tc>
                <a:extLst>
                  <a:ext uri="{0D108BD9-81ED-4DB2-BD59-A6C34878D82A}">
                    <a16:rowId xmlns:a16="http://schemas.microsoft.com/office/drawing/2014/main" val="2141374553"/>
                  </a:ext>
                </a:extLst>
              </a:tr>
              <a:tr h="618628">
                <a:tc>
                  <a:txBody>
                    <a:bodyPr/>
                    <a:lstStyle/>
                    <a:p>
                      <a:pPr algn="ctr"/>
                      <a:r>
                        <a:rPr lang="en-US" sz="2000" b="1" dirty="0"/>
                        <a:t>3</a:t>
                      </a:r>
                    </a:p>
                  </a:txBody>
                  <a:tcPr anchor="ctr"/>
                </a:tc>
                <a:tc>
                  <a:txBody>
                    <a:bodyPr/>
                    <a:lstStyle/>
                    <a:p>
                      <a:pPr algn="ctr"/>
                      <a:r>
                        <a:rPr lang="en-US" sz="2000" b="1" dirty="0"/>
                        <a:t>60,000</a:t>
                      </a:r>
                    </a:p>
                  </a:txBody>
                  <a:tcPr anchor="ctr"/>
                </a:tc>
                <a:tc>
                  <a:txBody>
                    <a:bodyPr/>
                    <a:lstStyle/>
                    <a:p>
                      <a:pPr algn="ctr"/>
                      <a:r>
                        <a:rPr lang="en-US" sz="2000" b="1" dirty="0"/>
                        <a:t>200,000</a:t>
                      </a:r>
                    </a:p>
                  </a:txBody>
                  <a:tcPr anchor="ctr"/>
                </a:tc>
                <a:tc>
                  <a:txBody>
                    <a:bodyPr/>
                    <a:lstStyle/>
                    <a:p>
                      <a:pPr algn="ctr"/>
                      <a:endParaRPr lang="en-US" sz="1800" b="1" dirty="0">
                        <a:solidFill>
                          <a:srgbClr val="F7EAE8"/>
                        </a:solidFill>
                      </a:endParaRPr>
                    </a:p>
                  </a:txBody>
                  <a:tcPr anchor="ctr"/>
                </a:tc>
                <a:extLst>
                  <a:ext uri="{0D108BD9-81ED-4DB2-BD59-A6C34878D82A}">
                    <a16:rowId xmlns:a16="http://schemas.microsoft.com/office/drawing/2014/main" val="4087394348"/>
                  </a:ext>
                </a:extLst>
              </a:tr>
              <a:tr h="618628">
                <a:tc>
                  <a:txBody>
                    <a:bodyPr/>
                    <a:lstStyle/>
                    <a:p>
                      <a:pPr algn="ctr"/>
                      <a:r>
                        <a:rPr lang="en-US" sz="2000" b="1" dirty="0"/>
                        <a:t>4</a:t>
                      </a:r>
                    </a:p>
                  </a:txBody>
                  <a:tcPr anchor="ctr"/>
                </a:tc>
                <a:tc>
                  <a:txBody>
                    <a:bodyPr/>
                    <a:lstStyle/>
                    <a:p>
                      <a:pPr algn="ctr"/>
                      <a:r>
                        <a:rPr lang="en-US" sz="2000" b="1" dirty="0"/>
                        <a:t>20,000</a:t>
                      </a:r>
                    </a:p>
                  </a:txBody>
                  <a:tcPr anchor="ctr"/>
                </a:tc>
                <a:tc>
                  <a:txBody>
                    <a:bodyPr/>
                    <a:lstStyle/>
                    <a:p>
                      <a:pPr algn="ctr"/>
                      <a:r>
                        <a:rPr lang="en-US" sz="2000" b="1" dirty="0"/>
                        <a:t>220,000</a:t>
                      </a:r>
                    </a:p>
                  </a:txBody>
                  <a:tcPr anchor="ctr"/>
                </a:tc>
                <a:tc>
                  <a:txBody>
                    <a:bodyPr/>
                    <a:lstStyle/>
                    <a:p>
                      <a:pPr algn="ctr"/>
                      <a:endParaRPr lang="en-US" sz="2000" b="1" dirty="0"/>
                    </a:p>
                  </a:txBody>
                  <a:tcPr anchor="ctr"/>
                </a:tc>
                <a:extLst>
                  <a:ext uri="{0D108BD9-81ED-4DB2-BD59-A6C34878D82A}">
                    <a16:rowId xmlns:a16="http://schemas.microsoft.com/office/drawing/2014/main" val="739677366"/>
                  </a:ext>
                </a:extLst>
              </a:tr>
            </a:tbl>
          </a:graphicData>
        </a:graphic>
      </p:graphicFrame>
      <p:sp>
        <p:nvSpPr>
          <p:cNvPr id="2" name="Title 1">
            <a:extLst>
              <a:ext uri="{FF2B5EF4-FFF2-40B4-BE49-F238E27FC236}">
                <a16:creationId xmlns:a16="http://schemas.microsoft.com/office/drawing/2014/main" id="{560F54A9-7129-4DFB-46FB-9766077E446A}"/>
              </a:ext>
            </a:extLst>
          </p:cNvPr>
          <p:cNvSpPr>
            <a:spLocks noGrp="1"/>
          </p:cNvSpPr>
          <p:nvPr>
            <p:ph type="title"/>
          </p:nvPr>
        </p:nvSpPr>
        <p:spPr>
          <a:xfrm>
            <a:off x="890476" y="0"/>
            <a:ext cx="9601200" cy="1142385"/>
          </a:xfrm>
        </p:spPr>
        <p:txBody>
          <a:bodyPr>
            <a:normAutofit/>
          </a:bodyPr>
          <a:lstStyle/>
          <a:p>
            <a:r>
              <a:rPr lang="en-US" sz="4000" dirty="0"/>
              <a:t>Payback</a:t>
            </a:r>
            <a:endParaRPr lang="en-US" sz="3800" dirty="0"/>
          </a:p>
        </p:txBody>
      </p:sp>
    </p:spTree>
    <p:extLst>
      <p:ext uri="{BB962C8B-B14F-4D97-AF65-F5344CB8AC3E}">
        <p14:creationId xmlns:p14="http://schemas.microsoft.com/office/powerpoint/2010/main" val="25755124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4BD50-2935-6A7B-0BD7-C1D33F1E7BB0}"/>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79A9BBF-5175-CC44-B17E-F4B714F5B017}"/>
              </a:ext>
            </a:extLst>
          </p:cNvPr>
          <p:cNvSpPr>
            <a:spLocks noGrp="1"/>
          </p:cNvSpPr>
          <p:nvPr>
            <p:ph idx="1"/>
          </p:nvPr>
        </p:nvSpPr>
        <p:spPr>
          <a:xfrm>
            <a:off x="890476" y="1194378"/>
            <a:ext cx="10411047" cy="4899980"/>
          </a:xfrm>
        </p:spPr>
        <p:txBody>
          <a:bodyPr>
            <a:noAutofit/>
          </a:bodyPr>
          <a:lstStyle/>
          <a:p>
            <a:pPr marL="0" indent="0">
              <a:buNone/>
            </a:pPr>
            <a:r>
              <a:rPr lang="en-US" sz="2400" dirty="0"/>
              <a:t>Payback period can be calculated as follows by calculating cumulative cash flows:</a:t>
            </a:r>
          </a:p>
          <a:p>
            <a:endParaRPr lang="en-US" sz="2400" dirty="0"/>
          </a:p>
          <a:p>
            <a:endParaRPr lang="en-US" sz="2400" dirty="0"/>
          </a:p>
          <a:p>
            <a:endParaRPr lang="en-US" sz="2400" dirty="0"/>
          </a:p>
        </p:txBody>
      </p:sp>
      <p:graphicFrame>
        <p:nvGraphicFramePr>
          <p:cNvPr id="3" name="Table 2">
            <a:extLst>
              <a:ext uri="{FF2B5EF4-FFF2-40B4-BE49-F238E27FC236}">
                <a16:creationId xmlns:a16="http://schemas.microsoft.com/office/drawing/2014/main" id="{CFFFE84E-864D-52A1-8958-A170B70A0DD6}"/>
              </a:ext>
            </a:extLst>
          </p:cNvPr>
          <p:cNvGraphicFramePr>
            <a:graphicFrameLocks noGrp="1"/>
          </p:cNvGraphicFramePr>
          <p:nvPr>
            <p:extLst>
              <p:ext uri="{D42A27DB-BD31-4B8C-83A1-F6EECF244321}">
                <p14:modId xmlns:p14="http://schemas.microsoft.com/office/powerpoint/2010/main" val="394721475"/>
              </p:ext>
            </p:extLst>
          </p:nvPr>
        </p:nvGraphicFramePr>
        <p:xfrm>
          <a:off x="1016810" y="2007651"/>
          <a:ext cx="10158378" cy="3565399"/>
        </p:xfrm>
        <a:graphic>
          <a:graphicData uri="http://schemas.openxmlformats.org/drawingml/2006/table">
            <a:tbl>
              <a:tblPr firstRow="1" bandRow="1">
                <a:tableStyleId>{B301B821-A1FF-4177-AEE7-76D212191A09}</a:tableStyleId>
              </a:tblPr>
              <a:tblGrid>
                <a:gridCol w="984611">
                  <a:extLst>
                    <a:ext uri="{9D8B030D-6E8A-4147-A177-3AD203B41FA5}">
                      <a16:colId xmlns:a16="http://schemas.microsoft.com/office/drawing/2014/main" val="2424542934"/>
                    </a:ext>
                  </a:extLst>
                </a:gridCol>
                <a:gridCol w="2761965">
                  <a:extLst>
                    <a:ext uri="{9D8B030D-6E8A-4147-A177-3AD203B41FA5}">
                      <a16:colId xmlns:a16="http://schemas.microsoft.com/office/drawing/2014/main" val="632205471"/>
                    </a:ext>
                  </a:extLst>
                </a:gridCol>
                <a:gridCol w="4253023">
                  <a:extLst>
                    <a:ext uri="{9D8B030D-6E8A-4147-A177-3AD203B41FA5}">
                      <a16:colId xmlns:a16="http://schemas.microsoft.com/office/drawing/2014/main" val="1269586240"/>
                    </a:ext>
                  </a:extLst>
                </a:gridCol>
                <a:gridCol w="2158779">
                  <a:extLst>
                    <a:ext uri="{9D8B030D-6E8A-4147-A177-3AD203B41FA5}">
                      <a16:colId xmlns:a16="http://schemas.microsoft.com/office/drawing/2014/main" val="1695615380"/>
                    </a:ext>
                  </a:extLst>
                </a:gridCol>
              </a:tblGrid>
              <a:tr h="534787">
                <a:tc>
                  <a:txBody>
                    <a:bodyPr/>
                    <a:lstStyle/>
                    <a:p>
                      <a:pPr algn="ctr"/>
                      <a:r>
                        <a:rPr lang="en-US" sz="2000" dirty="0"/>
                        <a:t>Year</a:t>
                      </a:r>
                      <a:endParaRPr lang="en-US" sz="2000" b="1" dirty="0"/>
                    </a:p>
                  </a:txBody>
                  <a:tcPr anchor="ctr"/>
                </a:tc>
                <a:tc>
                  <a:txBody>
                    <a:bodyPr/>
                    <a:lstStyle/>
                    <a:p>
                      <a:pPr algn="ctr"/>
                      <a:r>
                        <a:rPr lang="en-US" sz="2000" dirty="0" err="1"/>
                        <a:t>Annaul</a:t>
                      </a:r>
                      <a:r>
                        <a:rPr lang="en-US" sz="2000" dirty="0"/>
                        <a:t> cash inflow</a:t>
                      </a:r>
                      <a:endParaRPr lang="en-US" sz="2000" b="1" dirty="0"/>
                    </a:p>
                  </a:txBody>
                  <a:tcPr anchor="ctr"/>
                </a:tc>
                <a:tc>
                  <a:txBody>
                    <a:bodyPr/>
                    <a:lstStyle/>
                    <a:p>
                      <a:pPr algn="ctr"/>
                      <a:r>
                        <a:rPr lang="en-US" sz="2000" b="1" dirty="0"/>
                        <a:t>Cumulative annual cash inflows </a:t>
                      </a:r>
                    </a:p>
                  </a:txBody>
                  <a:tcPr anchor="ctr"/>
                </a:tc>
                <a:tc>
                  <a:txBody>
                    <a:bodyPr/>
                    <a:lstStyle/>
                    <a:p>
                      <a:pPr algn="ctr"/>
                      <a:r>
                        <a:rPr lang="en-US" sz="2000" b="1" dirty="0"/>
                        <a:t>Payback period</a:t>
                      </a:r>
                    </a:p>
                  </a:txBody>
                  <a:tcPr anchor="ctr"/>
                </a:tc>
                <a:extLst>
                  <a:ext uri="{0D108BD9-81ED-4DB2-BD59-A6C34878D82A}">
                    <a16:rowId xmlns:a16="http://schemas.microsoft.com/office/drawing/2014/main" val="2229366715"/>
                  </a:ext>
                </a:extLst>
              </a:tr>
              <a:tr h="431084">
                <a:tc>
                  <a:txBody>
                    <a:bodyPr/>
                    <a:lstStyle/>
                    <a:p>
                      <a:pPr algn="ctr"/>
                      <a:r>
                        <a:rPr lang="en-US" sz="2000" b="1" dirty="0"/>
                        <a:t>1</a:t>
                      </a:r>
                    </a:p>
                  </a:txBody>
                  <a:tcPr anchor="ctr"/>
                </a:tc>
                <a:tc>
                  <a:txBody>
                    <a:bodyPr/>
                    <a:lstStyle/>
                    <a:p>
                      <a:pPr algn="ctr"/>
                      <a:r>
                        <a:rPr lang="en-US" sz="2000" b="1" dirty="0"/>
                        <a:t>80,000</a:t>
                      </a:r>
                    </a:p>
                  </a:txBody>
                  <a:tcPr anchor="ctr"/>
                </a:tc>
                <a:tc>
                  <a:txBody>
                    <a:bodyPr/>
                    <a:lstStyle/>
                    <a:p>
                      <a:pPr algn="ctr"/>
                      <a:r>
                        <a:rPr lang="en-US" sz="2000" b="1" dirty="0"/>
                        <a:t>80,000</a:t>
                      </a:r>
                    </a:p>
                  </a:txBody>
                  <a:tcPr anchor="ctr"/>
                </a:tc>
                <a:tc>
                  <a:txBody>
                    <a:bodyPr/>
                    <a:lstStyle/>
                    <a:p>
                      <a:pPr algn="ctr"/>
                      <a:endParaRPr lang="en-US" sz="2000" b="1" dirty="0"/>
                    </a:p>
                  </a:txBody>
                  <a:tcPr anchor="ctr"/>
                </a:tc>
                <a:extLst>
                  <a:ext uri="{0D108BD9-81ED-4DB2-BD59-A6C34878D82A}">
                    <a16:rowId xmlns:a16="http://schemas.microsoft.com/office/drawing/2014/main" val="3995193334"/>
                  </a:ext>
                </a:extLst>
              </a:tr>
              <a:tr h="431084">
                <a:tc>
                  <a:txBody>
                    <a:bodyPr/>
                    <a:lstStyle/>
                    <a:p>
                      <a:pPr algn="ctr"/>
                      <a:r>
                        <a:rPr lang="en-US" sz="2000" b="1" dirty="0"/>
                        <a:t>2</a:t>
                      </a:r>
                    </a:p>
                  </a:txBody>
                  <a:tcPr anchor="ctr"/>
                </a:tc>
                <a:tc>
                  <a:txBody>
                    <a:bodyPr/>
                    <a:lstStyle/>
                    <a:p>
                      <a:pPr algn="ctr"/>
                      <a:r>
                        <a:rPr lang="en-US" sz="2000" b="1" dirty="0"/>
                        <a:t>60,000</a:t>
                      </a:r>
                    </a:p>
                  </a:txBody>
                  <a:tcPr anchor="ctr"/>
                </a:tc>
                <a:tc>
                  <a:txBody>
                    <a:bodyPr/>
                    <a:lstStyle/>
                    <a:p>
                      <a:pPr algn="ctr"/>
                      <a:r>
                        <a:rPr lang="en-US" sz="2000" b="1" dirty="0"/>
                        <a:t>140,000</a:t>
                      </a:r>
                    </a:p>
                  </a:txBody>
                  <a:tcPr anchor="ctr"/>
                </a:tc>
                <a:tc>
                  <a:txBody>
                    <a:bodyPr/>
                    <a:lstStyle/>
                    <a:p>
                      <a:pPr algn="ctr"/>
                      <a:endParaRPr lang="en-US" sz="2000" b="1" dirty="0"/>
                    </a:p>
                  </a:txBody>
                  <a:tcPr anchor="ctr"/>
                </a:tc>
                <a:extLst>
                  <a:ext uri="{0D108BD9-81ED-4DB2-BD59-A6C34878D82A}">
                    <a16:rowId xmlns:a16="http://schemas.microsoft.com/office/drawing/2014/main" val="2141374553"/>
                  </a:ext>
                </a:extLst>
              </a:tr>
              <a:tr h="1682609">
                <a:tc>
                  <a:txBody>
                    <a:bodyPr/>
                    <a:lstStyle/>
                    <a:p>
                      <a:pPr algn="ctr"/>
                      <a:r>
                        <a:rPr lang="en-US" sz="2000" b="1" dirty="0"/>
                        <a:t>3</a:t>
                      </a:r>
                    </a:p>
                  </a:txBody>
                  <a:tcPr anchor="ctr"/>
                </a:tc>
                <a:tc>
                  <a:txBody>
                    <a:bodyPr/>
                    <a:lstStyle/>
                    <a:p>
                      <a:pPr algn="ctr"/>
                      <a:r>
                        <a:rPr lang="en-US" sz="2000" b="1" dirty="0"/>
                        <a:t>60,000</a:t>
                      </a:r>
                    </a:p>
                  </a:txBody>
                  <a:tcPr anchor="ctr"/>
                </a:tc>
                <a:tc>
                  <a:txBody>
                    <a:bodyPr/>
                    <a:lstStyle/>
                    <a:p>
                      <a:pPr algn="ctr"/>
                      <a:r>
                        <a:rPr lang="en-US" sz="2000" b="1" dirty="0"/>
                        <a:t>200,000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t>In this year we got an initial investment of $200,000, so this is the payback year​</a:t>
                      </a:r>
                    </a:p>
                  </a:txBody>
                  <a:tcPr anchor="ctr"/>
                </a:tc>
                <a:extLst>
                  <a:ext uri="{0D108BD9-81ED-4DB2-BD59-A6C34878D82A}">
                    <a16:rowId xmlns:a16="http://schemas.microsoft.com/office/drawing/2014/main" val="4087394348"/>
                  </a:ext>
                </a:extLst>
              </a:tr>
              <a:tr h="431084">
                <a:tc>
                  <a:txBody>
                    <a:bodyPr/>
                    <a:lstStyle/>
                    <a:p>
                      <a:pPr algn="ctr"/>
                      <a:r>
                        <a:rPr lang="en-US" sz="2000" b="1" dirty="0"/>
                        <a:t>4</a:t>
                      </a:r>
                    </a:p>
                  </a:txBody>
                  <a:tcPr anchor="ctr"/>
                </a:tc>
                <a:tc>
                  <a:txBody>
                    <a:bodyPr/>
                    <a:lstStyle/>
                    <a:p>
                      <a:pPr algn="ctr"/>
                      <a:r>
                        <a:rPr lang="en-US" sz="2000" b="1" dirty="0"/>
                        <a:t>20,000</a:t>
                      </a:r>
                    </a:p>
                  </a:txBody>
                  <a:tcPr anchor="ctr"/>
                </a:tc>
                <a:tc>
                  <a:txBody>
                    <a:bodyPr/>
                    <a:lstStyle/>
                    <a:p>
                      <a:pPr algn="ctr"/>
                      <a:r>
                        <a:rPr lang="en-US" sz="2000" b="1" dirty="0"/>
                        <a:t>220,000</a:t>
                      </a:r>
                    </a:p>
                  </a:txBody>
                  <a:tcPr anchor="ctr"/>
                </a:tc>
                <a:tc>
                  <a:txBody>
                    <a:bodyPr/>
                    <a:lstStyle/>
                    <a:p>
                      <a:pPr algn="ctr"/>
                      <a:endParaRPr lang="en-US" sz="2000" b="1" dirty="0"/>
                    </a:p>
                  </a:txBody>
                  <a:tcPr anchor="ctr"/>
                </a:tc>
                <a:extLst>
                  <a:ext uri="{0D108BD9-81ED-4DB2-BD59-A6C34878D82A}">
                    <a16:rowId xmlns:a16="http://schemas.microsoft.com/office/drawing/2014/main" val="739677366"/>
                  </a:ext>
                </a:extLst>
              </a:tr>
            </a:tbl>
          </a:graphicData>
        </a:graphic>
      </p:graphicFrame>
      <p:sp>
        <p:nvSpPr>
          <p:cNvPr id="2" name="Title 1">
            <a:extLst>
              <a:ext uri="{FF2B5EF4-FFF2-40B4-BE49-F238E27FC236}">
                <a16:creationId xmlns:a16="http://schemas.microsoft.com/office/drawing/2014/main" id="{D44C1682-7AC7-39D1-95EB-8A8479510093}"/>
              </a:ext>
            </a:extLst>
          </p:cNvPr>
          <p:cNvSpPr>
            <a:spLocks noGrp="1"/>
          </p:cNvSpPr>
          <p:nvPr>
            <p:ph type="title"/>
          </p:nvPr>
        </p:nvSpPr>
        <p:spPr>
          <a:xfrm>
            <a:off x="890476" y="0"/>
            <a:ext cx="9601200" cy="1142385"/>
          </a:xfrm>
        </p:spPr>
        <p:txBody>
          <a:bodyPr>
            <a:normAutofit/>
          </a:bodyPr>
          <a:lstStyle/>
          <a:p>
            <a:r>
              <a:rPr lang="en-US" sz="4000" dirty="0"/>
              <a:t>Payback</a:t>
            </a:r>
            <a:endParaRPr lang="en-US" sz="3800" dirty="0"/>
          </a:p>
        </p:txBody>
      </p:sp>
    </p:spTree>
    <p:extLst>
      <p:ext uri="{BB962C8B-B14F-4D97-AF65-F5344CB8AC3E}">
        <p14:creationId xmlns:p14="http://schemas.microsoft.com/office/powerpoint/2010/main" val="8923164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9EE25-5E58-5C85-2BBE-1AE08A3CE349}"/>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0244EDB5-441F-0599-583E-FFA4B2A28ECB}"/>
              </a:ext>
            </a:extLst>
          </p:cNvPr>
          <p:cNvSpPr>
            <a:spLocks noGrp="1"/>
          </p:cNvSpPr>
          <p:nvPr>
            <p:ph idx="1"/>
          </p:nvPr>
        </p:nvSpPr>
        <p:spPr>
          <a:xfrm>
            <a:off x="890476" y="1205013"/>
            <a:ext cx="10411047" cy="4899980"/>
          </a:xfrm>
        </p:spPr>
        <p:txBody>
          <a:bodyPr>
            <a:noAutofit/>
          </a:bodyPr>
          <a:lstStyle/>
          <a:p>
            <a:pPr marL="0" indent="0">
              <a:buNone/>
            </a:pPr>
            <a:r>
              <a:rPr lang="en-US" sz="2400" dirty="0"/>
              <a:t>Suppose the cash outlay is $205,000, then the payback period is:</a:t>
            </a:r>
          </a:p>
          <a:p>
            <a:endParaRPr lang="en-US" sz="2400" dirty="0"/>
          </a:p>
          <a:p>
            <a:endParaRPr lang="en-US" sz="2400" dirty="0"/>
          </a:p>
          <a:p>
            <a:endParaRPr lang="en-US" sz="2400" dirty="0"/>
          </a:p>
        </p:txBody>
      </p:sp>
      <p:graphicFrame>
        <p:nvGraphicFramePr>
          <p:cNvPr id="3" name="Table 2">
            <a:extLst>
              <a:ext uri="{FF2B5EF4-FFF2-40B4-BE49-F238E27FC236}">
                <a16:creationId xmlns:a16="http://schemas.microsoft.com/office/drawing/2014/main" id="{06ABEAF7-9AC8-00F9-C05F-357F534379AD}"/>
              </a:ext>
            </a:extLst>
          </p:cNvPr>
          <p:cNvGraphicFramePr>
            <a:graphicFrameLocks noGrp="1"/>
          </p:cNvGraphicFramePr>
          <p:nvPr>
            <p:extLst>
              <p:ext uri="{D42A27DB-BD31-4B8C-83A1-F6EECF244321}">
                <p14:modId xmlns:p14="http://schemas.microsoft.com/office/powerpoint/2010/main" val="220188543"/>
              </p:ext>
            </p:extLst>
          </p:nvPr>
        </p:nvGraphicFramePr>
        <p:xfrm>
          <a:off x="1016810" y="1880062"/>
          <a:ext cx="10158378" cy="3324371"/>
        </p:xfrm>
        <a:graphic>
          <a:graphicData uri="http://schemas.openxmlformats.org/drawingml/2006/table">
            <a:tbl>
              <a:tblPr firstRow="1" bandRow="1">
                <a:tableStyleId>{B301B821-A1FF-4177-AEE7-76D212191A09}</a:tableStyleId>
              </a:tblPr>
              <a:tblGrid>
                <a:gridCol w="984611">
                  <a:extLst>
                    <a:ext uri="{9D8B030D-6E8A-4147-A177-3AD203B41FA5}">
                      <a16:colId xmlns:a16="http://schemas.microsoft.com/office/drawing/2014/main" val="2424542934"/>
                    </a:ext>
                  </a:extLst>
                </a:gridCol>
                <a:gridCol w="2761965">
                  <a:extLst>
                    <a:ext uri="{9D8B030D-6E8A-4147-A177-3AD203B41FA5}">
                      <a16:colId xmlns:a16="http://schemas.microsoft.com/office/drawing/2014/main" val="632205471"/>
                    </a:ext>
                  </a:extLst>
                </a:gridCol>
                <a:gridCol w="4253023">
                  <a:extLst>
                    <a:ext uri="{9D8B030D-6E8A-4147-A177-3AD203B41FA5}">
                      <a16:colId xmlns:a16="http://schemas.microsoft.com/office/drawing/2014/main" val="1269586240"/>
                    </a:ext>
                  </a:extLst>
                </a:gridCol>
                <a:gridCol w="2158779">
                  <a:extLst>
                    <a:ext uri="{9D8B030D-6E8A-4147-A177-3AD203B41FA5}">
                      <a16:colId xmlns:a16="http://schemas.microsoft.com/office/drawing/2014/main" val="1695615380"/>
                    </a:ext>
                  </a:extLst>
                </a:gridCol>
              </a:tblGrid>
              <a:tr h="767447">
                <a:tc>
                  <a:txBody>
                    <a:bodyPr/>
                    <a:lstStyle/>
                    <a:p>
                      <a:pPr algn="ctr"/>
                      <a:r>
                        <a:rPr lang="en-US" sz="2000" dirty="0"/>
                        <a:t>Year</a:t>
                      </a:r>
                      <a:endParaRPr lang="en-US" sz="2000" b="1" dirty="0"/>
                    </a:p>
                  </a:txBody>
                  <a:tcPr anchor="ctr"/>
                </a:tc>
                <a:tc>
                  <a:txBody>
                    <a:bodyPr/>
                    <a:lstStyle/>
                    <a:p>
                      <a:pPr algn="ctr"/>
                      <a:r>
                        <a:rPr lang="en-US" sz="2000" dirty="0" err="1"/>
                        <a:t>Annaul</a:t>
                      </a:r>
                      <a:r>
                        <a:rPr lang="en-US" sz="2000" dirty="0"/>
                        <a:t> cash inflow</a:t>
                      </a:r>
                      <a:endParaRPr lang="en-US" sz="2000" b="1" dirty="0"/>
                    </a:p>
                  </a:txBody>
                  <a:tcPr anchor="ctr"/>
                </a:tc>
                <a:tc>
                  <a:txBody>
                    <a:bodyPr/>
                    <a:lstStyle/>
                    <a:p>
                      <a:pPr algn="ctr"/>
                      <a:r>
                        <a:rPr lang="en-US" sz="2000" b="1" dirty="0"/>
                        <a:t>Cumulative annual cash inflows </a:t>
                      </a:r>
                    </a:p>
                  </a:txBody>
                  <a:tcPr anchor="ctr"/>
                </a:tc>
                <a:tc>
                  <a:txBody>
                    <a:bodyPr/>
                    <a:lstStyle/>
                    <a:p>
                      <a:pPr algn="ctr"/>
                      <a:r>
                        <a:rPr lang="en-US" sz="2000" b="1" dirty="0"/>
                        <a:t>Payback period</a:t>
                      </a:r>
                    </a:p>
                  </a:txBody>
                  <a:tcPr anchor="ctr"/>
                </a:tc>
                <a:extLst>
                  <a:ext uri="{0D108BD9-81ED-4DB2-BD59-A6C34878D82A}">
                    <a16:rowId xmlns:a16="http://schemas.microsoft.com/office/drawing/2014/main" val="2229366715"/>
                  </a:ext>
                </a:extLst>
              </a:tr>
              <a:tr h="618628">
                <a:tc>
                  <a:txBody>
                    <a:bodyPr/>
                    <a:lstStyle/>
                    <a:p>
                      <a:pPr algn="ctr"/>
                      <a:r>
                        <a:rPr lang="en-US" sz="2000" b="1" dirty="0"/>
                        <a:t>1</a:t>
                      </a:r>
                    </a:p>
                  </a:txBody>
                  <a:tcPr anchor="ctr"/>
                </a:tc>
                <a:tc>
                  <a:txBody>
                    <a:bodyPr/>
                    <a:lstStyle/>
                    <a:p>
                      <a:pPr algn="ctr"/>
                      <a:r>
                        <a:rPr lang="en-US" sz="2000" b="1" dirty="0"/>
                        <a:t>80,000</a:t>
                      </a:r>
                    </a:p>
                  </a:txBody>
                  <a:tcPr anchor="ctr"/>
                </a:tc>
                <a:tc>
                  <a:txBody>
                    <a:bodyPr/>
                    <a:lstStyle/>
                    <a:p>
                      <a:pPr algn="ctr"/>
                      <a:r>
                        <a:rPr lang="en-US" sz="2000" b="1" dirty="0"/>
                        <a:t>80,000</a:t>
                      </a:r>
                    </a:p>
                  </a:txBody>
                  <a:tcPr anchor="ctr"/>
                </a:tc>
                <a:tc>
                  <a:txBody>
                    <a:bodyPr/>
                    <a:lstStyle/>
                    <a:p>
                      <a:pPr algn="ctr"/>
                      <a:endParaRPr lang="en-US" sz="2000" b="1" dirty="0"/>
                    </a:p>
                  </a:txBody>
                  <a:tcPr anchor="ctr"/>
                </a:tc>
                <a:extLst>
                  <a:ext uri="{0D108BD9-81ED-4DB2-BD59-A6C34878D82A}">
                    <a16:rowId xmlns:a16="http://schemas.microsoft.com/office/drawing/2014/main" val="3995193334"/>
                  </a:ext>
                </a:extLst>
              </a:tr>
              <a:tr h="618628">
                <a:tc>
                  <a:txBody>
                    <a:bodyPr/>
                    <a:lstStyle/>
                    <a:p>
                      <a:pPr algn="ctr"/>
                      <a:r>
                        <a:rPr lang="en-US" sz="2000" b="1" dirty="0"/>
                        <a:t>2</a:t>
                      </a:r>
                    </a:p>
                  </a:txBody>
                  <a:tcPr anchor="ctr"/>
                </a:tc>
                <a:tc>
                  <a:txBody>
                    <a:bodyPr/>
                    <a:lstStyle/>
                    <a:p>
                      <a:pPr algn="ctr"/>
                      <a:r>
                        <a:rPr lang="en-US" sz="2000" b="1" dirty="0"/>
                        <a:t>60,000</a:t>
                      </a:r>
                    </a:p>
                  </a:txBody>
                  <a:tcPr anchor="ctr"/>
                </a:tc>
                <a:tc>
                  <a:txBody>
                    <a:bodyPr/>
                    <a:lstStyle/>
                    <a:p>
                      <a:pPr algn="ctr"/>
                      <a:r>
                        <a:rPr lang="en-US" sz="2000" b="1" dirty="0"/>
                        <a:t>140,000</a:t>
                      </a:r>
                    </a:p>
                  </a:txBody>
                  <a:tcPr anchor="ctr"/>
                </a:tc>
                <a:tc>
                  <a:txBody>
                    <a:bodyPr/>
                    <a:lstStyle/>
                    <a:p>
                      <a:pPr algn="ctr"/>
                      <a:endParaRPr lang="en-US" sz="2000" b="1" dirty="0"/>
                    </a:p>
                  </a:txBody>
                  <a:tcPr anchor="ctr"/>
                </a:tc>
                <a:extLst>
                  <a:ext uri="{0D108BD9-81ED-4DB2-BD59-A6C34878D82A}">
                    <a16:rowId xmlns:a16="http://schemas.microsoft.com/office/drawing/2014/main" val="2141374553"/>
                  </a:ext>
                </a:extLst>
              </a:tr>
              <a:tr h="618628">
                <a:tc>
                  <a:txBody>
                    <a:bodyPr/>
                    <a:lstStyle/>
                    <a:p>
                      <a:pPr algn="ctr"/>
                      <a:r>
                        <a:rPr lang="en-US" sz="2000" b="1" dirty="0"/>
                        <a:t>3</a:t>
                      </a:r>
                    </a:p>
                  </a:txBody>
                  <a:tcPr anchor="ctr"/>
                </a:tc>
                <a:tc>
                  <a:txBody>
                    <a:bodyPr/>
                    <a:lstStyle/>
                    <a:p>
                      <a:pPr algn="ctr"/>
                      <a:r>
                        <a:rPr lang="en-US" sz="2000" b="1" dirty="0"/>
                        <a:t>60,000</a:t>
                      </a:r>
                    </a:p>
                  </a:txBody>
                  <a:tcPr anchor="ctr"/>
                </a:tc>
                <a:tc>
                  <a:txBody>
                    <a:bodyPr/>
                    <a:lstStyle/>
                    <a:p>
                      <a:pPr algn="ctr"/>
                      <a:r>
                        <a:rPr lang="en-US" sz="2000" b="1" dirty="0"/>
                        <a:t>200,000</a:t>
                      </a:r>
                    </a:p>
                  </a:txBody>
                  <a:tcPr anchor="ctr"/>
                </a:tc>
                <a:tc>
                  <a:txBody>
                    <a:bodyPr/>
                    <a:lstStyle/>
                    <a:p>
                      <a:pPr algn="ctr"/>
                      <a:endParaRPr lang="en-US" sz="1800" b="1" dirty="0"/>
                    </a:p>
                  </a:txBody>
                  <a:tcPr anchor="ctr"/>
                </a:tc>
                <a:extLst>
                  <a:ext uri="{0D108BD9-81ED-4DB2-BD59-A6C34878D82A}">
                    <a16:rowId xmlns:a16="http://schemas.microsoft.com/office/drawing/2014/main" val="4087394348"/>
                  </a:ext>
                </a:extLst>
              </a:tr>
              <a:tr h="618628">
                <a:tc>
                  <a:txBody>
                    <a:bodyPr/>
                    <a:lstStyle/>
                    <a:p>
                      <a:pPr algn="ctr"/>
                      <a:r>
                        <a:rPr lang="en-US" sz="2000" b="1" dirty="0"/>
                        <a:t>4</a:t>
                      </a:r>
                    </a:p>
                  </a:txBody>
                  <a:tcPr anchor="ctr"/>
                </a:tc>
                <a:tc>
                  <a:txBody>
                    <a:bodyPr/>
                    <a:lstStyle/>
                    <a:p>
                      <a:pPr algn="ctr"/>
                      <a:r>
                        <a:rPr lang="en-US" sz="2000" b="1" dirty="0"/>
                        <a:t>20,000</a:t>
                      </a:r>
                    </a:p>
                  </a:txBody>
                  <a:tcPr anchor="ctr"/>
                </a:tc>
                <a:tc>
                  <a:txBody>
                    <a:bodyPr/>
                    <a:lstStyle/>
                    <a:p>
                      <a:pPr algn="ctr"/>
                      <a:r>
                        <a:rPr lang="en-US" sz="2000" b="1" dirty="0"/>
                        <a:t>220,000</a:t>
                      </a:r>
                    </a:p>
                  </a:txBody>
                  <a:tcPr anchor="ctr"/>
                </a:tc>
                <a:tc>
                  <a:txBody>
                    <a:bodyPr/>
                    <a:lstStyle/>
                    <a:p>
                      <a:pPr algn="ctr"/>
                      <a:r>
                        <a:rPr lang="en-US" sz="2000" b="1" dirty="0"/>
                        <a:t>Between 3 and 4 years</a:t>
                      </a:r>
                    </a:p>
                  </a:txBody>
                  <a:tcPr anchor="ctr"/>
                </a:tc>
                <a:extLst>
                  <a:ext uri="{0D108BD9-81ED-4DB2-BD59-A6C34878D82A}">
                    <a16:rowId xmlns:a16="http://schemas.microsoft.com/office/drawing/2014/main" val="739677366"/>
                  </a:ext>
                </a:extLst>
              </a:tr>
            </a:tbl>
          </a:graphicData>
        </a:graphic>
      </p:graphicFrame>
      <p:sp>
        <p:nvSpPr>
          <p:cNvPr id="2" name="Title 1">
            <a:extLst>
              <a:ext uri="{FF2B5EF4-FFF2-40B4-BE49-F238E27FC236}">
                <a16:creationId xmlns:a16="http://schemas.microsoft.com/office/drawing/2014/main" id="{305BE8AB-A717-2ECD-2019-52374DFABE16}"/>
              </a:ext>
            </a:extLst>
          </p:cNvPr>
          <p:cNvSpPr>
            <a:spLocks noGrp="1"/>
          </p:cNvSpPr>
          <p:nvPr>
            <p:ph type="title"/>
          </p:nvPr>
        </p:nvSpPr>
        <p:spPr>
          <a:xfrm>
            <a:off x="890476" y="0"/>
            <a:ext cx="9601200" cy="1142385"/>
          </a:xfrm>
        </p:spPr>
        <p:txBody>
          <a:bodyPr>
            <a:normAutofit/>
          </a:bodyPr>
          <a:lstStyle/>
          <a:p>
            <a:r>
              <a:rPr lang="en-US" sz="4000" dirty="0"/>
              <a:t>Payback</a:t>
            </a:r>
            <a:endParaRPr lang="en-US" sz="3800" dirty="0"/>
          </a:p>
        </p:txBody>
      </p:sp>
    </p:spTree>
    <p:extLst>
      <p:ext uri="{BB962C8B-B14F-4D97-AF65-F5344CB8AC3E}">
        <p14:creationId xmlns:p14="http://schemas.microsoft.com/office/powerpoint/2010/main" val="11944857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44558-D0E1-0D04-1D7B-3EE2952EBA6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AED525D8-07F1-1B8B-0991-28707AF0CE56}"/>
                  </a:ext>
                </a:extLst>
              </p:cNvPr>
              <p:cNvSpPr>
                <a:spLocks noGrp="1"/>
              </p:cNvSpPr>
              <p:nvPr>
                <p:ph idx="1"/>
              </p:nvPr>
            </p:nvSpPr>
            <p:spPr>
              <a:xfrm>
                <a:off x="890476" y="1247545"/>
                <a:ext cx="10411047" cy="4899980"/>
              </a:xfrm>
            </p:spPr>
            <p:txBody>
              <a:bodyPr>
                <a:normAutofit/>
              </a:bodyPr>
              <a:lstStyle/>
              <a:p>
                <a:r>
                  <a:rPr lang="en-US" sz="2400" dirty="0"/>
                  <a:t>Since up to three years a sum of $2,00,000 is recovered, the amount of $5,000 ($205,000 - $200,000) is recovered in a fraction of the next year, which is as follows.</a:t>
                </a:r>
              </a:p>
              <a:p>
                <a:r>
                  <a:rPr lang="en-US" sz="2400" dirty="0"/>
                  <a:t>For getting the additional $5,000, it will take (5,000/20,000) </a:t>
                </a:r>
                <a14:m>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 </m:t>
                    </m:r>
                    <m:r>
                      <a:rPr lang="en-US" sz="2400" b="0" i="1" smtClean="0">
                        <a:latin typeface="Cambria Math" panose="02040503050406030204" pitchFamily="18" charset="0"/>
                      </a:rPr>
                      <m:t>𝑦𝑒𝑎𝑟</m:t>
                    </m:r>
                    <m:r>
                      <a:rPr lang="en-US" sz="2400" b="0" i="0" smtClean="0">
                        <a:latin typeface="Cambria Math" panose="02040503050406030204" pitchFamily="18" charset="0"/>
                      </a:rPr>
                      <m:t>=</m:t>
                    </m:r>
                    <m:r>
                      <a:rPr lang="en-US" sz="2400" b="1" i="0" smtClean="0">
                        <a:solidFill>
                          <a:schemeClr val="accent1">
                            <a:lumMod val="75000"/>
                          </a:schemeClr>
                        </a:solidFill>
                        <a:latin typeface="Cambria Math" panose="02040503050406030204" pitchFamily="18" charset="0"/>
                      </a:rPr>
                      <m:t>𝟑</m:t>
                    </m:r>
                    <m:r>
                      <a:rPr lang="en-US" sz="2400" b="1" i="0" smtClean="0">
                        <a:solidFill>
                          <a:schemeClr val="accent1">
                            <a:lumMod val="75000"/>
                          </a:schemeClr>
                        </a:solidFill>
                        <a:latin typeface="Cambria Math" panose="02040503050406030204" pitchFamily="18" charset="0"/>
                      </a:rPr>
                      <m:t> </m:t>
                    </m:r>
                    <m:r>
                      <a:rPr lang="en-US" sz="2400" b="1" i="0" smtClean="0">
                        <a:solidFill>
                          <a:schemeClr val="accent1">
                            <a:lumMod val="75000"/>
                          </a:schemeClr>
                        </a:solidFill>
                        <a:latin typeface="Cambria Math" panose="02040503050406030204" pitchFamily="18" charset="0"/>
                      </a:rPr>
                      <m:t>𝐦𝐨𝐧𝐭𝐡𝐬</m:t>
                    </m:r>
                  </m:oMath>
                </a14:m>
                <a:r>
                  <a:rPr lang="en-US" sz="2400" dirty="0"/>
                  <a:t>.</a:t>
                </a:r>
              </a:p>
              <a:p>
                <a:r>
                  <a:rPr lang="en-US" sz="2400" dirty="0"/>
                  <a:t>The project payback period is </a:t>
                </a:r>
                <a:r>
                  <a:rPr lang="en-US" sz="2400" b="1" dirty="0">
                    <a:solidFill>
                      <a:schemeClr val="accent1">
                        <a:lumMod val="75000"/>
                      </a:schemeClr>
                    </a:solidFill>
                  </a:rPr>
                  <a:t>3 years and 3 months</a:t>
                </a:r>
                <a:r>
                  <a:rPr lang="en-US" sz="2400" dirty="0"/>
                  <a:t>.​</a:t>
                </a:r>
              </a:p>
            </p:txBody>
          </p:sp>
        </mc:Choice>
        <mc:Fallback xmlns="">
          <p:sp>
            <p:nvSpPr>
              <p:cNvPr id="4" name="Content Placeholder 3">
                <a:extLst>
                  <a:ext uri="{FF2B5EF4-FFF2-40B4-BE49-F238E27FC236}">
                    <a16:creationId xmlns:a16="http://schemas.microsoft.com/office/drawing/2014/main" id="{AED525D8-07F1-1B8B-0991-28707AF0CE56}"/>
                  </a:ext>
                </a:extLst>
              </p:cNvPr>
              <p:cNvSpPr>
                <a:spLocks noGrp="1" noRot="1" noChangeAspect="1" noMove="1" noResize="1" noEditPoints="1" noAdjustHandles="1" noChangeArrowheads="1" noChangeShapeType="1" noTextEdit="1"/>
              </p:cNvSpPr>
              <p:nvPr>
                <p:ph idx="1"/>
              </p:nvPr>
            </p:nvSpPr>
            <p:spPr>
              <a:xfrm>
                <a:off x="890476" y="1247545"/>
                <a:ext cx="10411047" cy="4899980"/>
              </a:xfrm>
              <a:blipFill>
                <a:blip r:embed="rId2"/>
                <a:stretch>
                  <a:fillRect l="-761" t="-1619"/>
                </a:stretch>
              </a:blipFill>
            </p:spPr>
            <p:txBody>
              <a:bodyPr/>
              <a:lstStyle/>
              <a:p>
                <a:r>
                  <a:rPr lang="en-US">
                    <a:noFill/>
                  </a:rPr>
                  <a:t> </a:t>
                </a:r>
              </a:p>
            </p:txBody>
          </p:sp>
        </mc:Fallback>
      </mc:AlternateContent>
      <p:sp>
        <p:nvSpPr>
          <p:cNvPr id="3" name="Title 1">
            <a:extLst>
              <a:ext uri="{FF2B5EF4-FFF2-40B4-BE49-F238E27FC236}">
                <a16:creationId xmlns:a16="http://schemas.microsoft.com/office/drawing/2014/main" id="{29A1F601-F55D-43E7-D14C-F89915BC8EE3}"/>
              </a:ext>
            </a:extLst>
          </p:cNvPr>
          <p:cNvSpPr>
            <a:spLocks noGrp="1"/>
          </p:cNvSpPr>
          <p:nvPr>
            <p:ph type="title"/>
          </p:nvPr>
        </p:nvSpPr>
        <p:spPr>
          <a:xfrm>
            <a:off x="890476" y="0"/>
            <a:ext cx="9601200" cy="1142385"/>
          </a:xfrm>
        </p:spPr>
        <p:txBody>
          <a:bodyPr>
            <a:normAutofit/>
          </a:bodyPr>
          <a:lstStyle/>
          <a:p>
            <a:r>
              <a:rPr lang="en-US" sz="4000" dirty="0"/>
              <a:t>Payback</a:t>
            </a:r>
            <a:endParaRPr lang="en-US" sz="3800" dirty="0"/>
          </a:p>
        </p:txBody>
      </p:sp>
    </p:spTree>
    <p:extLst>
      <p:ext uri="{BB962C8B-B14F-4D97-AF65-F5344CB8AC3E}">
        <p14:creationId xmlns:p14="http://schemas.microsoft.com/office/powerpoint/2010/main" val="21121069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8C307-548E-9E0B-CDFB-0DAE0701B72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D1AD99F-73C1-E3AF-E728-8ACC75DE18EF}"/>
                  </a:ext>
                </a:extLst>
              </p:cNvPr>
              <p:cNvSpPr>
                <a:spLocks noGrp="1"/>
              </p:cNvSpPr>
              <p:nvPr>
                <p:ph idx="1"/>
              </p:nvPr>
            </p:nvSpPr>
            <p:spPr>
              <a:xfrm>
                <a:off x="890476" y="1247545"/>
                <a:ext cx="10411047" cy="4899980"/>
              </a:xfrm>
            </p:spPr>
            <p:txBody>
              <a:bodyPr>
                <a:normAutofit/>
              </a:bodyPr>
              <a:lstStyle/>
              <a:p>
                <a:r>
                  <a:rPr lang="en-US" sz="2400" dirty="0"/>
                  <a:t>To overcome some of the limitations of the payback method, another technique that is often employed is the return of investment (ROI), which measures how much we get back for each dollar invested.</a:t>
                </a:r>
              </a:p>
              <a:p>
                <a:r>
                  <a:rPr lang="en-US" sz="2400" dirty="0"/>
                  <a:t>To calculate ROI, the profit (or return) of an investment is divided by the cost of the investment.</a:t>
                </a:r>
              </a:p>
              <a:p>
                <a14:m>
                  <m:oMath xmlns:m="http://schemas.openxmlformats.org/officeDocument/2006/math">
                    <m:r>
                      <a:rPr lang="en-US" sz="2800" b="1" i="0" smtClean="0">
                        <a:solidFill>
                          <a:schemeClr val="tx1"/>
                        </a:solidFill>
                        <a:latin typeface="Cambria Math" panose="02040503050406030204" pitchFamily="18" charset="0"/>
                      </a:rPr>
                      <m:t>𝐑𝐎𝐈</m:t>
                    </m:r>
                    <m:r>
                      <a:rPr lang="en-US" sz="2800" b="1" i="0" smtClean="0">
                        <a:solidFill>
                          <a:schemeClr val="tx1"/>
                        </a:solidFill>
                        <a:latin typeface="Cambria Math" panose="02040503050406030204" pitchFamily="18" charset="0"/>
                      </a:rPr>
                      <m:t>= </m:t>
                    </m:r>
                    <m:f>
                      <m:fPr>
                        <m:ctrlPr>
                          <a:rPr lang="en-US" sz="2800" b="1" i="1" smtClean="0">
                            <a:solidFill>
                              <a:schemeClr val="tx1"/>
                            </a:solidFill>
                            <a:latin typeface="Cambria Math" panose="02040503050406030204" pitchFamily="18" charset="0"/>
                          </a:rPr>
                        </m:ctrlPr>
                      </m:fPr>
                      <m:num>
                        <m:r>
                          <a:rPr lang="en-US" sz="2800" b="1" i="1" smtClean="0">
                            <a:solidFill>
                              <a:schemeClr val="tx1"/>
                            </a:solidFill>
                            <a:latin typeface="Cambria Math" panose="02040503050406030204" pitchFamily="18" charset="0"/>
                          </a:rPr>
                          <m:t>𝑵𝒆𝒕</m:t>
                        </m:r>
                        <m:r>
                          <a:rPr lang="en-US" sz="2800" b="1" i="1" smtClean="0">
                            <a:solidFill>
                              <a:schemeClr val="tx1"/>
                            </a:solidFill>
                            <a:latin typeface="Cambria Math" panose="02040503050406030204" pitchFamily="18" charset="0"/>
                          </a:rPr>
                          <m:t> </m:t>
                        </m:r>
                        <m:r>
                          <a:rPr lang="en-US" sz="2800" b="1" i="1" smtClean="0">
                            <a:solidFill>
                              <a:schemeClr val="tx1"/>
                            </a:solidFill>
                            <a:latin typeface="Cambria Math" panose="02040503050406030204" pitchFamily="18" charset="0"/>
                          </a:rPr>
                          <m:t>𝑷𝒓𝒐𝒇𝒊𝒕</m:t>
                        </m:r>
                      </m:num>
                      <m:den>
                        <m:r>
                          <a:rPr lang="en-US" sz="2800" b="1" i="1" smtClean="0">
                            <a:solidFill>
                              <a:schemeClr val="tx1"/>
                            </a:solidFill>
                            <a:latin typeface="Cambria Math" panose="02040503050406030204" pitchFamily="18" charset="0"/>
                          </a:rPr>
                          <m:t>𝑻𝒐𝒕𝒂𝒍</m:t>
                        </m:r>
                        <m:r>
                          <a:rPr lang="en-US" sz="2800" b="1" i="1" smtClean="0">
                            <a:solidFill>
                              <a:schemeClr val="tx1"/>
                            </a:solidFill>
                            <a:latin typeface="Cambria Math" panose="02040503050406030204" pitchFamily="18" charset="0"/>
                          </a:rPr>
                          <m:t> </m:t>
                        </m:r>
                        <m:r>
                          <a:rPr lang="en-US" sz="2800" b="1" i="1" smtClean="0">
                            <a:solidFill>
                              <a:schemeClr val="tx1"/>
                            </a:solidFill>
                            <a:latin typeface="Cambria Math" panose="02040503050406030204" pitchFamily="18" charset="0"/>
                          </a:rPr>
                          <m:t>𝑰𝒏𝒗𝒆𝒔𝒕𝒎𝒆𝒏𝒕</m:t>
                        </m:r>
                      </m:den>
                    </m:f>
                    <m:r>
                      <a:rPr lang="en-US" sz="2800" b="1" i="1" smtClean="0">
                        <a:solidFill>
                          <a:schemeClr val="tx1"/>
                        </a:solidFill>
                        <a:latin typeface="Cambria Math" panose="02040503050406030204" pitchFamily="18" charset="0"/>
                      </a:rPr>
                      <m:t> </m:t>
                    </m:r>
                    <m:r>
                      <a:rPr lang="en-US" sz="2800" b="1" i="1" smtClean="0">
                        <a:solidFill>
                          <a:schemeClr val="tx1"/>
                        </a:solidFill>
                        <a:latin typeface="Cambria Math" panose="02040503050406030204" pitchFamily="18" charset="0"/>
                        <a:ea typeface="Cambria Math" panose="02040503050406030204" pitchFamily="18" charset="0"/>
                      </a:rPr>
                      <m:t>×</m:t>
                    </m:r>
                    <m:r>
                      <a:rPr lang="en-US" sz="2800" b="1" i="1" smtClean="0">
                        <a:solidFill>
                          <a:schemeClr val="tx1"/>
                        </a:solidFill>
                        <a:latin typeface="Cambria Math" panose="02040503050406030204" pitchFamily="18" charset="0"/>
                        <a:ea typeface="Cambria Math" panose="02040503050406030204" pitchFamily="18" charset="0"/>
                      </a:rPr>
                      <m:t>𝟏𝟎𝟎</m:t>
                    </m:r>
                  </m:oMath>
                </a14:m>
                <a:endParaRPr lang="en-US" sz="2800" b="1" dirty="0">
                  <a:solidFill>
                    <a:schemeClr val="tx1"/>
                  </a:solidFill>
                </a:endParaRPr>
              </a:p>
              <a:p>
                <a14:m>
                  <m:oMath xmlns:m="http://schemas.openxmlformats.org/officeDocument/2006/math">
                    <m:r>
                      <a:rPr lang="en-US" sz="2600" b="1" i="1" smtClean="0">
                        <a:solidFill>
                          <a:schemeClr val="tx1"/>
                        </a:solidFill>
                        <a:latin typeface="Cambria Math" panose="02040503050406030204" pitchFamily="18" charset="0"/>
                      </a:rPr>
                      <m:t>𝑵𝒆𝒕</m:t>
                    </m:r>
                    <m:r>
                      <a:rPr lang="en-US" sz="2600" b="1" i="1" smtClean="0">
                        <a:solidFill>
                          <a:schemeClr val="tx1"/>
                        </a:solidFill>
                        <a:latin typeface="Cambria Math" panose="02040503050406030204" pitchFamily="18" charset="0"/>
                      </a:rPr>
                      <m:t> </m:t>
                    </m:r>
                    <m:r>
                      <a:rPr lang="en-US" sz="2600" b="1" i="1" smtClean="0">
                        <a:solidFill>
                          <a:schemeClr val="tx1"/>
                        </a:solidFill>
                        <a:latin typeface="Cambria Math" panose="02040503050406030204" pitchFamily="18" charset="0"/>
                      </a:rPr>
                      <m:t>𝑷𝒓𝒐𝒇𝒊𝒕</m:t>
                    </m:r>
                    <m:r>
                      <a:rPr lang="en-US" sz="2600" b="1" i="1" smtClean="0">
                        <a:solidFill>
                          <a:schemeClr val="tx1"/>
                        </a:solidFill>
                        <a:latin typeface="Cambria Math" panose="02040503050406030204" pitchFamily="18" charset="0"/>
                      </a:rPr>
                      <m:t>=</m:t>
                    </m:r>
                    <m:r>
                      <a:rPr lang="en-US" sz="2600" b="1" i="1" smtClean="0">
                        <a:solidFill>
                          <a:schemeClr val="tx1"/>
                        </a:solidFill>
                        <a:latin typeface="Cambria Math" panose="02040503050406030204" pitchFamily="18" charset="0"/>
                      </a:rPr>
                      <m:t>𝑰𝒏𝒄𝒐𝒎𝒆𝒔</m:t>
                    </m:r>
                    <m:r>
                      <a:rPr lang="en-US" sz="2600" b="1" i="1" smtClean="0">
                        <a:solidFill>
                          <a:schemeClr val="tx1"/>
                        </a:solidFill>
                        <a:latin typeface="Cambria Math" panose="02040503050406030204" pitchFamily="18" charset="0"/>
                      </a:rPr>
                      <m:t> − </m:t>
                    </m:r>
                    <m:r>
                      <a:rPr lang="en-US" sz="2600" b="1" i="1" smtClean="0">
                        <a:solidFill>
                          <a:schemeClr val="tx1"/>
                        </a:solidFill>
                        <a:latin typeface="Cambria Math" panose="02040503050406030204" pitchFamily="18" charset="0"/>
                      </a:rPr>
                      <m:t>𝑬𝒙𝒑𝒆𝒏𝒔𝒆𝒔</m:t>
                    </m:r>
                  </m:oMath>
                </a14:m>
                <a:r>
                  <a:rPr lang="en-US" sz="2800" dirty="0"/>
                  <a:t>​</a:t>
                </a:r>
              </a:p>
            </p:txBody>
          </p:sp>
        </mc:Choice>
        <mc:Fallback xmlns="">
          <p:sp>
            <p:nvSpPr>
              <p:cNvPr id="4" name="Content Placeholder 3">
                <a:extLst>
                  <a:ext uri="{FF2B5EF4-FFF2-40B4-BE49-F238E27FC236}">
                    <a16:creationId xmlns:a16="http://schemas.microsoft.com/office/drawing/2014/main" id="{0D1AD99F-73C1-E3AF-E728-8ACC75DE18EF}"/>
                  </a:ext>
                </a:extLst>
              </p:cNvPr>
              <p:cNvSpPr>
                <a:spLocks noGrp="1" noRot="1" noChangeAspect="1" noMove="1" noResize="1" noEditPoints="1" noAdjustHandles="1" noChangeArrowheads="1" noChangeShapeType="1" noTextEdit="1"/>
              </p:cNvSpPr>
              <p:nvPr>
                <p:ph idx="1"/>
              </p:nvPr>
            </p:nvSpPr>
            <p:spPr>
              <a:xfrm>
                <a:off x="890476" y="1247545"/>
                <a:ext cx="10411047" cy="4899980"/>
              </a:xfrm>
              <a:blipFill>
                <a:blip r:embed="rId2"/>
                <a:stretch>
                  <a:fillRect l="-761" t="-1619"/>
                </a:stretch>
              </a:blipFill>
            </p:spPr>
            <p:txBody>
              <a:bodyPr/>
              <a:lstStyle/>
              <a:p>
                <a:r>
                  <a:rPr lang="en-US">
                    <a:noFill/>
                  </a:rPr>
                  <a:t> </a:t>
                </a:r>
              </a:p>
            </p:txBody>
          </p:sp>
        </mc:Fallback>
      </mc:AlternateContent>
      <p:sp>
        <p:nvSpPr>
          <p:cNvPr id="3" name="Title 1">
            <a:extLst>
              <a:ext uri="{FF2B5EF4-FFF2-40B4-BE49-F238E27FC236}">
                <a16:creationId xmlns:a16="http://schemas.microsoft.com/office/drawing/2014/main" id="{F39C14B9-A663-521A-17C5-83F2CD6DE391}"/>
              </a:ext>
            </a:extLst>
          </p:cNvPr>
          <p:cNvSpPr>
            <a:spLocks noGrp="1"/>
          </p:cNvSpPr>
          <p:nvPr>
            <p:ph type="title"/>
          </p:nvPr>
        </p:nvSpPr>
        <p:spPr>
          <a:xfrm>
            <a:off x="890476" y="0"/>
            <a:ext cx="9601200" cy="1142385"/>
          </a:xfrm>
        </p:spPr>
        <p:txBody>
          <a:bodyPr>
            <a:normAutofit/>
          </a:bodyPr>
          <a:lstStyle/>
          <a:p>
            <a:r>
              <a:rPr lang="en-US" sz="4000" dirty="0"/>
              <a:t>Return on Investment (ROI) </a:t>
            </a:r>
            <a:endParaRPr lang="en-US" sz="3800" dirty="0"/>
          </a:p>
        </p:txBody>
      </p:sp>
    </p:spTree>
    <p:extLst>
      <p:ext uri="{BB962C8B-B14F-4D97-AF65-F5344CB8AC3E}">
        <p14:creationId xmlns:p14="http://schemas.microsoft.com/office/powerpoint/2010/main" val="40164192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1C841-2C2D-3305-A689-DCED7D0FD9D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047CA6D-93AA-F5EB-A760-81C8B51170AB}"/>
                  </a:ext>
                </a:extLst>
              </p:cNvPr>
              <p:cNvSpPr>
                <a:spLocks noGrp="1"/>
              </p:cNvSpPr>
              <p:nvPr>
                <p:ph idx="1"/>
              </p:nvPr>
            </p:nvSpPr>
            <p:spPr>
              <a:xfrm>
                <a:off x="890476" y="1640954"/>
                <a:ext cx="10411047" cy="4899980"/>
              </a:xfrm>
            </p:spPr>
            <p:txBody>
              <a:bodyPr>
                <a:normAutofit/>
              </a:bodyPr>
              <a:lstStyle/>
              <a:p>
                <a:pPr marL="0" indent="0">
                  <a:buNone/>
                </a:pPr>
                <a:r>
                  <a:rPr lang="en-US" sz="2400" dirty="0"/>
                  <a:t>An investor buys a stock on January 1st, 2017, for </a:t>
                </a:r>
                <a:r>
                  <a:rPr lang="en-US" sz="2400" b="1" dirty="0">
                    <a:solidFill>
                      <a:schemeClr val="accent1">
                        <a:lumMod val="75000"/>
                      </a:schemeClr>
                    </a:solidFill>
                  </a:rPr>
                  <a:t>$12</a:t>
                </a:r>
                <a:r>
                  <a:rPr lang="en-US" sz="2400" dirty="0"/>
                  <a:t> and sells it on August 24, 2017, for </a:t>
                </a:r>
                <a:r>
                  <a:rPr lang="en-US" sz="2400" b="1" dirty="0">
                    <a:solidFill>
                      <a:schemeClr val="accent1">
                        <a:lumMod val="75000"/>
                      </a:schemeClr>
                    </a:solidFill>
                  </a:rPr>
                  <a:t>$15</a:t>
                </a:r>
                <a:r>
                  <a:rPr lang="en-US" sz="2400" dirty="0"/>
                  <a:t> What is the value of ROI?</a:t>
                </a:r>
              </a:p>
              <a:p>
                <a:pPr marL="0" indent="0">
                  <a:buNone/>
                </a:pPr>
                <a:r>
                  <a:rPr lang="en-US" sz="2400" b="1" dirty="0">
                    <a:solidFill>
                      <a:schemeClr val="accent1">
                        <a:lumMod val="75000"/>
                      </a:schemeClr>
                    </a:solidFill>
                  </a:rPr>
                  <a:t>Solution:</a:t>
                </a:r>
              </a:p>
              <a:p>
                <a14:m>
                  <m:oMath xmlns:m="http://schemas.openxmlformats.org/officeDocument/2006/math">
                    <m:r>
                      <a:rPr lang="en-US" sz="2400" b="1" i="0" smtClean="0">
                        <a:solidFill>
                          <a:schemeClr val="tx1"/>
                        </a:solidFill>
                        <a:latin typeface="Cambria Math" panose="02040503050406030204" pitchFamily="18" charset="0"/>
                      </a:rPr>
                      <m:t>𝐑𝐎𝐈</m:t>
                    </m:r>
                    <m:r>
                      <a:rPr lang="en-US" sz="2400" b="1" i="0" smtClean="0">
                        <a:solidFill>
                          <a:schemeClr val="tx1"/>
                        </a:solidFill>
                        <a:latin typeface="Cambria Math" panose="02040503050406030204" pitchFamily="18" charset="0"/>
                      </a:rPr>
                      <m:t>= </m:t>
                    </m:r>
                    <m:f>
                      <m:fPr>
                        <m:ctrlPr>
                          <a:rPr lang="en-US" sz="2400" b="1" i="1" smtClean="0">
                            <a:solidFill>
                              <a:schemeClr val="tx1"/>
                            </a:solidFill>
                            <a:latin typeface="Cambria Math" panose="02040503050406030204" pitchFamily="18" charset="0"/>
                          </a:rPr>
                        </m:ctrlPr>
                      </m:fPr>
                      <m:num>
                        <m:r>
                          <a:rPr lang="en-US" sz="2400" b="1" i="1" smtClean="0">
                            <a:solidFill>
                              <a:schemeClr val="tx1"/>
                            </a:solidFill>
                            <a:latin typeface="Cambria Math" panose="02040503050406030204" pitchFamily="18" charset="0"/>
                          </a:rPr>
                          <m:t>𝑵𝒆𝒕</m:t>
                        </m:r>
                        <m:r>
                          <a:rPr lang="en-US" sz="2400" b="1" i="1" smtClean="0">
                            <a:solidFill>
                              <a:schemeClr val="tx1"/>
                            </a:solidFill>
                            <a:latin typeface="Cambria Math" panose="02040503050406030204" pitchFamily="18" charset="0"/>
                          </a:rPr>
                          <m:t> </m:t>
                        </m:r>
                        <m:r>
                          <a:rPr lang="en-US" sz="2400" b="1" i="1" smtClean="0">
                            <a:solidFill>
                              <a:schemeClr val="tx1"/>
                            </a:solidFill>
                            <a:latin typeface="Cambria Math" panose="02040503050406030204" pitchFamily="18" charset="0"/>
                          </a:rPr>
                          <m:t>𝑷𝒓𝒐𝒇𝒊𝒕</m:t>
                        </m:r>
                      </m:num>
                      <m:den>
                        <m:r>
                          <a:rPr lang="en-US" sz="2400" b="1" i="1" smtClean="0">
                            <a:solidFill>
                              <a:schemeClr val="tx1"/>
                            </a:solidFill>
                            <a:latin typeface="Cambria Math" panose="02040503050406030204" pitchFamily="18" charset="0"/>
                          </a:rPr>
                          <m:t>𝑻𝒐𝒕𝒂𝒍</m:t>
                        </m:r>
                        <m:r>
                          <a:rPr lang="en-US" sz="2400" b="1" i="1" smtClean="0">
                            <a:solidFill>
                              <a:schemeClr val="tx1"/>
                            </a:solidFill>
                            <a:latin typeface="Cambria Math" panose="02040503050406030204" pitchFamily="18" charset="0"/>
                          </a:rPr>
                          <m:t> </m:t>
                        </m:r>
                        <m:r>
                          <a:rPr lang="en-US" sz="2400" b="1" i="1" smtClean="0">
                            <a:solidFill>
                              <a:schemeClr val="tx1"/>
                            </a:solidFill>
                            <a:latin typeface="Cambria Math" panose="02040503050406030204" pitchFamily="18" charset="0"/>
                          </a:rPr>
                          <m:t>𝑰𝒏𝒗𝒆𝒔𝒕𝒎𝒆𝒏𝒕</m:t>
                        </m:r>
                      </m:den>
                    </m:f>
                    <m:r>
                      <a:rPr lang="en-US" sz="2400" b="1" i="1" smtClean="0">
                        <a:solidFill>
                          <a:schemeClr val="tx1"/>
                        </a:solidFill>
                        <a:latin typeface="Cambria Math" panose="02040503050406030204" pitchFamily="18" charset="0"/>
                      </a:rPr>
                      <m:t> </m:t>
                    </m:r>
                    <m:r>
                      <a:rPr lang="en-US" sz="2400" b="1" i="1" smtClean="0">
                        <a:solidFill>
                          <a:schemeClr val="tx1"/>
                        </a:solidFill>
                        <a:latin typeface="Cambria Math" panose="02040503050406030204" pitchFamily="18" charset="0"/>
                        <a:ea typeface="Cambria Math" panose="02040503050406030204" pitchFamily="18" charset="0"/>
                      </a:rPr>
                      <m:t>×</m:t>
                    </m:r>
                    <m:r>
                      <a:rPr lang="en-US" sz="2400" b="1" i="1" smtClean="0">
                        <a:solidFill>
                          <a:schemeClr val="tx1"/>
                        </a:solidFill>
                        <a:latin typeface="Cambria Math" panose="02040503050406030204" pitchFamily="18" charset="0"/>
                        <a:ea typeface="Cambria Math" panose="02040503050406030204" pitchFamily="18" charset="0"/>
                      </a:rPr>
                      <m:t>𝟏𝟎𝟎</m:t>
                    </m:r>
                  </m:oMath>
                </a14:m>
                <a:endParaRPr lang="en-US" sz="2400" b="1" dirty="0">
                  <a:solidFill>
                    <a:schemeClr val="tx1"/>
                  </a:solidFill>
                </a:endParaRPr>
              </a:p>
              <a:p>
                <a14:m>
                  <m:oMath xmlns:m="http://schemas.openxmlformats.org/officeDocument/2006/math">
                    <m:r>
                      <a:rPr lang="en-US" sz="2400" b="1">
                        <a:latin typeface="Cambria Math" panose="02040503050406030204" pitchFamily="18" charset="0"/>
                      </a:rPr>
                      <m:t>𝐑𝐎𝐈</m:t>
                    </m:r>
                    <m:r>
                      <a:rPr lang="en-US" sz="2400" b="1">
                        <a:latin typeface="Cambria Math" panose="02040503050406030204" pitchFamily="18" charset="0"/>
                      </a:rPr>
                      <m:t>= </m:t>
                    </m:r>
                    <m:f>
                      <m:fPr>
                        <m:ctrlPr>
                          <a:rPr lang="en-US" sz="2400" b="1" i="1">
                            <a:latin typeface="Cambria Math" panose="02040503050406030204" pitchFamily="18" charset="0"/>
                          </a:rPr>
                        </m:ctrlPr>
                      </m:fPr>
                      <m:num>
                        <m:r>
                          <a:rPr lang="en-US" sz="2400" b="1" i="1" smtClean="0">
                            <a:latin typeface="Cambria Math" panose="02040503050406030204" pitchFamily="18" charset="0"/>
                          </a:rPr>
                          <m:t>($</m:t>
                        </m:r>
                        <m:r>
                          <a:rPr lang="en-US" sz="2400" b="1" i="1" smtClean="0">
                            <a:latin typeface="Cambria Math" panose="02040503050406030204" pitchFamily="18" charset="0"/>
                          </a:rPr>
                          <m:t>𝟏𝟓</m:t>
                        </m:r>
                        <m:r>
                          <a:rPr lang="en-US" sz="2400" b="1" i="1" smtClean="0">
                            <a:latin typeface="Cambria Math" panose="02040503050406030204" pitchFamily="18" charset="0"/>
                          </a:rPr>
                          <m:t> − $</m:t>
                        </m:r>
                        <m:r>
                          <a:rPr lang="en-US" sz="2400" b="1" i="1" smtClean="0">
                            <a:latin typeface="Cambria Math" panose="02040503050406030204" pitchFamily="18" charset="0"/>
                          </a:rPr>
                          <m:t>𝟏𝟐</m:t>
                        </m:r>
                        <m:r>
                          <a:rPr lang="en-US" sz="2400" b="1" i="1" smtClean="0">
                            <a:latin typeface="Cambria Math" panose="02040503050406030204" pitchFamily="18" charset="0"/>
                          </a:rPr>
                          <m:t>)</m:t>
                        </m:r>
                      </m:num>
                      <m:den>
                        <m:r>
                          <a:rPr lang="en-US" sz="2400" b="1" i="1" smtClean="0">
                            <a:latin typeface="Cambria Math" panose="02040503050406030204" pitchFamily="18" charset="0"/>
                          </a:rPr>
                          <m:t>$</m:t>
                        </m:r>
                        <m:r>
                          <a:rPr lang="en-US" sz="2400" b="1" i="1" smtClean="0">
                            <a:latin typeface="Cambria Math" panose="02040503050406030204" pitchFamily="18" charset="0"/>
                          </a:rPr>
                          <m:t>𝟏𝟐</m:t>
                        </m:r>
                      </m:den>
                    </m:f>
                    <m:r>
                      <a:rPr lang="en-US" sz="2400" b="1" i="1">
                        <a:latin typeface="Cambria Math" panose="02040503050406030204" pitchFamily="18" charset="0"/>
                      </a:rPr>
                      <m:t> </m:t>
                    </m:r>
                    <m:r>
                      <a:rPr lang="en-US" sz="2400" b="1" i="1">
                        <a:latin typeface="Cambria Math" panose="02040503050406030204" pitchFamily="18" charset="0"/>
                        <a:ea typeface="Cambria Math" panose="02040503050406030204" pitchFamily="18" charset="0"/>
                      </a:rPr>
                      <m:t>×</m:t>
                    </m:r>
                    <m:r>
                      <a:rPr lang="en-US" sz="2400" b="1" i="1">
                        <a:latin typeface="Cambria Math" panose="02040503050406030204" pitchFamily="18" charset="0"/>
                        <a:ea typeface="Cambria Math" panose="02040503050406030204" pitchFamily="18" charset="0"/>
                      </a:rPr>
                      <m:t>𝟏𝟎𝟎</m:t>
                    </m:r>
                    <m:r>
                      <a:rPr lang="en-US" sz="2400" b="1" i="1" smtClean="0">
                        <a:latin typeface="Cambria Math" panose="02040503050406030204" pitchFamily="18" charset="0"/>
                        <a:ea typeface="Cambria Math" panose="02040503050406030204" pitchFamily="18" charset="0"/>
                      </a:rPr>
                      <m:t>=</m:t>
                    </m:r>
                    <m:r>
                      <a:rPr lang="en-US" sz="2400" b="1" i="1" smtClean="0">
                        <a:solidFill>
                          <a:schemeClr val="accent1">
                            <a:lumMod val="75000"/>
                          </a:schemeClr>
                        </a:solidFill>
                        <a:latin typeface="Cambria Math" panose="02040503050406030204" pitchFamily="18" charset="0"/>
                        <a:ea typeface="Cambria Math" panose="02040503050406030204" pitchFamily="18" charset="0"/>
                      </a:rPr>
                      <m:t>𝟐𝟓</m:t>
                    </m:r>
                    <m:r>
                      <a:rPr lang="en-US" sz="2400" b="1" i="1" smtClean="0">
                        <a:solidFill>
                          <a:schemeClr val="accent1">
                            <a:lumMod val="75000"/>
                          </a:schemeClr>
                        </a:solidFill>
                        <a:latin typeface="Cambria Math" panose="02040503050406030204" pitchFamily="18" charset="0"/>
                        <a:ea typeface="Cambria Math" panose="02040503050406030204" pitchFamily="18" charset="0"/>
                      </a:rPr>
                      <m:t>%</m:t>
                    </m:r>
                  </m:oMath>
                </a14:m>
                <a:endParaRPr lang="en-US" sz="2400" b="1" dirty="0">
                  <a:solidFill>
                    <a:schemeClr val="tx1"/>
                  </a:solidFill>
                </a:endParaRPr>
              </a:p>
            </p:txBody>
          </p:sp>
        </mc:Choice>
        <mc:Fallback xmlns="">
          <p:sp>
            <p:nvSpPr>
              <p:cNvPr id="4" name="Content Placeholder 3">
                <a:extLst>
                  <a:ext uri="{FF2B5EF4-FFF2-40B4-BE49-F238E27FC236}">
                    <a16:creationId xmlns:a16="http://schemas.microsoft.com/office/drawing/2014/main" id="{7047CA6D-93AA-F5EB-A760-81C8B51170AB}"/>
                  </a:ext>
                </a:extLst>
              </p:cNvPr>
              <p:cNvSpPr>
                <a:spLocks noGrp="1" noRot="1" noChangeAspect="1" noMove="1" noResize="1" noEditPoints="1" noAdjustHandles="1" noChangeArrowheads="1" noChangeShapeType="1" noTextEdit="1"/>
              </p:cNvSpPr>
              <p:nvPr>
                <p:ph idx="1"/>
              </p:nvPr>
            </p:nvSpPr>
            <p:spPr>
              <a:xfrm>
                <a:off x="890476" y="1640954"/>
                <a:ext cx="10411047" cy="4899980"/>
              </a:xfrm>
              <a:blipFill>
                <a:blip r:embed="rId2"/>
                <a:stretch>
                  <a:fillRect l="-878" t="-1617"/>
                </a:stretch>
              </a:blipFill>
            </p:spPr>
            <p:txBody>
              <a:bodyPr/>
              <a:lstStyle/>
              <a:p>
                <a:r>
                  <a:rPr lang="en-US">
                    <a:noFill/>
                  </a:rPr>
                  <a:t> </a:t>
                </a:r>
              </a:p>
            </p:txBody>
          </p:sp>
        </mc:Fallback>
      </mc:AlternateContent>
      <p:sp>
        <p:nvSpPr>
          <p:cNvPr id="3" name="Title 1">
            <a:extLst>
              <a:ext uri="{FF2B5EF4-FFF2-40B4-BE49-F238E27FC236}">
                <a16:creationId xmlns:a16="http://schemas.microsoft.com/office/drawing/2014/main" id="{8161B623-F459-ABCF-1B48-5DA6889DD48A}"/>
              </a:ext>
            </a:extLst>
          </p:cNvPr>
          <p:cNvSpPr>
            <a:spLocks noGrp="1"/>
          </p:cNvSpPr>
          <p:nvPr>
            <p:ph type="title"/>
          </p:nvPr>
        </p:nvSpPr>
        <p:spPr>
          <a:xfrm>
            <a:off x="890476" y="0"/>
            <a:ext cx="9601200" cy="1142385"/>
          </a:xfrm>
        </p:spPr>
        <p:txBody>
          <a:bodyPr>
            <a:normAutofit/>
          </a:bodyPr>
          <a:lstStyle/>
          <a:p>
            <a:r>
              <a:rPr lang="en-US" sz="4000" dirty="0"/>
              <a:t>Return on Investment (ROI) </a:t>
            </a:r>
            <a:endParaRPr lang="en-US" sz="3800" dirty="0"/>
          </a:p>
        </p:txBody>
      </p:sp>
      <p:sp>
        <p:nvSpPr>
          <p:cNvPr id="5" name="Title 1">
            <a:extLst>
              <a:ext uri="{FF2B5EF4-FFF2-40B4-BE49-F238E27FC236}">
                <a16:creationId xmlns:a16="http://schemas.microsoft.com/office/drawing/2014/main" id="{4C746018-0C01-7BCB-4A4E-BE954E997FB2}"/>
              </a:ext>
            </a:extLst>
          </p:cNvPr>
          <p:cNvSpPr txBox="1">
            <a:spLocks/>
          </p:cNvSpPr>
          <p:nvPr/>
        </p:nvSpPr>
        <p:spPr>
          <a:xfrm>
            <a:off x="886968" y="477298"/>
            <a:ext cx="9601200" cy="114238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sz="2400" dirty="0"/>
              <a:t>Example 1:</a:t>
            </a:r>
          </a:p>
        </p:txBody>
      </p:sp>
    </p:spTree>
    <p:extLst>
      <p:ext uri="{BB962C8B-B14F-4D97-AF65-F5344CB8AC3E}">
        <p14:creationId xmlns:p14="http://schemas.microsoft.com/office/powerpoint/2010/main" val="25658124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2D8F9-7320-36F0-5F6B-272CF3FD7A47}"/>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C9323677-9910-EA5A-2963-C1FFDADC23CD}"/>
                  </a:ext>
                </a:extLst>
              </p:cNvPr>
              <p:cNvSpPr>
                <a:spLocks noGrp="1"/>
              </p:cNvSpPr>
              <p:nvPr>
                <p:ph idx="1"/>
              </p:nvPr>
            </p:nvSpPr>
            <p:spPr>
              <a:xfrm>
                <a:off x="890476" y="1640954"/>
                <a:ext cx="10677747" cy="4899980"/>
              </a:xfrm>
            </p:spPr>
            <p:txBody>
              <a:bodyPr>
                <a:normAutofit/>
              </a:bodyPr>
              <a:lstStyle/>
              <a:p>
                <a:pPr marL="0" indent="0">
                  <a:buNone/>
                </a:pPr>
                <a:r>
                  <a:rPr lang="en-US" sz="2400" dirty="0"/>
                  <a:t>You purchased a house at the courthouse auction for </a:t>
                </a:r>
                <a:r>
                  <a:rPr lang="en-US" sz="2400" b="1" dirty="0">
                    <a:solidFill>
                      <a:schemeClr val="accent1">
                        <a:lumMod val="75000"/>
                      </a:schemeClr>
                    </a:solidFill>
                  </a:rPr>
                  <a:t>$75,000 </a:t>
                </a:r>
                <a:r>
                  <a:rPr lang="en-US" sz="2400" dirty="0"/>
                  <a:t>and spent </a:t>
                </a:r>
                <a:r>
                  <a:rPr lang="en-US" sz="2400" b="1" dirty="0">
                    <a:solidFill>
                      <a:schemeClr val="accent1">
                        <a:lumMod val="75000"/>
                      </a:schemeClr>
                    </a:solidFill>
                  </a:rPr>
                  <a:t>$35,000 </a:t>
                </a:r>
                <a:r>
                  <a:rPr lang="en-US" sz="2400" dirty="0"/>
                  <a:t>in renovations. ​After sales, expenses, and commission, you netted </a:t>
                </a:r>
                <a:r>
                  <a:rPr lang="en-US" sz="2400" b="1" dirty="0">
                    <a:solidFill>
                      <a:schemeClr val="accent1">
                        <a:lumMod val="75000"/>
                      </a:schemeClr>
                    </a:solidFill>
                  </a:rPr>
                  <a:t>$160,000 </a:t>
                </a:r>
                <a:r>
                  <a:rPr lang="en-US" sz="2400" dirty="0"/>
                  <a:t>on the sale of the renovated house. What is the ROI?</a:t>
                </a:r>
              </a:p>
              <a:p>
                <a:pPr marL="0" indent="0">
                  <a:buNone/>
                </a:pPr>
                <a:r>
                  <a:rPr lang="en-US" sz="2400" dirty="0"/>
                  <a:t>​</a:t>
                </a:r>
                <a:r>
                  <a:rPr lang="en-US" sz="2400" b="1" dirty="0">
                    <a:solidFill>
                      <a:schemeClr val="accent1">
                        <a:lumMod val="75000"/>
                      </a:schemeClr>
                    </a:solidFill>
                  </a:rPr>
                  <a:t>Solution:</a:t>
                </a:r>
              </a:p>
              <a:p>
                <a:r>
                  <a:rPr lang="en-US" sz="2400" i="0" dirty="0">
                    <a:solidFill>
                      <a:schemeClr val="tx1"/>
                    </a:solidFill>
                    <a:latin typeface="+mj-lt"/>
                  </a:rPr>
                  <a:t>The total investment is all that you spent: </a:t>
                </a:r>
                <a14:m>
                  <m:oMath xmlns:m="http://schemas.openxmlformats.org/officeDocument/2006/math">
                    <m:r>
                      <a:rPr lang="en-US" sz="2400" b="1"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𝟕𝟓</m:t>
                    </m:r>
                    <m:r>
                      <a:rPr lang="en-US" sz="2400" b="1"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𝟎𝟎𝟎</m:t>
                    </m:r>
                    <m:r>
                      <a:rPr lang="en-US" sz="2400" b="1"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𝟑𝟓</m:t>
                    </m:r>
                    <m:r>
                      <a:rPr lang="en-US" sz="2400" b="1"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𝟎𝟎𝟎</m:t>
                    </m:r>
                    <m:r>
                      <a:rPr lang="en-US" sz="2400" b="1"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𝟏𝟏𝟎</m:t>
                    </m:r>
                    <m:r>
                      <a:rPr lang="en-US" sz="2400" b="1"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𝟎𝟎𝟎</m:t>
                    </m:r>
                  </m:oMath>
                </a14:m>
                <a:r>
                  <a:rPr lang="en-US" sz="2400" b="1" i="0" dirty="0">
                    <a:solidFill>
                      <a:schemeClr val="tx1"/>
                    </a:solidFill>
                    <a:latin typeface="+mj-lt"/>
                  </a:rPr>
                  <a:t> </a:t>
                </a:r>
              </a:p>
              <a:p>
                <a14:m>
                  <m:oMath xmlns:m="http://schemas.openxmlformats.org/officeDocument/2006/math">
                    <m:r>
                      <a:rPr lang="en-US" sz="2400" b="1" i="0" smtClean="0">
                        <a:solidFill>
                          <a:schemeClr val="tx1"/>
                        </a:solidFill>
                        <a:latin typeface="Cambria Math" panose="02040503050406030204" pitchFamily="18" charset="0"/>
                      </a:rPr>
                      <m:t>𝐑𝐎𝐈</m:t>
                    </m:r>
                    <m:r>
                      <a:rPr lang="en-US" sz="2400" b="1" i="0" smtClean="0">
                        <a:solidFill>
                          <a:schemeClr val="tx1"/>
                        </a:solidFill>
                        <a:latin typeface="Cambria Math" panose="02040503050406030204" pitchFamily="18" charset="0"/>
                      </a:rPr>
                      <m:t>= </m:t>
                    </m:r>
                    <m:f>
                      <m:fPr>
                        <m:ctrlPr>
                          <a:rPr lang="en-US" sz="2400" b="1" i="1" smtClean="0">
                            <a:solidFill>
                              <a:schemeClr val="tx1"/>
                            </a:solidFill>
                            <a:latin typeface="Cambria Math" panose="02040503050406030204" pitchFamily="18" charset="0"/>
                          </a:rPr>
                        </m:ctrlPr>
                      </m:fPr>
                      <m:num>
                        <m:r>
                          <a:rPr lang="en-US" sz="2400" b="1" i="1" smtClean="0">
                            <a:solidFill>
                              <a:schemeClr val="tx1"/>
                            </a:solidFill>
                            <a:latin typeface="Cambria Math" panose="02040503050406030204" pitchFamily="18" charset="0"/>
                          </a:rPr>
                          <m:t>𝑵𝒆𝒕</m:t>
                        </m:r>
                        <m:r>
                          <a:rPr lang="en-US" sz="2400" b="1" i="1" smtClean="0">
                            <a:solidFill>
                              <a:schemeClr val="tx1"/>
                            </a:solidFill>
                            <a:latin typeface="Cambria Math" panose="02040503050406030204" pitchFamily="18" charset="0"/>
                          </a:rPr>
                          <m:t> </m:t>
                        </m:r>
                        <m:r>
                          <a:rPr lang="en-US" sz="2400" b="1" i="1" smtClean="0">
                            <a:solidFill>
                              <a:schemeClr val="tx1"/>
                            </a:solidFill>
                            <a:latin typeface="Cambria Math" panose="02040503050406030204" pitchFamily="18" charset="0"/>
                          </a:rPr>
                          <m:t>𝑷𝒓𝒐𝒇𝒊𝒕</m:t>
                        </m:r>
                      </m:num>
                      <m:den>
                        <m:r>
                          <a:rPr lang="en-US" sz="2400" b="1" i="1" smtClean="0">
                            <a:solidFill>
                              <a:schemeClr val="tx1"/>
                            </a:solidFill>
                            <a:latin typeface="Cambria Math" panose="02040503050406030204" pitchFamily="18" charset="0"/>
                          </a:rPr>
                          <m:t>𝑻𝒐𝒕𝒂𝒍</m:t>
                        </m:r>
                        <m:r>
                          <a:rPr lang="en-US" sz="2400" b="1" i="1" smtClean="0">
                            <a:solidFill>
                              <a:schemeClr val="tx1"/>
                            </a:solidFill>
                            <a:latin typeface="Cambria Math" panose="02040503050406030204" pitchFamily="18" charset="0"/>
                          </a:rPr>
                          <m:t> </m:t>
                        </m:r>
                        <m:r>
                          <a:rPr lang="en-US" sz="2400" b="1" i="1" smtClean="0">
                            <a:solidFill>
                              <a:schemeClr val="tx1"/>
                            </a:solidFill>
                            <a:latin typeface="Cambria Math" panose="02040503050406030204" pitchFamily="18" charset="0"/>
                          </a:rPr>
                          <m:t>𝑰𝒏𝒗𝒆𝒔𝒕𝒎𝒆𝒏𝒕</m:t>
                        </m:r>
                      </m:den>
                    </m:f>
                    <m:r>
                      <a:rPr lang="en-US" sz="2400" b="1" i="1" smtClean="0">
                        <a:solidFill>
                          <a:schemeClr val="tx1"/>
                        </a:solidFill>
                        <a:latin typeface="Cambria Math" panose="02040503050406030204" pitchFamily="18" charset="0"/>
                      </a:rPr>
                      <m:t> </m:t>
                    </m:r>
                    <m:r>
                      <a:rPr lang="en-US" sz="2400" b="1" i="1" smtClean="0">
                        <a:solidFill>
                          <a:schemeClr val="tx1"/>
                        </a:solidFill>
                        <a:latin typeface="Cambria Math" panose="02040503050406030204" pitchFamily="18" charset="0"/>
                        <a:ea typeface="Cambria Math" panose="02040503050406030204" pitchFamily="18" charset="0"/>
                      </a:rPr>
                      <m:t>×</m:t>
                    </m:r>
                    <m:r>
                      <a:rPr lang="en-US" sz="2400" b="1" i="1" smtClean="0">
                        <a:solidFill>
                          <a:schemeClr val="tx1"/>
                        </a:solidFill>
                        <a:latin typeface="Cambria Math" panose="02040503050406030204" pitchFamily="18" charset="0"/>
                        <a:ea typeface="Cambria Math" panose="02040503050406030204" pitchFamily="18" charset="0"/>
                      </a:rPr>
                      <m:t>𝟏𝟎𝟎</m:t>
                    </m:r>
                  </m:oMath>
                </a14:m>
                <a:endParaRPr lang="en-US" sz="2400" b="1" dirty="0">
                  <a:solidFill>
                    <a:schemeClr val="tx1"/>
                  </a:solidFill>
                </a:endParaRPr>
              </a:p>
              <a:p>
                <a14:m>
                  <m:oMath xmlns:m="http://schemas.openxmlformats.org/officeDocument/2006/math">
                    <m:r>
                      <a:rPr lang="en-US" sz="2400" b="1">
                        <a:latin typeface="Cambria Math" panose="02040503050406030204" pitchFamily="18" charset="0"/>
                      </a:rPr>
                      <m:t>𝐑𝐎𝐈</m:t>
                    </m:r>
                    <m:r>
                      <a:rPr lang="en-US" sz="2400" b="1">
                        <a:latin typeface="Cambria Math" panose="02040503050406030204" pitchFamily="18" charset="0"/>
                      </a:rPr>
                      <m:t>= </m:t>
                    </m:r>
                    <m:f>
                      <m:fPr>
                        <m:ctrlPr>
                          <a:rPr lang="en-US" sz="2400" b="1" i="1">
                            <a:latin typeface="Cambria Math" panose="02040503050406030204" pitchFamily="18" charset="0"/>
                          </a:rPr>
                        </m:ctrlPr>
                      </m:fPr>
                      <m:num>
                        <m:r>
                          <a:rPr lang="en-US" sz="2400" b="1" i="1" smtClean="0">
                            <a:latin typeface="Cambria Math" panose="02040503050406030204" pitchFamily="18" charset="0"/>
                          </a:rPr>
                          <m:t>($</m:t>
                        </m:r>
                        <m:r>
                          <a:rPr lang="en-US" sz="2400" b="1" i="1" smtClean="0">
                            <a:latin typeface="Cambria Math" panose="02040503050406030204" pitchFamily="18" charset="0"/>
                          </a:rPr>
                          <m:t>𝟏𝟔𝟎</m:t>
                        </m:r>
                        <m:r>
                          <a:rPr lang="en-US" sz="2400" b="1" i="1" smtClean="0">
                            <a:latin typeface="Cambria Math" panose="02040503050406030204" pitchFamily="18" charset="0"/>
                          </a:rPr>
                          <m:t>,</m:t>
                        </m:r>
                        <m:r>
                          <a:rPr lang="en-US" sz="2400" b="1" i="1" smtClean="0">
                            <a:latin typeface="Cambria Math" panose="02040503050406030204" pitchFamily="18" charset="0"/>
                          </a:rPr>
                          <m:t>𝟎𝟎𝟎</m:t>
                        </m:r>
                        <m:r>
                          <a:rPr lang="en-US" sz="2400" b="1" i="1" smtClean="0">
                            <a:latin typeface="Cambria Math" panose="02040503050406030204" pitchFamily="18" charset="0"/>
                          </a:rPr>
                          <m:t> − $</m:t>
                        </m:r>
                        <m:r>
                          <a:rPr lang="en-US" sz="2400" b="1" i="1" smtClean="0">
                            <a:latin typeface="Cambria Math" panose="02040503050406030204" pitchFamily="18" charset="0"/>
                          </a:rPr>
                          <m:t>𝟏𝟏𝟎</m:t>
                        </m:r>
                        <m:r>
                          <a:rPr lang="en-US" sz="2400" b="1" i="1" smtClean="0">
                            <a:latin typeface="Cambria Math" panose="02040503050406030204" pitchFamily="18" charset="0"/>
                          </a:rPr>
                          <m:t>,</m:t>
                        </m:r>
                        <m:r>
                          <a:rPr lang="en-US" sz="2400" b="1" i="1" smtClean="0">
                            <a:latin typeface="Cambria Math" panose="02040503050406030204" pitchFamily="18" charset="0"/>
                          </a:rPr>
                          <m:t>𝟎𝟎𝟎</m:t>
                        </m:r>
                        <m:r>
                          <a:rPr lang="en-US" sz="2400" b="1" i="1" smtClean="0">
                            <a:latin typeface="Cambria Math" panose="02040503050406030204" pitchFamily="18" charset="0"/>
                          </a:rPr>
                          <m:t>)</m:t>
                        </m:r>
                      </m:num>
                      <m:den>
                        <m:r>
                          <a:rPr lang="en-US" sz="2400" b="1" i="1" smtClean="0">
                            <a:latin typeface="Cambria Math" panose="02040503050406030204" pitchFamily="18" charset="0"/>
                          </a:rPr>
                          <m:t>$</m:t>
                        </m:r>
                        <m:r>
                          <a:rPr lang="en-US" sz="2400" b="1" i="1" smtClean="0">
                            <a:latin typeface="Cambria Math" panose="02040503050406030204" pitchFamily="18" charset="0"/>
                          </a:rPr>
                          <m:t>𝟏𝟏𝟎</m:t>
                        </m:r>
                        <m:r>
                          <a:rPr lang="en-US" sz="2400" b="1" i="1" smtClean="0">
                            <a:latin typeface="Cambria Math" panose="02040503050406030204" pitchFamily="18" charset="0"/>
                          </a:rPr>
                          <m:t>,</m:t>
                        </m:r>
                        <m:r>
                          <a:rPr lang="en-US" sz="2400" b="1" i="1" smtClean="0">
                            <a:latin typeface="Cambria Math" panose="02040503050406030204" pitchFamily="18" charset="0"/>
                          </a:rPr>
                          <m:t>𝟎𝟎𝟎</m:t>
                        </m:r>
                      </m:den>
                    </m:f>
                    <m:r>
                      <a:rPr lang="en-US" sz="2400" b="1" i="1">
                        <a:latin typeface="Cambria Math" panose="02040503050406030204" pitchFamily="18" charset="0"/>
                      </a:rPr>
                      <m:t> </m:t>
                    </m:r>
                    <m:r>
                      <a:rPr lang="en-US" sz="2400" b="1" i="1">
                        <a:latin typeface="Cambria Math" panose="02040503050406030204" pitchFamily="18" charset="0"/>
                        <a:ea typeface="Cambria Math" panose="02040503050406030204" pitchFamily="18" charset="0"/>
                      </a:rPr>
                      <m:t>×</m:t>
                    </m:r>
                    <m:r>
                      <a:rPr lang="en-US" sz="2400" b="1" i="1">
                        <a:latin typeface="Cambria Math" panose="02040503050406030204" pitchFamily="18" charset="0"/>
                        <a:ea typeface="Cambria Math" panose="02040503050406030204" pitchFamily="18" charset="0"/>
                      </a:rPr>
                      <m:t>𝟏𝟎𝟎</m:t>
                    </m:r>
                    <m:r>
                      <a:rPr lang="en-US" sz="2400" b="1" i="0" smtClean="0">
                        <a:latin typeface="Cambria Math" panose="02040503050406030204" pitchFamily="18" charset="0"/>
                        <a:ea typeface="Cambria Math" panose="02040503050406030204" pitchFamily="18" charset="0"/>
                      </a:rPr>
                      <m:t>=</m:t>
                    </m:r>
                    <m:r>
                      <a:rPr lang="en-US" sz="2400" b="1" i="1" smtClean="0">
                        <a:solidFill>
                          <a:schemeClr val="accent1">
                            <a:lumMod val="75000"/>
                          </a:schemeClr>
                        </a:solidFill>
                        <a:latin typeface="Cambria Math" panose="02040503050406030204" pitchFamily="18" charset="0"/>
                        <a:ea typeface="Cambria Math" panose="02040503050406030204" pitchFamily="18" charset="0"/>
                      </a:rPr>
                      <m:t>𝟒𝟓</m:t>
                    </m:r>
                    <m:r>
                      <a:rPr lang="en-US" sz="2400" b="1" i="1" smtClean="0">
                        <a:solidFill>
                          <a:schemeClr val="accent1">
                            <a:lumMod val="75000"/>
                          </a:schemeClr>
                        </a:solidFill>
                        <a:latin typeface="Cambria Math" panose="02040503050406030204" pitchFamily="18" charset="0"/>
                        <a:ea typeface="Cambria Math" panose="02040503050406030204" pitchFamily="18" charset="0"/>
                      </a:rPr>
                      <m:t>%</m:t>
                    </m:r>
                  </m:oMath>
                </a14:m>
                <a:endParaRPr lang="en-US" sz="2400" b="1" dirty="0">
                  <a:solidFill>
                    <a:schemeClr val="tx1"/>
                  </a:solidFill>
                </a:endParaRPr>
              </a:p>
            </p:txBody>
          </p:sp>
        </mc:Choice>
        <mc:Fallback>
          <p:sp>
            <p:nvSpPr>
              <p:cNvPr id="4" name="Content Placeholder 3">
                <a:extLst>
                  <a:ext uri="{FF2B5EF4-FFF2-40B4-BE49-F238E27FC236}">
                    <a16:creationId xmlns:a16="http://schemas.microsoft.com/office/drawing/2014/main" id="{C9323677-9910-EA5A-2963-C1FFDADC23CD}"/>
                  </a:ext>
                </a:extLst>
              </p:cNvPr>
              <p:cNvSpPr>
                <a:spLocks noGrp="1" noRot="1" noChangeAspect="1" noMove="1" noResize="1" noEditPoints="1" noAdjustHandles="1" noChangeArrowheads="1" noChangeShapeType="1" noTextEdit="1"/>
              </p:cNvSpPr>
              <p:nvPr>
                <p:ph idx="1"/>
              </p:nvPr>
            </p:nvSpPr>
            <p:spPr>
              <a:xfrm>
                <a:off x="890476" y="1640954"/>
                <a:ext cx="10677747" cy="4899980"/>
              </a:xfrm>
              <a:blipFill>
                <a:blip r:embed="rId2"/>
                <a:stretch>
                  <a:fillRect l="-856" t="-1617"/>
                </a:stretch>
              </a:blipFill>
            </p:spPr>
            <p:txBody>
              <a:bodyPr/>
              <a:lstStyle/>
              <a:p>
                <a:r>
                  <a:rPr lang="en-US">
                    <a:noFill/>
                  </a:rPr>
                  <a:t> </a:t>
                </a:r>
              </a:p>
            </p:txBody>
          </p:sp>
        </mc:Fallback>
      </mc:AlternateContent>
      <p:sp>
        <p:nvSpPr>
          <p:cNvPr id="3" name="Title 1">
            <a:extLst>
              <a:ext uri="{FF2B5EF4-FFF2-40B4-BE49-F238E27FC236}">
                <a16:creationId xmlns:a16="http://schemas.microsoft.com/office/drawing/2014/main" id="{E66FE4B6-98BB-B605-6712-BC71C7EF1E6B}"/>
              </a:ext>
            </a:extLst>
          </p:cNvPr>
          <p:cNvSpPr>
            <a:spLocks noGrp="1"/>
          </p:cNvSpPr>
          <p:nvPr>
            <p:ph type="title"/>
          </p:nvPr>
        </p:nvSpPr>
        <p:spPr>
          <a:xfrm>
            <a:off x="890476" y="0"/>
            <a:ext cx="9601200" cy="1142385"/>
          </a:xfrm>
        </p:spPr>
        <p:txBody>
          <a:bodyPr>
            <a:normAutofit/>
          </a:bodyPr>
          <a:lstStyle/>
          <a:p>
            <a:r>
              <a:rPr lang="en-US" sz="4000" dirty="0"/>
              <a:t>Return on Investment (ROI) </a:t>
            </a:r>
            <a:endParaRPr lang="en-US" sz="3800" dirty="0"/>
          </a:p>
        </p:txBody>
      </p:sp>
      <p:sp>
        <p:nvSpPr>
          <p:cNvPr id="5" name="Title 1">
            <a:extLst>
              <a:ext uri="{FF2B5EF4-FFF2-40B4-BE49-F238E27FC236}">
                <a16:creationId xmlns:a16="http://schemas.microsoft.com/office/drawing/2014/main" id="{5470AB50-4219-8259-A8E3-1D26AC4AC1EA}"/>
              </a:ext>
            </a:extLst>
          </p:cNvPr>
          <p:cNvSpPr txBox="1">
            <a:spLocks/>
          </p:cNvSpPr>
          <p:nvPr/>
        </p:nvSpPr>
        <p:spPr>
          <a:xfrm>
            <a:off x="886968" y="477298"/>
            <a:ext cx="9601200" cy="114238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sz="2400" dirty="0"/>
              <a:t>Example 2:</a:t>
            </a:r>
          </a:p>
        </p:txBody>
      </p:sp>
    </p:spTree>
    <p:extLst>
      <p:ext uri="{BB962C8B-B14F-4D97-AF65-F5344CB8AC3E}">
        <p14:creationId xmlns:p14="http://schemas.microsoft.com/office/powerpoint/2010/main" val="2103244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826BD-72C6-E190-CFEB-5535B71C252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DDF2444-4327-6317-0FC2-DB6046141297}"/>
                  </a:ext>
                </a:extLst>
              </p:cNvPr>
              <p:cNvSpPr>
                <a:spLocks noGrp="1"/>
              </p:cNvSpPr>
              <p:nvPr>
                <p:ph idx="1"/>
              </p:nvPr>
            </p:nvSpPr>
            <p:spPr>
              <a:xfrm>
                <a:off x="890476" y="1247545"/>
                <a:ext cx="10411047" cy="4899980"/>
              </a:xfrm>
            </p:spPr>
            <p:txBody>
              <a:bodyPr>
                <a:normAutofit lnSpcReduction="10000"/>
              </a:bodyPr>
              <a:lstStyle/>
              <a:p>
                <a:r>
                  <a:rPr lang="en-US" sz="2400" dirty="0"/>
                  <a:t>Net present value is the difference between the future value of cash inflows and the present value of cash outflows that occur as a result of undertaking an investment project.</a:t>
                </a:r>
              </a:p>
              <a:p>
                <a:r>
                  <a:rPr lang="en-US" sz="2400" dirty="0"/>
                  <a:t>Used in investment planning to evaluate the profitability of a project.</a:t>
                </a:r>
              </a:p>
              <a:p>
                <a:r>
                  <a:rPr lang="en-US" sz="2400" b="1" dirty="0">
                    <a:solidFill>
                      <a:schemeClr val="accent1">
                        <a:lumMod val="75000"/>
                      </a:schemeClr>
                    </a:solidFill>
                  </a:rPr>
                  <a:t>Positive NPV </a:t>
                </a:r>
                <a:r>
                  <a:rPr lang="en-US" sz="2400" dirty="0"/>
                  <a:t>means that the project is </a:t>
                </a:r>
                <a:r>
                  <a:rPr lang="en-US" sz="2400" b="1" dirty="0">
                    <a:solidFill>
                      <a:schemeClr val="accent1">
                        <a:lumMod val="75000"/>
                      </a:schemeClr>
                    </a:solidFill>
                  </a:rPr>
                  <a:t>profitable</a:t>
                </a:r>
                <a:r>
                  <a:rPr lang="en-US" sz="2400" dirty="0"/>
                  <a:t>.​</a:t>
                </a:r>
              </a:p>
              <a:p>
                <a:r>
                  <a:rPr lang="en-US" sz="2400" b="1" dirty="0">
                    <a:solidFill>
                      <a:schemeClr val="accent1">
                        <a:lumMod val="75000"/>
                      </a:schemeClr>
                    </a:solidFill>
                  </a:rPr>
                  <a:t>Negative NPV </a:t>
                </a:r>
                <a:r>
                  <a:rPr lang="en-US" sz="2400" dirty="0"/>
                  <a:t>means that the project is </a:t>
                </a:r>
                <a:r>
                  <a:rPr lang="en-US" sz="2400" b="1" dirty="0">
                    <a:solidFill>
                      <a:schemeClr val="accent1">
                        <a:lumMod val="75000"/>
                      </a:schemeClr>
                    </a:solidFill>
                  </a:rPr>
                  <a:t>not profitable</a:t>
                </a:r>
                <a:r>
                  <a:rPr lang="en-US" sz="2400" dirty="0"/>
                  <a:t>.</a:t>
                </a:r>
              </a:p>
              <a:p>
                <a14:m>
                  <m:oMath xmlns:m="http://schemas.openxmlformats.org/officeDocument/2006/math">
                    <m:r>
                      <a:rPr lang="en-US" sz="2400" b="1" i="0" smtClean="0">
                        <a:solidFill>
                          <a:schemeClr val="tx1"/>
                        </a:solidFill>
                        <a:latin typeface="Cambria Math" panose="02040503050406030204" pitchFamily="18" charset="0"/>
                      </a:rPr>
                      <m:t>𝐍𝐏𝐕</m:t>
                    </m:r>
                    <m:r>
                      <a:rPr lang="en-US" sz="2400" b="1" i="0" smtClean="0">
                        <a:solidFill>
                          <a:schemeClr val="tx1"/>
                        </a:solidFill>
                        <a:latin typeface="Cambria Math" panose="02040503050406030204" pitchFamily="18" charset="0"/>
                      </a:rPr>
                      <m:t>=</m:t>
                    </m:r>
                    <m:d>
                      <m:dPr>
                        <m:ctrlPr>
                          <a:rPr lang="en-US" sz="2400" b="1" i="1" smtClean="0">
                            <a:solidFill>
                              <a:schemeClr val="tx1"/>
                            </a:solidFill>
                            <a:latin typeface="Cambria Math" panose="02040503050406030204" pitchFamily="18" charset="0"/>
                          </a:rPr>
                        </m:ctrlPr>
                      </m:dPr>
                      <m:e>
                        <m:r>
                          <a:rPr lang="en-US" sz="2400" b="1" i="1" smtClean="0">
                            <a:solidFill>
                              <a:schemeClr val="tx1"/>
                            </a:solidFill>
                            <a:latin typeface="Cambria Math" panose="02040503050406030204" pitchFamily="18" charset="0"/>
                          </a:rPr>
                          <m:t>𝑪𝒂𝒔𝒉</m:t>
                        </m:r>
                        <m:r>
                          <a:rPr lang="en-US" sz="2400" b="1" i="1" smtClean="0">
                            <a:solidFill>
                              <a:schemeClr val="tx1"/>
                            </a:solidFill>
                            <a:latin typeface="Cambria Math" panose="02040503050406030204" pitchFamily="18" charset="0"/>
                          </a:rPr>
                          <m:t> </m:t>
                        </m:r>
                        <m:r>
                          <a:rPr lang="en-US" sz="2400" b="1" i="1" smtClean="0">
                            <a:solidFill>
                              <a:schemeClr val="tx1"/>
                            </a:solidFill>
                            <a:latin typeface="Cambria Math" panose="02040503050406030204" pitchFamily="18" charset="0"/>
                          </a:rPr>
                          <m:t>𝒊𝒏𝒇𝒍𝒐𝒘𝒔</m:t>
                        </m:r>
                        <m:r>
                          <a:rPr lang="en-US" sz="2400" b="1" i="1" smtClean="0">
                            <a:solidFill>
                              <a:schemeClr val="tx1"/>
                            </a:solidFill>
                            <a:latin typeface="Cambria Math" panose="02040503050406030204" pitchFamily="18" charset="0"/>
                          </a:rPr>
                          <m:t> </m:t>
                        </m:r>
                        <m:r>
                          <a:rPr lang="en-US" sz="2400" b="1" i="1" smtClean="0">
                            <a:solidFill>
                              <a:schemeClr val="tx1"/>
                            </a:solidFill>
                            <a:latin typeface="Cambria Math" panose="02040503050406030204" pitchFamily="18" charset="0"/>
                          </a:rPr>
                          <m:t>𝒇𝒓𝒐𝒎</m:t>
                        </m:r>
                        <m:r>
                          <a:rPr lang="en-US" sz="2400" b="1" i="1" smtClean="0">
                            <a:solidFill>
                              <a:schemeClr val="tx1"/>
                            </a:solidFill>
                            <a:latin typeface="Cambria Math" panose="02040503050406030204" pitchFamily="18" charset="0"/>
                          </a:rPr>
                          <m:t> </m:t>
                        </m:r>
                        <m:r>
                          <a:rPr lang="en-US" sz="2400" b="1" i="1" smtClean="0">
                            <a:solidFill>
                              <a:schemeClr val="tx1"/>
                            </a:solidFill>
                            <a:latin typeface="Cambria Math" panose="02040503050406030204" pitchFamily="18" charset="0"/>
                          </a:rPr>
                          <m:t>𝒂𝒏</m:t>
                        </m:r>
                        <m:r>
                          <a:rPr lang="en-US" sz="2400" b="1" i="1" smtClean="0">
                            <a:solidFill>
                              <a:schemeClr val="tx1"/>
                            </a:solidFill>
                            <a:latin typeface="Cambria Math" panose="02040503050406030204" pitchFamily="18" charset="0"/>
                          </a:rPr>
                          <m:t> </m:t>
                        </m:r>
                        <m:r>
                          <a:rPr lang="en-US" sz="2400" b="1" i="1" smtClean="0">
                            <a:solidFill>
                              <a:schemeClr val="tx1"/>
                            </a:solidFill>
                            <a:latin typeface="Cambria Math" panose="02040503050406030204" pitchFamily="18" charset="0"/>
                          </a:rPr>
                          <m:t>𝒊𝒏𝒗𝒆𝒔𝒎𝒆𝒏𝒕</m:t>
                        </m:r>
                      </m:e>
                    </m:d>
                    <m:r>
                      <a:rPr lang="en-US" sz="2400" b="1"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𝑪𝒐𝒔𝒕</m:t>
                    </m:r>
                    <m:r>
                      <a:rPr lang="en-US" sz="2400" b="1" i="1" smtClean="0">
                        <a:solidFill>
                          <a:schemeClr val="tx1"/>
                        </a:solidFill>
                        <a:latin typeface="Cambria Math" panose="02040503050406030204" pitchFamily="18" charset="0"/>
                      </a:rPr>
                      <m:t> </m:t>
                    </m:r>
                    <m:r>
                      <a:rPr lang="en-US" sz="2400" b="1" i="1" smtClean="0">
                        <a:solidFill>
                          <a:schemeClr val="tx1"/>
                        </a:solidFill>
                        <a:latin typeface="Cambria Math" panose="02040503050406030204" pitchFamily="18" charset="0"/>
                      </a:rPr>
                      <m:t>𝒐𝒇</m:t>
                    </m:r>
                    <m:r>
                      <a:rPr lang="en-US" sz="2400" b="1" i="1" smtClean="0">
                        <a:solidFill>
                          <a:schemeClr val="tx1"/>
                        </a:solidFill>
                        <a:latin typeface="Cambria Math" panose="02040503050406030204" pitchFamily="18" charset="0"/>
                      </a:rPr>
                      <m:t> </m:t>
                    </m:r>
                    <m:r>
                      <a:rPr lang="en-US" sz="2400" b="1" i="1" smtClean="0">
                        <a:solidFill>
                          <a:schemeClr val="tx1"/>
                        </a:solidFill>
                        <a:latin typeface="Cambria Math" panose="02040503050406030204" pitchFamily="18" charset="0"/>
                      </a:rPr>
                      <m:t>𝒊𝒏𝒗𝒆𝒔𝒕𝒎𝒆𝒏𝒕</m:t>
                    </m:r>
                    <m:r>
                      <a:rPr lang="en-US" sz="2400" b="1" i="1" smtClean="0">
                        <a:solidFill>
                          <a:schemeClr val="tx1"/>
                        </a:solidFill>
                        <a:latin typeface="Cambria Math" panose="02040503050406030204" pitchFamily="18" charset="0"/>
                      </a:rPr>
                      <m:t>)</m:t>
                    </m:r>
                  </m:oMath>
                </a14:m>
                <a:endParaRPr lang="en-US" sz="2400" b="1" dirty="0">
                  <a:solidFill>
                    <a:schemeClr val="tx1"/>
                  </a:solidFill>
                </a:endParaRPr>
              </a:p>
              <a:p>
                <a14:m>
                  <m:oMath xmlns:m="http://schemas.openxmlformats.org/officeDocument/2006/math">
                    <m:r>
                      <a:rPr lang="en-US" sz="2400" b="1" i="1" smtClean="0">
                        <a:solidFill>
                          <a:schemeClr val="tx1"/>
                        </a:solidFill>
                        <a:latin typeface="Cambria Math" panose="02040503050406030204" pitchFamily="18" charset="0"/>
                      </a:rPr>
                      <m:t>𝑵𝑷𝑽</m:t>
                    </m:r>
                    <m:r>
                      <a:rPr lang="en-US" sz="2400" b="1" i="1" smtClean="0">
                        <a:solidFill>
                          <a:schemeClr val="tx1"/>
                        </a:solidFill>
                        <a:latin typeface="Cambria Math" panose="02040503050406030204" pitchFamily="18" charset="0"/>
                      </a:rPr>
                      <m:t>=</m:t>
                    </m:r>
                    <m:nary>
                      <m:naryPr>
                        <m:chr m:val="∑"/>
                        <m:subHide m:val="on"/>
                        <m:supHide m:val="on"/>
                        <m:ctrlPr>
                          <a:rPr lang="en-US" sz="2400" b="1" i="1" smtClean="0">
                            <a:solidFill>
                              <a:schemeClr val="tx1"/>
                            </a:solidFill>
                            <a:latin typeface="Cambria Math" panose="02040503050406030204" pitchFamily="18" charset="0"/>
                          </a:rPr>
                        </m:ctrlPr>
                      </m:naryPr>
                      <m:sub/>
                      <m:sup/>
                      <m:e>
                        <m:f>
                          <m:fPr>
                            <m:ctrlPr>
                              <a:rPr lang="en-US" sz="2400" b="1" i="1">
                                <a:latin typeface="Cambria Math" panose="02040503050406030204" pitchFamily="18" charset="0"/>
                              </a:rPr>
                            </m:ctrlPr>
                          </m:fPr>
                          <m:num>
                            <m:r>
                              <a:rPr lang="en-US" sz="2400" b="1" i="1">
                                <a:latin typeface="Cambria Math" panose="02040503050406030204" pitchFamily="18" charset="0"/>
                              </a:rPr>
                              <m:t>𝑪𝒂𝒔𝒉</m:t>
                            </m:r>
                            <m:r>
                              <a:rPr lang="en-US" sz="2400" b="1" i="1">
                                <a:latin typeface="Cambria Math" panose="02040503050406030204" pitchFamily="18" charset="0"/>
                              </a:rPr>
                              <m:t> </m:t>
                            </m:r>
                            <m:r>
                              <a:rPr lang="en-US" sz="2400" b="1" i="1">
                                <a:latin typeface="Cambria Math" panose="02040503050406030204" pitchFamily="18" charset="0"/>
                              </a:rPr>
                              <m:t>𝒇𝒍𝒐𝒘</m:t>
                            </m:r>
                          </m:num>
                          <m:den>
                            <m:sSup>
                              <m:sSupPr>
                                <m:ctrlPr>
                                  <a:rPr lang="en-US" sz="2400" b="1" i="1">
                                    <a:latin typeface="Cambria Math" panose="02040503050406030204" pitchFamily="18" charset="0"/>
                                  </a:rPr>
                                </m:ctrlPr>
                              </m:sSupPr>
                              <m:e>
                                <m:r>
                                  <a:rPr lang="en-US" sz="2400" b="1" i="1">
                                    <a:latin typeface="Cambria Math" panose="02040503050406030204" pitchFamily="18" charset="0"/>
                                  </a:rPr>
                                  <m:t>(</m:t>
                                </m:r>
                                <m:r>
                                  <a:rPr lang="en-US" sz="2400" b="1" i="1">
                                    <a:latin typeface="Cambria Math" panose="02040503050406030204" pitchFamily="18" charset="0"/>
                                  </a:rPr>
                                  <m:t>𝟏</m:t>
                                </m:r>
                                <m:r>
                                  <a:rPr lang="en-US" sz="2400" b="1" i="1">
                                    <a:latin typeface="Cambria Math" panose="02040503050406030204" pitchFamily="18" charset="0"/>
                                  </a:rPr>
                                  <m:t> + </m:t>
                                </m:r>
                                <m:r>
                                  <a:rPr lang="en-US" sz="2400" b="1" i="1">
                                    <a:latin typeface="Cambria Math" panose="02040503050406030204" pitchFamily="18" charset="0"/>
                                  </a:rPr>
                                  <m:t>𝒊</m:t>
                                </m:r>
                                <m:r>
                                  <a:rPr lang="en-US" sz="2400" b="1" i="1">
                                    <a:latin typeface="Cambria Math" panose="02040503050406030204" pitchFamily="18" charset="0"/>
                                  </a:rPr>
                                  <m:t>)</m:t>
                                </m:r>
                              </m:e>
                              <m:sup>
                                <m:r>
                                  <a:rPr lang="en-US" sz="2400" b="1" i="1">
                                    <a:latin typeface="Cambria Math" panose="02040503050406030204" pitchFamily="18" charset="0"/>
                                  </a:rPr>
                                  <m:t>𝒕</m:t>
                                </m:r>
                              </m:sup>
                            </m:sSup>
                          </m:den>
                        </m:f>
                      </m:e>
                    </m:nary>
                    <m:r>
                      <a:rPr lang="en-US" sz="2400" b="0" i="0" smtClean="0">
                        <a:solidFill>
                          <a:schemeClr val="tx1"/>
                        </a:solidFill>
                        <a:latin typeface="Cambria Math" panose="02040503050406030204" pitchFamily="18" charset="0"/>
                      </a:rPr>
                      <m:t> −</m:t>
                    </m:r>
                    <m:r>
                      <m:rPr>
                        <m:sty m:val="p"/>
                      </m:rPr>
                      <a:rPr lang="en-US" sz="2400" b="0" i="0" smtClean="0">
                        <a:solidFill>
                          <a:schemeClr val="tx1"/>
                        </a:solidFill>
                        <a:latin typeface="Cambria Math" panose="02040503050406030204" pitchFamily="18" charset="0"/>
                      </a:rPr>
                      <m:t>Initial</m:t>
                    </m:r>
                    <m:r>
                      <a:rPr lang="en-US" sz="2400" b="0" i="0" smtClean="0">
                        <a:solidFill>
                          <a:schemeClr val="tx1"/>
                        </a:solidFill>
                        <a:latin typeface="Cambria Math" panose="02040503050406030204" pitchFamily="18" charset="0"/>
                      </a:rPr>
                      <m:t> </m:t>
                    </m:r>
                    <m:r>
                      <m:rPr>
                        <m:sty m:val="p"/>
                      </m:rPr>
                      <a:rPr lang="en-US" sz="2400" b="0" i="0" smtClean="0">
                        <a:solidFill>
                          <a:schemeClr val="tx1"/>
                        </a:solidFill>
                        <a:latin typeface="Cambria Math" panose="02040503050406030204" pitchFamily="18" charset="0"/>
                      </a:rPr>
                      <m:t>investment</m:t>
                    </m:r>
                    <m:r>
                      <a:rPr lang="en-US" sz="2400" b="0" i="0" smtClean="0">
                        <a:solidFill>
                          <a:schemeClr val="tx1"/>
                        </a:solidFill>
                        <a:latin typeface="Cambria Math" panose="02040503050406030204" pitchFamily="18" charset="0"/>
                      </a:rPr>
                      <m:t> </m:t>
                    </m:r>
                  </m:oMath>
                </a14:m>
                <a:endParaRPr lang="en-US" sz="2400" b="0" dirty="0">
                  <a:solidFill>
                    <a:schemeClr val="tx1"/>
                  </a:solidFill>
                </a:endParaRPr>
              </a:p>
              <a:p>
                <a:pPr marL="0" indent="0">
                  <a:buNone/>
                </a:pPr>
                <a14:m>
                  <m:oMathPara xmlns:m="http://schemas.openxmlformats.org/officeDocument/2006/math">
                    <m:oMathParaPr>
                      <m:jc m:val="left"/>
                    </m:oMathParaPr>
                    <m:oMath xmlns:m="http://schemas.openxmlformats.org/officeDocument/2006/math">
                      <m:r>
                        <a:rPr lang="en-US" sz="2400" b="0" i="1" smtClean="0">
                          <a:solidFill>
                            <a:schemeClr val="tx1"/>
                          </a:solidFill>
                          <a:latin typeface="Cambria Math" panose="02040503050406030204" pitchFamily="18" charset="0"/>
                        </a:rPr>
                        <m:t>𝑊</m:t>
                      </m:r>
                      <m:r>
                        <a:rPr lang="en-US" sz="2400" b="0" i="1" smtClean="0">
                          <a:solidFill>
                            <a:schemeClr val="tx1"/>
                          </a:solidFill>
                          <a:latin typeface="Cambria Math" panose="02040503050406030204" pitchFamily="18" charset="0"/>
                        </a:rPr>
                        <m:t>h</m:t>
                      </m:r>
                      <m:r>
                        <a:rPr lang="en-US" sz="2400" b="0" i="1" smtClean="0">
                          <a:solidFill>
                            <a:schemeClr val="tx1"/>
                          </a:solidFill>
                          <a:latin typeface="Cambria Math" panose="02040503050406030204" pitchFamily="18" charset="0"/>
                        </a:rPr>
                        <m:t>𝑒𝑟𝑒</m:t>
                      </m:r>
                      <m:r>
                        <a:rPr lang="en-US" sz="2400" b="0" i="1" smtClean="0">
                          <a:solidFill>
                            <a:schemeClr val="tx1"/>
                          </a:solidFill>
                          <a:latin typeface="Cambria Math" panose="02040503050406030204" pitchFamily="18" charset="0"/>
                        </a:rPr>
                        <m:t>:</m:t>
                      </m:r>
                    </m:oMath>
                  </m:oMathPara>
                </a14:m>
                <a:endParaRPr lang="en-US" sz="2400" b="0" i="1" dirty="0">
                  <a:solidFill>
                    <a:schemeClr val="tx1"/>
                  </a:solidFill>
                  <a:latin typeface="Cambria Math" panose="02040503050406030204" pitchFamily="18" charset="0"/>
                </a:endParaRPr>
              </a:p>
              <a:p>
                <a:pPr marL="228600" lvl="1" indent="0">
                  <a:buNone/>
                </a:pPr>
                <a14:m>
                  <m:oMathPara xmlns:m="http://schemas.openxmlformats.org/officeDocument/2006/math">
                    <m:oMathParaPr>
                      <m:jc m:val="left"/>
                    </m:oMathParaPr>
                    <m:oMath xmlns:m="http://schemas.openxmlformats.org/officeDocument/2006/math">
                      <m:r>
                        <a:rPr lang="en-US" sz="2200" b="0" i="1" smtClean="0">
                          <a:solidFill>
                            <a:schemeClr val="tx1"/>
                          </a:solidFill>
                          <a:latin typeface="Cambria Math" panose="02040503050406030204" pitchFamily="18" charset="0"/>
                        </a:rPr>
                        <m:t>𝑖</m:t>
                      </m:r>
                      <m:r>
                        <a:rPr lang="en-US" sz="2200" b="0" i="1" smtClean="0">
                          <a:solidFill>
                            <a:schemeClr val="tx1"/>
                          </a:solidFill>
                          <a:latin typeface="Cambria Math" panose="02040503050406030204" pitchFamily="18" charset="0"/>
                        </a:rPr>
                        <m:t>=</m:t>
                      </m:r>
                      <m:r>
                        <a:rPr lang="en-US" sz="2200" b="0" i="1" smtClean="0">
                          <a:solidFill>
                            <a:schemeClr val="tx1"/>
                          </a:solidFill>
                          <a:latin typeface="Cambria Math" panose="02040503050406030204" pitchFamily="18" charset="0"/>
                        </a:rPr>
                        <m:t>𝑅𝑒𝑞𝑢𝑖𝑟𝑒𝑑</m:t>
                      </m:r>
                      <m:r>
                        <a:rPr lang="en-US" sz="2200" b="0" i="1" smtClean="0">
                          <a:solidFill>
                            <a:schemeClr val="tx1"/>
                          </a:solidFill>
                          <a:latin typeface="Cambria Math" panose="02040503050406030204" pitchFamily="18" charset="0"/>
                        </a:rPr>
                        <m:t> </m:t>
                      </m:r>
                      <m:r>
                        <a:rPr lang="en-US" sz="2200" b="0" i="1" smtClean="0">
                          <a:solidFill>
                            <a:schemeClr val="tx1"/>
                          </a:solidFill>
                          <a:latin typeface="Cambria Math" panose="02040503050406030204" pitchFamily="18" charset="0"/>
                        </a:rPr>
                        <m:t>𝑟𝑒𝑡𝑢𝑟𝑛</m:t>
                      </m:r>
                      <m:r>
                        <a:rPr lang="en-US" sz="2200" b="0" i="1" smtClean="0">
                          <a:solidFill>
                            <a:schemeClr val="tx1"/>
                          </a:solidFill>
                          <a:latin typeface="Cambria Math" panose="02040503050406030204" pitchFamily="18" charset="0"/>
                        </a:rPr>
                        <m:t> </m:t>
                      </m:r>
                      <m:r>
                        <a:rPr lang="en-US" sz="2200" b="0" i="1" smtClean="0">
                          <a:solidFill>
                            <a:schemeClr val="tx1"/>
                          </a:solidFill>
                          <a:latin typeface="Cambria Math" panose="02040503050406030204" pitchFamily="18" charset="0"/>
                        </a:rPr>
                        <m:t>𝑜𝑟</m:t>
                      </m:r>
                      <m:r>
                        <a:rPr lang="en-US" sz="2200" b="0" i="1" smtClean="0">
                          <a:solidFill>
                            <a:schemeClr val="tx1"/>
                          </a:solidFill>
                          <a:latin typeface="Cambria Math" panose="02040503050406030204" pitchFamily="18" charset="0"/>
                        </a:rPr>
                        <m:t> </m:t>
                      </m:r>
                      <m:r>
                        <a:rPr lang="en-US" sz="2200" b="0" i="1" smtClean="0">
                          <a:solidFill>
                            <a:schemeClr val="tx1"/>
                          </a:solidFill>
                          <a:latin typeface="Cambria Math" panose="02040503050406030204" pitchFamily="18" charset="0"/>
                        </a:rPr>
                        <m:t>𝑑𝑖𝑠𝑐𝑜𝑢𝑛𝑡</m:t>
                      </m:r>
                      <m:r>
                        <a:rPr lang="en-US" sz="2200" b="0" i="1" smtClean="0">
                          <a:solidFill>
                            <a:schemeClr val="tx1"/>
                          </a:solidFill>
                          <a:latin typeface="Cambria Math" panose="02040503050406030204" pitchFamily="18" charset="0"/>
                        </a:rPr>
                        <m:t> </m:t>
                      </m:r>
                      <m:r>
                        <a:rPr lang="en-US" sz="2200" b="0" i="1" smtClean="0">
                          <a:solidFill>
                            <a:schemeClr val="tx1"/>
                          </a:solidFill>
                          <a:latin typeface="Cambria Math" panose="02040503050406030204" pitchFamily="18" charset="0"/>
                        </a:rPr>
                        <m:t>𝑟𝑎𝑡𝑒</m:t>
                      </m:r>
                    </m:oMath>
                  </m:oMathPara>
                </a14:m>
                <a:endParaRPr lang="en-US" sz="2200" b="0" i="1" dirty="0">
                  <a:solidFill>
                    <a:schemeClr val="tx1"/>
                  </a:solidFill>
                  <a:latin typeface="Cambria Math" panose="02040503050406030204" pitchFamily="18" charset="0"/>
                </a:endParaRPr>
              </a:p>
              <a:p>
                <a:pPr marL="228600" lvl="1" indent="0">
                  <a:buNone/>
                </a:pPr>
                <a14:m>
                  <m:oMathPara xmlns:m="http://schemas.openxmlformats.org/officeDocument/2006/math">
                    <m:oMathParaPr>
                      <m:jc m:val="left"/>
                    </m:oMathParaPr>
                    <m:oMath xmlns:m="http://schemas.openxmlformats.org/officeDocument/2006/math">
                      <m:r>
                        <a:rPr lang="en-US" sz="2200" b="0" i="1" smtClean="0">
                          <a:solidFill>
                            <a:schemeClr val="tx1"/>
                          </a:solidFill>
                          <a:latin typeface="Cambria Math" panose="02040503050406030204" pitchFamily="18" charset="0"/>
                        </a:rPr>
                        <m:t>𝑡</m:t>
                      </m:r>
                      <m:r>
                        <a:rPr lang="en-US" sz="2200" b="0" i="1" smtClean="0">
                          <a:solidFill>
                            <a:schemeClr val="tx1"/>
                          </a:solidFill>
                          <a:latin typeface="Cambria Math" panose="02040503050406030204" pitchFamily="18" charset="0"/>
                        </a:rPr>
                        <m:t>=</m:t>
                      </m:r>
                      <m:r>
                        <a:rPr lang="en-US" sz="2200" b="0" i="1" smtClean="0">
                          <a:solidFill>
                            <a:schemeClr val="tx1"/>
                          </a:solidFill>
                          <a:latin typeface="Cambria Math" panose="02040503050406030204" pitchFamily="18" charset="0"/>
                        </a:rPr>
                        <m:t>𝑁𝑢𝑚𝑏𝑒𝑟</m:t>
                      </m:r>
                      <m:r>
                        <a:rPr lang="en-US" sz="2200" b="0" i="1" smtClean="0">
                          <a:solidFill>
                            <a:schemeClr val="tx1"/>
                          </a:solidFill>
                          <a:latin typeface="Cambria Math" panose="02040503050406030204" pitchFamily="18" charset="0"/>
                        </a:rPr>
                        <m:t> </m:t>
                      </m:r>
                      <m:r>
                        <a:rPr lang="en-US" sz="2200" b="0" i="1" smtClean="0">
                          <a:solidFill>
                            <a:schemeClr val="tx1"/>
                          </a:solidFill>
                          <a:latin typeface="Cambria Math" panose="02040503050406030204" pitchFamily="18" charset="0"/>
                        </a:rPr>
                        <m:t>𝑜𝑓</m:t>
                      </m:r>
                      <m:r>
                        <a:rPr lang="en-US" sz="2200" b="0" i="1" smtClean="0">
                          <a:solidFill>
                            <a:schemeClr val="tx1"/>
                          </a:solidFill>
                          <a:latin typeface="Cambria Math" panose="02040503050406030204" pitchFamily="18" charset="0"/>
                        </a:rPr>
                        <m:t> </m:t>
                      </m:r>
                      <m:r>
                        <a:rPr lang="en-US" sz="2200" b="0" i="1" smtClean="0">
                          <a:solidFill>
                            <a:schemeClr val="tx1"/>
                          </a:solidFill>
                          <a:latin typeface="Cambria Math" panose="02040503050406030204" pitchFamily="18" charset="0"/>
                        </a:rPr>
                        <m:t>𝑡𝑖𝑚𝑒</m:t>
                      </m:r>
                      <m:r>
                        <a:rPr lang="en-US" sz="2200" b="0" i="1" smtClean="0">
                          <a:solidFill>
                            <a:schemeClr val="tx1"/>
                          </a:solidFill>
                          <a:latin typeface="Cambria Math" panose="02040503050406030204" pitchFamily="18" charset="0"/>
                        </a:rPr>
                        <m:t> </m:t>
                      </m:r>
                      <m:r>
                        <a:rPr lang="en-US" sz="2200" b="0" i="1" smtClean="0">
                          <a:solidFill>
                            <a:schemeClr val="tx1"/>
                          </a:solidFill>
                          <a:latin typeface="Cambria Math" panose="02040503050406030204" pitchFamily="18" charset="0"/>
                        </a:rPr>
                        <m:t>𝑝𝑒𝑟𝑖𝑜𝑑𝑠</m:t>
                      </m:r>
                    </m:oMath>
                  </m:oMathPara>
                </a14:m>
                <a:endParaRPr lang="en-US" sz="2200" b="0" dirty="0">
                  <a:solidFill>
                    <a:schemeClr val="tx1"/>
                  </a:solidFill>
                </a:endParaRPr>
              </a:p>
              <a:p>
                <a:endParaRPr lang="en-US" sz="2400" dirty="0"/>
              </a:p>
            </p:txBody>
          </p:sp>
        </mc:Choice>
        <mc:Fallback xmlns="">
          <p:sp>
            <p:nvSpPr>
              <p:cNvPr id="4" name="Content Placeholder 3">
                <a:extLst>
                  <a:ext uri="{FF2B5EF4-FFF2-40B4-BE49-F238E27FC236}">
                    <a16:creationId xmlns:a16="http://schemas.microsoft.com/office/drawing/2014/main" id="{BDDF2444-4327-6317-0FC2-DB6046141297}"/>
                  </a:ext>
                </a:extLst>
              </p:cNvPr>
              <p:cNvSpPr>
                <a:spLocks noGrp="1" noRot="1" noChangeAspect="1" noMove="1" noResize="1" noEditPoints="1" noAdjustHandles="1" noChangeArrowheads="1" noChangeShapeType="1" noTextEdit="1"/>
              </p:cNvSpPr>
              <p:nvPr>
                <p:ph idx="1"/>
              </p:nvPr>
            </p:nvSpPr>
            <p:spPr>
              <a:xfrm>
                <a:off x="890476" y="1247545"/>
                <a:ext cx="10411047" cy="4899980"/>
              </a:xfrm>
              <a:blipFill>
                <a:blip r:embed="rId2"/>
                <a:stretch>
                  <a:fillRect l="-761" t="-2366"/>
                </a:stretch>
              </a:blipFill>
            </p:spPr>
            <p:txBody>
              <a:bodyPr/>
              <a:lstStyle/>
              <a:p>
                <a:r>
                  <a:rPr lang="en-US">
                    <a:noFill/>
                  </a:rPr>
                  <a:t> </a:t>
                </a:r>
              </a:p>
            </p:txBody>
          </p:sp>
        </mc:Fallback>
      </mc:AlternateContent>
      <p:sp>
        <p:nvSpPr>
          <p:cNvPr id="3" name="Title 1">
            <a:extLst>
              <a:ext uri="{FF2B5EF4-FFF2-40B4-BE49-F238E27FC236}">
                <a16:creationId xmlns:a16="http://schemas.microsoft.com/office/drawing/2014/main" id="{FB2A2FFC-FA21-4F00-C791-80BEB6AE3890}"/>
              </a:ext>
            </a:extLst>
          </p:cNvPr>
          <p:cNvSpPr>
            <a:spLocks noGrp="1"/>
          </p:cNvSpPr>
          <p:nvPr>
            <p:ph type="title"/>
          </p:nvPr>
        </p:nvSpPr>
        <p:spPr>
          <a:xfrm>
            <a:off x="890476" y="0"/>
            <a:ext cx="9601200" cy="1142385"/>
          </a:xfrm>
        </p:spPr>
        <p:txBody>
          <a:bodyPr>
            <a:normAutofit/>
          </a:bodyPr>
          <a:lstStyle/>
          <a:p>
            <a:r>
              <a:rPr lang="en-US" sz="4000" dirty="0"/>
              <a:t>Net Present Value (NPV) </a:t>
            </a:r>
            <a:endParaRPr lang="en-US" sz="3800" dirty="0"/>
          </a:p>
        </p:txBody>
      </p:sp>
    </p:spTree>
    <p:extLst>
      <p:ext uri="{BB962C8B-B14F-4D97-AF65-F5344CB8AC3E}">
        <p14:creationId xmlns:p14="http://schemas.microsoft.com/office/powerpoint/2010/main" val="21040371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DE230-076E-6B48-668D-52DE6DCD9EC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9402E1CD-E95F-C50C-A531-3DF86C8202D7}"/>
                  </a:ext>
                </a:extLst>
              </p:cNvPr>
              <p:cNvSpPr>
                <a:spLocks noGrp="1"/>
              </p:cNvSpPr>
              <p:nvPr>
                <p:ph idx="1"/>
              </p:nvPr>
            </p:nvSpPr>
            <p:spPr>
              <a:xfrm>
                <a:off x="890476" y="1640954"/>
                <a:ext cx="10411047" cy="4899980"/>
              </a:xfrm>
            </p:spPr>
            <p:txBody>
              <a:bodyPr>
                <a:normAutofit/>
              </a:bodyPr>
              <a:lstStyle/>
              <a:p>
                <a:pPr marL="0" indent="0">
                  <a:buNone/>
                </a:pPr>
                <a:r>
                  <a:rPr lang="en-US" sz="2400" dirty="0"/>
                  <a:t>Imagine a project that costs </a:t>
                </a:r>
                <a:r>
                  <a:rPr lang="en-US" sz="2400" b="1" dirty="0">
                    <a:solidFill>
                      <a:schemeClr val="accent1">
                        <a:lumMod val="75000"/>
                      </a:schemeClr>
                    </a:solidFill>
                  </a:rPr>
                  <a:t>$1,000 </a:t>
                </a:r>
                <a:r>
                  <a:rPr lang="en-US" sz="2400" dirty="0"/>
                  <a:t>and will provide </a:t>
                </a:r>
                <a:r>
                  <a:rPr lang="en-US" sz="2400" b="1" dirty="0">
                    <a:solidFill>
                      <a:schemeClr val="accent1">
                        <a:lumMod val="75000"/>
                      </a:schemeClr>
                    </a:solidFill>
                  </a:rPr>
                  <a:t>three cash flows </a:t>
                </a:r>
                <a:r>
                  <a:rPr lang="en-US" sz="2400" dirty="0"/>
                  <a:t>of </a:t>
                </a:r>
                <a:r>
                  <a:rPr lang="en-US" sz="2400" b="1" dirty="0">
                    <a:solidFill>
                      <a:schemeClr val="accent1">
                        <a:lumMod val="75000"/>
                      </a:schemeClr>
                    </a:solidFill>
                  </a:rPr>
                  <a:t>$500</a:t>
                </a:r>
                <a:r>
                  <a:rPr lang="en-US" sz="2400" dirty="0"/>
                  <a:t>, </a:t>
                </a:r>
                <a:r>
                  <a:rPr lang="en-US" sz="2400" b="1" dirty="0">
                    <a:solidFill>
                      <a:schemeClr val="accent1">
                        <a:lumMod val="75000"/>
                      </a:schemeClr>
                    </a:solidFill>
                  </a:rPr>
                  <a:t>$300</a:t>
                </a:r>
                <a:r>
                  <a:rPr lang="en-US" sz="2400" dirty="0"/>
                  <a:t>, and </a:t>
                </a:r>
                <a:r>
                  <a:rPr lang="en-US" sz="2400" b="1" dirty="0">
                    <a:solidFill>
                      <a:schemeClr val="accent1">
                        <a:lumMod val="75000"/>
                      </a:schemeClr>
                    </a:solidFill>
                  </a:rPr>
                  <a:t>$800 </a:t>
                </a:r>
                <a:r>
                  <a:rPr lang="en-US" sz="2400" dirty="0"/>
                  <a:t>over the next </a:t>
                </a:r>
                <a:r>
                  <a:rPr lang="en-US" sz="2400" b="1" dirty="0">
                    <a:solidFill>
                      <a:schemeClr val="accent1">
                        <a:lumMod val="75000"/>
                      </a:schemeClr>
                    </a:solidFill>
                  </a:rPr>
                  <a:t>three years</a:t>
                </a:r>
                <a:r>
                  <a:rPr lang="en-US" sz="2400" dirty="0"/>
                  <a:t>. Assume there is no salvage value at the end of the project and the required rate of return is </a:t>
                </a:r>
                <a:r>
                  <a:rPr lang="en-US" sz="2400" b="1" dirty="0">
                    <a:solidFill>
                      <a:schemeClr val="accent1">
                        <a:lumMod val="75000"/>
                      </a:schemeClr>
                    </a:solidFill>
                  </a:rPr>
                  <a:t>8%</a:t>
                </a:r>
                <a:r>
                  <a:rPr lang="en-US" sz="2400" dirty="0"/>
                  <a:t>. ​Calculate NPV.</a:t>
                </a:r>
              </a:p>
              <a:p>
                <a:pPr marL="0" indent="0">
                  <a:buNone/>
                </a:pPr>
                <a:r>
                  <a:rPr lang="en-US" sz="2400" b="1" dirty="0">
                    <a:solidFill>
                      <a:schemeClr val="accent1">
                        <a:lumMod val="75000"/>
                      </a:schemeClr>
                    </a:solidFill>
                  </a:rPr>
                  <a:t>Solution:</a:t>
                </a:r>
              </a:p>
              <a:p>
                <a14:m>
                  <m:oMath xmlns:m="http://schemas.openxmlformats.org/officeDocument/2006/math">
                    <m:r>
                      <a:rPr lang="en-US" sz="2400" b="1" i="1">
                        <a:latin typeface="Cambria Math" panose="02040503050406030204" pitchFamily="18" charset="0"/>
                      </a:rPr>
                      <m:t>𝑵𝑷𝑽</m:t>
                    </m:r>
                    <m:r>
                      <a:rPr lang="en-US" sz="2400" b="1" i="1">
                        <a:latin typeface="Cambria Math" panose="02040503050406030204" pitchFamily="18" charset="0"/>
                      </a:rPr>
                      <m:t>=</m:t>
                    </m:r>
                    <m:f>
                      <m:fPr>
                        <m:ctrlPr>
                          <a:rPr lang="en-US" sz="2400" b="1" i="1">
                            <a:latin typeface="Cambria Math" panose="02040503050406030204" pitchFamily="18" charset="0"/>
                          </a:rPr>
                        </m:ctrlPr>
                      </m:fPr>
                      <m:num>
                        <m:r>
                          <a:rPr lang="en-US" sz="2400" b="1" i="1" smtClean="0">
                            <a:latin typeface="Cambria Math" panose="02040503050406030204" pitchFamily="18" charset="0"/>
                          </a:rPr>
                          <m:t>$</m:t>
                        </m:r>
                        <m:r>
                          <a:rPr lang="en-US" sz="2400" b="1" i="1" smtClean="0">
                            <a:latin typeface="Cambria Math" panose="02040503050406030204" pitchFamily="18" charset="0"/>
                          </a:rPr>
                          <m:t>𝟓𝟎𝟎</m:t>
                        </m:r>
                      </m:num>
                      <m:den>
                        <m:sSup>
                          <m:sSupPr>
                            <m:ctrlPr>
                              <a:rPr lang="en-US" sz="2400" b="1" i="1">
                                <a:latin typeface="Cambria Math" panose="02040503050406030204" pitchFamily="18" charset="0"/>
                              </a:rPr>
                            </m:ctrlPr>
                          </m:sSupPr>
                          <m:e>
                            <m:r>
                              <a:rPr lang="en-US" sz="2400" b="1" i="1">
                                <a:latin typeface="Cambria Math" panose="02040503050406030204" pitchFamily="18" charset="0"/>
                              </a:rPr>
                              <m:t>(</m:t>
                            </m:r>
                            <m:r>
                              <a:rPr lang="en-US" sz="2400" b="1" i="1">
                                <a:latin typeface="Cambria Math" panose="02040503050406030204" pitchFamily="18" charset="0"/>
                              </a:rPr>
                              <m:t>𝟏</m:t>
                            </m:r>
                            <m:r>
                              <a:rPr lang="en-US" sz="2400" b="1" i="1">
                                <a:latin typeface="Cambria Math" panose="02040503050406030204" pitchFamily="18" charset="0"/>
                              </a:rPr>
                              <m:t> +</m:t>
                            </m:r>
                            <m:r>
                              <a:rPr lang="en-US" sz="2400" b="1" i="1" smtClean="0">
                                <a:latin typeface="Cambria Math" panose="02040503050406030204" pitchFamily="18" charset="0"/>
                              </a:rPr>
                              <m:t>𝟎</m:t>
                            </m:r>
                            <m:r>
                              <a:rPr lang="en-US" sz="2400" b="1" i="1" smtClean="0">
                                <a:latin typeface="Cambria Math" panose="02040503050406030204" pitchFamily="18" charset="0"/>
                              </a:rPr>
                              <m:t>.</m:t>
                            </m:r>
                            <m:r>
                              <a:rPr lang="en-US" sz="2400" b="1" i="1" smtClean="0">
                                <a:latin typeface="Cambria Math" panose="02040503050406030204" pitchFamily="18" charset="0"/>
                              </a:rPr>
                              <m:t>𝟎𝟖</m:t>
                            </m:r>
                            <m:r>
                              <a:rPr lang="en-US" sz="2400" b="1" i="1">
                                <a:latin typeface="Cambria Math" panose="02040503050406030204" pitchFamily="18" charset="0"/>
                              </a:rPr>
                              <m:t>)</m:t>
                            </m:r>
                          </m:e>
                          <m:sup>
                            <m:r>
                              <a:rPr lang="en-US" sz="2400" b="1" i="1" smtClean="0">
                                <a:latin typeface="Cambria Math" panose="02040503050406030204" pitchFamily="18" charset="0"/>
                              </a:rPr>
                              <m:t>𝟏</m:t>
                            </m:r>
                          </m:sup>
                        </m:sSup>
                      </m:den>
                    </m:f>
                    <m:r>
                      <a:rPr lang="en-US" sz="2400" b="1" i="1" smtClean="0">
                        <a:latin typeface="Cambria Math" panose="02040503050406030204" pitchFamily="18" charset="0"/>
                      </a:rPr>
                      <m:t>+</m:t>
                    </m:r>
                    <m:f>
                      <m:fPr>
                        <m:ctrlPr>
                          <a:rPr lang="en-US" sz="2400" b="1" i="1">
                            <a:latin typeface="Cambria Math" panose="02040503050406030204" pitchFamily="18" charset="0"/>
                          </a:rPr>
                        </m:ctrlPr>
                      </m:fPr>
                      <m:num>
                        <m:r>
                          <a:rPr lang="en-US" sz="2400" b="1" i="1">
                            <a:latin typeface="Cambria Math" panose="02040503050406030204" pitchFamily="18" charset="0"/>
                          </a:rPr>
                          <m:t>$</m:t>
                        </m:r>
                        <m:r>
                          <a:rPr lang="en-US" sz="2400" b="1" i="1" smtClean="0">
                            <a:latin typeface="Cambria Math" panose="02040503050406030204" pitchFamily="18" charset="0"/>
                          </a:rPr>
                          <m:t>𝟑𝟎𝟎</m:t>
                        </m:r>
                      </m:num>
                      <m:den>
                        <m:sSup>
                          <m:sSupPr>
                            <m:ctrlPr>
                              <a:rPr lang="en-US" sz="2400" b="1" i="1">
                                <a:latin typeface="Cambria Math" panose="02040503050406030204" pitchFamily="18" charset="0"/>
                              </a:rPr>
                            </m:ctrlPr>
                          </m:sSupPr>
                          <m:e>
                            <m:r>
                              <a:rPr lang="en-US" sz="2400" b="1" i="1">
                                <a:latin typeface="Cambria Math" panose="02040503050406030204" pitchFamily="18" charset="0"/>
                              </a:rPr>
                              <m:t>(</m:t>
                            </m:r>
                            <m:r>
                              <a:rPr lang="en-US" sz="2400" b="1" i="1">
                                <a:latin typeface="Cambria Math" panose="02040503050406030204" pitchFamily="18" charset="0"/>
                              </a:rPr>
                              <m:t>𝟏</m:t>
                            </m:r>
                            <m:r>
                              <a:rPr lang="en-US" sz="2400" b="1" i="1">
                                <a:latin typeface="Cambria Math" panose="02040503050406030204" pitchFamily="18" charset="0"/>
                              </a:rPr>
                              <m:t> +</m:t>
                            </m:r>
                            <m:r>
                              <a:rPr lang="en-US" sz="2400" b="1" i="1">
                                <a:latin typeface="Cambria Math" panose="02040503050406030204" pitchFamily="18" charset="0"/>
                              </a:rPr>
                              <m:t>𝟎</m:t>
                            </m:r>
                            <m:r>
                              <a:rPr lang="en-US" sz="2400" b="1" i="1">
                                <a:latin typeface="Cambria Math" panose="02040503050406030204" pitchFamily="18" charset="0"/>
                              </a:rPr>
                              <m:t>.</m:t>
                            </m:r>
                            <m:r>
                              <a:rPr lang="en-US" sz="2400" b="1" i="1">
                                <a:latin typeface="Cambria Math" panose="02040503050406030204" pitchFamily="18" charset="0"/>
                              </a:rPr>
                              <m:t>𝟎𝟖</m:t>
                            </m:r>
                            <m:r>
                              <a:rPr lang="en-US" sz="2400" b="1" i="1">
                                <a:latin typeface="Cambria Math" panose="02040503050406030204" pitchFamily="18" charset="0"/>
                              </a:rPr>
                              <m:t>)</m:t>
                            </m:r>
                          </m:e>
                          <m:sup>
                            <m:r>
                              <a:rPr lang="en-US" sz="2400" b="1" i="1" smtClean="0">
                                <a:latin typeface="Cambria Math" panose="02040503050406030204" pitchFamily="18" charset="0"/>
                              </a:rPr>
                              <m:t>𝟐</m:t>
                            </m:r>
                          </m:sup>
                        </m:sSup>
                      </m:den>
                    </m:f>
                    <m:r>
                      <a:rPr lang="en-US" sz="2400" b="1" i="1" smtClean="0">
                        <a:latin typeface="Cambria Math" panose="02040503050406030204" pitchFamily="18" charset="0"/>
                      </a:rPr>
                      <m:t>+</m:t>
                    </m:r>
                    <m:f>
                      <m:fPr>
                        <m:ctrlPr>
                          <a:rPr lang="en-US" sz="2400" b="1" i="1">
                            <a:latin typeface="Cambria Math" panose="02040503050406030204" pitchFamily="18" charset="0"/>
                          </a:rPr>
                        </m:ctrlPr>
                      </m:fPr>
                      <m:num>
                        <m:r>
                          <a:rPr lang="en-US" sz="2400" b="1" i="1">
                            <a:latin typeface="Cambria Math" panose="02040503050406030204" pitchFamily="18" charset="0"/>
                          </a:rPr>
                          <m:t>$</m:t>
                        </m:r>
                        <m:r>
                          <a:rPr lang="en-US" sz="2400" b="1" i="1" smtClean="0">
                            <a:latin typeface="Cambria Math" panose="02040503050406030204" pitchFamily="18" charset="0"/>
                          </a:rPr>
                          <m:t>𝟖𝟎𝟎</m:t>
                        </m:r>
                      </m:num>
                      <m:den>
                        <m:sSup>
                          <m:sSupPr>
                            <m:ctrlPr>
                              <a:rPr lang="en-US" sz="2400" b="1" i="1">
                                <a:latin typeface="Cambria Math" panose="02040503050406030204" pitchFamily="18" charset="0"/>
                              </a:rPr>
                            </m:ctrlPr>
                          </m:sSupPr>
                          <m:e>
                            <m:r>
                              <a:rPr lang="en-US" sz="2400" b="1" i="1">
                                <a:latin typeface="Cambria Math" panose="02040503050406030204" pitchFamily="18" charset="0"/>
                              </a:rPr>
                              <m:t>(</m:t>
                            </m:r>
                            <m:r>
                              <a:rPr lang="en-US" sz="2400" b="1" i="1">
                                <a:latin typeface="Cambria Math" panose="02040503050406030204" pitchFamily="18" charset="0"/>
                              </a:rPr>
                              <m:t>𝟏</m:t>
                            </m:r>
                            <m:r>
                              <a:rPr lang="en-US" sz="2400" b="1" i="1">
                                <a:latin typeface="Cambria Math" panose="02040503050406030204" pitchFamily="18" charset="0"/>
                              </a:rPr>
                              <m:t> +</m:t>
                            </m:r>
                            <m:r>
                              <a:rPr lang="en-US" sz="2400" b="1" i="1">
                                <a:latin typeface="Cambria Math" panose="02040503050406030204" pitchFamily="18" charset="0"/>
                              </a:rPr>
                              <m:t>𝟎</m:t>
                            </m:r>
                            <m:r>
                              <a:rPr lang="en-US" sz="2400" b="1" i="1">
                                <a:latin typeface="Cambria Math" panose="02040503050406030204" pitchFamily="18" charset="0"/>
                              </a:rPr>
                              <m:t>.</m:t>
                            </m:r>
                            <m:r>
                              <a:rPr lang="en-US" sz="2400" b="1" i="1">
                                <a:latin typeface="Cambria Math" panose="02040503050406030204" pitchFamily="18" charset="0"/>
                              </a:rPr>
                              <m:t>𝟎𝟖</m:t>
                            </m:r>
                            <m:r>
                              <a:rPr lang="en-US" sz="2400" b="1" i="1">
                                <a:latin typeface="Cambria Math" panose="02040503050406030204" pitchFamily="18" charset="0"/>
                              </a:rPr>
                              <m:t>)</m:t>
                            </m:r>
                          </m:e>
                          <m:sup>
                            <m:r>
                              <a:rPr lang="en-US" sz="2400" b="1" i="1" smtClean="0">
                                <a:latin typeface="Cambria Math" panose="02040503050406030204" pitchFamily="18" charset="0"/>
                              </a:rPr>
                              <m:t>𝟑</m:t>
                            </m:r>
                          </m:sup>
                        </m:sSup>
                      </m:den>
                    </m:f>
                    <m:r>
                      <a:rPr lang="en-US" sz="2400" b="1" i="1" smtClean="0">
                        <a:latin typeface="Cambria Math" panose="02040503050406030204" pitchFamily="18" charset="0"/>
                      </a:rPr>
                      <m:t> −$</m:t>
                    </m:r>
                    <m:r>
                      <a:rPr lang="en-US" sz="2400" b="1" i="1" smtClean="0">
                        <a:latin typeface="Cambria Math" panose="02040503050406030204" pitchFamily="18" charset="0"/>
                      </a:rPr>
                      <m:t>𝟏𝟎𝟎𝟎</m:t>
                    </m:r>
                    <m:r>
                      <a:rPr lang="en-US" sz="2400" b="1" i="1" smtClean="0">
                        <a:latin typeface="Cambria Math" panose="02040503050406030204" pitchFamily="18" charset="0"/>
                      </a:rPr>
                      <m:t>=$</m:t>
                    </m:r>
                    <m:r>
                      <a:rPr lang="en-US" sz="2400" b="1" i="1" smtClean="0">
                        <a:latin typeface="Cambria Math" panose="02040503050406030204" pitchFamily="18" charset="0"/>
                      </a:rPr>
                      <m:t>𝟑𝟓𝟓</m:t>
                    </m:r>
                    <m:r>
                      <a:rPr lang="en-US" sz="2400" b="1" i="1" smtClean="0">
                        <a:latin typeface="Cambria Math" panose="02040503050406030204" pitchFamily="18" charset="0"/>
                      </a:rPr>
                      <m:t>.</m:t>
                    </m:r>
                    <m:r>
                      <a:rPr lang="en-US" sz="2400" b="1" i="1" smtClean="0">
                        <a:latin typeface="Cambria Math" panose="02040503050406030204" pitchFamily="18" charset="0"/>
                      </a:rPr>
                      <m:t>𝟐𝟑</m:t>
                    </m:r>
                  </m:oMath>
                </a14:m>
                <a:endParaRPr lang="en-US" sz="2400" b="1" dirty="0">
                  <a:latin typeface="Cambria Math" panose="02040503050406030204" pitchFamily="18" charset="0"/>
                </a:endParaRPr>
              </a:p>
            </p:txBody>
          </p:sp>
        </mc:Choice>
        <mc:Fallback xmlns="">
          <p:sp>
            <p:nvSpPr>
              <p:cNvPr id="4" name="Content Placeholder 3">
                <a:extLst>
                  <a:ext uri="{FF2B5EF4-FFF2-40B4-BE49-F238E27FC236}">
                    <a16:creationId xmlns:a16="http://schemas.microsoft.com/office/drawing/2014/main" id="{9402E1CD-E95F-C50C-A531-3DF86C8202D7}"/>
                  </a:ext>
                </a:extLst>
              </p:cNvPr>
              <p:cNvSpPr>
                <a:spLocks noGrp="1" noRot="1" noChangeAspect="1" noMove="1" noResize="1" noEditPoints="1" noAdjustHandles="1" noChangeArrowheads="1" noChangeShapeType="1" noTextEdit="1"/>
              </p:cNvSpPr>
              <p:nvPr>
                <p:ph idx="1"/>
              </p:nvPr>
            </p:nvSpPr>
            <p:spPr>
              <a:xfrm>
                <a:off x="890476" y="1640954"/>
                <a:ext cx="10411047" cy="4899980"/>
              </a:xfrm>
              <a:blipFill>
                <a:blip r:embed="rId2"/>
                <a:stretch>
                  <a:fillRect l="-878" t="-1617"/>
                </a:stretch>
              </a:blipFill>
            </p:spPr>
            <p:txBody>
              <a:bodyPr/>
              <a:lstStyle/>
              <a:p>
                <a:r>
                  <a:rPr lang="en-US">
                    <a:noFill/>
                  </a:rPr>
                  <a:t> </a:t>
                </a:r>
              </a:p>
            </p:txBody>
          </p:sp>
        </mc:Fallback>
      </mc:AlternateContent>
      <p:sp>
        <p:nvSpPr>
          <p:cNvPr id="3" name="Title 1">
            <a:extLst>
              <a:ext uri="{FF2B5EF4-FFF2-40B4-BE49-F238E27FC236}">
                <a16:creationId xmlns:a16="http://schemas.microsoft.com/office/drawing/2014/main" id="{632A1ED3-36D8-33CD-EDB2-CB1224C7E7EF}"/>
              </a:ext>
            </a:extLst>
          </p:cNvPr>
          <p:cNvSpPr>
            <a:spLocks noGrp="1"/>
          </p:cNvSpPr>
          <p:nvPr>
            <p:ph type="title"/>
          </p:nvPr>
        </p:nvSpPr>
        <p:spPr>
          <a:xfrm>
            <a:off x="890476" y="0"/>
            <a:ext cx="9601200" cy="1142385"/>
          </a:xfrm>
        </p:spPr>
        <p:txBody>
          <a:bodyPr>
            <a:normAutofit/>
          </a:bodyPr>
          <a:lstStyle/>
          <a:p>
            <a:r>
              <a:rPr lang="en-US" sz="4000" dirty="0"/>
              <a:t>Net Present Value (NPV) </a:t>
            </a:r>
            <a:endParaRPr lang="en-US" sz="3800" dirty="0"/>
          </a:p>
        </p:txBody>
      </p:sp>
      <p:sp>
        <p:nvSpPr>
          <p:cNvPr id="5" name="Title 1">
            <a:extLst>
              <a:ext uri="{FF2B5EF4-FFF2-40B4-BE49-F238E27FC236}">
                <a16:creationId xmlns:a16="http://schemas.microsoft.com/office/drawing/2014/main" id="{E81C6E9B-45EB-5142-C942-867D7624AAFE}"/>
              </a:ext>
            </a:extLst>
          </p:cNvPr>
          <p:cNvSpPr txBox="1">
            <a:spLocks/>
          </p:cNvSpPr>
          <p:nvPr/>
        </p:nvSpPr>
        <p:spPr>
          <a:xfrm>
            <a:off x="886968" y="477298"/>
            <a:ext cx="9601200" cy="114238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sz="2400" dirty="0"/>
              <a:t>Example 1:</a:t>
            </a:r>
          </a:p>
        </p:txBody>
      </p:sp>
    </p:spTree>
    <p:extLst>
      <p:ext uri="{BB962C8B-B14F-4D97-AF65-F5344CB8AC3E}">
        <p14:creationId xmlns:p14="http://schemas.microsoft.com/office/powerpoint/2010/main" val="21263376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A449E-A274-B7E7-D65C-E939FE6671F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C072034-AA48-A29D-8A5A-7361FF83CCA1}"/>
                  </a:ext>
                </a:extLst>
              </p:cNvPr>
              <p:cNvSpPr>
                <a:spLocks noGrp="1"/>
              </p:cNvSpPr>
              <p:nvPr>
                <p:ph idx="1"/>
              </p:nvPr>
            </p:nvSpPr>
            <p:spPr>
              <a:xfrm>
                <a:off x="890476" y="1640954"/>
                <a:ext cx="10411047" cy="4899980"/>
              </a:xfrm>
            </p:spPr>
            <p:txBody>
              <a:bodyPr>
                <a:normAutofit/>
              </a:bodyPr>
              <a:lstStyle/>
              <a:p>
                <a:pPr marL="0" indent="0">
                  <a:buNone/>
                </a:pPr>
                <a:r>
                  <a:rPr lang="en-US" sz="2400" dirty="0"/>
                  <a:t>Project Y requires a </a:t>
                </a:r>
                <a:r>
                  <a:rPr lang="en-US" sz="2400" b="1" dirty="0">
                    <a:solidFill>
                      <a:schemeClr val="accent1">
                        <a:lumMod val="75000"/>
                      </a:schemeClr>
                    </a:solidFill>
                  </a:rPr>
                  <a:t>$35,000 </a:t>
                </a:r>
                <a:r>
                  <a:rPr lang="en-US" sz="2400" dirty="0"/>
                  <a:t>initial investment and will generate </a:t>
                </a:r>
                <a:r>
                  <a:rPr lang="en-US" sz="2400" b="1" dirty="0">
                    <a:solidFill>
                      <a:schemeClr val="accent1">
                        <a:lumMod val="75000"/>
                      </a:schemeClr>
                    </a:solidFill>
                  </a:rPr>
                  <a:t>$27,000 </a:t>
                </a:r>
                <a:r>
                  <a:rPr lang="en-US" sz="2400" dirty="0"/>
                  <a:t>per year for </a:t>
                </a:r>
                <a:r>
                  <a:rPr lang="en-US" sz="2400" b="1" dirty="0">
                    <a:solidFill>
                      <a:schemeClr val="accent1">
                        <a:lumMod val="75000"/>
                      </a:schemeClr>
                    </a:solidFill>
                  </a:rPr>
                  <a:t>two years</a:t>
                </a:r>
                <a:r>
                  <a:rPr lang="en-US" sz="2400" dirty="0"/>
                  <a:t>. The target rate remains </a:t>
                </a:r>
                <a:r>
                  <a:rPr lang="en-US" sz="2400" b="1" dirty="0">
                    <a:solidFill>
                      <a:schemeClr val="accent1">
                        <a:lumMod val="75000"/>
                      </a:schemeClr>
                    </a:solidFill>
                  </a:rPr>
                  <a:t>12%</a:t>
                </a:r>
                <a:r>
                  <a:rPr lang="en-US" sz="2400" dirty="0"/>
                  <a:t>. ​Calculate NPV. ​</a:t>
                </a:r>
              </a:p>
              <a:p>
                <a:pPr marL="0" indent="0">
                  <a:buNone/>
                </a:pPr>
                <a:r>
                  <a:rPr lang="en-US" sz="2400" b="1" dirty="0">
                    <a:solidFill>
                      <a:schemeClr val="accent1">
                        <a:lumMod val="75000"/>
                      </a:schemeClr>
                    </a:solidFill>
                  </a:rPr>
                  <a:t>Solution:</a:t>
                </a:r>
              </a:p>
              <a:p>
                <a14:m>
                  <m:oMath xmlns:m="http://schemas.openxmlformats.org/officeDocument/2006/math">
                    <m:r>
                      <a:rPr lang="en-US" sz="2400" b="1" i="1">
                        <a:latin typeface="Cambria Math" panose="02040503050406030204" pitchFamily="18" charset="0"/>
                      </a:rPr>
                      <m:t>𝑵𝑷𝑽</m:t>
                    </m:r>
                    <m:r>
                      <a:rPr lang="en-US" sz="2400" b="1" i="1">
                        <a:latin typeface="Cambria Math" panose="02040503050406030204" pitchFamily="18" charset="0"/>
                      </a:rPr>
                      <m:t>=</m:t>
                    </m:r>
                    <m:f>
                      <m:fPr>
                        <m:ctrlPr>
                          <a:rPr lang="en-US" sz="2400" b="1" i="1">
                            <a:latin typeface="Cambria Math" panose="02040503050406030204" pitchFamily="18" charset="0"/>
                          </a:rPr>
                        </m:ctrlPr>
                      </m:fPr>
                      <m:num>
                        <m:r>
                          <a:rPr lang="en-US" sz="2400" b="1" i="1" smtClean="0">
                            <a:latin typeface="Cambria Math" panose="02040503050406030204" pitchFamily="18" charset="0"/>
                          </a:rPr>
                          <m:t>$</m:t>
                        </m:r>
                        <m:r>
                          <a:rPr lang="en-US" sz="2400" b="1" i="1" smtClean="0">
                            <a:latin typeface="Cambria Math" panose="02040503050406030204" pitchFamily="18" charset="0"/>
                          </a:rPr>
                          <m:t>𝟐𝟕</m:t>
                        </m:r>
                        <m:r>
                          <a:rPr lang="en-US" sz="2400" b="1" i="1" smtClean="0">
                            <a:latin typeface="Cambria Math" panose="02040503050406030204" pitchFamily="18" charset="0"/>
                          </a:rPr>
                          <m:t>,</m:t>
                        </m:r>
                        <m:r>
                          <a:rPr lang="en-US" sz="2400" b="1" i="1" smtClean="0">
                            <a:latin typeface="Cambria Math" panose="02040503050406030204" pitchFamily="18" charset="0"/>
                          </a:rPr>
                          <m:t>𝟎𝟎𝟎</m:t>
                        </m:r>
                      </m:num>
                      <m:den>
                        <m:sSup>
                          <m:sSupPr>
                            <m:ctrlPr>
                              <a:rPr lang="en-US" sz="2400" b="1" i="1">
                                <a:latin typeface="Cambria Math" panose="02040503050406030204" pitchFamily="18" charset="0"/>
                              </a:rPr>
                            </m:ctrlPr>
                          </m:sSupPr>
                          <m:e>
                            <m:r>
                              <a:rPr lang="en-US" sz="2400" b="1" i="1">
                                <a:latin typeface="Cambria Math" panose="02040503050406030204" pitchFamily="18" charset="0"/>
                              </a:rPr>
                              <m:t>(</m:t>
                            </m:r>
                            <m:r>
                              <a:rPr lang="en-US" sz="2400" b="1" i="1">
                                <a:latin typeface="Cambria Math" panose="02040503050406030204" pitchFamily="18" charset="0"/>
                              </a:rPr>
                              <m:t>𝟏</m:t>
                            </m:r>
                            <m:r>
                              <a:rPr lang="en-US" sz="2400" b="1" i="1">
                                <a:latin typeface="Cambria Math" panose="02040503050406030204" pitchFamily="18" charset="0"/>
                              </a:rPr>
                              <m:t> +</m:t>
                            </m:r>
                            <m:r>
                              <a:rPr lang="en-US" sz="2400" b="1" i="1" smtClean="0">
                                <a:latin typeface="Cambria Math" panose="02040503050406030204" pitchFamily="18" charset="0"/>
                              </a:rPr>
                              <m:t>𝟎</m:t>
                            </m:r>
                            <m:r>
                              <a:rPr lang="en-US" sz="2400" b="1" i="1" smtClean="0">
                                <a:latin typeface="Cambria Math" panose="02040503050406030204" pitchFamily="18" charset="0"/>
                              </a:rPr>
                              <m:t>.</m:t>
                            </m:r>
                            <m:r>
                              <a:rPr lang="en-US" sz="2400" b="1" i="1" smtClean="0">
                                <a:latin typeface="Cambria Math" panose="02040503050406030204" pitchFamily="18" charset="0"/>
                              </a:rPr>
                              <m:t>𝟏𝟐</m:t>
                            </m:r>
                            <m:r>
                              <a:rPr lang="en-US" sz="2400" b="1" i="1">
                                <a:latin typeface="Cambria Math" panose="02040503050406030204" pitchFamily="18" charset="0"/>
                              </a:rPr>
                              <m:t>)</m:t>
                            </m:r>
                          </m:e>
                          <m:sup>
                            <m:r>
                              <a:rPr lang="en-US" sz="2400" b="1" i="1" smtClean="0">
                                <a:latin typeface="Cambria Math" panose="02040503050406030204" pitchFamily="18" charset="0"/>
                              </a:rPr>
                              <m:t>𝟏</m:t>
                            </m:r>
                          </m:sup>
                        </m:sSup>
                      </m:den>
                    </m:f>
                    <m:r>
                      <a:rPr lang="en-US" sz="2400" b="1" i="1" smtClean="0">
                        <a:latin typeface="Cambria Math" panose="02040503050406030204" pitchFamily="18" charset="0"/>
                      </a:rPr>
                      <m:t>+</m:t>
                    </m:r>
                    <m:f>
                      <m:fPr>
                        <m:ctrlPr>
                          <a:rPr lang="en-US" sz="2400" b="1" i="1">
                            <a:latin typeface="Cambria Math" panose="02040503050406030204" pitchFamily="18" charset="0"/>
                          </a:rPr>
                        </m:ctrlPr>
                      </m:fPr>
                      <m:num>
                        <m:r>
                          <a:rPr lang="en-US" sz="2400" b="1" i="1">
                            <a:latin typeface="Cambria Math" panose="02040503050406030204" pitchFamily="18" charset="0"/>
                          </a:rPr>
                          <m:t>$</m:t>
                        </m:r>
                        <m:r>
                          <a:rPr lang="en-US" sz="2400" b="1" i="1" smtClean="0">
                            <a:latin typeface="Cambria Math" panose="02040503050406030204" pitchFamily="18" charset="0"/>
                          </a:rPr>
                          <m:t>𝟐𝟕</m:t>
                        </m:r>
                        <m:r>
                          <a:rPr lang="en-US" sz="2400" b="1" i="1" smtClean="0">
                            <a:latin typeface="Cambria Math" panose="02040503050406030204" pitchFamily="18" charset="0"/>
                          </a:rPr>
                          <m:t>,</m:t>
                        </m:r>
                        <m:r>
                          <a:rPr lang="en-US" sz="2400" b="1" i="1" smtClean="0">
                            <a:latin typeface="Cambria Math" panose="02040503050406030204" pitchFamily="18" charset="0"/>
                          </a:rPr>
                          <m:t>𝟎𝟎𝟎</m:t>
                        </m:r>
                      </m:num>
                      <m:den>
                        <m:sSup>
                          <m:sSupPr>
                            <m:ctrlPr>
                              <a:rPr lang="en-US" sz="2400" b="1" i="1">
                                <a:latin typeface="Cambria Math" panose="02040503050406030204" pitchFamily="18" charset="0"/>
                              </a:rPr>
                            </m:ctrlPr>
                          </m:sSupPr>
                          <m:e>
                            <m:r>
                              <a:rPr lang="en-US" sz="2400" b="1" i="1">
                                <a:latin typeface="Cambria Math" panose="02040503050406030204" pitchFamily="18" charset="0"/>
                              </a:rPr>
                              <m:t>(</m:t>
                            </m:r>
                            <m:r>
                              <a:rPr lang="en-US" sz="2400" b="1" i="1">
                                <a:latin typeface="Cambria Math" panose="02040503050406030204" pitchFamily="18" charset="0"/>
                              </a:rPr>
                              <m:t>𝟏</m:t>
                            </m:r>
                            <m:r>
                              <a:rPr lang="en-US" sz="2400" b="1" i="1">
                                <a:latin typeface="Cambria Math" panose="02040503050406030204" pitchFamily="18" charset="0"/>
                              </a:rPr>
                              <m:t> +</m:t>
                            </m:r>
                            <m:r>
                              <a:rPr lang="en-US" sz="2400" b="1" i="1">
                                <a:latin typeface="Cambria Math" panose="02040503050406030204" pitchFamily="18" charset="0"/>
                              </a:rPr>
                              <m:t>𝟎</m:t>
                            </m:r>
                            <m:r>
                              <a:rPr lang="en-US" sz="2400" b="1" i="1">
                                <a:latin typeface="Cambria Math" panose="02040503050406030204" pitchFamily="18" charset="0"/>
                              </a:rPr>
                              <m:t>.</m:t>
                            </m:r>
                            <m:r>
                              <a:rPr lang="en-US" sz="2400" b="1" i="1" smtClean="0">
                                <a:latin typeface="Cambria Math" panose="02040503050406030204" pitchFamily="18" charset="0"/>
                              </a:rPr>
                              <m:t>𝟏𝟐</m:t>
                            </m:r>
                            <m:r>
                              <a:rPr lang="en-US" sz="2400" b="1" i="1">
                                <a:latin typeface="Cambria Math" panose="02040503050406030204" pitchFamily="18" charset="0"/>
                              </a:rPr>
                              <m:t>)</m:t>
                            </m:r>
                          </m:e>
                          <m:sup>
                            <m:r>
                              <a:rPr lang="en-US" sz="2400" b="1" i="1" smtClean="0">
                                <a:latin typeface="Cambria Math" panose="02040503050406030204" pitchFamily="18" charset="0"/>
                              </a:rPr>
                              <m:t>𝟐</m:t>
                            </m:r>
                          </m:sup>
                        </m:sSup>
                      </m:den>
                    </m:f>
                    <m:r>
                      <a:rPr lang="en-US" sz="2400" b="1" i="1" smtClean="0">
                        <a:latin typeface="Cambria Math" panose="02040503050406030204" pitchFamily="18" charset="0"/>
                      </a:rPr>
                      <m:t> −$</m:t>
                    </m:r>
                    <m:r>
                      <a:rPr lang="en-US" sz="2400" b="1" i="1" smtClean="0">
                        <a:latin typeface="Cambria Math" panose="02040503050406030204" pitchFamily="18" charset="0"/>
                      </a:rPr>
                      <m:t>𝟑𝟓</m:t>
                    </m:r>
                    <m:r>
                      <a:rPr lang="en-US" sz="2400" b="1" i="1" smtClean="0">
                        <a:latin typeface="Cambria Math" panose="02040503050406030204" pitchFamily="18" charset="0"/>
                      </a:rPr>
                      <m:t>,</m:t>
                    </m:r>
                    <m:r>
                      <a:rPr lang="en-US" sz="2400" b="1" i="1" smtClean="0">
                        <a:latin typeface="Cambria Math" panose="02040503050406030204" pitchFamily="18" charset="0"/>
                      </a:rPr>
                      <m:t>𝟎𝟎𝟎</m:t>
                    </m:r>
                    <m:r>
                      <a:rPr lang="en-US" sz="2400" b="1" i="1" smtClean="0">
                        <a:latin typeface="Cambria Math" panose="02040503050406030204" pitchFamily="18" charset="0"/>
                      </a:rPr>
                      <m:t>=$</m:t>
                    </m:r>
                    <m:r>
                      <a:rPr lang="en-US" sz="2400" b="1" i="1" smtClean="0">
                        <a:latin typeface="Cambria Math" panose="02040503050406030204" pitchFamily="18" charset="0"/>
                      </a:rPr>
                      <m:t>𝟏𝟎</m:t>
                    </m:r>
                    <m:r>
                      <a:rPr lang="en-US" sz="2400" b="1" i="1" smtClean="0">
                        <a:latin typeface="Cambria Math" panose="02040503050406030204" pitchFamily="18" charset="0"/>
                      </a:rPr>
                      <m:t>,</m:t>
                    </m:r>
                    <m:r>
                      <a:rPr lang="en-US" sz="2400" b="1" i="1" smtClean="0">
                        <a:latin typeface="Cambria Math" panose="02040503050406030204" pitchFamily="18" charset="0"/>
                      </a:rPr>
                      <m:t>𝟔𝟑𝟏</m:t>
                    </m:r>
                  </m:oMath>
                </a14:m>
                <a:endParaRPr lang="en-US" sz="2400" b="1" dirty="0">
                  <a:latin typeface="Cambria Math" panose="02040503050406030204" pitchFamily="18" charset="0"/>
                </a:endParaRPr>
              </a:p>
            </p:txBody>
          </p:sp>
        </mc:Choice>
        <mc:Fallback xmlns="">
          <p:sp>
            <p:nvSpPr>
              <p:cNvPr id="4" name="Content Placeholder 3">
                <a:extLst>
                  <a:ext uri="{FF2B5EF4-FFF2-40B4-BE49-F238E27FC236}">
                    <a16:creationId xmlns:a16="http://schemas.microsoft.com/office/drawing/2014/main" id="{DC072034-AA48-A29D-8A5A-7361FF83CCA1}"/>
                  </a:ext>
                </a:extLst>
              </p:cNvPr>
              <p:cNvSpPr>
                <a:spLocks noGrp="1" noRot="1" noChangeAspect="1" noMove="1" noResize="1" noEditPoints="1" noAdjustHandles="1" noChangeArrowheads="1" noChangeShapeType="1" noTextEdit="1"/>
              </p:cNvSpPr>
              <p:nvPr>
                <p:ph idx="1"/>
              </p:nvPr>
            </p:nvSpPr>
            <p:spPr>
              <a:xfrm>
                <a:off x="890476" y="1640954"/>
                <a:ext cx="10411047" cy="4899980"/>
              </a:xfrm>
              <a:blipFill>
                <a:blip r:embed="rId2"/>
                <a:stretch>
                  <a:fillRect l="-878" t="-1617"/>
                </a:stretch>
              </a:blipFill>
            </p:spPr>
            <p:txBody>
              <a:bodyPr/>
              <a:lstStyle/>
              <a:p>
                <a:r>
                  <a:rPr lang="en-US">
                    <a:noFill/>
                  </a:rPr>
                  <a:t> </a:t>
                </a:r>
              </a:p>
            </p:txBody>
          </p:sp>
        </mc:Fallback>
      </mc:AlternateContent>
      <p:sp>
        <p:nvSpPr>
          <p:cNvPr id="3" name="Title 1">
            <a:extLst>
              <a:ext uri="{FF2B5EF4-FFF2-40B4-BE49-F238E27FC236}">
                <a16:creationId xmlns:a16="http://schemas.microsoft.com/office/drawing/2014/main" id="{43363780-30CD-AE0A-2322-ACCFCED8462B}"/>
              </a:ext>
            </a:extLst>
          </p:cNvPr>
          <p:cNvSpPr>
            <a:spLocks noGrp="1"/>
          </p:cNvSpPr>
          <p:nvPr>
            <p:ph type="title"/>
          </p:nvPr>
        </p:nvSpPr>
        <p:spPr>
          <a:xfrm>
            <a:off x="890476" y="0"/>
            <a:ext cx="9601200" cy="1142385"/>
          </a:xfrm>
        </p:spPr>
        <p:txBody>
          <a:bodyPr>
            <a:normAutofit/>
          </a:bodyPr>
          <a:lstStyle/>
          <a:p>
            <a:r>
              <a:rPr lang="en-US" sz="4000" dirty="0"/>
              <a:t>Net Present Value (NPV)</a:t>
            </a:r>
            <a:endParaRPr lang="en-US" sz="3800" dirty="0"/>
          </a:p>
        </p:txBody>
      </p:sp>
      <p:sp>
        <p:nvSpPr>
          <p:cNvPr id="5" name="Title 1">
            <a:extLst>
              <a:ext uri="{FF2B5EF4-FFF2-40B4-BE49-F238E27FC236}">
                <a16:creationId xmlns:a16="http://schemas.microsoft.com/office/drawing/2014/main" id="{FADE5794-B196-09E5-F060-3CD2D867FFA7}"/>
              </a:ext>
            </a:extLst>
          </p:cNvPr>
          <p:cNvSpPr txBox="1">
            <a:spLocks/>
          </p:cNvSpPr>
          <p:nvPr/>
        </p:nvSpPr>
        <p:spPr>
          <a:xfrm>
            <a:off x="886968" y="477298"/>
            <a:ext cx="9601200" cy="114238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sz="2400" dirty="0"/>
              <a:t>Example 2:</a:t>
            </a:r>
          </a:p>
        </p:txBody>
      </p:sp>
    </p:spTree>
    <p:extLst>
      <p:ext uri="{BB962C8B-B14F-4D97-AF65-F5344CB8AC3E}">
        <p14:creationId xmlns:p14="http://schemas.microsoft.com/office/powerpoint/2010/main" val="32304721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AD127-9033-C54D-4703-E59324792629}"/>
              </a:ext>
            </a:extLst>
          </p:cNvPr>
          <p:cNvSpPr txBox="1">
            <a:spLocks/>
          </p:cNvSpPr>
          <p:nvPr/>
        </p:nvSpPr>
        <p:spPr>
          <a:xfrm>
            <a:off x="2792529" y="2857807"/>
            <a:ext cx="6606941" cy="1142385"/>
          </a:xfrm>
          <a:prstGeom prst="rect">
            <a:avLst/>
          </a:prstGeom>
        </p:spPr>
        <p:txBody>
          <a:bodyPr>
            <a:noAutofit/>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pPr algn="ctr"/>
            <a:r>
              <a:rPr lang="en-US" sz="10000" dirty="0"/>
              <a:t>Thank You</a:t>
            </a:r>
          </a:p>
        </p:txBody>
      </p:sp>
    </p:spTree>
    <p:extLst>
      <p:ext uri="{BB962C8B-B14F-4D97-AF65-F5344CB8AC3E}">
        <p14:creationId xmlns:p14="http://schemas.microsoft.com/office/powerpoint/2010/main" val="15443029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Diamond Grid 16x9">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siness diamond grid presentation (widescreen).potx" id="{B2221865-AD13-4DF0-B68E-BF08E8CC5659}" vid="{BAA0C488-98B6-4F47-8E1C-5C7CD9605F73}"/>
    </a:ext>
  </a:extLst>
</a:theme>
</file>

<file path=ppt/theme/theme2.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diamond grid presentation (widescreen)</Template>
  <TotalTime>6140</TotalTime>
  <Words>1074</Words>
  <Application>Microsoft Office PowerPoint</Application>
  <PresentationFormat>Widescreen</PresentationFormat>
  <Paragraphs>149</Paragraphs>
  <Slides>18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Cambria Math</vt:lpstr>
      <vt:lpstr>Gill Sans MT</vt:lpstr>
      <vt:lpstr>Times New Roman</vt:lpstr>
      <vt:lpstr>Wingdings</vt:lpstr>
      <vt:lpstr>Diamond Grid 16x9</vt:lpstr>
      <vt:lpstr>PowerPoint Presentation</vt:lpstr>
      <vt:lpstr>Outlines</vt:lpstr>
      <vt:lpstr>Techniques to Assess Value and Risks</vt:lpstr>
      <vt:lpstr>Payback</vt:lpstr>
      <vt:lpstr>Payback</vt:lpstr>
      <vt:lpstr>Payback</vt:lpstr>
      <vt:lpstr>Payback</vt:lpstr>
      <vt:lpstr>Payback</vt:lpstr>
      <vt:lpstr>Payback</vt:lpstr>
      <vt:lpstr>Payback</vt:lpstr>
      <vt:lpstr>Payback</vt:lpstr>
      <vt:lpstr>Return on Investment (ROI) </vt:lpstr>
      <vt:lpstr>Return on Investment (ROI) </vt:lpstr>
      <vt:lpstr>Return on Investment (ROI) </vt:lpstr>
      <vt:lpstr>Net Present Value (NPV) </vt:lpstr>
      <vt:lpstr>Net Present Value (NPV) </vt:lpstr>
      <vt:lpstr>Net Present Value (NPV)</vt:lpstr>
      <vt:lpstr>PowerPoint Presentation</vt:lpstr>
    </vt:vector>
  </TitlesOfParts>
  <Company>Ahmed-Under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basma yasser mohamed</dc:creator>
  <cp:lastModifiedBy>basma yasser mohamed</cp:lastModifiedBy>
  <cp:revision>89</cp:revision>
  <dcterms:created xsi:type="dcterms:W3CDTF">2026-02-13T09:00:52Z</dcterms:created>
  <dcterms:modified xsi:type="dcterms:W3CDTF">2026-03-26T06:08:04Z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