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1"/>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054" r:id="rId14"/>
    <p:sldId id="1055" r:id="rId15"/>
    <p:sldId id="1237" r:id="rId16"/>
    <p:sldId id="1238" r:id="rId17"/>
    <p:sldId id="1058" r:id="rId18"/>
    <p:sldId id="1195" r:id="rId19"/>
    <p:sldId id="1199" r:id="rId20"/>
    <p:sldId id="1200" r:id="rId21"/>
    <p:sldId id="1201" r:id="rId22"/>
    <p:sldId id="1202" r:id="rId23"/>
    <p:sldId id="1061" r:id="rId24"/>
    <p:sldId id="1066" r:id="rId25"/>
    <p:sldId id="1062" r:id="rId26"/>
    <p:sldId id="1063" r:id="rId27"/>
    <p:sldId id="1064" r:id="rId28"/>
    <p:sldId id="1203" r:id="rId29"/>
    <p:sldId id="1067" r:id="rId30"/>
    <p:sldId id="1068" r:id="rId31"/>
    <p:sldId id="1069" r:id="rId32"/>
    <p:sldId id="1070" r:id="rId33"/>
    <p:sldId id="1071" r:id="rId34"/>
    <p:sldId id="1072" r:id="rId35"/>
    <p:sldId id="1204" r:id="rId36"/>
    <p:sldId id="1073" r:id="rId37"/>
    <p:sldId id="1074" r:id="rId38"/>
    <p:sldId id="1205" r:id="rId39"/>
    <p:sldId id="277" r:id="rId40"/>
    <p:sldId id="1128" r:id="rId41"/>
    <p:sldId id="258" r:id="rId42"/>
    <p:sldId id="1076" r:id="rId43"/>
    <p:sldId id="1077" r:id="rId44"/>
    <p:sldId id="1078" r:id="rId45"/>
    <p:sldId id="1081" r:id="rId46"/>
    <p:sldId id="1213" r:id="rId47"/>
    <p:sldId id="1082" r:id="rId48"/>
    <p:sldId id="1083" r:id="rId49"/>
    <p:sldId id="1084" r:id="rId50"/>
    <p:sldId id="1085" r:id="rId51"/>
    <p:sldId id="1086" r:id="rId52"/>
    <p:sldId id="1087" r:id="rId53"/>
    <p:sldId id="1088" r:id="rId54"/>
    <p:sldId id="1089" r:id="rId55"/>
    <p:sldId id="1090" r:id="rId56"/>
    <p:sldId id="1091" r:id="rId57"/>
    <p:sldId id="1093" r:id="rId58"/>
    <p:sldId id="1092" r:id="rId59"/>
    <p:sldId id="1095" r:id="rId60"/>
    <p:sldId id="1096" r:id="rId61"/>
    <p:sldId id="1098" r:id="rId62"/>
    <p:sldId id="1214" r:id="rId63"/>
    <p:sldId id="1097" r:id="rId64"/>
    <p:sldId id="1104" r:id="rId65"/>
    <p:sldId id="1099" r:id="rId66"/>
    <p:sldId id="1100" r:id="rId67"/>
    <p:sldId id="1102" r:id="rId68"/>
    <p:sldId id="1101" r:id="rId69"/>
    <p:sldId id="1103" r:id="rId70"/>
    <p:sldId id="1105" r:id="rId71"/>
    <p:sldId id="1107" r:id="rId72"/>
    <p:sldId id="1108" r:id="rId73"/>
    <p:sldId id="1109" r:id="rId74"/>
    <p:sldId id="1218" r:id="rId75"/>
    <p:sldId id="1216" r:id="rId76"/>
    <p:sldId id="1239" r:id="rId77"/>
    <p:sldId id="1240" r:id="rId78"/>
    <p:sldId id="1111" r:id="rId79"/>
    <p:sldId id="1112" r:id="rId80"/>
    <p:sldId id="1113" r:id="rId81"/>
    <p:sldId id="1114" r:id="rId82"/>
    <p:sldId id="1115" r:id="rId83"/>
    <p:sldId id="1116" r:id="rId84"/>
    <p:sldId id="1117" r:id="rId85"/>
    <p:sldId id="1118" r:id="rId86"/>
    <p:sldId id="1194" r:id="rId87"/>
    <p:sldId id="1119" r:id="rId88"/>
    <p:sldId id="1192" r:id="rId89"/>
    <p:sldId id="1220" r:id="rId90"/>
    <p:sldId id="1120" r:id="rId91"/>
    <p:sldId id="1121" r:id="rId92"/>
    <p:sldId id="1221" r:id="rId93"/>
    <p:sldId id="1122" r:id="rId94"/>
    <p:sldId id="1123" r:id="rId95"/>
    <p:sldId id="1125" r:id="rId96"/>
    <p:sldId id="1223" r:id="rId97"/>
    <p:sldId id="1224" r:id="rId98"/>
    <p:sldId id="1127" r:id="rId99"/>
    <p:sldId id="1222" r:id="rId10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9252"/>
    <p:restoredTop sz="87940" autoAdjust="0"/>
  </p:normalViewPr>
  <p:slideViewPr>
    <p:cSldViewPr snapToGrid="0" snapToObjects="1">
      <p:cViewPr varScale="1">
        <p:scale>
          <a:sx n="71" d="100"/>
          <a:sy n="71" d="100"/>
        </p:scale>
        <p:origin x="422" y="29"/>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presProps" Target="presProp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12/15/2024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28213066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mj-lt"/>
              <a:buAutoNum type="arabicPeriod"/>
              <a:tabLst/>
              <a:defRPr/>
            </a:pPr>
            <a:r>
              <a:rPr lang="en-US" sz="1800" dirty="0">
                <a:effectLst/>
                <a:latin typeface="TimesLTPro"/>
              </a:rPr>
              <a:t>We can easily recognize the principal router components in Figure 4.4 in this analogy—the entry road and entry station correspond to the input port (with a lookup function to determine to local outgoing port); the roundabout corresponds to the switch fabric; and the roundabout exit road corresponds to the output port. With this analogy, it’s instructive to consider where bottlenecks might occur. What happens if cars arrive blazingly fast (for example, the roundabout is in Germany or Italy!) but the station attendant is slow? How fast must the attendant work to ensure there’s no backup on an entry road? Even with a blazingly fast attendant, what happens if cars traverse the roundabout slowly—can backups still occur? And what happens if most of the cars entering at all of the roundabout’s entrance ramps all want to leave the roundabout at the same exit ramp—can backups occur at the exit ramp or elsewhere? How should the roundabout operate if we want to assign priorities to different cars, or block certain cars from entering the roundabout in the first place? These are all analogous to critical questions faced by router and switch designers. </a:t>
            </a:r>
            <a:endParaRPr lang="en-US" dirty="0">
              <a:effectLst/>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20330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37196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42</a:t>
            </a:fld>
            <a:endParaRPr lang="en-US" dirty="0"/>
          </a:p>
        </p:txBody>
      </p:sp>
    </p:spTree>
    <p:extLst>
      <p:ext uri="{BB962C8B-B14F-4D97-AF65-F5344CB8AC3E}">
        <p14:creationId xmlns:p14="http://schemas.microsoft.com/office/powerpoint/2010/main" val="291036230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64</a:t>
            </a:fld>
            <a:endParaRPr lang="en-US" dirty="0"/>
          </a:p>
        </p:txBody>
      </p:sp>
    </p:spTree>
    <p:extLst>
      <p:ext uri="{BB962C8B-B14F-4D97-AF65-F5344CB8AC3E}">
        <p14:creationId xmlns:p14="http://schemas.microsoft.com/office/powerpoint/2010/main" val="257439433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dirty="0"/>
          </a:p>
        </p:txBody>
      </p:sp>
    </p:spTree>
    <p:extLst>
      <p:ext uri="{BB962C8B-B14F-4D97-AF65-F5344CB8AC3E}">
        <p14:creationId xmlns:p14="http://schemas.microsoft.com/office/powerpoint/2010/main" val="224179991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156977969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6.xml"/><Relationship Id="rId1" Type="http://schemas.openxmlformats.org/officeDocument/2006/relationships/slideLayout" Target="../slideLayouts/slideLayout3.xml"/><Relationship Id="rId4" Type="http://schemas.openxmlformats.org/officeDocument/2006/relationships/image" Target="../media/image34.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8.xml"/><Relationship Id="rId1" Type="http://schemas.openxmlformats.org/officeDocument/2006/relationships/slideLayout" Target="../slideLayouts/slideLayout3.xml"/><Relationship Id="rId5" Type="http://schemas.openxmlformats.org/officeDocument/2006/relationships/image" Target="../media/image37.png"/><Relationship Id="rId4" Type="http://schemas.openxmlformats.org/officeDocument/2006/relationships/image" Target="../media/image36.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41.png"/><Relationship Id="rId7" Type="http://schemas.openxmlformats.org/officeDocument/2006/relationships/image" Target="../media/image9.png"/><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5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8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7.xml"/><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9.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7.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51.png"/><Relationship Id="rId10" Type="http://schemas.openxmlformats.org/officeDocument/2006/relationships/image" Target="../media/image52.png"/><Relationship Id="rId4" Type="http://schemas.openxmlformats.org/officeDocument/2006/relationships/image" Target="../media/image50.png"/><Relationship Id="rId9" Type="http://schemas.openxmlformats.org/officeDocument/2006/relationships/image" Target="../media/image18.png"/></Relationships>
</file>

<file path=ppt/slides/_rels/slide9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fontScale="92500"/>
          </a:bodyPr>
          <a:lstStyle/>
          <a:p>
            <a:pPr marL="342900" indent="-212725">
              <a:buFont typeface="Wingdings" charset="2"/>
              <a:buChar char="§"/>
              <a:defRPr/>
            </a:pPr>
            <a:r>
              <a:rPr lang="en-US" sz="3200" dirty="0"/>
              <a:t>understand </a:t>
            </a:r>
            <a:r>
              <a:rPr lang="en-US" sz="3200" b="1" dirty="0">
                <a:solidFill>
                  <a:srgbClr val="C00000"/>
                </a:solidFill>
                <a:effectLst>
                  <a:outerShdw blurRad="38100" dist="38100" dir="2700000" algn="tl">
                    <a:srgbClr val="000000">
                      <a:alpha val="43137"/>
                    </a:srgbClr>
                  </a:outerShdw>
                </a:effectLst>
              </a:rPr>
              <a:t>principles behind network layer services</a:t>
            </a:r>
            <a:r>
              <a:rPr lang="en-US" sz="3200" dirty="0"/>
              <a:t>, focusing on data plane:</a:t>
            </a:r>
          </a:p>
          <a:p>
            <a:pPr lvl="1">
              <a:buFont typeface="Arial"/>
              <a:buChar char="•"/>
              <a:defRPr/>
            </a:pPr>
            <a:r>
              <a:rPr lang="en-US" sz="2800" dirty="0"/>
              <a:t>network layer </a:t>
            </a:r>
            <a:r>
              <a:rPr lang="en-US" sz="3200" b="1" dirty="0">
                <a:solidFill>
                  <a:srgbClr val="C00000"/>
                </a:solidFill>
                <a:effectLst>
                  <a:outerShdw blurRad="38100" dist="38100" dir="2700000" algn="tl">
                    <a:srgbClr val="000000">
                      <a:alpha val="43137"/>
                    </a:srgbClr>
                  </a:outerShdw>
                </a:effectLst>
              </a:rPr>
              <a:t>service models</a:t>
            </a:r>
          </a:p>
          <a:p>
            <a:pPr lvl="1">
              <a:buFont typeface="Arial"/>
              <a:buChar char="•"/>
              <a:defRPr/>
            </a:pPr>
            <a:r>
              <a:rPr lang="en-US" sz="3200" b="1" dirty="0">
                <a:solidFill>
                  <a:srgbClr val="C00000"/>
                </a:solidFill>
                <a:effectLst>
                  <a:outerShdw blurRad="38100" dist="38100" dir="2700000" algn="tl">
                    <a:srgbClr val="000000">
                      <a:alpha val="43137"/>
                    </a:srgbClr>
                  </a:outerShdw>
                </a:effectLst>
              </a:rPr>
              <a:t>forwarding</a:t>
            </a:r>
            <a:r>
              <a:rPr lang="en-US" sz="2800" dirty="0"/>
              <a:t> versus </a:t>
            </a:r>
            <a:r>
              <a:rPr lang="en-US" sz="3200" b="1" dirty="0">
                <a:solidFill>
                  <a:srgbClr val="C00000"/>
                </a:solidFill>
                <a:effectLst>
                  <a:outerShdw blurRad="38100" dist="38100" dir="2700000" algn="tl">
                    <a:srgbClr val="000000">
                      <a:alpha val="43137"/>
                    </a:srgbClr>
                  </a:outerShdw>
                </a:effectLst>
              </a:rPr>
              <a:t>routing</a:t>
            </a:r>
          </a:p>
          <a:p>
            <a:pPr lvl="1">
              <a:buFont typeface="Arial"/>
              <a:buChar char="•"/>
              <a:defRPr/>
            </a:pPr>
            <a:r>
              <a:rPr lang="en-US" sz="2800" dirty="0"/>
              <a:t>how a </a:t>
            </a:r>
            <a:r>
              <a:rPr lang="en-US" sz="3200" b="1" dirty="0">
                <a:solidFill>
                  <a:srgbClr val="C00000"/>
                </a:solidFill>
                <a:effectLst>
                  <a:outerShdw blurRad="38100" dist="38100" dir="2700000" algn="tl">
                    <a:srgbClr val="000000">
                      <a:alpha val="43137"/>
                    </a:srgbClr>
                  </a:outerShdw>
                </a:effectLst>
              </a:rPr>
              <a:t>router works</a:t>
            </a:r>
          </a:p>
          <a:p>
            <a:pPr lvl="1">
              <a:buFont typeface="Arial"/>
              <a:buChar char="•"/>
              <a:defRPr/>
            </a:pPr>
            <a:r>
              <a:rPr lang="en-US" sz="3200" b="1" dirty="0">
                <a:solidFill>
                  <a:srgbClr val="C00000"/>
                </a:solidFill>
                <a:effectLst>
                  <a:outerShdw blurRad="38100" dist="38100" dir="2700000" algn="tl">
                    <a:srgbClr val="000000">
                      <a:alpha val="43137"/>
                    </a:srgbClr>
                  </a:outerShdw>
                </a:effectLst>
              </a:rPr>
              <a:t>addressing</a:t>
            </a:r>
          </a:p>
          <a:p>
            <a:pPr lvl="1">
              <a:buFont typeface="Arial"/>
              <a:buChar char="•"/>
              <a:defRPr/>
            </a:pPr>
            <a:r>
              <a:rPr lang="en-US" sz="3200" b="1" dirty="0">
                <a:solidFill>
                  <a:srgbClr val="C00000"/>
                </a:solidFill>
                <a:effectLst>
                  <a:outerShdw blurRad="38100" dist="38100" dir="2700000" algn="tl">
                    <a:srgbClr val="000000">
                      <a:alpha val="43137"/>
                    </a:srgbClr>
                  </a:outerShdw>
                </a:effectLst>
              </a:rPr>
              <a:t>generalized</a:t>
            </a:r>
            <a:r>
              <a:rPr lang="en-US" sz="2800" dirty="0"/>
              <a:t> </a:t>
            </a:r>
            <a:r>
              <a:rPr lang="en-US" sz="3500" b="1" dirty="0">
                <a:solidFill>
                  <a:srgbClr val="C00000"/>
                </a:solidFill>
                <a:effectLst>
                  <a:outerShdw blurRad="38100" dist="38100" dir="2700000" algn="tl">
                    <a:srgbClr val="000000">
                      <a:alpha val="43137"/>
                    </a:srgbClr>
                  </a:outerShdw>
                </a:effectLst>
              </a:rPr>
              <a:t>forwarding</a:t>
            </a:r>
          </a:p>
          <a:p>
            <a:pPr lvl="1">
              <a:buFont typeface="Arial"/>
              <a:buChar char="•"/>
              <a:defRPr/>
            </a:pPr>
            <a:r>
              <a:rPr lang="en-US" sz="3500" b="1" dirty="0">
                <a:solidFill>
                  <a:srgbClr val="C00000"/>
                </a:solidFill>
                <a:effectLst>
                  <a:outerShdw blurRad="38100" dist="38100" dir="2700000" algn="tl">
                    <a:srgbClr val="000000">
                      <a:alpha val="43137"/>
                    </a:srgbClr>
                  </a:outerShdw>
                </a:effectLst>
              </a:rPr>
              <a:t>Internet</a:t>
            </a:r>
            <a:r>
              <a:rPr lang="en-US" sz="2800" dirty="0"/>
              <a:t> </a:t>
            </a:r>
            <a:r>
              <a:rPr lang="en-US" sz="3500" b="1" dirty="0">
                <a:solidFill>
                  <a:srgbClr val="C00000"/>
                </a:solidFill>
                <a:effectLst>
                  <a:outerShdw blurRad="38100" dist="38100" dir="2700000" algn="tl">
                    <a:srgbClr val="000000">
                      <a:alpha val="43137"/>
                    </a:srgbClr>
                  </a:outerShdw>
                </a:effectLst>
              </a:rPr>
              <a:t>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fontScale="92500"/>
          </a:bodyPr>
          <a:lstStyle/>
          <a:p>
            <a:pPr marL="407988" indent="-277813"/>
            <a:r>
              <a:rPr lang="en-US" sz="3200" dirty="0"/>
              <a:t>instantiation, implementation in the Internet</a:t>
            </a:r>
          </a:p>
          <a:p>
            <a:pPr lvl="1"/>
            <a:r>
              <a:rPr lang="en-US" sz="3500" b="1" dirty="0">
                <a:solidFill>
                  <a:srgbClr val="C00000"/>
                </a:solidFill>
                <a:effectLst>
                  <a:outerShdw blurRad="38100" dist="38100" dir="2700000" algn="tl">
                    <a:srgbClr val="000000">
                      <a:alpha val="43137"/>
                    </a:srgbClr>
                  </a:outerShdw>
                </a:effectLst>
              </a:rPr>
              <a:t>IP protocol</a:t>
            </a:r>
          </a:p>
          <a:p>
            <a:pPr lvl="1"/>
            <a:r>
              <a:rPr lang="en-US" sz="3500" b="1" dirty="0">
                <a:solidFill>
                  <a:srgbClr val="C00000"/>
                </a:solidFill>
                <a:effectLst>
                  <a:outerShdw blurRad="38100" dist="38100" dir="2700000" algn="tl">
                    <a:srgbClr val="000000">
                      <a:alpha val="43137"/>
                    </a:srgbClr>
                  </a:outerShdw>
                </a:effectLst>
              </a:rPr>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a:ea typeface="ＭＳ Ｐゴシック" panose="020B0600070205080204" pitchFamily="34" charset="-128"/>
              </a:rPr>
              <a:t>Match+action</a:t>
            </a:r>
          </a:p>
          <a:p>
            <a:pPr lvl="1">
              <a:spcBef>
                <a:spcPts val="0"/>
              </a:spcBef>
            </a:pPr>
            <a:r>
              <a:rPr lang="en-US" altLang="en-US" sz="2800" dirty="0">
                <a:ea typeface="ＭＳ Ｐゴシック" panose="020B0600070205080204" pitchFamily="34" charset="-128"/>
              </a:rPr>
              <a:t>OpenFlow: match+action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lang="en-US" altLang="en-US" sz="3500" b="1" dirty="0">
                <a:solidFill>
                  <a:srgbClr val="C00000"/>
                </a:solidFill>
                <a:effectLst>
                  <a:outerShdw blurRad="38100" dist="38100" dir="2700000" algn="tl">
                    <a:srgbClr val="000000">
                      <a:alpha val="43137"/>
                    </a:srgbClr>
                  </a:outerShdw>
                </a:effectLst>
              </a:rPr>
              <a:t>sender</a:t>
            </a: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lang="en-US" altLang="en-US" sz="3500" b="1" dirty="0">
                <a:solidFill>
                  <a:srgbClr val="C00000"/>
                </a:solidFill>
                <a:effectLst>
                  <a:outerShdw blurRad="38100" dist="38100" dir="2700000" algn="tl">
                    <a:srgbClr val="000000">
                      <a:alpha val="43137"/>
                    </a:srgbClr>
                  </a:outerShdw>
                </a:effectLst>
              </a:rPr>
              <a:t>receiver</a:t>
            </a: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500" b="1" dirty="0">
                <a:solidFill>
                  <a:srgbClr val="C00000"/>
                </a:solidFill>
                <a:effectLst>
                  <a:outerShdw blurRad="38100" dist="38100" dir="2700000" algn="tl">
                    <a:srgbClr val="000000">
                      <a:alpha val="43137"/>
                    </a:srgbClr>
                  </a:outerShdw>
                </a:effectLst>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b="1" i="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forwarding</a:t>
            </a:r>
            <a:r>
              <a:rPr lang="en-US" altLang="en-US" i="1" dirty="0">
                <a:solidFill>
                  <a:srgbClr val="000099"/>
                </a:solidFill>
                <a:ea typeface="ＭＳ Ｐゴシック" panose="020B0600070205080204" pitchFamily="34" charset="-128"/>
                <a:cs typeface="ＭＳ Ｐゴシック" panose="020B0600070205080204" pitchFamily="34" charset="-128"/>
              </a:rPr>
              <a:t>:</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lang="en-US" altLang="en-US" b="1" i="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routing</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lang="en-US" sz="2800" b="1" i="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traditional routing algorithms</a:t>
            </a: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lang="en-US" sz="2800" b="1" i="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software-defined networking (SDN):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a:t>
            </a:r>
            <a:r>
              <a:rPr kumimoji="0" lang="en-US" alt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forwarding tables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b="1" i="1" dirty="0">
                <a:solidFill>
                  <a:srgbClr val="C00000"/>
                </a:solidFill>
                <a:effectLst>
                  <a:outerShdw blurRad="38100" dist="38100" dir="2700000" algn="tl">
                    <a:srgbClr val="000000">
                      <a:alpha val="43137"/>
                    </a:srgbClr>
                  </a:outerShdw>
                </a:effectLst>
              </a:rPr>
              <a:t>individual</a:t>
            </a:r>
            <a:r>
              <a:rPr lang="en-US" sz="3200" b="1" dirty="0">
                <a:solidFill>
                  <a:srgbClr val="C00000"/>
                </a:solidFill>
                <a:effectLst>
                  <a:outerShdw blurRad="38100" dist="38100" dir="2700000" algn="tl">
                    <a:srgbClr val="000000">
                      <a:alpha val="43137"/>
                    </a:srgbClr>
                  </a:outerShdw>
                </a:effectLst>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t>
            </a:r>
            <a:r>
              <a:rPr lang="en-US" altLang="en-US" sz="3200" b="1" dirty="0">
                <a:solidFill>
                  <a:srgbClr val="CC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a </a:t>
            </a:r>
            <a:r>
              <a:rPr lang="en-US" altLang="en-US" sz="3200" b="1" i="1" dirty="0">
                <a:solidFill>
                  <a:srgbClr val="CC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flow</a:t>
            </a:r>
            <a:r>
              <a:rPr lang="en-US" altLang="en-US" sz="3200" b="1" dirty="0">
                <a:solidFill>
                  <a:srgbClr val="CC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 of datagrams</a:t>
            </a:r>
            <a:r>
              <a:rPr lang="en-US" altLang="en-US" sz="3200" dirty="0">
                <a:solidFill>
                  <a:srgbClr val="CC0000"/>
                </a:solidFill>
                <a:ea typeface="ＭＳ Ｐゴシック" panose="020B0600070205080204" pitchFamily="34" charset="-128"/>
                <a:cs typeface="ＭＳ Ｐゴシック" panose="020B0600070205080204" pitchFamily="34" charset="-128"/>
              </a:rPr>
              <a:t>:</a:t>
            </a:r>
          </a:p>
          <a:p>
            <a:r>
              <a:rPr lang="en-US" altLang="en-US"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in-order </a:t>
            </a:r>
            <a:r>
              <a:rPr lang="en-US" altLang="en-US" dirty="0">
                <a:ea typeface="ＭＳ Ｐゴシック" panose="020B0600070205080204" pitchFamily="34" charset="-128"/>
                <a:cs typeface="ＭＳ Ｐゴシック" panose="020B0600070205080204" pitchFamily="34" charset="-128"/>
              </a:rPr>
              <a:t>datagram </a:t>
            </a:r>
            <a:r>
              <a:rPr lang="en-US" altLang="en-US"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delivery</a:t>
            </a:r>
          </a:p>
          <a:p>
            <a:r>
              <a:rPr lang="en-US" altLang="en-US"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guaranteed</a:t>
            </a:r>
            <a:r>
              <a:rPr lang="en-US" altLang="en-US" dirty="0">
                <a:ea typeface="ＭＳ Ｐゴシック" panose="020B0600070205080204" pitchFamily="34" charset="-128"/>
                <a:cs typeface="ＭＳ Ｐゴシック" panose="020B0600070205080204" pitchFamily="34" charset="-128"/>
              </a:rPr>
              <a:t> </a:t>
            </a:r>
            <a:r>
              <a:rPr lang="en-US" altLang="en-US"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minimum</a:t>
            </a:r>
            <a:r>
              <a:rPr lang="en-US" altLang="en-US" dirty="0">
                <a:ea typeface="ＭＳ Ｐゴシック" panose="020B0600070205080204" pitchFamily="34" charset="-128"/>
                <a:cs typeface="ＭＳ Ｐゴシック" panose="020B0600070205080204" pitchFamily="34" charset="-128"/>
              </a:rPr>
              <a:t> </a:t>
            </a:r>
            <a:r>
              <a:rPr lang="en-US" altLang="en-US"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bandwidth</a:t>
            </a:r>
            <a:r>
              <a:rPr lang="en-US" altLang="en-US" dirty="0">
                <a:ea typeface="ＭＳ Ｐゴシック" panose="020B0600070205080204" pitchFamily="34" charset="-128"/>
                <a:cs typeface="ＭＳ Ｐゴシック" panose="020B0600070205080204" pitchFamily="34" charset="-128"/>
              </a:rPr>
              <a:t> to flow</a:t>
            </a:r>
          </a:p>
          <a:p>
            <a:r>
              <a:rPr lang="en-US" altLang="en-US"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restrictions</a:t>
            </a:r>
            <a:r>
              <a:rPr lang="en-US" altLang="en-US" dirty="0">
                <a:ea typeface="ＭＳ Ｐゴシック" panose="020B0600070205080204" pitchFamily="34" charset="-128"/>
                <a:cs typeface="ＭＳ Ｐゴシック" panose="020B0600070205080204" pitchFamily="34" charset="-128"/>
              </a:rPr>
              <a:t> on </a:t>
            </a:r>
            <a:r>
              <a:rPr lang="en-US" altLang="en-US"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changes</a:t>
            </a:r>
            <a:r>
              <a:rPr lang="en-US" altLang="en-US" dirty="0">
                <a:ea typeface="ＭＳ Ｐゴシック" panose="020B0600070205080204" pitchFamily="34" charset="-128"/>
                <a:cs typeface="ＭＳ Ｐゴシック" panose="020B0600070205080204" pitchFamily="34" charset="-128"/>
              </a:rPr>
              <a:t>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b="1" dirty="0">
                <a:solidFill>
                  <a:srgbClr val="FF0000"/>
                </a:solidFill>
                <a:effectLst>
                  <a:outerShdw blurRad="38100" dist="38100" dir="2700000" algn="tl">
                    <a:srgbClr val="000000">
                      <a:alpha val="43137"/>
                    </a:srgbClr>
                  </a:outerShdw>
                </a:effectLst>
              </a:rPr>
              <a:t>simplicity of mechanism </a:t>
            </a:r>
            <a:r>
              <a:rPr lang="en-US" dirty="0"/>
              <a:t>has allowed Internet to be </a:t>
            </a:r>
            <a:r>
              <a:rPr lang="en-US" b="1" dirty="0">
                <a:solidFill>
                  <a:srgbClr val="FF0000"/>
                </a:solidFill>
                <a:effectLst>
                  <a:outerShdw blurRad="38100" dist="38100" dir="2700000" algn="tl">
                    <a:srgbClr val="000000">
                      <a:alpha val="43137"/>
                    </a:srgbClr>
                  </a:outerShdw>
                </a:effectLst>
              </a:rPr>
              <a:t>widely deployed adopted</a:t>
            </a:r>
          </a:p>
          <a:p>
            <a:pPr>
              <a:buFont typeface="Wingdings" charset="2"/>
              <a:buChar char="§"/>
              <a:defRPr/>
            </a:pPr>
            <a:r>
              <a:rPr lang="en-US" b="1" dirty="0">
                <a:solidFill>
                  <a:srgbClr val="FF0000"/>
                </a:solidFill>
                <a:effectLst>
                  <a:outerShdw blurRad="38100" dist="38100" dir="2700000" algn="tl">
                    <a:srgbClr val="000000">
                      <a:alpha val="43137"/>
                    </a:srgbClr>
                  </a:outerShdw>
                </a:effectLst>
              </a:rPr>
              <a:t>sufficient provisioning of bandwidth </a:t>
            </a:r>
            <a:r>
              <a:rPr lang="en-US" dirty="0"/>
              <a:t>allows </a:t>
            </a:r>
            <a:r>
              <a:rPr lang="en-US" b="1" dirty="0">
                <a:solidFill>
                  <a:srgbClr val="FF0000"/>
                </a:solidFill>
                <a:effectLst>
                  <a:outerShdw blurRad="38100" dist="38100" dir="2700000" algn="tl">
                    <a:srgbClr val="000000">
                      <a:alpha val="43137"/>
                    </a:srgbClr>
                  </a:outerShdw>
                </a:effectLst>
              </a:rPr>
              <a:t>performance of real-time applications</a:t>
            </a:r>
            <a:r>
              <a:rPr lang="en-US" dirty="0"/>
              <a:t> (e.g., interactive voice, video) to be “good enough” for “most of the time”</a:t>
            </a:r>
          </a:p>
          <a:p>
            <a:pPr>
              <a:buFont typeface="Wingdings" charset="2"/>
              <a:buChar char="§"/>
              <a:defRPr/>
            </a:pPr>
            <a:r>
              <a:rPr lang="en-US" b="1" dirty="0">
                <a:solidFill>
                  <a:srgbClr val="FF0000"/>
                </a:solidFill>
                <a:effectLst>
                  <a:outerShdw blurRad="38100" dist="38100" dir="2700000" algn="tl">
                    <a:srgbClr val="000000">
                      <a:alpha val="43137"/>
                    </a:srgbClr>
                  </a:outerShdw>
                </a:effectLst>
              </a:rPr>
              <a:t>replicated, application-layer distributed services </a:t>
            </a:r>
            <a:r>
              <a:rPr lang="en-US" dirty="0"/>
              <a:t>(datacenters, content distribution networks) connecting close to clients’ networks, allow </a:t>
            </a:r>
            <a:r>
              <a:rPr lang="en-US" b="1" dirty="0">
                <a:solidFill>
                  <a:srgbClr val="FF0000"/>
                </a:solidFill>
                <a:effectLst>
                  <a:outerShdw blurRad="38100" dist="38100" dir="2700000" algn="tl">
                    <a:srgbClr val="000000">
                      <a:alpha val="43137"/>
                    </a:srgbClr>
                  </a:outerShdw>
                </a:effectLst>
              </a:rPr>
              <a:t>services to be provided from multiple locations</a:t>
            </a:r>
          </a:p>
          <a:p>
            <a:pPr>
              <a:buFont typeface="Wingdings" charset="2"/>
              <a:buChar char="§"/>
              <a:defRPr/>
            </a:pPr>
            <a:r>
              <a:rPr lang="en-US" b="1" dirty="0">
                <a:solidFill>
                  <a:srgbClr val="FF0000"/>
                </a:solidFill>
                <a:effectLst>
                  <a:outerShdw blurRad="38100" dist="38100" dir="2700000" algn="tl">
                    <a:srgbClr val="000000">
                      <a:alpha val="43137"/>
                    </a:srgbClr>
                  </a:outerShdw>
                </a:effectLst>
              </a:rPr>
              <a:t>congestion control </a:t>
            </a:r>
            <a:r>
              <a:rPr lang="en-US" dirty="0"/>
              <a:t>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4" name="Rectangle 9">
            <a:extLst>
              <a:ext uri="{FF2B5EF4-FFF2-40B4-BE49-F238E27FC236}">
                <a16:creationId xmlns:a16="http://schemas.microsoft.com/office/drawing/2014/main" id="{E4690020-A5BE-9A75-DB98-6FDFED57743D}"/>
              </a:ext>
            </a:extLst>
          </p:cNvPr>
          <p:cNvSpPr>
            <a:spLocks noChangeArrowheads="1"/>
          </p:cNvSpPr>
          <p:nvPr/>
        </p:nvSpPr>
        <p:spPr bwMode="auto">
          <a:xfrm>
            <a:off x="781050" y="5234799"/>
            <a:ext cx="3467652" cy="56673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105" name="Group 2104">
            <a:extLst>
              <a:ext uri="{FF2B5EF4-FFF2-40B4-BE49-F238E27FC236}">
                <a16:creationId xmlns:a16="http://schemas.microsoft.com/office/drawing/2014/main" id="{9B5F42F9-12A2-88C1-0FB6-D7D32C62014D}"/>
              </a:ext>
            </a:extLst>
          </p:cNvPr>
          <p:cNvGrpSpPr/>
          <p:nvPr/>
        </p:nvGrpSpPr>
        <p:grpSpPr>
          <a:xfrm>
            <a:off x="2081771" y="5249835"/>
            <a:ext cx="2100020" cy="525818"/>
            <a:chOff x="1075103" y="3385874"/>
            <a:chExt cx="3106688" cy="777875"/>
          </a:xfrm>
        </p:grpSpPr>
        <p:sp>
          <p:nvSpPr>
            <p:cNvPr id="2106" name="Oval 56">
              <a:extLst>
                <a:ext uri="{FF2B5EF4-FFF2-40B4-BE49-F238E27FC236}">
                  <a16:creationId xmlns:a16="http://schemas.microsoft.com/office/drawing/2014/main" id="{CCF4479F-26B3-4850-9A0C-88748674543C}"/>
                </a:ext>
              </a:extLst>
            </p:cNvPr>
            <p:cNvSpPr>
              <a:spLocks noChangeArrowheads="1"/>
            </p:cNvSpPr>
            <p:nvPr/>
          </p:nvSpPr>
          <p:spPr bwMode="auto">
            <a:xfrm>
              <a:off x="1919603"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107" name="Oval 57">
              <a:extLst>
                <a:ext uri="{FF2B5EF4-FFF2-40B4-BE49-F238E27FC236}">
                  <a16:creationId xmlns:a16="http://schemas.microsoft.com/office/drawing/2014/main" id="{6F273346-903A-CD7E-30CF-190E4C50CDFB}"/>
                </a:ext>
              </a:extLst>
            </p:cNvPr>
            <p:cNvSpPr>
              <a:spLocks noChangeArrowheads="1"/>
            </p:cNvSpPr>
            <p:nvPr/>
          </p:nvSpPr>
          <p:spPr bwMode="auto">
            <a:xfrm>
              <a:off x="2106509"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108" name="Oval 58">
              <a:extLst>
                <a:ext uri="{FF2B5EF4-FFF2-40B4-BE49-F238E27FC236}">
                  <a16:creationId xmlns:a16="http://schemas.microsoft.com/office/drawing/2014/main" id="{D88DFD13-D757-5BD4-B886-EF22C20A1D12}"/>
                </a:ext>
              </a:extLst>
            </p:cNvPr>
            <p:cNvSpPr>
              <a:spLocks noChangeArrowheads="1"/>
            </p:cNvSpPr>
            <p:nvPr/>
          </p:nvSpPr>
          <p:spPr bwMode="auto">
            <a:xfrm>
              <a:off x="2295841"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109" name="Group 61">
              <a:extLst>
                <a:ext uri="{FF2B5EF4-FFF2-40B4-BE49-F238E27FC236}">
                  <a16:creationId xmlns:a16="http://schemas.microsoft.com/office/drawing/2014/main" id="{232598BD-EDEC-C491-4C38-D843E37EFE29}"/>
                </a:ext>
              </a:extLst>
            </p:cNvPr>
            <p:cNvGrpSpPr>
              <a:grpSpLocks/>
            </p:cNvGrpSpPr>
            <p:nvPr/>
          </p:nvGrpSpPr>
          <p:grpSpPr bwMode="auto">
            <a:xfrm>
              <a:off x="3723003" y="3385874"/>
              <a:ext cx="458788" cy="777875"/>
              <a:chOff x="2365" y="1352"/>
              <a:chExt cx="1022" cy="1616"/>
            </a:xfrm>
          </p:grpSpPr>
          <p:sp>
            <p:nvSpPr>
              <p:cNvPr id="2113" name="Rectangle 63">
                <a:extLst>
                  <a:ext uri="{FF2B5EF4-FFF2-40B4-BE49-F238E27FC236}">
                    <a16:creationId xmlns:a16="http://schemas.microsoft.com/office/drawing/2014/main" id="{57A8C802-3270-58FF-F88A-801DB0262E39}"/>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114" name="Picture 62">
                <a:extLst>
                  <a:ext uri="{FF2B5EF4-FFF2-40B4-BE49-F238E27FC236}">
                    <a16:creationId xmlns:a16="http://schemas.microsoft.com/office/drawing/2014/main" id="{12C09DCF-9156-D248-D00D-763044D1B2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110" name="Picture 2" descr="Icon Car Symbol - Free image on Pixabay">
              <a:extLst>
                <a:ext uri="{FF2B5EF4-FFF2-40B4-BE49-F238E27FC236}">
                  <a16:creationId xmlns:a16="http://schemas.microsoft.com/office/drawing/2014/main" id="{5B2B41B7-687B-EA0B-3ADA-004FCAF8AE8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5103" y="3496676"/>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111" name="Picture 2" descr="Icon Car Symbol - Free image on Pixabay">
              <a:extLst>
                <a:ext uri="{FF2B5EF4-FFF2-40B4-BE49-F238E27FC236}">
                  <a16:creationId xmlns:a16="http://schemas.microsoft.com/office/drawing/2014/main" id="{FA02EBD0-43F6-5F0E-B166-334E268F43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2724" y="3494137"/>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112" name="Picture 2" descr="Icon Car Symbol - Free image on Pixabay">
              <a:extLst>
                <a:ext uri="{FF2B5EF4-FFF2-40B4-BE49-F238E27FC236}">
                  <a16:creationId xmlns:a16="http://schemas.microsoft.com/office/drawing/2014/main" id="{F51474BE-02B9-9991-08E2-29A41C242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87660" y="3494873"/>
              <a:ext cx="875228" cy="592631"/>
            </a:xfrm>
            <a:prstGeom prst="rect">
              <a:avLst/>
            </a:prstGeom>
            <a:noFill/>
            <a:extLst>
              <a:ext uri="{909E8E84-426E-40DD-AFC4-6F175D3DCCD1}">
                <a14:hiddenFill xmlns:a14="http://schemas.microsoft.com/office/drawing/2010/main">
                  <a:solidFill>
                    <a:srgbClr val="FFFFFF"/>
                  </a:solidFill>
                </a14:hiddenFill>
              </a:ext>
            </a:extLst>
          </p:spPr>
        </p:pic>
      </p:grpSp>
      <p:sp>
        <p:nvSpPr>
          <p:cNvPr id="2115" name="Rectangle 5">
            <a:extLst>
              <a:ext uri="{FF2B5EF4-FFF2-40B4-BE49-F238E27FC236}">
                <a16:creationId xmlns:a16="http://schemas.microsoft.com/office/drawing/2014/main" id="{A70D1849-FF81-013D-BFA9-A498D3886972}"/>
              </a:ext>
            </a:extLst>
          </p:cNvPr>
          <p:cNvSpPr>
            <a:spLocks noChangeArrowheads="1"/>
          </p:cNvSpPr>
          <p:nvPr/>
        </p:nvSpPr>
        <p:spPr bwMode="auto">
          <a:xfrm>
            <a:off x="854541" y="5385611"/>
            <a:ext cx="462428" cy="255587"/>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16" name="Rectangle 6">
            <a:extLst>
              <a:ext uri="{FF2B5EF4-FFF2-40B4-BE49-F238E27FC236}">
                <a16:creationId xmlns:a16="http://schemas.microsoft.com/office/drawing/2014/main" id="{62AAB046-E291-3545-96B5-70D4B532E6F6}"/>
              </a:ext>
            </a:extLst>
          </p:cNvPr>
          <p:cNvSpPr>
            <a:spLocks noChangeArrowheads="1"/>
          </p:cNvSpPr>
          <p:nvPr/>
        </p:nvSpPr>
        <p:spPr bwMode="auto">
          <a:xfrm>
            <a:off x="1382835" y="5284011"/>
            <a:ext cx="374608" cy="434975"/>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17" name="Line 16">
            <a:extLst>
              <a:ext uri="{FF2B5EF4-FFF2-40B4-BE49-F238E27FC236}">
                <a16:creationId xmlns:a16="http://schemas.microsoft.com/office/drawing/2014/main" id="{48C748F8-8E1B-9EE2-9B35-089CFBC7D980}"/>
              </a:ext>
            </a:extLst>
          </p:cNvPr>
          <p:cNvSpPr>
            <a:spLocks noChangeShapeType="1"/>
          </p:cNvSpPr>
          <p:nvPr/>
        </p:nvSpPr>
        <p:spPr bwMode="auto">
          <a:xfrm>
            <a:off x="723900" y="5518603"/>
            <a:ext cx="133350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9" name="Rectangle 9">
            <a:extLst>
              <a:ext uri="{FF2B5EF4-FFF2-40B4-BE49-F238E27FC236}">
                <a16:creationId xmlns:a16="http://schemas.microsoft.com/office/drawing/2014/main" id="{57A202F4-8007-6DCE-12B1-19FA494F02A0}"/>
              </a:ext>
            </a:extLst>
          </p:cNvPr>
          <p:cNvSpPr>
            <a:spLocks noChangeArrowheads="1"/>
          </p:cNvSpPr>
          <p:nvPr/>
        </p:nvSpPr>
        <p:spPr bwMode="auto">
          <a:xfrm>
            <a:off x="781050" y="3594860"/>
            <a:ext cx="3467652" cy="56673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analogy</a:t>
            </a:r>
            <a:r>
              <a:rPr kumimoji="0" lang="en-US" altLang="en-US" sz="3200" b="0" i="0" u="none" strike="noStrike" kern="1200" cap="none" spc="0" normalizeH="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5" y="3466272"/>
            <a:ext cx="1609726"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501" y="3137"/>
              <a:ext cx="851"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roundabout</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66306" y="2545522"/>
              <a:ext cx="1095172"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Station</a:t>
              </a:r>
              <a:b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manager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691866" y="5904419"/>
            <a:ext cx="15568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entry stations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7041345" y="5904419"/>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exit roads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p:cNvCxnSpPr>
          <p:nvPr/>
        </p:nvCxnSpPr>
        <p:spPr bwMode="auto">
          <a:xfrm rot="5400000">
            <a:off x="3747424" y="3137191"/>
            <a:ext cx="810373" cy="135036"/>
          </a:xfrm>
          <a:prstGeom prst="bentConnector3">
            <a:avLst>
              <a:gd name="adj1" fmla="val -1717"/>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pic>
        <p:nvPicPr>
          <p:cNvPr id="2050" name="Picture 2">
            <a:extLst>
              <a:ext uri="{FF2B5EF4-FFF2-40B4-BE49-F238E27FC236}">
                <a16:creationId xmlns:a16="http://schemas.microsoft.com/office/drawing/2014/main" id="{B5EBAC66-81BD-39AF-AA8E-06B2B95FF01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2428" y="2423794"/>
            <a:ext cx="868613" cy="868613"/>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a:extLst>
              <a:ext uri="{FF2B5EF4-FFF2-40B4-BE49-F238E27FC236}">
                <a16:creationId xmlns:a16="http://schemas.microsoft.com/office/drawing/2014/main" id="{06CADFF9-ECDB-9F6B-6337-E6333BCEDF9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2559109">
            <a:off x="4406440" y="3848766"/>
            <a:ext cx="1471200" cy="1471200"/>
          </a:xfrm>
          <a:prstGeom prst="rect">
            <a:avLst/>
          </a:prstGeom>
          <a:noFill/>
          <a:extLst>
            <a:ext uri="{909E8E84-426E-40DD-AFC4-6F175D3DCCD1}">
              <a14:hiddenFill xmlns:a14="http://schemas.microsoft.com/office/drawing/2010/main">
                <a:solidFill>
                  <a:srgbClr val="FFFFFF"/>
                </a:solidFill>
              </a14:hiddenFill>
            </a:ext>
          </a:extLst>
        </p:spPr>
      </p:pic>
      <p:grpSp>
        <p:nvGrpSpPr>
          <p:cNvPr id="2061" name="Group 2060">
            <a:extLst>
              <a:ext uri="{FF2B5EF4-FFF2-40B4-BE49-F238E27FC236}">
                <a16:creationId xmlns:a16="http://schemas.microsoft.com/office/drawing/2014/main" id="{90495C94-56D7-B758-6A5D-797C35A24AB3}"/>
              </a:ext>
            </a:extLst>
          </p:cNvPr>
          <p:cNvGrpSpPr/>
          <p:nvPr/>
        </p:nvGrpSpPr>
        <p:grpSpPr>
          <a:xfrm>
            <a:off x="2081771" y="3609896"/>
            <a:ext cx="2100020" cy="525818"/>
            <a:chOff x="1075103" y="3385874"/>
            <a:chExt cx="3106688" cy="777875"/>
          </a:xfrm>
        </p:grpSpPr>
        <p:sp>
          <p:nvSpPr>
            <p:cNvPr id="5" name="Oval 56">
              <a:extLst>
                <a:ext uri="{FF2B5EF4-FFF2-40B4-BE49-F238E27FC236}">
                  <a16:creationId xmlns:a16="http://schemas.microsoft.com/office/drawing/2014/main" id="{D6CA211A-6043-3A97-C082-C2A2DB1B2720}"/>
                </a:ext>
              </a:extLst>
            </p:cNvPr>
            <p:cNvSpPr>
              <a:spLocks noChangeArrowheads="1"/>
            </p:cNvSpPr>
            <p:nvPr/>
          </p:nvSpPr>
          <p:spPr bwMode="auto">
            <a:xfrm>
              <a:off x="1919603"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Oval 57">
              <a:extLst>
                <a:ext uri="{FF2B5EF4-FFF2-40B4-BE49-F238E27FC236}">
                  <a16:creationId xmlns:a16="http://schemas.microsoft.com/office/drawing/2014/main" id="{4A355447-9316-5A91-1F91-AE4096C24601}"/>
                </a:ext>
              </a:extLst>
            </p:cNvPr>
            <p:cNvSpPr>
              <a:spLocks noChangeArrowheads="1"/>
            </p:cNvSpPr>
            <p:nvPr/>
          </p:nvSpPr>
          <p:spPr bwMode="auto">
            <a:xfrm>
              <a:off x="2106509"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 name="Oval 58">
              <a:extLst>
                <a:ext uri="{FF2B5EF4-FFF2-40B4-BE49-F238E27FC236}">
                  <a16:creationId xmlns:a16="http://schemas.microsoft.com/office/drawing/2014/main" id="{9730B940-4984-7E01-6E0B-D4CE52773FB3}"/>
                </a:ext>
              </a:extLst>
            </p:cNvPr>
            <p:cNvSpPr>
              <a:spLocks noChangeArrowheads="1"/>
            </p:cNvSpPr>
            <p:nvPr/>
          </p:nvSpPr>
          <p:spPr bwMode="auto">
            <a:xfrm>
              <a:off x="2295841"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8" name="Group 61">
              <a:extLst>
                <a:ext uri="{FF2B5EF4-FFF2-40B4-BE49-F238E27FC236}">
                  <a16:creationId xmlns:a16="http://schemas.microsoft.com/office/drawing/2014/main" id="{45F70913-BD15-9506-6063-CC3BE421BDC5}"/>
                </a:ext>
              </a:extLst>
            </p:cNvPr>
            <p:cNvGrpSpPr>
              <a:grpSpLocks/>
            </p:cNvGrpSpPr>
            <p:nvPr/>
          </p:nvGrpSpPr>
          <p:grpSpPr bwMode="auto">
            <a:xfrm>
              <a:off x="3723003" y="3385874"/>
              <a:ext cx="458788" cy="777875"/>
              <a:chOff x="2365" y="1352"/>
              <a:chExt cx="1022" cy="1616"/>
            </a:xfrm>
          </p:grpSpPr>
          <p:sp>
            <p:nvSpPr>
              <p:cNvPr id="10" name="Rectangle 63">
                <a:extLst>
                  <a:ext uri="{FF2B5EF4-FFF2-40B4-BE49-F238E27FC236}">
                    <a16:creationId xmlns:a16="http://schemas.microsoft.com/office/drawing/2014/main" id="{F7FEBEFF-CDEC-A37D-2AC9-AF3CCF3DD735}"/>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9" name="Picture 62">
                <a:extLst>
                  <a:ext uri="{FF2B5EF4-FFF2-40B4-BE49-F238E27FC236}">
                    <a16:creationId xmlns:a16="http://schemas.microsoft.com/office/drawing/2014/main" id="{53EDF458-D38C-20DC-6133-13E7C766A6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3" name="Picture 2" descr="Icon Car Symbol - Free image on Pixabay">
              <a:extLst>
                <a:ext uri="{FF2B5EF4-FFF2-40B4-BE49-F238E27FC236}">
                  <a16:creationId xmlns:a16="http://schemas.microsoft.com/office/drawing/2014/main" id="{E7F1ABDC-F218-33BB-1D9E-A175B2F77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5103" y="3496676"/>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048" name="Picture 2" descr="Icon Car Symbol - Free image on Pixabay">
              <a:extLst>
                <a:ext uri="{FF2B5EF4-FFF2-40B4-BE49-F238E27FC236}">
                  <a16:creationId xmlns:a16="http://schemas.microsoft.com/office/drawing/2014/main" id="{446F6992-85FD-FDE8-C886-4927F1ED88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2724" y="3494137"/>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049" name="Picture 2" descr="Icon Car Symbol - Free image on Pixabay">
              <a:extLst>
                <a:ext uri="{FF2B5EF4-FFF2-40B4-BE49-F238E27FC236}">
                  <a16:creationId xmlns:a16="http://schemas.microsoft.com/office/drawing/2014/main" id="{FFB7A3F4-5EF5-32A5-9077-6AA3366757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87660" y="3494873"/>
              <a:ext cx="875228" cy="592631"/>
            </a:xfrm>
            <a:prstGeom prst="rect">
              <a:avLst/>
            </a:prstGeom>
            <a:noFill/>
            <a:extLst>
              <a:ext uri="{909E8E84-426E-40DD-AFC4-6F175D3DCCD1}">
                <a14:hiddenFill xmlns:a14="http://schemas.microsoft.com/office/drawing/2010/main">
                  <a:solidFill>
                    <a:srgbClr val="FFFFFF"/>
                  </a:solidFill>
                </a14:hiddenFill>
              </a:ext>
            </a:extLst>
          </p:spPr>
        </p:pic>
      </p:grpSp>
      <p:sp>
        <p:nvSpPr>
          <p:cNvPr id="2084" name="Rounded Rectangular Callout 2083">
            <a:extLst>
              <a:ext uri="{FF2B5EF4-FFF2-40B4-BE49-F238E27FC236}">
                <a16:creationId xmlns:a16="http://schemas.microsoft.com/office/drawing/2014/main" id="{14F84786-EAA5-0C84-CC42-974816FF3281}"/>
              </a:ext>
            </a:extLst>
          </p:cNvPr>
          <p:cNvSpPr/>
          <p:nvPr/>
        </p:nvSpPr>
        <p:spPr>
          <a:xfrm>
            <a:off x="2826003" y="2495971"/>
            <a:ext cx="858940" cy="1030267"/>
          </a:xfrm>
          <a:prstGeom prst="wedgeRoundRectCallout">
            <a:avLst>
              <a:gd name="adj1" fmla="val 59671"/>
              <a:gd name="adj2" fmla="val 36443"/>
              <a:gd name="adj3" fmla="val 16667"/>
            </a:avLst>
          </a:prstGeom>
          <a:ln w="25400">
            <a:solidFill>
              <a:schemeClr val="tx1">
                <a:lumMod val="95000"/>
                <a:lumOff val="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endParaRPr lang="en-US" dirty="0"/>
          </a:p>
        </p:txBody>
      </p:sp>
      <p:pic>
        <p:nvPicPr>
          <p:cNvPr id="2086" name="Picture 8">
            <a:extLst>
              <a:ext uri="{FF2B5EF4-FFF2-40B4-BE49-F238E27FC236}">
                <a16:creationId xmlns:a16="http://schemas.microsoft.com/office/drawing/2014/main" id="{C2D86D17-8779-C84B-BD77-118A24FCAEB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9173" y="2584770"/>
            <a:ext cx="837237" cy="837237"/>
          </a:xfrm>
          <a:prstGeom prst="rect">
            <a:avLst/>
          </a:prstGeom>
          <a:noFill/>
          <a:extLst>
            <a:ext uri="{909E8E84-426E-40DD-AFC4-6F175D3DCCD1}">
              <a14:hiddenFill xmlns:a14="http://schemas.microsoft.com/office/drawing/2010/main">
                <a:solidFill>
                  <a:srgbClr val="FFFFFF"/>
                </a:solidFill>
              </a14:hiddenFill>
            </a:ext>
          </a:extLst>
        </p:spPr>
      </p:pic>
      <p:sp>
        <p:nvSpPr>
          <p:cNvPr id="2093" name="Rectangle 5">
            <a:extLst>
              <a:ext uri="{FF2B5EF4-FFF2-40B4-BE49-F238E27FC236}">
                <a16:creationId xmlns:a16="http://schemas.microsoft.com/office/drawing/2014/main" id="{5D76668E-E7B3-3BFD-D9E2-694E8B9F1A8B}"/>
              </a:ext>
            </a:extLst>
          </p:cNvPr>
          <p:cNvSpPr>
            <a:spLocks noChangeArrowheads="1"/>
          </p:cNvSpPr>
          <p:nvPr/>
        </p:nvSpPr>
        <p:spPr bwMode="auto">
          <a:xfrm>
            <a:off x="854541" y="3745672"/>
            <a:ext cx="462428" cy="255587"/>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94" name="Rectangle 6">
            <a:extLst>
              <a:ext uri="{FF2B5EF4-FFF2-40B4-BE49-F238E27FC236}">
                <a16:creationId xmlns:a16="http://schemas.microsoft.com/office/drawing/2014/main" id="{A73CB39C-EBEE-D5E3-8772-ADFBB9E0B5DB}"/>
              </a:ext>
            </a:extLst>
          </p:cNvPr>
          <p:cNvSpPr>
            <a:spLocks noChangeArrowheads="1"/>
          </p:cNvSpPr>
          <p:nvPr/>
        </p:nvSpPr>
        <p:spPr bwMode="auto">
          <a:xfrm>
            <a:off x="1382835" y="3644072"/>
            <a:ext cx="374608" cy="434975"/>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02" name="Line 16">
            <a:extLst>
              <a:ext uri="{FF2B5EF4-FFF2-40B4-BE49-F238E27FC236}">
                <a16:creationId xmlns:a16="http://schemas.microsoft.com/office/drawing/2014/main" id="{DA05E78B-7044-62E9-E0ED-B23C4264C1C3}"/>
              </a:ext>
            </a:extLst>
          </p:cNvPr>
          <p:cNvSpPr>
            <a:spLocks noChangeShapeType="1"/>
          </p:cNvSpPr>
          <p:nvPr/>
        </p:nvSpPr>
        <p:spPr bwMode="auto">
          <a:xfrm>
            <a:off x="723900" y="3878664"/>
            <a:ext cx="133350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725489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1"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lang="en-US" altLang="en-US" sz="2400" b="1" kern="0"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lookup</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lang="en-US" altLang="en-US" sz="2400" b="1" kern="0" dirty="0">
                    <a:solidFill>
                      <a:srgbClr val="FF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input port queuing</a:t>
                </a: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grpSp>
        <p:nvGrpSpPr>
          <p:cNvPr id="14" name="Group 13">
            <a:extLst>
              <a:ext uri="{FF2B5EF4-FFF2-40B4-BE49-F238E27FC236}">
                <a16:creationId xmlns:a16="http://schemas.microsoft.com/office/drawing/2014/main" id="{9D2B58EA-90EB-22DC-70F2-0EE6BCA02F30}"/>
              </a:ext>
            </a:extLst>
          </p:cNvPr>
          <p:cNvGrpSpPr/>
          <p:nvPr/>
        </p:nvGrpSpPr>
        <p:grpSpPr>
          <a:xfrm>
            <a:off x="1199417" y="5446716"/>
            <a:ext cx="2137372" cy="695498"/>
            <a:chOff x="646967" y="5446716"/>
            <a:chExt cx="2137372" cy="695498"/>
          </a:xfrm>
        </p:grpSpPr>
        <p:pic>
          <p:nvPicPr>
            <p:cNvPr id="9" name="Picture 8" descr="Icon&#10;&#10;Description automatically generated">
              <a:extLst>
                <a:ext uri="{FF2B5EF4-FFF2-40B4-BE49-F238E27FC236}">
                  <a16:creationId xmlns:a16="http://schemas.microsoft.com/office/drawing/2014/main" id="{4CC8409D-09E5-7BEE-7B96-571D305DC6E4}"/>
                </a:ext>
              </a:extLst>
            </p:cNvPr>
            <p:cNvPicPr>
              <a:picLocks noChangeAspect="1"/>
            </p:cNvPicPr>
            <p:nvPr/>
          </p:nvPicPr>
          <p:blipFill>
            <a:blip r:embed="rId3"/>
            <a:stretch>
              <a:fillRect/>
            </a:stretch>
          </p:blipFill>
          <p:spPr>
            <a:xfrm>
              <a:off x="646967" y="5446716"/>
              <a:ext cx="505593" cy="695498"/>
            </a:xfrm>
            <a:prstGeom prst="rect">
              <a:avLst/>
            </a:prstGeom>
          </p:spPr>
        </p:pic>
        <p:sp>
          <p:nvSpPr>
            <p:cNvPr id="11" name="TextBox 10">
              <a:extLst>
                <a:ext uri="{FF2B5EF4-FFF2-40B4-BE49-F238E27FC236}">
                  <a16:creationId xmlns:a16="http://schemas.microsoft.com/office/drawing/2014/main" id="{606794DD-4CEC-4221-126D-5947BA568F5C}"/>
                </a:ext>
              </a:extLst>
            </p:cNvPr>
            <p:cNvSpPr txBox="1"/>
            <p:nvPr/>
          </p:nvSpPr>
          <p:spPr>
            <a:xfrm>
              <a:off x="1171610" y="5609799"/>
              <a:ext cx="1612729" cy="369332"/>
            </a:xfrm>
            <a:prstGeom prst="rect">
              <a:avLst/>
            </a:prstGeom>
            <a:noFill/>
          </p:spPr>
          <p:txBody>
            <a:bodyPr wrap="square">
              <a:spAutoFit/>
            </a:bodyPr>
            <a:lstStyle/>
            <a:p>
              <a:r>
                <a:rPr lang="en-US" altLang="en-US" kern="0" dirty="0">
                  <a:solidFill>
                    <a:srgbClr val="000000"/>
                  </a:solidFill>
                  <a:latin typeface="Calibri" panose="020F0502020204030204"/>
                  <a:ea typeface="ＭＳ Ｐゴシック" panose="020B0600070205080204" pitchFamily="34" charset="-128"/>
                </a:rPr>
                <a:t>F</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rame</a:t>
              </a:r>
              <a:endParaRPr lang="en-US" dirty="0"/>
            </a:p>
          </p:txBody>
        </p:sp>
      </p:grpSp>
      <p:grpSp>
        <p:nvGrpSpPr>
          <p:cNvPr id="17" name="Group 16">
            <a:extLst>
              <a:ext uri="{FF2B5EF4-FFF2-40B4-BE49-F238E27FC236}">
                <a16:creationId xmlns:a16="http://schemas.microsoft.com/office/drawing/2014/main" id="{00106228-C860-72EA-13E6-FF5F1BE226A2}"/>
              </a:ext>
            </a:extLst>
          </p:cNvPr>
          <p:cNvGrpSpPr/>
          <p:nvPr/>
        </p:nvGrpSpPr>
        <p:grpSpPr>
          <a:xfrm>
            <a:off x="6844333" y="2806194"/>
            <a:ext cx="2235870" cy="1007085"/>
            <a:chOff x="6844333" y="2806194"/>
            <a:chExt cx="2235870" cy="1007085"/>
          </a:xfrm>
        </p:grpSpPr>
        <p:sp>
          <p:nvSpPr>
            <p:cNvPr id="16" name="Rounded Rectangular Callout 15">
              <a:extLst>
                <a:ext uri="{FF2B5EF4-FFF2-40B4-BE49-F238E27FC236}">
                  <a16:creationId xmlns:a16="http://schemas.microsoft.com/office/drawing/2014/main" id="{1490BC80-40CE-40B9-5D35-8D5390035C0E}"/>
                </a:ext>
              </a:extLst>
            </p:cNvPr>
            <p:cNvSpPr/>
            <p:nvPr/>
          </p:nvSpPr>
          <p:spPr>
            <a:xfrm>
              <a:off x="6844333" y="2806194"/>
              <a:ext cx="1779588" cy="1007085"/>
            </a:xfrm>
            <a:prstGeom prst="wedgeRoundRectCallout">
              <a:avLst>
                <a:gd name="adj1" fmla="val -64240"/>
                <a:gd name="adj2" fmla="val -54353"/>
                <a:gd name="adj3" fmla="val 16667"/>
              </a:avLst>
            </a:prstGeom>
            <a:ln w="25400">
              <a:solidFill>
                <a:schemeClr val="tx1">
                  <a:lumMod val="95000"/>
                  <a:lumOff val="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endParaRPr lang="en-US" dirty="0"/>
            </a:p>
          </p:txBody>
        </p:sp>
        <p:pic>
          <p:nvPicPr>
            <p:cNvPr id="12" name="Picture 11" descr="Icon&#10;&#10;Description automatically generated">
              <a:extLst>
                <a:ext uri="{FF2B5EF4-FFF2-40B4-BE49-F238E27FC236}">
                  <a16:creationId xmlns:a16="http://schemas.microsoft.com/office/drawing/2014/main" id="{62B92C9B-3280-B0FC-57E4-90B0C0B4A79C}"/>
                </a:ext>
              </a:extLst>
            </p:cNvPr>
            <p:cNvPicPr>
              <a:picLocks noChangeAspect="1"/>
            </p:cNvPicPr>
            <p:nvPr/>
          </p:nvPicPr>
          <p:blipFill>
            <a:blip r:embed="rId4"/>
            <a:stretch>
              <a:fillRect/>
            </a:stretch>
          </p:blipFill>
          <p:spPr>
            <a:xfrm>
              <a:off x="6962236" y="2971427"/>
              <a:ext cx="451829" cy="621665"/>
            </a:xfrm>
            <a:prstGeom prst="rect">
              <a:avLst/>
            </a:prstGeom>
          </p:spPr>
        </p:pic>
        <p:sp>
          <p:nvSpPr>
            <p:cNvPr id="13" name="TextBox 12">
              <a:extLst>
                <a:ext uri="{FF2B5EF4-FFF2-40B4-BE49-F238E27FC236}">
                  <a16:creationId xmlns:a16="http://schemas.microsoft.com/office/drawing/2014/main" id="{8302DA1C-B2FD-2081-47D6-966E745AB1A0}"/>
                </a:ext>
              </a:extLst>
            </p:cNvPr>
            <p:cNvSpPr txBox="1"/>
            <p:nvPr/>
          </p:nvSpPr>
          <p:spPr>
            <a:xfrm>
              <a:off x="7467474" y="3131380"/>
              <a:ext cx="1612729" cy="369332"/>
            </a:xfrm>
            <a:prstGeom prst="rect">
              <a:avLst/>
            </a:prstGeom>
            <a:noFill/>
          </p:spPr>
          <p:txBody>
            <a:bodyPr wrap="square">
              <a:spAutoFit/>
            </a:bodyPr>
            <a:lstStyle/>
            <a:p>
              <a:r>
                <a:rPr lang="en-US" kern="0" dirty="0">
                  <a:solidFill>
                    <a:srgbClr val="000000"/>
                  </a:solidFill>
                  <a:latin typeface="Calibri" panose="020F0502020204030204"/>
                  <a:ea typeface="ＭＳ Ｐゴシック" panose="020B0600070205080204" pitchFamily="34" charset="-128"/>
                </a:rPr>
                <a:t>Datagram</a:t>
              </a:r>
              <a:endParaRPr lang="en-US" dirty="0"/>
            </a:p>
          </p:txBody>
        </p:sp>
      </p:grpSp>
    </p:spTree>
    <p:extLst>
      <p:ext uri="{BB962C8B-B14F-4D97-AF65-F5344CB8AC3E}">
        <p14:creationId xmlns:p14="http://schemas.microsoft.com/office/powerpoint/2010/main" val="215488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a:t>
            </a:r>
            <a:r>
              <a:rPr lang="en-US" altLang="en-US" sz="3200"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3200" b="1" dirty="0">
                <a:solidFill>
                  <a:srgbClr val="FF0000"/>
                </a:solidFill>
                <a:effectLst>
                  <a:outerShdw blurRad="38100" dist="38100" dir="2700000" algn="tl">
                    <a:srgbClr val="000000">
                      <a:alpha val="43137"/>
                    </a:srgbClr>
                  </a:outerShdw>
                </a:effectLst>
                <a:ea typeface="ＭＳ Ｐゴシック" panose="020B0600070205080204" pitchFamily="34" charset="-128"/>
              </a:rPr>
              <a:t>Cisco Catalyst</a:t>
            </a:r>
            <a:r>
              <a:rPr lang="en-US" altLang="en-US" sz="2800" dirty="0">
                <a:ea typeface="ＭＳ Ｐゴシック" panose="020B0600070205080204" pitchFamily="34" charset="-128"/>
              </a:rPr>
              <a: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Tbps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b="1" dirty="0">
                <a:solidFill>
                  <a:srgbClr val="C00000"/>
                </a:solidFill>
                <a:effectLst>
                  <a:outerShdw blurRad="38100" dist="38100" dir="2700000" algn="tl">
                    <a:srgbClr val="000000">
                      <a:alpha val="43137"/>
                    </a:srgbClr>
                  </a:outerShdw>
                </a:effectLst>
                <a:ea typeface="ＭＳ Ｐゴシック" panose="020B0600070205080204" pitchFamily="34" charset="-128"/>
              </a:rPr>
              <a:t>queueing delay and loss</a:t>
            </a:r>
            <a:r>
              <a:rPr lang="en-US" altLang="en-US" sz="2800" dirty="0">
                <a:ea typeface="ＭＳ Ｐゴシック" panose="020B0600070205080204" pitchFamily="34" charset="-128"/>
              </a:rPr>
              <a:t> due to input </a:t>
            </a:r>
            <a:r>
              <a:rPr lang="en-US" altLang="en-US" sz="2800" b="1" dirty="0">
                <a:solidFill>
                  <a:srgbClr val="C00000"/>
                </a:solidFill>
                <a:effectLst>
                  <a:outerShdw blurRad="38100" dist="38100" dir="2700000" algn="tl">
                    <a:srgbClr val="000000">
                      <a:alpha val="43137"/>
                    </a:srgbClr>
                  </a:outerShdw>
                </a:effectLst>
                <a:ea typeface="ＭＳ Ｐゴシック" panose="020B0600070205080204" pitchFamily="34" charset="-128"/>
              </a:rPr>
              <a:t>buffer overflow</a:t>
            </a:r>
            <a:r>
              <a:rPr lang="en-US" altLang="en-US" sz="2800" dirty="0">
                <a:ea typeface="ＭＳ Ｐゴシック" panose="020B0600070205080204" pitchFamily="34" charset="-128"/>
              </a:rPr>
              <a:t>!</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a:t>
            </a:r>
            <a:r>
              <a:rPr kumimoji="0" lang="en-US" sz="2800" b="1" i="0" u="none" strike="noStrike" kern="1200" cap="none" spc="0" normalizeH="0" baseline="0" noProof="0" dirty="0">
                <a:ln>
                  <a:noFill/>
                </a:ln>
                <a:solidFill>
                  <a:srgbClr val="C00000"/>
                </a:solidFill>
                <a:effectLst>
                  <a:outerShdw blurRad="38100" dist="38100" dir="2700000" algn="tl">
                    <a:srgbClr val="000000">
                      <a:alpha val="43137"/>
                    </a:srgbClr>
                  </a:outerShdw>
                </a:effectLst>
                <a:uLnTx/>
                <a:uFillTx/>
                <a:latin typeface="Calibri" panose="020F0502020204030204"/>
                <a:ea typeface="+mn-ea"/>
                <a:cs typeface="+mn-cs"/>
              </a:rPr>
              <a:t>datagrams arrive from fabric faster than link transmission 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a:t>
              </a:r>
              <a:r>
                <a:rPr lang="en-US" altLang="en-US" sz="2600" b="1" dirty="0">
                  <a:solidFill>
                    <a:srgbClr val="C00000"/>
                  </a:solidFill>
                  <a:effectLst>
                    <a:outerShdw blurRad="38100" dist="38100" dir="2700000" algn="tl">
                      <a:srgbClr val="000000">
                        <a:alpha val="43137"/>
                      </a:srgbClr>
                    </a:outerShdw>
                  </a:effectLst>
                  <a:latin typeface="Calibri" panose="020F0502020204030204"/>
                  <a:ea typeface="+mn-ea"/>
                </a:rPr>
                <a:t>congestion</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lang="en-US" altLang="en-US" sz="2600" b="1" dirty="0">
                  <a:solidFill>
                    <a:srgbClr val="C00000"/>
                  </a:solidFill>
                  <a:effectLst>
                    <a:outerShdw blurRad="38100" dist="38100" dir="2700000" algn="tl">
                      <a:srgbClr val="000000">
                        <a:alpha val="43137"/>
                      </a:srgbClr>
                    </a:outerShdw>
                  </a:effectLst>
                  <a:latin typeface="Calibri" panose="020F0502020204030204"/>
                  <a:ea typeface="+mn-ea"/>
                </a:rPr>
                <a:t>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t>
            </a:r>
            <a:r>
              <a:rPr lang="en-US" altLang="en-US"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average buffering equal to “t</a:t>
            </a:r>
            <a:r>
              <a:rPr lang="en-US" altLang="ja-JP"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ypical” RTT </a:t>
            </a:r>
            <a:r>
              <a:rPr lang="en-US" altLang="ja-JP" dirty="0">
                <a:ea typeface="ＭＳ Ｐゴシック" panose="020B0600070205080204" pitchFamily="34" charset="-128"/>
                <a:cs typeface="ＭＳ Ｐゴシック" panose="020B0600070205080204" pitchFamily="34" charset="-128"/>
              </a:rPr>
              <a:t>(say 250 msec)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lang="en-US" altLang="en-US"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too much buffering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can </a:t>
            </a:r>
            <a:r>
              <a:rPr lang="en-US" altLang="en-US"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increase delays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(particularly in </a:t>
            </a:r>
            <a:r>
              <a:rPr lang="en-US" altLang="en-US"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home 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a:t>
            </a:r>
            <a:r>
              <a:rPr lang="en-US" altLang="en-US" sz="2800"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poor performance for real-time apps</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a:t>
            </a:r>
            <a:r>
              <a:rPr lang="en-US" altLang="en-US"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mark to signal congestion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t>
            </a:r>
            <a:r>
              <a:rPr lang="en-US" altLang="en-US"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ECN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 </a:t>
            </a:r>
            <a:r>
              <a:rPr lang="en-US" altLang="en-US" b="1" dirty="0">
                <a:solidFill>
                  <a:srgbClr val="C0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RED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b="1" dirty="0">
                <a:solidFill>
                  <a:srgbClr val="FF0000"/>
                </a:solidFill>
                <a:effectLst>
                  <a:outerShdw blurRad="38100" dist="38100" dir="2700000" algn="tl">
                    <a:srgbClr val="000000">
                      <a:alpha val="43137"/>
                    </a:srgbClr>
                  </a:outerShdw>
                </a:effectLst>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a:t>
            </a:r>
            <a:r>
              <a:rPr kumimoji="0" lang="en-US" alt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ＭＳ Ｐゴシック" panose="020B0600070205080204" pitchFamily="34" charset="-128"/>
              </a:rPr>
              <a:t>sending one complete packet from each class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b="1" dirty="0">
                <a:solidFill>
                  <a:srgbClr val="FF0000"/>
                </a:solidFill>
                <a:effectLst>
                  <a:outerShdw blurRad="38100" dist="38100" dir="2700000" algn="tl">
                    <a:srgbClr val="000000">
                      <a:alpha val="43137"/>
                    </a:srgbClr>
                  </a:outerShdw>
                </a:effectLst>
              </a:rPr>
              <a:t>packet scheduling, buffer management are the </a:t>
            </a:r>
            <a:r>
              <a:rPr lang="en-US" sz="2800" b="1" i="1" dirty="0">
                <a:solidFill>
                  <a:srgbClr val="FF0000"/>
                </a:solidFill>
                <a:effectLst>
                  <a:outerShdw blurRad="38100" dist="38100" dir="2700000" algn="tl">
                    <a:srgbClr val="000000">
                      <a:alpha val="43137"/>
                    </a:srgbClr>
                  </a:outerShdw>
                </a:effectLst>
              </a:rPr>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b="1" dirty="0">
                <a:solidFill>
                  <a:srgbClr val="FF0000"/>
                </a:solidFill>
                <a:effectLst>
                  <a:outerShdw blurRad="38100" dist="38100" dir="2700000" algn="tl">
                    <a:srgbClr val="000000">
                      <a:alpha val="43137"/>
                    </a:srgbClr>
                  </a:outerShdw>
                </a:effectLst>
              </a:rPr>
              <a:t>protecting free speech</a:t>
            </a:r>
          </a:p>
          <a:p>
            <a:pPr marL="922338" lvl="2" indent="-292100">
              <a:lnSpc>
                <a:spcPct val="100000"/>
              </a:lnSpc>
              <a:buClr>
                <a:srgbClr val="0000A3"/>
              </a:buClr>
            </a:pPr>
            <a:r>
              <a:rPr lang="en-US" sz="2800" b="1" dirty="0">
                <a:solidFill>
                  <a:srgbClr val="FF0000"/>
                </a:solidFill>
                <a:effectLst>
                  <a:outerShdw blurRad="38100" dist="38100" dir="2700000" algn="tl">
                    <a:srgbClr val="000000">
                      <a:alpha val="43137"/>
                    </a:srgbClr>
                  </a:outerShdw>
                </a:effectLst>
              </a:rPr>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b="1" dirty="0">
                <a:solidFill>
                  <a:srgbClr val="FF0000"/>
                </a:solidFill>
                <a:effectLst>
                  <a:outerShdw blurRad="38100" dist="38100" dir="2700000" algn="tl">
                    <a:srgbClr val="000000">
                      <a:alpha val="43137"/>
                    </a:srgbClr>
                  </a:outerShdw>
                </a:effectLst>
                <a:ea typeface="ＭＳ Ｐゴシック" panose="020B0600070205080204" pitchFamily="34" charset="-128"/>
              </a:rPr>
              <a:t>router’</a:t>
            </a:r>
            <a:r>
              <a:rPr lang="en-US" altLang="ja-JP" sz="2800" b="1" dirty="0">
                <a:solidFill>
                  <a:srgbClr val="FF0000"/>
                </a:solidFill>
                <a:effectLst>
                  <a:outerShdw blurRad="38100" dist="38100" dir="2700000" algn="tl">
                    <a:srgbClr val="000000">
                      <a:alpha val="43137"/>
                    </a:srgbClr>
                  </a:outerShdw>
                </a:effectLst>
                <a:ea typeface="ＭＳ Ｐゴシック" panose="020B0600070205080204" pitchFamily="34" charset="-128"/>
              </a:rPr>
              <a:t>s typically have multiple interfaces</a:t>
            </a:r>
          </a:p>
          <a:p>
            <a:pPr marL="522288" lvl="1" indent="-298450"/>
            <a:r>
              <a:rPr lang="en-US" altLang="en-US" sz="2800" b="1" dirty="0">
                <a:solidFill>
                  <a:srgbClr val="FF0000"/>
                </a:solidFill>
                <a:effectLst>
                  <a:outerShdw blurRad="38100" dist="38100" dir="2700000" algn="tl">
                    <a:srgbClr val="000000">
                      <a:alpha val="43137"/>
                    </a:srgbClr>
                  </a:outerShdw>
                </a:effectLst>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1" i="1" u="none" strike="noStrike" kern="1200" cap="none" spc="0" normalizeH="0" baseline="0" noProof="0" dirty="0">
                  <a:ln>
                    <a:noFill/>
                  </a:ln>
                  <a:solidFill>
                    <a:srgbClr val="C0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different</a:t>
              </a:r>
              <a:r>
                <a:rPr kumimoji="0" lang="en-US" altLang="en-US" sz="2400" b="1" i="0" u="none" strike="noStrike" kern="1200" cap="none" spc="0" normalizeH="0" baseline="0" noProof="0" dirty="0">
                  <a:ln>
                    <a:noFill/>
                  </a:ln>
                  <a:solidFill>
                    <a:srgbClr val="C0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altLang="en-US" sz="2800" b="1" i="0" u="none" strike="noStrike" kern="1200" cap="none" spc="0" normalizeH="0" baseline="0" noProof="0" dirty="0">
                <a:ln>
                  <a:noFill/>
                </a:ln>
                <a:solidFill>
                  <a:srgbClr val="C0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a:t>
            </a:r>
            <a:r>
              <a:rPr kumimoji="0" lang="en-US" sz="2800" b="1" i="0" u="none" strike="noStrike" kern="1200" cap="none" spc="0" normalizeH="0" baseline="0" noProof="0" dirty="0">
                <a:ln>
                  <a:noFill/>
                </a:ln>
                <a:solidFill>
                  <a:srgbClr val="C00000"/>
                </a:solidFill>
                <a:effectLst>
                  <a:outerShdw blurRad="38100" dist="38100" dir="2700000" algn="tl">
                    <a:srgbClr val="000000">
                      <a:alpha val="43137"/>
                    </a:srgbClr>
                  </a:outerShdw>
                </a:effectLst>
                <a:uLnTx/>
                <a:uFillTx/>
                <a:latin typeface="Calibri" panose="020F0502020204030204"/>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lang="en-US" altLang="en-US" sz="2800" b="1" dirty="0">
                <a:solidFill>
                  <a:srgbClr val="C0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just one IP address needed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a:t>
            </a:r>
            <a:r>
              <a:rPr lang="en-US" altLang="en-US" sz="2800" b="1" dirty="0">
                <a:solidFill>
                  <a:srgbClr val="C0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change addresses of host in local network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a:t>
            </a:r>
            <a:r>
              <a:rPr lang="en-US" altLang="en-US" sz="2800" b="1" dirty="0">
                <a:solidFill>
                  <a:srgbClr val="C0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change ISP without changing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lang="en-US" altLang="en-US" sz="2800" b="1" dirty="0">
                <a:solidFill>
                  <a:srgbClr val="C00000"/>
                </a:solidFill>
                <a:effectLst>
                  <a:outerShdw blurRad="38100" dist="38100" dir="2700000" algn="tl">
                    <a:srgbClr val="000000">
                      <a:alpha val="43137"/>
                    </a:srgbClr>
                  </a:outerShdw>
                </a:effectLst>
                <a:latin typeface="Calibri" panose="020F0502020204030204"/>
                <a:ea typeface="ＭＳ Ｐゴシック" panose="020B0600070205080204" pitchFamily="34" charset="-128"/>
              </a:rPr>
              <a:t>security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1" i="0" u="none" strike="noStrike" kern="1200" cap="none" spc="0" normalizeH="0" baseline="0" noProof="0" dirty="0">
                <a:ln>
                  <a:noFill/>
                </a:ln>
                <a:solidFill>
                  <a:srgbClr val="C00000"/>
                </a:solidFill>
                <a:effectLst>
                  <a:outerShdw blurRad="38100" dist="38100" dir="2700000" algn="tl">
                    <a:srgbClr val="000000">
                      <a:alpha val="43137"/>
                    </a:srgbClr>
                  </a:outerShdw>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 match+action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89</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17706</TotalTime>
  <Words>8532</Words>
  <Application>Microsoft Office PowerPoint</Application>
  <PresentationFormat>Widescreen</PresentationFormat>
  <Paragraphs>2384</Paragraphs>
  <Slides>99</Slides>
  <Notes>97</Notes>
  <HiddenSlides>0</HiddenSlides>
  <MMClips>0</MMClips>
  <ScaleCrop>false</ScaleCrop>
  <HeadingPairs>
    <vt:vector size="6" baseType="variant">
      <vt:variant>
        <vt:lpstr>Fonts Used</vt:lpstr>
      </vt:variant>
      <vt:variant>
        <vt:i4>14</vt:i4>
      </vt:variant>
      <vt:variant>
        <vt:lpstr>Theme</vt:lpstr>
      </vt:variant>
      <vt:variant>
        <vt:i4>1</vt:i4>
      </vt:variant>
      <vt:variant>
        <vt:lpstr>Slide Titles</vt:lpstr>
      </vt:variant>
      <vt:variant>
        <vt:i4>99</vt:i4>
      </vt:variant>
    </vt:vector>
  </HeadingPairs>
  <TitlesOfParts>
    <vt:vector size="114" baseType="lpstr">
      <vt:lpstr>ＭＳ Ｐゴシック</vt:lpstr>
      <vt:lpstr>Arial</vt:lpstr>
      <vt:lpstr>Calibri</vt:lpstr>
      <vt:lpstr>Calibri Light</vt:lpstr>
      <vt:lpstr>Comic Sans MS</vt:lpstr>
      <vt:lpstr>Courier New</vt:lpstr>
      <vt:lpstr>Gill Sans MT</vt:lpstr>
      <vt:lpstr>Symbol</vt:lpstr>
      <vt:lpstr>Tahoma</vt:lpstr>
      <vt:lpstr>Times</vt:lpstr>
      <vt:lpstr>Times New Roman</vt:lpstr>
      <vt:lpstr>TimesLTPro</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The end-end argument</vt:lpstr>
      <vt:lpstr>Where’s the intelligence?</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Mohamed Mahfouz Mohamed Elmogy</cp:lastModifiedBy>
  <cp:revision>536</cp:revision>
  <dcterms:created xsi:type="dcterms:W3CDTF">2020-01-18T07:24:59Z</dcterms:created>
  <dcterms:modified xsi:type="dcterms:W3CDTF">2024-12-15T04:59:42Z</dcterms:modified>
</cp:coreProperties>
</file>