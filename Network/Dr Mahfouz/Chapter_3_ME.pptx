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48"/>
  </p:notesMasterIdLst>
  <p:sldIdLst>
    <p:sldId id="960" r:id="rId2"/>
    <p:sldId id="956" r:id="rId3"/>
    <p:sldId id="964" r:id="rId4"/>
    <p:sldId id="1047" r:id="rId5"/>
    <p:sldId id="1048" r:id="rId6"/>
    <p:sldId id="1217" r:id="rId7"/>
    <p:sldId id="1154" r:id="rId8"/>
    <p:sldId id="1086" r:id="rId9"/>
    <p:sldId id="1049" r:id="rId10"/>
    <p:sldId id="1041" r:id="rId11"/>
    <p:sldId id="1218" r:id="rId12"/>
    <p:sldId id="1155" r:id="rId13"/>
    <p:sldId id="1221" r:id="rId14"/>
    <p:sldId id="1223" r:id="rId15"/>
    <p:sldId id="1224" r:id="rId16"/>
    <p:sldId id="1228" r:id="rId17"/>
    <p:sldId id="1229" r:id="rId18"/>
    <p:sldId id="1230" r:id="rId19"/>
    <p:sldId id="1225" r:id="rId20"/>
    <p:sldId id="1226" r:id="rId21"/>
    <p:sldId id="1227" r:id="rId22"/>
    <p:sldId id="1051" r:id="rId23"/>
    <p:sldId id="1052" r:id="rId24"/>
    <p:sldId id="1216" r:id="rId25"/>
    <p:sldId id="1054" r:id="rId26"/>
    <p:sldId id="1055" r:id="rId27"/>
    <p:sldId id="1160" r:id="rId28"/>
    <p:sldId id="1042" r:id="rId29"/>
    <p:sldId id="1161" r:id="rId30"/>
    <p:sldId id="1162" r:id="rId31"/>
    <p:sldId id="1163" r:id="rId32"/>
    <p:sldId id="1164" r:id="rId33"/>
    <p:sldId id="1165" r:id="rId34"/>
    <p:sldId id="1166" r:id="rId35"/>
    <p:sldId id="1167" r:id="rId36"/>
    <p:sldId id="1058" r:id="rId37"/>
    <p:sldId id="1168" r:id="rId38"/>
    <p:sldId id="1169" r:id="rId39"/>
    <p:sldId id="1170" r:id="rId40"/>
    <p:sldId id="1171" r:id="rId41"/>
    <p:sldId id="1043" r:id="rId42"/>
    <p:sldId id="1061" r:id="rId43"/>
    <p:sldId id="1213" r:id="rId44"/>
    <p:sldId id="1214" r:id="rId45"/>
    <p:sldId id="1215" r:id="rId46"/>
    <p:sldId id="1062" r:id="rId47"/>
    <p:sldId id="1063" r:id="rId48"/>
    <p:sldId id="1064" r:id="rId49"/>
    <p:sldId id="1066" r:id="rId50"/>
    <p:sldId id="1065" r:id="rId51"/>
    <p:sldId id="1067" r:id="rId52"/>
    <p:sldId id="1083" r:id="rId53"/>
    <p:sldId id="1068" r:id="rId54"/>
    <p:sldId id="1069" r:id="rId55"/>
    <p:sldId id="1070" r:id="rId56"/>
    <p:sldId id="1071" r:id="rId57"/>
    <p:sldId id="1072" r:id="rId58"/>
    <p:sldId id="1073" r:id="rId59"/>
    <p:sldId id="1074" r:id="rId60"/>
    <p:sldId id="1075" r:id="rId61"/>
    <p:sldId id="1076" r:id="rId62"/>
    <p:sldId id="1204" r:id="rId63"/>
    <p:sldId id="1103" r:id="rId64"/>
    <p:sldId id="1205" r:id="rId65"/>
    <p:sldId id="1078" r:id="rId66"/>
    <p:sldId id="1079" r:id="rId67"/>
    <p:sldId id="1080" r:id="rId68"/>
    <p:sldId id="1082" r:id="rId69"/>
    <p:sldId id="1206" r:id="rId70"/>
    <p:sldId id="1081" r:id="rId71"/>
    <p:sldId id="1207" r:id="rId72"/>
    <p:sldId id="1087" r:id="rId73"/>
    <p:sldId id="1208" r:id="rId74"/>
    <p:sldId id="1090" r:id="rId75"/>
    <p:sldId id="1222" r:id="rId76"/>
    <p:sldId id="1092" r:id="rId77"/>
    <p:sldId id="1209" r:id="rId78"/>
    <p:sldId id="1210" r:id="rId79"/>
    <p:sldId id="1211" r:id="rId80"/>
    <p:sldId id="1212" r:id="rId81"/>
    <p:sldId id="1044" r:id="rId82"/>
    <p:sldId id="1096" r:id="rId83"/>
    <p:sldId id="1203" r:id="rId84"/>
    <p:sldId id="1098" r:id="rId85"/>
    <p:sldId id="1099" r:id="rId86"/>
    <p:sldId id="1100" r:id="rId87"/>
    <p:sldId id="1101" r:id="rId88"/>
    <p:sldId id="1102" r:id="rId89"/>
    <p:sldId id="1104" r:id="rId90"/>
    <p:sldId id="1108" r:id="rId91"/>
    <p:sldId id="1106" r:id="rId92"/>
    <p:sldId id="1107" r:id="rId93"/>
    <p:sldId id="1110" r:id="rId94"/>
    <p:sldId id="1111" r:id="rId95"/>
    <p:sldId id="1112" r:id="rId96"/>
    <p:sldId id="1198" r:id="rId97"/>
    <p:sldId id="1124" r:id="rId98"/>
    <p:sldId id="1125" r:id="rId99"/>
    <p:sldId id="1113" r:id="rId100"/>
    <p:sldId id="1199" r:id="rId101"/>
    <p:sldId id="1114" r:id="rId102"/>
    <p:sldId id="1115" r:id="rId103"/>
    <p:sldId id="1116" r:id="rId104"/>
    <p:sldId id="1200" r:id="rId105"/>
    <p:sldId id="1201" r:id="rId106"/>
    <p:sldId id="1117" r:id="rId107"/>
    <p:sldId id="1202" r:id="rId108"/>
    <p:sldId id="1119" r:id="rId109"/>
    <p:sldId id="1045" r:id="rId110"/>
    <p:sldId id="1123" r:id="rId111"/>
    <p:sldId id="1121" r:id="rId112"/>
    <p:sldId id="1195" r:id="rId113"/>
    <p:sldId id="1196" r:id="rId114"/>
    <p:sldId id="1126" r:id="rId115"/>
    <p:sldId id="1127" r:id="rId116"/>
    <p:sldId id="1128" r:id="rId117"/>
    <p:sldId id="1131" r:id="rId118"/>
    <p:sldId id="1129" r:id="rId119"/>
    <p:sldId id="1130" r:id="rId120"/>
    <p:sldId id="1197" r:id="rId121"/>
    <p:sldId id="340" r:id="rId122"/>
    <p:sldId id="1184" r:id="rId123"/>
    <p:sldId id="1046" r:id="rId124"/>
    <p:sldId id="1193" r:id="rId125"/>
    <p:sldId id="1194" r:id="rId126"/>
    <p:sldId id="1132" r:id="rId127"/>
    <p:sldId id="1133" r:id="rId128"/>
    <p:sldId id="1134" r:id="rId129"/>
    <p:sldId id="1135" r:id="rId130"/>
    <p:sldId id="1143" r:id="rId131"/>
    <p:sldId id="1144" r:id="rId132"/>
    <p:sldId id="1146" r:id="rId133"/>
    <p:sldId id="1147" r:id="rId134"/>
    <p:sldId id="1145" r:id="rId135"/>
    <p:sldId id="1148" r:id="rId136"/>
    <p:sldId id="1141" r:id="rId137"/>
    <p:sldId id="1138" r:id="rId138"/>
    <p:sldId id="1192" r:id="rId139"/>
    <p:sldId id="1140" r:id="rId140"/>
    <p:sldId id="1183" r:id="rId141"/>
    <p:sldId id="1185" r:id="rId142"/>
    <p:sldId id="1186" r:id="rId143"/>
    <p:sldId id="1187" r:id="rId144"/>
    <p:sldId id="1188" r:id="rId145"/>
    <p:sldId id="1189" r:id="rId146"/>
    <p:sldId id="1142" r:id="rId147"/>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A3"/>
    <a:srgbClr val="3C6CDF"/>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9144" autoAdjust="0"/>
    <p:restoredTop sz="95934"/>
  </p:normalViewPr>
  <p:slideViewPr>
    <p:cSldViewPr snapToGrid="0" snapToObjects="1">
      <p:cViewPr varScale="1">
        <p:scale>
          <a:sx n="81" d="100"/>
          <a:sy n="81" d="100"/>
        </p:scale>
        <p:origin x="504" y="34"/>
      </p:cViewPr>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presProps" Target="presProps.xml"/><Relationship Id="rId5" Type="http://schemas.openxmlformats.org/officeDocument/2006/relationships/slide" Target="slides/slide4.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viewProps" Target="viewProps.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theme" Target="theme/theme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tableStyles" Target="tableStyle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11/10/2024</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(April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QUIC, CUBIC, delay-based congestion control</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8.2 (July 2023): changes from 8.0</a:t>
            </a:r>
          </a:p>
          <a:p>
            <a:pPr marL="171450" indent="-171450">
              <a:buFont typeface="Arial" panose="020B0604020202020204" pitchFamily="34" charset="0"/>
              <a:buChar char="•"/>
            </a:pPr>
            <a:r>
              <a:rPr lang="en-US" dirty="0"/>
              <a:t>minor updates throughout, but not much changes from 8.0</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26162359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6249321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By logical communication , we</a:t>
            </a:r>
          </a:p>
          <a:p>
            <a:r>
              <a:rPr lang="en-US" sz="1200" kern="1200" dirty="0">
                <a:solidFill>
                  <a:schemeClr val="tx1"/>
                </a:solidFill>
                <a:effectLst/>
                <a:latin typeface="+mn-lt"/>
                <a:ea typeface="+mn-ea"/>
                <a:cs typeface="+mn-cs"/>
              </a:rPr>
              <a:t>mean that from an application’s perspective, it is as if the hosts running the processes</a:t>
            </a:r>
          </a:p>
          <a:p>
            <a:r>
              <a:rPr lang="en-US" sz="1200" kern="1200" dirty="0">
                <a:solidFill>
                  <a:schemeClr val="tx1"/>
                </a:solidFill>
                <a:effectLst/>
                <a:latin typeface="+mn-lt"/>
                <a:ea typeface="+mn-ea"/>
                <a:cs typeface="+mn-cs"/>
              </a:rPr>
              <a:t>were directly connected; in reality, the hosts may be on opposite sides of the</a:t>
            </a:r>
          </a:p>
          <a:p>
            <a:r>
              <a:rPr lang="en-US" sz="1200" kern="1200" dirty="0">
                <a:solidFill>
                  <a:schemeClr val="tx1"/>
                </a:solidFill>
                <a:effectLst/>
                <a:latin typeface="+mn-lt"/>
                <a:ea typeface="+mn-ea"/>
                <a:cs typeface="+mn-cs"/>
              </a:rPr>
              <a:t>planet, connected via numerous routers and a wide range of link types. Application</a:t>
            </a:r>
          </a:p>
          <a:p>
            <a:r>
              <a:rPr lang="en-US" sz="1200" kern="1200" dirty="0">
                <a:solidFill>
                  <a:schemeClr val="tx1"/>
                </a:solidFill>
                <a:effectLst/>
                <a:latin typeface="+mn-lt"/>
                <a:ea typeface="+mn-ea"/>
                <a:cs typeface="+mn-cs"/>
              </a:rPr>
              <a:t>processes use the logical communication provided by the transport layer to send</a:t>
            </a:r>
          </a:p>
          <a:p>
            <a:r>
              <a:rPr lang="en-US" sz="1200" kern="1200" dirty="0">
                <a:solidFill>
                  <a:schemeClr val="tx1"/>
                </a:solidFill>
                <a:effectLst/>
                <a:latin typeface="+mn-lt"/>
                <a:ea typeface="+mn-ea"/>
                <a:cs typeface="+mn-cs"/>
              </a:rPr>
              <a:t>messages to each other, free from the worry of the details of the physical infrastructure</a:t>
            </a:r>
          </a:p>
          <a:p>
            <a:r>
              <a:rPr lang="en-US" sz="1200" kern="1200" dirty="0">
                <a:solidFill>
                  <a:schemeClr val="tx1"/>
                </a:solidFill>
                <a:effectLst/>
                <a:latin typeface="+mn-lt"/>
                <a:ea typeface="+mn-ea"/>
                <a:cs typeface="+mn-cs"/>
              </a:rPr>
              <a:t>used to carry these messages.</a:t>
            </a:r>
          </a:p>
          <a:p>
            <a:endParaRPr lang="en-US" dirty="0"/>
          </a:p>
          <a:p>
            <a:r>
              <a:rPr lang="en-US" dirty="0"/>
              <a:t>Let’s look at each of these three (logical communications, actions,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dirty="0"/>
          </a:p>
        </p:txBody>
      </p:sp>
    </p:spTree>
    <p:extLst>
      <p:ext uri="{BB962C8B-B14F-4D97-AF65-F5344CB8AC3E}">
        <p14:creationId xmlns:p14="http://schemas.microsoft.com/office/powerpoint/2010/main" val="1167683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738417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54051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639120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255795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57754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541455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146227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530641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5908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7942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28</a:t>
            </a:fld>
            <a:endParaRPr lang="en-US" dirty="0"/>
          </a:p>
        </p:txBody>
      </p:sp>
    </p:spTree>
    <p:extLst>
      <p:ext uri="{BB962C8B-B14F-4D97-AF65-F5344CB8AC3E}">
        <p14:creationId xmlns:p14="http://schemas.microsoft.com/office/powerpoint/2010/main" val="339089855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it’s only 2.5 pages!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dirty="0"/>
          </a:p>
        </p:txBody>
      </p:sp>
    </p:spTree>
    <p:extLst>
      <p:ext uri="{BB962C8B-B14F-4D97-AF65-F5344CB8AC3E}">
        <p14:creationId xmlns:p14="http://schemas.microsoft.com/office/powerpoint/2010/main" val="15082176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TWO-way: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rdt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duplicated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3171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600947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5488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msec, 1KB pkt every 30 msec: 33kB/sec thruput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acknowledged, 6 sequence numbers are available for us. In window, but no calls from above to use them.</a:t>
            </a:r>
          </a:p>
          <a:p>
            <a:endParaRPr lang="en-US" dirty="0"/>
          </a:p>
          <a:p>
            <a:r>
              <a:rPr lang="en-US" dirty="0"/>
              <a:t>Note – we’ll skip the Go-Back-N FSM specification you can check that out in PowerPoint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438656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individually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delivered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81</a:t>
            </a:fld>
            <a:endParaRPr lang="en-US" dirty="0"/>
          </a:p>
        </p:txBody>
      </p:sp>
    </p:spTree>
    <p:extLst>
      <p:ext uri="{BB962C8B-B14F-4D97-AF65-F5344CB8AC3E}">
        <p14:creationId xmlns:p14="http://schemas.microsoft.com/office/powerpoint/2010/main" val="38826013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A-to-B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last A-to-B 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SampleRTT is taken.</a:t>
            </a:r>
          </a:p>
          <a:p>
            <a:r>
              <a:rPr lang="en-US" dirty="0"/>
              <a:t>The process is knows as an exponentially weighted moving average, shown by the equation here.</a:t>
            </a:r>
          </a:p>
          <a:p>
            <a:r>
              <a:rPr lang="en-US" dirty="0"/>
              <a:t>&lt;say it&gt;</a:t>
            </a:r>
          </a:p>
          <a:p>
            <a:r>
              <a:rPr lang="en-US" dirty="0"/>
              <a:t>Where alpha reflects the influence of the most recent measurements on the estimated RTT; a typical value of alpha used in implementations is .125</a:t>
            </a:r>
          </a:p>
          <a:p>
            <a:endParaRPr lang="en-US" dirty="0"/>
          </a:p>
          <a:p>
            <a:r>
              <a:rPr lang="en-US" dirty="0"/>
              <a:t>The graph at the bottom show measured RTTs between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safety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eWMA of the difference between the most recently measured SampleRTT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Acknowledging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transmitted and the ACK is lost, and the TCP timeout mechanism results in another copy of being transmitted and then re-ACKed a the sender</a:t>
            </a:r>
          </a:p>
          <a:p>
            <a:endParaRPr lang="en-US" dirty="0"/>
          </a:p>
          <a:p>
            <a:r>
              <a:rPr lang="en-US" dirty="0"/>
              <a:t>In the second example two segments are sent and acknowledged, but there is a premature timeout e for the first segment, which is retransmitted.  Note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unACKed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94</a:t>
            </a:fld>
            <a:endParaRPr lang="en-US" dirty="0"/>
          </a:p>
        </p:txBody>
      </p:sp>
    </p:spTree>
    <p:extLst>
      <p:ext uri="{BB962C8B-B14F-4D97-AF65-F5344CB8AC3E}">
        <p14:creationId xmlns:p14="http://schemas.microsoft.com/office/powerpoint/2010/main" val="311777889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05710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receiver have a number of pieces of shared state that they must establish before actually communicating</a:t>
            </a:r>
          </a:p>
          <a:p>
            <a:pPr marL="171450" indent="-171450">
              <a:buFont typeface="Arial" panose="020B0604020202020204" pitchFamily="34" charset="0"/>
              <a:buChar char="•"/>
            </a:pPr>
            <a:r>
              <a:rPr lang="en-US" dirty="0"/>
              <a:t>FIRST they must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bufferspace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Established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usual, there’s a human protocol analogy to the three way handshake, and I still remember thinking about this clinging for my life while climbing up a rockface</a:t>
            </a:r>
          </a:p>
          <a:p>
            <a:endParaRPr lang="en-US" dirty="0"/>
          </a:p>
          <a:p>
            <a:r>
              <a:rPr lang="en-US" dirty="0"/>
              <a:t>When you want start climbing you first say ON BELOW (meaning ARE YOU READY WITH MY SAFETY ROPE)</a:t>
            </a:r>
          </a:p>
          <a:p>
            <a:r>
              <a:rPr lang="en-US" dirty="0"/>
              <a:t>THE BELYER (server) responds BELAY ON (that lets you know the belayer is ready for you)</a:t>
            </a:r>
          </a:p>
          <a:p>
            <a:r>
              <a:rPr lang="en-US" dirty="0"/>
              <a:t>And then you say CLIMING</a:t>
            </a:r>
          </a:p>
          <a:p>
            <a:endParaRPr lang="en-US" dirty="0"/>
          </a:p>
          <a:p>
            <a:r>
              <a:rPr lang="en-US" dirty="0"/>
              <a:t>It’s amazing what can pass through your head when your clinging for your life o a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075990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109</a:t>
            </a:fld>
            <a:endParaRPr lang="en-US" dirty="0"/>
          </a:p>
        </p:txBody>
      </p:sp>
    </p:spTree>
    <p:extLst>
      <p:ext uri="{BB962C8B-B14F-4D97-AF65-F5344CB8AC3E}">
        <p14:creationId xmlns:p14="http://schemas.microsoft.com/office/powerpoint/2010/main" val="114639378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3457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870211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57742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879288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90355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886001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123</a:t>
            </a:fld>
            <a:endParaRPr lang="en-US" dirty="0"/>
          </a:p>
        </p:txBody>
      </p:sp>
    </p:spTree>
    <p:extLst>
      <p:ext uri="{BB962C8B-B14F-4D97-AF65-F5344CB8AC3E}">
        <p14:creationId xmlns:p14="http://schemas.microsoft.com/office/powerpoint/2010/main" val="2138548727"/>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76961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29059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73164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1848224"/>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95609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921622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764029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09869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2012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962384"/>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46958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1055237"/>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20300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6408673"/>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489814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140</a:t>
            </a:fld>
            <a:endParaRPr lang="en-US" dirty="0"/>
          </a:p>
        </p:txBody>
      </p:sp>
    </p:spTree>
    <p:extLst>
      <p:ext uri="{BB962C8B-B14F-4D97-AF65-F5344CB8AC3E}">
        <p14:creationId xmlns:p14="http://schemas.microsoft.com/office/powerpoint/2010/main" val="2196999979"/>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751868"/>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146</a:t>
            </a:fld>
            <a:endParaRPr lang="en-US" dirty="0"/>
          </a:p>
        </p:txBody>
      </p:sp>
    </p:spTree>
    <p:extLst>
      <p:ext uri="{BB962C8B-B14F-4D97-AF65-F5344CB8AC3E}">
        <p14:creationId xmlns:p14="http://schemas.microsoft.com/office/powerpoint/2010/main" val="337074662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DB1D834-9A60-0144-B34B-272570688E2D}"/>
              </a:ext>
            </a:extLst>
          </p:cNvPr>
          <p:cNvSpPr>
            <a:spLocks noGrp="1"/>
          </p:cNvSpPr>
          <p:nvPr>
            <p:ph type="dt" sz="half" idx="10"/>
          </p:nvPr>
        </p:nvSpPr>
        <p:spPr/>
        <p:txBody>
          <a:bodyPr/>
          <a:lstStyle/>
          <a:p>
            <a:fld id="{5BDE25CE-E254-A94B-B5AF-C5A01BD997AB}" type="datetimeFigureOut">
              <a:rPr lang="en-US" smtClean="0"/>
              <a:t>11/10/2024</a:t>
            </a:fld>
            <a:endParaRPr lang="en-US"/>
          </a:p>
        </p:txBody>
      </p:sp>
      <p:sp>
        <p:nvSpPr>
          <p:cNvPr id="3" name="Footer Placeholder 2">
            <a:extLst>
              <a:ext uri="{FF2B5EF4-FFF2-40B4-BE49-F238E27FC236}">
                <a16:creationId xmlns:a16="http://schemas.microsoft.com/office/drawing/2014/main" id="{12A4ADFA-C513-7947-8FC6-A5831876725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FFBF1950-807A-A347-B7AD-B769A13BC7B1}"/>
              </a:ext>
            </a:extLst>
          </p:cNvPr>
          <p:cNvSpPr>
            <a:spLocks noGrp="1"/>
          </p:cNvSpPr>
          <p:nvPr>
            <p:ph type="sldNum" sz="quarter" idx="12"/>
          </p:nvPr>
        </p:nvSpPr>
        <p:spPr/>
        <p:txBody>
          <a:bodyPr/>
          <a:lstStyle/>
          <a:p>
            <a:fld id="{8E77583F-9FD8-F447-89A7-11C4555D7609}" type="slidenum">
              <a:rPr lang="en-US" smtClean="0"/>
              <a:t>‹#›</a:t>
            </a:fld>
            <a:endParaRPr lang="en-US"/>
          </a:p>
        </p:txBody>
      </p:sp>
    </p:spTree>
    <p:extLst>
      <p:ext uri="{BB962C8B-B14F-4D97-AF65-F5344CB8AC3E}">
        <p14:creationId xmlns:p14="http://schemas.microsoft.com/office/powerpoint/2010/main" val="337855511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9.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3.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16.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21.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27.jpe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3.xml"/><Relationship Id="rId4" Type="http://schemas.openxmlformats.org/officeDocument/2006/relationships/image" Target="../media/image37.png"/></Relationships>
</file>

<file path=ppt/slides/_rels/slide4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71.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67.xml"/><Relationship Id="rId1" Type="http://schemas.openxmlformats.org/officeDocument/2006/relationships/slideLayout" Target="../slideLayouts/slideLayout3.xml"/><Relationship Id="rId4" Type="http://schemas.openxmlformats.org/officeDocument/2006/relationships/image" Target="../media/image42.emf"/></Relationships>
</file>

<file path=ppt/slides/_rels/slide72.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3" Type="http://schemas.openxmlformats.org/officeDocument/2006/relationships/image" Target="../media/image46.emf"/><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9.xml"/><Relationship Id="rId1" Type="http://schemas.openxmlformats.org/officeDocument/2006/relationships/slideLayout" Target="../slideLayouts/slideLayout3.xml"/><Relationship Id="rId4" Type="http://schemas.openxmlformats.org/officeDocument/2006/relationships/image" Target="../media/image47.png"/></Relationships>
</file>

<file path=ppt/slides/_rels/slide9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2.xml"/><Relationship Id="rId1" Type="http://schemas.openxmlformats.org/officeDocument/2006/relationships/slideLayout" Target="../slideLayouts/slideLayout3.xml"/><Relationship Id="rId5" Type="http://schemas.openxmlformats.org/officeDocument/2006/relationships/image" Target="../media/image49.jpeg"/><Relationship Id="rId4" Type="http://schemas.openxmlformats.org/officeDocument/2006/relationships/image" Target="../media/image48.jpeg"/></Relationships>
</file>

<file path=ppt/slides/_rels/slide9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98.xml"/><Relationship Id="rId1" Type="http://schemas.openxmlformats.org/officeDocument/2006/relationships/slideLayout" Target="../slideLayouts/slideLayout3.xml"/><Relationship Id="rId5" Type="http://schemas.openxmlformats.org/officeDocument/2006/relationships/image" Target="../media/image25.png"/><Relationship Id="rId4" Type="http://schemas.openxmlformats.org/officeDocument/2006/relationships/image" Target="../media/image51.png"/></Relationships>
</file>

<file path=ppt/slides/_rels/slide10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9.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0.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10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1.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10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06.xml"/><Relationship Id="rId1" Type="http://schemas.openxmlformats.org/officeDocument/2006/relationships/slideLayout" Target="../slideLayouts/slideLayout3.xml"/><Relationship Id="rId5" Type="http://schemas.openxmlformats.org/officeDocument/2006/relationships/image" Target="../media/image49.jpeg"/><Relationship Id="rId4" Type="http://schemas.openxmlformats.org/officeDocument/2006/relationships/image" Target="../media/image48.jpeg"/></Relationships>
</file>

<file path=ppt/slides/_rels/slide1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110.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11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2.xml"/><Relationship Id="rId1" Type="http://schemas.openxmlformats.org/officeDocument/2006/relationships/slideLayout" Target="../slideLayouts/slideLayout3.xml"/><Relationship Id="rId5" Type="http://schemas.openxmlformats.org/officeDocument/2006/relationships/image" Target="../media/image58.png"/><Relationship Id="rId4" Type="http://schemas.openxmlformats.org/officeDocument/2006/relationships/image" Target="../media/image57.png"/></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3" Type="http://schemas.openxmlformats.org/officeDocument/2006/relationships/image" Target="../media/image59.emf"/><Relationship Id="rId7" Type="http://schemas.openxmlformats.org/officeDocument/2006/relationships/image" Target="../media/image63.emf"/><Relationship Id="rId2" Type="http://schemas.openxmlformats.org/officeDocument/2006/relationships/notesSlide" Target="../notesSlides/notesSlide116.xml"/><Relationship Id="rId1" Type="http://schemas.openxmlformats.org/officeDocument/2006/relationships/slideLayout" Target="../slideLayouts/slideLayout3.xml"/><Relationship Id="rId6" Type="http://schemas.openxmlformats.org/officeDocument/2006/relationships/image" Target="../media/image62.emf"/><Relationship Id="rId5" Type="http://schemas.openxmlformats.org/officeDocument/2006/relationships/image" Target="../media/image61.emf"/><Relationship Id="rId4" Type="http://schemas.openxmlformats.org/officeDocument/2006/relationships/image" Target="../media/image60.emf"/></Relationships>
</file>

<file path=ppt/slides/_rels/slide12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3.xml"/><Relationship Id="rId1" Type="http://schemas.openxmlformats.org/officeDocument/2006/relationships/slideLayout" Target="../slideLayouts/slideLayout3.xml"/></Relationships>
</file>

<file path=ppt/slides/_rels/slide12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124.xml"/><Relationship Id="rId1" Type="http://schemas.openxmlformats.org/officeDocument/2006/relationships/slideLayout" Target="../slideLayouts/slideLayout3.xml"/><Relationship Id="rId4" Type="http://schemas.openxmlformats.org/officeDocument/2006/relationships/image" Target="../media/image65.png"/></Relationships>
</file>

<file path=ppt/slides/_rels/slide12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25.xml"/><Relationship Id="rId1" Type="http://schemas.openxmlformats.org/officeDocument/2006/relationships/slideLayout" Target="../slideLayouts/slideLayout3.xml"/><Relationship Id="rId4" Type="http://schemas.openxmlformats.org/officeDocument/2006/relationships/image" Target="../media/image57.png"/></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3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9.xml"/><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0.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2.xml"/><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6.xml"/><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052616"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3</a:t>
            </a:r>
            <a:br>
              <a:rPr lang="en-US" altLang="en-US" sz="6000" b="1" dirty="0">
                <a:solidFill>
                  <a:srgbClr val="000099"/>
                </a:solidFill>
                <a:latin typeface="+mj-lt"/>
              </a:rPr>
            </a:br>
            <a:r>
              <a:rPr lang="en-US" altLang="en-US" sz="5400" b="1" dirty="0">
                <a:solidFill>
                  <a:srgbClr val="000099"/>
                </a:solidFill>
                <a:latin typeface="+mj-lt"/>
              </a:rPr>
              <a:t>Transport Layer</a:t>
            </a:r>
          </a:p>
        </p:txBody>
      </p:sp>
      <p:sp>
        <p:nvSpPr>
          <p:cNvPr id="2" name="Slide Number Placeholder 1">
            <a:extLst>
              <a:ext uri="{FF2B5EF4-FFF2-40B4-BE49-F238E27FC236}">
                <a16:creationId xmlns:a16="http://schemas.microsoft.com/office/drawing/2014/main" id="{B46B45F3-5B52-354C-801C-007B1F52150F}"/>
              </a:ext>
            </a:extLst>
          </p:cNvPr>
          <p:cNvSpPr>
            <a:spLocks noGrp="1"/>
          </p:cNvSpPr>
          <p:nvPr>
            <p:ph type="sldNum" sz="quarter" idx="4"/>
          </p:nvPr>
        </p:nvSpPr>
        <p:spPr/>
        <p:txBody>
          <a:bodyPr/>
          <a:lstStyle/>
          <a:p>
            <a:r>
              <a:rPr lang="en-US" dirty="0"/>
              <a:t>Transport Layer: 3-</a:t>
            </a:r>
            <a:fld id="{C4204591-24BD-A542-B9D5-F8D8A88D2FEE}" type="slidenum">
              <a:rPr lang="en-US" smtClean="0"/>
              <a:pPr/>
              <a:t>1</a:t>
            </a:fld>
            <a:endParaRPr lang="en-US" dirty="0"/>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overview</a:t>
            </a:r>
            <a:endParaRPr lang="en-US" sz="4400" dirty="0"/>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1763" y="1253331"/>
            <a:ext cx="4842088" cy="4351338"/>
          </a:xfrm>
        </p:spPr>
        <p:txBody>
          <a:bodyPr>
            <a:noAutofit/>
          </a:bodyPr>
          <a:lstStyle/>
          <a:p>
            <a:pPr marL="11113" indent="0">
              <a:buNone/>
            </a:pPr>
            <a:r>
              <a:rPr lang="en-US" altLang="en-US" sz="3200" i="1" dirty="0">
                <a:solidFill>
                  <a:srgbClr val="CC0000"/>
                </a:solidFill>
                <a:latin typeface="Calibri" panose="020F0502020204030204" pitchFamily="34" charset="0"/>
                <a:cs typeface="Calibri" panose="020F0502020204030204" pitchFamily="34" charset="0"/>
              </a:rPr>
              <a:t>Our goal:</a:t>
            </a:r>
            <a:r>
              <a:rPr lang="en-US" altLang="en-US" sz="3200" i="1" dirty="0">
                <a:latin typeface="Calibri" panose="020F0502020204030204" pitchFamily="34" charset="0"/>
                <a:cs typeface="Calibri" panose="020F0502020204030204" pitchFamily="34" charset="0"/>
              </a:rPr>
              <a:t> </a:t>
            </a:r>
          </a:p>
          <a:p>
            <a:pPr marL="400050" indent="-285750">
              <a:buFont typeface="Wingdings" charset="2"/>
              <a:buChar char="§"/>
              <a:defRPr/>
            </a:pPr>
            <a:r>
              <a:rPr lang="en-US" sz="3200" dirty="0"/>
              <a:t>understand principles behind </a:t>
            </a:r>
            <a:r>
              <a:rPr lang="en-US" sz="3200" b="1" dirty="0">
                <a:solidFill>
                  <a:srgbClr val="FF0000"/>
                </a:solidFill>
                <a:effectLst>
                  <a:outerShdw blurRad="38100" dist="38100" dir="2700000" algn="tl">
                    <a:srgbClr val="000000">
                      <a:alpha val="43137"/>
                    </a:srgbClr>
                  </a:outerShdw>
                </a:effectLst>
              </a:rPr>
              <a:t>transport layer services</a:t>
            </a:r>
            <a:r>
              <a:rPr lang="en-US" sz="3200" dirty="0"/>
              <a:t>:</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endParaRPr lang="en-US" sz="3200" dirty="0"/>
          </a:p>
          <a:p>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815962"/>
            <a:ext cx="5994400" cy="4799013"/>
          </a:xfrm>
        </p:spPr>
        <p:txBody>
          <a:bodyPr>
            <a:normAutofit/>
          </a:bodyPr>
          <a:lstStyle/>
          <a:p>
            <a:pPr marL="457200" indent="-285750">
              <a:buFont typeface="Wingdings" charset="2"/>
              <a:buChar char="§"/>
              <a:defRPr/>
            </a:pPr>
            <a:r>
              <a:rPr lang="en-US" sz="3200" dirty="0"/>
              <a:t>learn about </a:t>
            </a:r>
            <a:r>
              <a:rPr lang="en-US" sz="3200" b="1" dirty="0">
                <a:solidFill>
                  <a:srgbClr val="FF0000"/>
                </a:solidFill>
                <a:effectLst>
                  <a:outerShdw blurRad="38100" dist="38100" dir="2700000" algn="tl">
                    <a:srgbClr val="000000">
                      <a:alpha val="43137"/>
                    </a:srgbClr>
                  </a:outerShdw>
                </a:effectLst>
              </a:rPr>
              <a:t>Internet transport layer protocols</a:t>
            </a:r>
            <a:r>
              <a:rPr lang="en-US" sz="3200" dirty="0"/>
              <a:t>:</a:t>
            </a:r>
          </a:p>
          <a:p>
            <a:pPr lvl="1">
              <a:buFont typeface="Arial"/>
              <a:buChar char="•"/>
              <a:defRPr/>
            </a:pPr>
            <a:r>
              <a:rPr lang="en-US" sz="2800" b="1" dirty="0">
                <a:solidFill>
                  <a:srgbClr val="FF0000"/>
                </a:solidFill>
                <a:effectLst>
                  <a:outerShdw blurRad="38100" dist="38100" dir="2700000" algn="tl">
                    <a:srgbClr val="000000">
                      <a:alpha val="43137"/>
                    </a:srgbClr>
                  </a:outerShdw>
                </a:effectLst>
              </a:rPr>
              <a:t>UDP</a:t>
            </a:r>
            <a:r>
              <a:rPr lang="en-US" sz="2800" dirty="0"/>
              <a:t>: connectionless transport</a:t>
            </a:r>
          </a:p>
          <a:p>
            <a:pPr lvl="1">
              <a:buFont typeface="Arial"/>
              <a:buChar char="•"/>
              <a:defRPr/>
            </a:pPr>
            <a:r>
              <a:rPr lang="en-US" sz="2800" b="1" dirty="0">
                <a:solidFill>
                  <a:srgbClr val="FF0000"/>
                </a:solidFill>
                <a:effectLst>
                  <a:outerShdw blurRad="38100" dist="38100" dir="2700000" algn="tl">
                    <a:srgbClr val="000000">
                      <a:alpha val="43137"/>
                    </a:srgbClr>
                  </a:outerShdw>
                </a:effectLst>
              </a:rPr>
              <a:t>TCP</a:t>
            </a:r>
            <a:r>
              <a:rPr lang="en-US" sz="2800" dirty="0"/>
              <a:t>: connection-oriented reliable transport</a:t>
            </a:r>
          </a:p>
          <a:p>
            <a:pPr lvl="1">
              <a:buFont typeface="Arial"/>
              <a:buChar char="•"/>
              <a:defRPr/>
            </a:pPr>
            <a:r>
              <a:rPr lang="en-US" sz="2800" b="1" dirty="0">
                <a:solidFill>
                  <a:srgbClr val="FF0000"/>
                </a:solidFill>
                <a:effectLst>
                  <a:outerShdw blurRad="38100" dist="38100" dir="2700000" algn="tl">
                    <a:srgbClr val="000000">
                      <a:alpha val="43137"/>
                    </a:srgbClr>
                  </a:outerShdw>
                </a:effectLst>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11084F46-D79C-3048-9B21-CEBC66650819}"/>
              </a:ext>
            </a:extLst>
          </p:cNvPr>
          <p:cNvSpPr>
            <a:spLocks noGrp="1"/>
          </p:cNvSpPr>
          <p:nvPr>
            <p:ph type="sldNum" sz="quarter" idx="4"/>
          </p:nvPr>
        </p:nvSpPr>
        <p:spPr>
          <a:xfrm>
            <a:off x="9219616" y="6454664"/>
            <a:ext cx="2743200" cy="365125"/>
          </a:xfrm>
        </p:spPr>
        <p:txBody>
          <a:bodyPr/>
          <a:lstStyle/>
          <a:p>
            <a:r>
              <a:rPr lang="en-US" dirty="0"/>
              <a:t>Transport Layer: 3-</a:t>
            </a:r>
            <a:fld id="{C4204591-24BD-A542-B9D5-F8D8A88D2FEE}" type="slidenum">
              <a:rPr lang="en-US" smtClean="0"/>
              <a:pPr/>
              <a:t>2</a:t>
            </a:fld>
            <a:endParaRPr lang="en-US" dirty="0"/>
          </a:p>
        </p:txBody>
      </p:sp>
    </p:spTree>
    <p:extLst>
      <p:ext uri="{BB962C8B-B14F-4D97-AF65-F5344CB8AC3E}">
        <p14:creationId xmlns:p14="http://schemas.microsoft.com/office/powerpoint/2010/main" val="421519046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pPr>
            <a:r>
              <a:rPr lang="en-US" altLang="en-US" sz="3200" dirty="0">
                <a:cs typeface="Calibri" panose="020F0502020204030204" pitchFamily="34" charset="0"/>
              </a:rPr>
              <a:t>Transport-layer </a:t>
            </a:r>
            <a:r>
              <a:rPr lang="en-US" altLang="en-US" sz="3200" b="1" dirty="0">
                <a:solidFill>
                  <a:srgbClr val="FF0000"/>
                </a:solidFill>
                <a:effectLst>
                  <a:outerShdw blurRad="38100" dist="38100" dir="2700000" algn="tl">
                    <a:srgbClr val="000000">
                      <a:alpha val="43137"/>
                    </a:srgbClr>
                  </a:outerShdw>
                </a:effectLst>
                <a:cs typeface="Calibri" panose="020F0502020204030204" pitchFamily="34" charset="0"/>
              </a:rPr>
              <a:t>services</a:t>
            </a:r>
          </a:p>
          <a:p>
            <a:pPr marL="403225" indent="-285750">
              <a:spcBef>
                <a:spcPts val="800"/>
              </a:spcBef>
            </a:pPr>
            <a:r>
              <a:rPr lang="en-US" altLang="en-US" sz="3200" b="1" dirty="0">
                <a:solidFill>
                  <a:srgbClr val="FF0000"/>
                </a:solidFill>
                <a:effectLst>
                  <a:outerShdw blurRad="38100" dist="38100" dir="2700000" algn="tl">
                    <a:srgbClr val="000000">
                      <a:alpha val="43137"/>
                    </a:srgbClr>
                  </a:outerShdw>
                </a:effectLst>
                <a:cs typeface="Calibri" panose="020F0502020204030204" pitchFamily="34" charset="0"/>
              </a:rPr>
              <a:t>Multiplexing</a:t>
            </a:r>
            <a:r>
              <a:rPr lang="en-US" altLang="en-US" sz="3200" dirty="0">
                <a:cs typeface="Calibri" panose="020F0502020204030204" pitchFamily="34" charset="0"/>
              </a:rPr>
              <a:t> and </a:t>
            </a:r>
            <a:r>
              <a:rPr lang="en-US" altLang="en-US" sz="3200" b="1" dirty="0">
                <a:solidFill>
                  <a:srgbClr val="FF0000"/>
                </a:solidFill>
                <a:effectLst>
                  <a:outerShdw blurRad="38100" dist="38100" dir="2700000" algn="tl">
                    <a:srgbClr val="000000">
                      <a:alpha val="43137"/>
                    </a:srgbClr>
                  </a:outerShdw>
                </a:effectLst>
                <a:cs typeface="Calibri" panose="020F0502020204030204" pitchFamily="34" charset="0"/>
              </a:rPr>
              <a:t>demultiplexing</a:t>
            </a:r>
          </a:p>
          <a:p>
            <a:pPr marL="403225" indent="-285750">
              <a:spcBef>
                <a:spcPts val="800"/>
              </a:spcBef>
            </a:pPr>
            <a:r>
              <a:rPr lang="en-US" altLang="en-US" sz="3200" b="1" dirty="0">
                <a:solidFill>
                  <a:srgbClr val="FF0000"/>
                </a:solidFill>
                <a:effectLst>
                  <a:outerShdw blurRad="38100" dist="38100" dir="2700000" algn="tl">
                    <a:srgbClr val="000000">
                      <a:alpha val="43137"/>
                    </a:srgbClr>
                  </a:outerShdw>
                </a:effectLst>
                <a:cs typeface="Calibri" panose="020F0502020204030204" pitchFamily="34" charset="0"/>
              </a:rPr>
              <a:t>Connectionless transport</a:t>
            </a:r>
            <a:r>
              <a:rPr lang="en-US" altLang="en-US" sz="3200" dirty="0">
                <a:cs typeface="Calibri" panose="020F0502020204030204" pitchFamily="34" charset="0"/>
              </a:rPr>
              <a:t>: UDP</a:t>
            </a:r>
          </a:p>
          <a:p>
            <a:pPr marL="403225" indent="-285750">
              <a:spcBef>
                <a:spcPts val="800"/>
              </a:spcBef>
            </a:pPr>
            <a:r>
              <a:rPr lang="en-US" altLang="en-US" sz="3200" dirty="0">
                <a:cs typeface="Calibri" panose="020F0502020204030204" pitchFamily="34" charset="0"/>
              </a:rPr>
              <a:t>Principles of </a:t>
            </a:r>
            <a:r>
              <a:rPr lang="en-US" altLang="en-US" sz="3200" b="1" dirty="0">
                <a:solidFill>
                  <a:srgbClr val="FF0000"/>
                </a:solidFill>
                <a:effectLst>
                  <a:outerShdw blurRad="38100" dist="38100" dir="2700000" algn="tl">
                    <a:srgbClr val="000000">
                      <a:alpha val="43137"/>
                    </a:srgbClr>
                  </a:outerShdw>
                </a:effectLst>
                <a:cs typeface="Calibri" panose="020F0502020204030204" pitchFamily="34" charset="0"/>
              </a:rPr>
              <a:t>reliable data transfer </a:t>
            </a:r>
          </a:p>
          <a:p>
            <a:pPr marL="403225" indent="-285750">
              <a:spcBef>
                <a:spcPts val="800"/>
              </a:spcBef>
            </a:pPr>
            <a:r>
              <a:rPr lang="en-US" sz="3200" b="1" dirty="0">
                <a:solidFill>
                  <a:srgbClr val="FF0000"/>
                </a:solidFill>
                <a:effectLst>
                  <a:outerShdw blurRad="38100" dist="38100" dir="2700000" algn="tl">
                    <a:srgbClr val="000000">
                      <a:alpha val="43137"/>
                    </a:srgbClr>
                  </a:outerShdw>
                </a:effectLst>
                <a:cs typeface="Calibri" panose="020F0502020204030204" pitchFamily="34" charset="0"/>
              </a:rPr>
              <a:t>Connection-oriented transport</a:t>
            </a:r>
            <a:r>
              <a:rPr lang="en-US" sz="3200" dirty="0"/>
              <a:t>: TCP</a:t>
            </a:r>
          </a:p>
          <a:p>
            <a:pPr marL="403225" indent="-285750">
              <a:spcBef>
                <a:spcPts val="800"/>
              </a:spcBef>
            </a:pPr>
            <a:r>
              <a:rPr lang="en-US" sz="3200" dirty="0"/>
              <a:t>Principles of </a:t>
            </a:r>
            <a:r>
              <a:rPr lang="en-US" sz="3200" b="1" dirty="0">
                <a:solidFill>
                  <a:srgbClr val="FF0000"/>
                </a:solidFill>
                <a:effectLst>
                  <a:outerShdw blurRad="38100" dist="38100" dir="2700000" algn="tl">
                    <a:srgbClr val="000000">
                      <a:alpha val="43137"/>
                    </a:srgbClr>
                  </a:outerShdw>
                </a:effectLst>
                <a:cs typeface="Calibri" panose="020F0502020204030204" pitchFamily="34" charset="0"/>
              </a:rPr>
              <a:t>congestion control</a:t>
            </a:r>
          </a:p>
          <a:p>
            <a:pPr marL="403225" indent="-285750">
              <a:spcBef>
                <a:spcPts val="800"/>
              </a:spcBef>
            </a:pPr>
            <a:r>
              <a:rPr lang="en-US" sz="3200" dirty="0"/>
              <a:t>TCP </a:t>
            </a:r>
            <a:r>
              <a:rPr lang="en-US" sz="3200" b="1" dirty="0">
                <a:solidFill>
                  <a:srgbClr val="FF0000"/>
                </a:solidFill>
                <a:effectLst>
                  <a:outerShdw blurRad="38100" dist="38100" dir="2700000" algn="tl">
                    <a:srgbClr val="000000">
                      <a:alpha val="43137"/>
                    </a:srgbClr>
                  </a:outerShdw>
                </a:effectLst>
                <a:cs typeface="Calibri" panose="020F0502020204030204" pitchFamily="34" charset="0"/>
              </a:rPr>
              <a:t>congestion control</a:t>
            </a:r>
          </a:p>
          <a:p>
            <a:pPr marL="403225" indent="-285750">
              <a:spcBef>
                <a:spcPts val="800"/>
              </a:spcBef>
            </a:pPr>
            <a:r>
              <a:rPr lang="en-US" sz="3200" b="1" dirty="0">
                <a:solidFill>
                  <a:srgbClr val="FF0000"/>
                </a:solidFill>
                <a:effectLst>
                  <a:outerShdw blurRad="38100" dist="38100" dir="2700000" algn="tl">
                    <a:srgbClr val="000000">
                      <a:alpha val="43137"/>
                    </a:srgbClr>
                  </a:outerShdw>
                </a:effectLst>
                <a:cs typeface="Calibri" panose="020F0502020204030204" pitchFamily="34" charset="0"/>
              </a:rPr>
              <a:t>Evolution</a:t>
            </a:r>
            <a:r>
              <a:rPr lang="en-US" sz="3200" dirty="0"/>
              <a:t>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3</a:t>
            </a:fld>
            <a:endParaRPr lang="en-US"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1" i="1" u="none" strike="noStrike" kern="1200" cap="none" spc="0" normalizeH="0" baseline="0" noProof="0" dirty="0">
                <a:ln>
                  <a:noFill/>
                </a:ln>
                <a:solidFill>
                  <a:srgbClr val="CC0000"/>
                </a:solidFill>
                <a:effectLst>
                  <a:outerShdw blurRad="38100" dist="38100" dir="2700000" algn="tl">
                    <a:srgbClr val="000000">
                      <a:alpha val="43137"/>
                    </a:srgbClr>
                  </a:outerShdw>
                </a:effectLst>
                <a:uLnTx/>
                <a:uFillTx/>
                <a:latin typeface="Calibri" panose="020F0502020204030204"/>
                <a:ea typeface="+mn-ea"/>
                <a:cs typeface="+mn-cs"/>
              </a:rPr>
              <a:t>logical communication</a:t>
            </a:r>
            <a:r>
              <a:rPr kumimoji="0" lang="en-US" sz="28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between application processes running on </a:t>
            </a:r>
            <a:r>
              <a:rPr lang="en-US" b="1" i="1" dirty="0">
                <a:solidFill>
                  <a:srgbClr val="CC0000"/>
                </a:solidFill>
                <a:effectLst>
                  <a:outerShdw blurRad="38100" dist="38100" dir="2700000" algn="tl">
                    <a:srgbClr val="000000">
                      <a:alpha val="43137"/>
                    </a:srgbClr>
                  </a:outerShdw>
                </a:effectLst>
                <a:latin typeface="Calibri" panose="020F0502020204030204"/>
              </a:rPr>
              <a:t>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mn-ea"/>
                <a:cs typeface="+mn-cs"/>
              </a:rPr>
              <a:t>sender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mn-ea"/>
                <a:cs typeface="+mn-cs"/>
              </a:rPr>
              <a:t>receiver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72701" y="4182651"/>
            <a:ext cx="5230917" cy="1413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network layer: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transport protocol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19264" y="4430905"/>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6" name="Rectangle 3">
            <a:extLst>
              <a:ext uri="{FF2B5EF4-FFF2-40B4-BE49-F238E27FC236}">
                <a16:creationId xmlns:a16="http://schemas.microsoft.com/office/drawing/2014/main" id="{C2231299-1804-1A4A-874F-40CEED40DFB5}"/>
              </a:ext>
            </a:extLst>
          </p:cNvPr>
          <p:cNvSpPr txBox="1">
            <a:spLocks noChangeArrowheads="1"/>
          </p:cNvSpPr>
          <p:nvPr/>
        </p:nvSpPr>
        <p:spPr>
          <a:xfrm>
            <a:off x="857400" y="1639329"/>
            <a:ext cx="5230917" cy="22556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sp>
        <p:nvSpPr>
          <p:cNvPr id="17" name="Rectangle 16">
            <a:extLst>
              <a:ext uri="{FF2B5EF4-FFF2-40B4-BE49-F238E27FC236}">
                <a16:creationId xmlns:a16="http://schemas.microsoft.com/office/drawing/2014/main" id="{71AB5C96-23A1-384D-A9A5-2F6AB9A8C4BD}"/>
              </a:ext>
            </a:extLst>
          </p:cNvPr>
          <p:cNvSpPr/>
          <p:nvPr/>
        </p:nvSpPr>
        <p:spPr>
          <a:xfrm>
            <a:off x="6384620" y="5121981"/>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687966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dissolv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17"/>
                                        </p:tgtEl>
                                        <p:attrNameLst>
                                          <p:attrName>style.visibility</p:attrName>
                                        </p:attrNameLst>
                                      </p:cBhvr>
                                      <p:to>
                                        <p:strVal val="visible"/>
                                      </p:to>
                                    </p:set>
                                    <p:animEffect transition="in" filter="dissolve">
                                      <p:cBhvr>
                                        <p:cTn id="16" dur="500"/>
                                        <p:tgtEl>
                                          <p:spTgt spid="517"/>
                                        </p:tgtEl>
                                      </p:cBhvr>
                                    </p:animEffect>
                                  </p:childTnLst>
                                </p:cTn>
                              </p:par>
                              <p:par>
                                <p:cTn id="17" presetID="9" presetClass="exit" presetSubtype="0" fill="hold" grpId="0" nodeType="withEffect">
                                  <p:stCondLst>
                                    <p:cond delay="0"/>
                                  </p:stCondLst>
                                  <p:childTnLst>
                                    <p:animEffect transition="out" filter="dissolve">
                                      <p:cBhvr>
                                        <p:cTn id="18" dur="500"/>
                                        <p:tgtEl>
                                          <p:spTgt spid="17"/>
                                        </p:tgtEl>
                                      </p:cBhvr>
                                    </p:animEffect>
                                    <p:set>
                                      <p:cBhvr>
                                        <p:cTn id="19" dur="1" fill="hold">
                                          <p:stCondLst>
                                            <p:cond delay="49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P spid="16" grpId="0"/>
      <p:bldP spid="17"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demultiplexes</a:t>
            </a:r>
            <a:r>
              <a:rPr kumimoji="0" lang="en-US" sz="2400" b="0" i="0" u="none" strike="noStrike" kern="1200" cap="none" spc="0" normalizeH="0" baseline="0" noProof="0" dirty="0">
                <a:ln>
                  <a:noFill/>
                </a:ln>
                <a:solidFill>
                  <a:prstClr val="black"/>
                </a:solidFill>
                <a:effectLst/>
                <a:uLnTx/>
                <a:uFillTx/>
                <a:latin typeface="Calibri"/>
                <a:ea typeface="+mn-ea"/>
                <a:cs typeface="+mn-cs"/>
              </a:rPr>
              <a:t>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dirty="0"/>
              <a:t>Transport Layer: 3-</a:t>
            </a:r>
            <a:fld id="{C4204591-24BD-A542-B9D5-F8D8A88D2FEE}" type="slidenum">
              <a:rPr lang="en-US" smtClean="0"/>
              <a:pPr/>
              <a:t>10</a:t>
            </a:fld>
            <a:endParaRPr lang="en-US" dirty="0"/>
          </a:p>
        </p:txBody>
      </p:sp>
      <p:pic>
        <p:nvPicPr>
          <p:cNvPr id="6" name="Picture 5">
            <a:extLst>
              <a:ext uri="{FF2B5EF4-FFF2-40B4-BE49-F238E27FC236}">
                <a16:creationId xmlns:a16="http://schemas.microsoft.com/office/drawing/2014/main" id="{E9956B19-18BF-2345-8627-5E54E4C0AD2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14817550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37">
            <a:extLst>
              <a:ext uri="{FF2B5EF4-FFF2-40B4-BE49-F238E27FC236}">
                <a16:creationId xmlns:a16="http://schemas.microsoft.com/office/drawing/2014/main" id="{4EEECEF7-BD4D-FD41-9A84-F2FC20AA2A09}"/>
              </a:ext>
            </a:extLst>
          </p:cNvPr>
          <p:cNvSpPr txBox="1">
            <a:spLocks noChangeArrowheads="1"/>
          </p:cNvSpPr>
          <p:nvPr/>
        </p:nvSpPr>
        <p:spPr bwMode="auto">
          <a:xfrm>
            <a:off x="10348768" y="4498257"/>
            <a:ext cx="8953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process</a:t>
            </a:r>
          </a:p>
        </p:txBody>
      </p:sp>
      <p:sp>
        <p:nvSpPr>
          <p:cNvPr id="134" name="Text Box 38">
            <a:extLst>
              <a:ext uri="{FF2B5EF4-FFF2-40B4-BE49-F238E27FC236}">
                <a16:creationId xmlns:a16="http://schemas.microsoft.com/office/drawing/2014/main" id="{FC061EBE-026B-F943-BBD5-748F965BF87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socket</a:t>
            </a:r>
          </a:p>
        </p:txBody>
      </p:sp>
      <p:grpSp>
        <p:nvGrpSpPr>
          <p:cNvPr id="5" name="Group 4">
            <a:extLst>
              <a:ext uri="{FF2B5EF4-FFF2-40B4-BE49-F238E27FC236}">
                <a16:creationId xmlns:a16="http://schemas.microsoft.com/office/drawing/2014/main" id="{D5AFC3DE-B7EF-9945-9B42-A8FE2028B2CF}"/>
              </a:ext>
            </a:extLst>
          </p:cNvPr>
          <p:cNvGrpSpPr/>
          <p:nvPr/>
        </p:nvGrpSpPr>
        <p:grpSpPr>
          <a:xfrm>
            <a:off x="7016607" y="1655043"/>
            <a:ext cx="4836316" cy="1639889"/>
            <a:chOff x="7016607" y="1655043"/>
            <a:chExt cx="4836316" cy="1639889"/>
          </a:xfrm>
        </p:grpSpPr>
        <p:sp>
          <p:nvSpPr>
            <p:cNvPr id="4" name="Rectangle 3">
              <a:extLst>
                <a:ext uri="{FF2B5EF4-FFF2-40B4-BE49-F238E27FC236}">
                  <a16:creationId xmlns:a16="http://schemas.microsoft.com/office/drawing/2014/main" id="{25BAE722-1B29-F74D-B90E-AAE0C7FE9C2E}"/>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5" name="Group 177">
              <a:extLst>
                <a:ext uri="{FF2B5EF4-FFF2-40B4-BE49-F238E27FC236}">
                  <a16:creationId xmlns:a16="http://schemas.microsoft.com/office/drawing/2014/main" id="{0626849A-4E21-EE42-AD9A-55F4D52F11FC}"/>
                </a:ext>
              </a:extLst>
            </p:cNvPr>
            <p:cNvGrpSpPr>
              <a:grpSpLocks/>
            </p:cNvGrpSpPr>
            <p:nvPr/>
          </p:nvGrpSpPr>
          <p:grpSpPr bwMode="auto">
            <a:xfrm>
              <a:off x="7172972" y="1655043"/>
              <a:ext cx="4679951" cy="1639889"/>
              <a:chOff x="2899" y="903"/>
              <a:chExt cx="2948" cy="1033"/>
            </a:xfrm>
          </p:grpSpPr>
          <p:sp>
            <p:nvSpPr>
              <p:cNvPr id="136" name="Rectangle 41">
                <a:extLst>
                  <a:ext uri="{FF2B5EF4-FFF2-40B4-BE49-F238E27FC236}">
                    <a16:creationId xmlns:a16="http://schemas.microsoft.com/office/drawing/2014/main" id="{1C592E58-CF36-1C40-A0FA-08F6B84985C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37" name="Group 42">
                <a:extLst>
                  <a:ext uri="{FF2B5EF4-FFF2-40B4-BE49-F238E27FC236}">
                    <a16:creationId xmlns:a16="http://schemas.microsoft.com/office/drawing/2014/main" id="{4D9CEE39-3F97-1346-9C27-5F6F930F2A8E}"/>
                  </a:ext>
                </a:extLst>
              </p:cNvPr>
              <p:cNvGrpSpPr>
                <a:grpSpLocks/>
              </p:cNvGrpSpPr>
              <p:nvPr/>
            </p:nvGrpSpPr>
            <p:grpSpPr bwMode="auto">
              <a:xfrm>
                <a:off x="2899" y="903"/>
                <a:ext cx="2553" cy="348"/>
                <a:chOff x="905" y="3594"/>
                <a:chExt cx="2049" cy="348"/>
              </a:xfrm>
            </p:grpSpPr>
            <p:sp>
              <p:nvSpPr>
                <p:cNvPr id="138" name="Rectangle 43">
                  <a:extLst>
                    <a:ext uri="{FF2B5EF4-FFF2-40B4-BE49-F238E27FC236}">
                      <a16:creationId xmlns:a16="http://schemas.microsoft.com/office/drawing/2014/main" id="{8DE7A6B0-1014-184E-9108-23C65807C202}"/>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9" name="Text Box 44">
                  <a:extLst>
                    <a:ext uri="{FF2B5EF4-FFF2-40B4-BE49-F238E27FC236}">
                      <a16:creationId xmlns:a16="http://schemas.microsoft.com/office/drawing/2014/main" id="{88457A8D-2DB2-C848-9B52-93F5252D0E1B}"/>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as receiver:</a:t>
                  </a:r>
                </a:p>
              </p:txBody>
            </p:sp>
          </p:grpSp>
        </p:grpSp>
      </p:grpSp>
      <p:grpSp>
        <p:nvGrpSpPr>
          <p:cNvPr id="140" name="Group 57">
            <a:extLst>
              <a:ext uri="{FF2B5EF4-FFF2-40B4-BE49-F238E27FC236}">
                <a16:creationId xmlns:a16="http://schemas.microsoft.com/office/drawing/2014/main" id="{AE84E6CF-C8B6-044E-92D9-9754C3253112}"/>
              </a:ext>
            </a:extLst>
          </p:cNvPr>
          <p:cNvGrpSpPr>
            <a:grpSpLocks/>
          </p:cNvGrpSpPr>
          <p:nvPr/>
        </p:nvGrpSpPr>
        <p:grpSpPr bwMode="auto">
          <a:xfrm>
            <a:off x="9823306" y="4171232"/>
            <a:ext cx="533400" cy="206375"/>
            <a:chOff x="344" y="1846"/>
            <a:chExt cx="336" cy="130"/>
          </a:xfrm>
        </p:grpSpPr>
        <p:sp>
          <p:nvSpPr>
            <p:cNvPr id="141" name="Rectangle 35">
              <a:extLst>
                <a:ext uri="{FF2B5EF4-FFF2-40B4-BE49-F238E27FC236}">
                  <a16:creationId xmlns:a16="http://schemas.microsoft.com/office/drawing/2014/main" id="{7D4B092F-0804-EE4A-94E0-8271C5100190}"/>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Rectangle 54">
              <a:extLst>
                <a:ext uri="{FF2B5EF4-FFF2-40B4-BE49-F238E27FC236}">
                  <a16:creationId xmlns:a16="http://schemas.microsoft.com/office/drawing/2014/main" id="{8FBA6612-C2CB-7A4A-BDE1-C5A9430DFE88}"/>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Rectangle 55">
              <a:extLst>
                <a:ext uri="{FF2B5EF4-FFF2-40B4-BE49-F238E27FC236}">
                  <a16:creationId xmlns:a16="http://schemas.microsoft.com/office/drawing/2014/main" id="{CB6C4329-1870-6D47-94B8-AB8D08DC0029}"/>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Rectangle 56">
              <a:extLst>
                <a:ext uri="{FF2B5EF4-FFF2-40B4-BE49-F238E27FC236}">
                  <a16:creationId xmlns:a16="http://schemas.microsoft.com/office/drawing/2014/main" id="{7506EAD6-B400-9A41-8C08-BA08298518A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299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0" name="Text Box 26">
            <a:extLst>
              <a:ext uri="{FF2B5EF4-FFF2-40B4-BE49-F238E27FC236}">
                <a16:creationId xmlns:a16="http://schemas.microsoft.com/office/drawing/2014/main" id="{975D136A-FEFB-9E40-BA33-B33E91228F15}"/>
              </a:ext>
            </a:extLst>
          </p:cNvPr>
          <p:cNvSpPr txBox="1">
            <a:spLocks noChangeArrowheads="1"/>
          </p:cNvSpPr>
          <p:nvPr/>
        </p:nvSpPr>
        <p:spPr bwMode="auto">
          <a:xfrm>
            <a:off x="5695806" y="36441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348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491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506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4" name="Oval 120">
            <a:extLst>
              <a:ext uri="{FF2B5EF4-FFF2-40B4-BE49-F238E27FC236}">
                <a16:creationId xmlns:a16="http://schemas.microsoft.com/office/drawing/2014/main" id="{A77294DB-DD97-F741-82FD-F8B94839A458}"/>
              </a:ext>
            </a:extLst>
          </p:cNvPr>
          <p:cNvSpPr>
            <a:spLocks noChangeArrowheads="1"/>
          </p:cNvSpPr>
          <p:nvPr/>
        </p:nvSpPr>
        <p:spPr bwMode="auto">
          <a:xfrm>
            <a:off x="639271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P2</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Oval 128">
            <a:extLst>
              <a:ext uri="{FF2B5EF4-FFF2-40B4-BE49-F238E27FC236}">
                <a16:creationId xmlns:a16="http://schemas.microsoft.com/office/drawing/2014/main" id="{AAD00A20-9526-2F4E-9C87-C3B249C8E909}"/>
              </a:ext>
            </a:extLst>
          </p:cNvPr>
          <p:cNvSpPr>
            <a:spLocks noChangeArrowheads="1"/>
          </p:cNvSpPr>
          <p:nvPr/>
        </p:nvSpPr>
        <p:spPr bwMode="auto">
          <a:xfrm>
            <a:off x="568786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P1</a:t>
            </a:r>
          </a:p>
        </p:txBody>
      </p:sp>
      <p:grpSp>
        <p:nvGrpSpPr>
          <p:cNvPr id="158" name="Group 134">
            <a:extLst>
              <a:ext uri="{FF2B5EF4-FFF2-40B4-BE49-F238E27FC236}">
                <a16:creationId xmlns:a16="http://schemas.microsoft.com/office/drawing/2014/main" id="{015BC705-D8E3-EA41-A198-6A8DDB031BE2}"/>
              </a:ext>
            </a:extLst>
          </p:cNvPr>
          <p:cNvGrpSpPr>
            <a:grpSpLocks/>
          </p:cNvGrpSpPr>
          <p:nvPr/>
        </p:nvGrpSpPr>
        <p:grpSpPr bwMode="auto">
          <a:xfrm>
            <a:off x="6468918" y="4377607"/>
            <a:ext cx="412750" cy="158750"/>
            <a:chOff x="1383" y="2620"/>
            <a:chExt cx="260" cy="100"/>
          </a:xfrm>
        </p:grpSpPr>
        <p:sp>
          <p:nvSpPr>
            <p:cNvPr id="159" name="Rectangle 130">
              <a:extLst>
                <a:ext uri="{FF2B5EF4-FFF2-40B4-BE49-F238E27FC236}">
                  <a16:creationId xmlns:a16="http://schemas.microsoft.com/office/drawing/2014/main" id="{617E09BE-67A7-E846-8718-4C5F4E894E09}"/>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Rectangle 131">
              <a:extLst>
                <a:ext uri="{FF2B5EF4-FFF2-40B4-BE49-F238E27FC236}">
                  <a16:creationId xmlns:a16="http://schemas.microsoft.com/office/drawing/2014/main" id="{DAEC0345-B8B5-6942-9E07-837C51C11EAA}"/>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1" name="Rectangle 132">
              <a:extLst>
                <a:ext uri="{FF2B5EF4-FFF2-40B4-BE49-F238E27FC236}">
                  <a16:creationId xmlns:a16="http://schemas.microsoft.com/office/drawing/2014/main" id="{CBC575E8-9188-C944-A373-1BE60CEDE44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2" name="Rectangle 133">
              <a:extLst>
                <a:ext uri="{FF2B5EF4-FFF2-40B4-BE49-F238E27FC236}">
                  <a16:creationId xmlns:a16="http://schemas.microsoft.com/office/drawing/2014/main" id="{5CBAC889-4624-214B-8DD0-1C5D2121C35A}"/>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3" name="Group 135">
            <a:extLst>
              <a:ext uri="{FF2B5EF4-FFF2-40B4-BE49-F238E27FC236}">
                <a16:creationId xmlns:a16="http://schemas.microsoft.com/office/drawing/2014/main" id="{E0C06B10-B8DE-5649-9DA7-1C38410338CA}"/>
              </a:ext>
            </a:extLst>
          </p:cNvPr>
          <p:cNvGrpSpPr>
            <a:grpSpLocks/>
          </p:cNvGrpSpPr>
          <p:nvPr/>
        </p:nvGrpSpPr>
        <p:grpSpPr bwMode="auto">
          <a:xfrm>
            <a:off x="5767243" y="4369669"/>
            <a:ext cx="412750" cy="158750"/>
            <a:chOff x="1383" y="2620"/>
            <a:chExt cx="260" cy="100"/>
          </a:xfrm>
        </p:grpSpPr>
        <p:sp>
          <p:nvSpPr>
            <p:cNvPr id="164" name="Rectangle 136">
              <a:extLst>
                <a:ext uri="{FF2B5EF4-FFF2-40B4-BE49-F238E27FC236}">
                  <a16:creationId xmlns:a16="http://schemas.microsoft.com/office/drawing/2014/main" id="{90DDD937-6604-0E4A-BC22-D3086933313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5" name="Rectangle 137">
              <a:extLst>
                <a:ext uri="{FF2B5EF4-FFF2-40B4-BE49-F238E27FC236}">
                  <a16:creationId xmlns:a16="http://schemas.microsoft.com/office/drawing/2014/main" id="{12ACDF7C-B3D8-9B4A-BD4A-D8CF4A028253}"/>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138">
              <a:extLst>
                <a:ext uri="{FF2B5EF4-FFF2-40B4-BE49-F238E27FC236}">
                  <a16:creationId xmlns:a16="http://schemas.microsoft.com/office/drawing/2014/main" id="{BBABF61C-A52E-5440-86D9-57F0C4530FF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9">
              <a:extLst>
                <a:ext uri="{FF2B5EF4-FFF2-40B4-BE49-F238E27FC236}">
                  <a16:creationId xmlns:a16="http://schemas.microsoft.com/office/drawing/2014/main" id="{32461327-4600-6E4F-AB44-FD06E8C35B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79035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69523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56393" y="54094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1420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1" name="Oval 101">
            <a:extLst>
              <a:ext uri="{FF2B5EF4-FFF2-40B4-BE49-F238E27FC236}">
                <a16:creationId xmlns:a16="http://schemas.microsoft.com/office/drawing/2014/main" id="{092F802C-72A1-EE41-9CEB-72883AD3F29F}"/>
              </a:ext>
            </a:extLst>
          </p:cNvPr>
          <p:cNvSpPr>
            <a:spLocks noChangeArrowheads="1"/>
          </p:cNvSpPr>
          <p:nvPr/>
        </p:nvSpPr>
        <p:spPr bwMode="auto">
          <a:xfrm>
            <a:off x="8216756" y="4379194"/>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P4</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7982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031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174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2214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95" name="Oval 23">
            <a:extLst>
              <a:ext uri="{FF2B5EF4-FFF2-40B4-BE49-F238E27FC236}">
                <a16:creationId xmlns:a16="http://schemas.microsoft.com/office/drawing/2014/main" id="{34D7692A-81D8-4D48-8FE7-F92A1F47470B}"/>
              </a:ext>
            </a:extLst>
          </p:cNvPr>
          <p:cNvSpPr>
            <a:spLocks noChangeArrowheads="1"/>
          </p:cNvSpPr>
          <p:nvPr/>
        </p:nvSpPr>
        <p:spPr bwMode="auto">
          <a:xfrm>
            <a:off x="3871768" y="43871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P3</a:t>
            </a:r>
          </a:p>
        </p:txBody>
      </p:sp>
      <p:grpSp>
        <p:nvGrpSpPr>
          <p:cNvPr id="196" name="Group 149">
            <a:extLst>
              <a:ext uri="{FF2B5EF4-FFF2-40B4-BE49-F238E27FC236}">
                <a16:creationId xmlns:a16="http://schemas.microsoft.com/office/drawing/2014/main" id="{21881EDC-E749-4F46-8C1C-B44DD21BA9AD}"/>
              </a:ext>
            </a:extLst>
          </p:cNvPr>
          <p:cNvGrpSpPr>
            <a:grpSpLocks/>
          </p:cNvGrpSpPr>
          <p:nvPr/>
        </p:nvGrpSpPr>
        <p:grpSpPr bwMode="auto">
          <a:xfrm>
            <a:off x="3962256" y="4725269"/>
            <a:ext cx="412750" cy="158750"/>
            <a:chOff x="1287" y="2524"/>
            <a:chExt cx="260" cy="100"/>
          </a:xfrm>
        </p:grpSpPr>
        <p:sp>
          <p:nvSpPr>
            <p:cNvPr id="197" name="Rectangle 73">
              <a:extLst>
                <a:ext uri="{FF2B5EF4-FFF2-40B4-BE49-F238E27FC236}">
                  <a16:creationId xmlns:a16="http://schemas.microsoft.com/office/drawing/2014/main" id="{F3D0248D-63A0-3447-AD45-C92BA38B99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Rectangle 74">
              <a:extLst>
                <a:ext uri="{FF2B5EF4-FFF2-40B4-BE49-F238E27FC236}">
                  <a16:creationId xmlns:a16="http://schemas.microsoft.com/office/drawing/2014/main" id="{A8C44BD4-B473-EA48-B1D2-4212120DE72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5">
              <a:extLst>
                <a:ext uri="{FF2B5EF4-FFF2-40B4-BE49-F238E27FC236}">
                  <a16:creationId xmlns:a16="http://schemas.microsoft.com/office/drawing/2014/main" id="{08B6F9A7-9AD7-B040-B431-D7898B46726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29">
              <a:extLst>
                <a:ext uri="{FF2B5EF4-FFF2-40B4-BE49-F238E27FC236}">
                  <a16:creationId xmlns:a16="http://schemas.microsoft.com/office/drawing/2014/main" id="{310C322C-F672-7946-BD16-DA4CE50EE1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01" name="Group 150">
            <a:extLst>
              <a:ext uri="{FF2B5EF4-FFF2-40B4-BE49-F238E27FC236}">
                <a16:creationId xmlns:a16="http://schemas.microsoft.com/office/drawing/2014/main" id="{C5660C67-80CE-084B-8B8D-F5CCCDA73638}"/>
              </a:ext>
            </a:extLst>
          </p:cNvPr>
          <p:cNvGrpSpPr>
            <a:grpSpLocks/>
          </p:cNvGrpSpPr>
          <p:nvPr/>
        </p:nvGrpSpPr>
        <p:grpSpPr bwMode="auto">
          <a:xfrm>
            <a:off x="8302481" y="4723682"/>
            <a:ext cx="412750" cy="158750"/>
            <a:chOff x="1287" y="2524"/>
            <a:chExt cx="260" cy="100"/>
          </a:xfrm>
        </p:grpSpPr>
        <p:sp>
          <p:nvSpPr>
            <p:cNvPr id="202" name="Rectangle 151">
              <a:extLst>
                <a:ext uri="{FF2B5EF4-FFF2-40B4-BE49-F238E27FC236}">
                  <a16:creationId xmlns:a16="http://schemas.microsoft.com/office/drawing/2014/main" id="{E39443DC-01F4-7A42-BC3B-BD48B19524D4}"/>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Rectangle 152">
              <a:extLst>
                <a:ext uri="{FF2B5EF4-FFF2-40B4-BE49-F238E27FC236}">
                  <a16:creationId xmlns:a16="http://schemas.microsoft.com/office/drawing/2014/main" id="{810BA023-C5B8-434B-9FF4-507BAFBB255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53">
              <a:extLst>
                <a:ext uri="{FF2B5EF4-FFF2-40B4-BE49-F238E27FC236}">
                  <a16:creationId xmlns:a16="http://schemas.microsoft.com/office/drawing/2014/main" id="{48739CB2-AA1C-8B4E-8D0B-CFBBB2A4F3F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Rectangle 154">
              <a:extLst>
                <a:ext uri="{FF2B5EF4-FFF2-40B4-BE49-F238E27FC236}">
                  <a16:creationId xmlns:a16="http://schemas.microsoft.com/office/drawing/2014/main" id="{435BB581-5D52-C345-BA75-358EC9A4374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6" name="Freeform 146">
            <a:extLst>
              <a:ext uri="{FF2B5EF4-FFF2-40B4-BE49-F238E27FC236}">
                <a16:creationId xmlns:a16="http://schemas.microsoft.com/office/drawing/2014/main" id="{8EB20ED3-9276-204C-BA00-A485E0531DD2}"/>
              </a:ext>
            </a:extLst>
          </p:cNvPr>
          <p:cNvSpPr>
            <a:spLocks/>
          </p:cNvSpPr>
          <p:nvPr/>
        </p:nvSpPr>
        <p:spPr bwMode="auto">
          <a:xfrm>
            <a:off x="6349856" y="4425232"/>
            <a:ext cx="2173287" cy="1989137"/>
          </a:xfrm>
          <a:custGeom>
            <a:avLst/>
            <a:gdLst>
              <a:gd name="T0" fmla="*/ 2147483647 w 1369"/>
              <a:gd name="T1" fmla="*/ 2147483647 h 1253"/>
              <a:gd name="T2" fmla="*/ 2147483647 w 1369"/>
              <a:gd name="T3" fmla="*/ 2147483647 h 1253"/>
              <a:gd name="T4" fmla="*/ 2147483647 w 1369"/>
              <a:gd name="T5" fmla="*/ 2147483647 h 1253"/>
              <a:gd name="T6" fmla="*/ 0 w 1369"/>
              <a:gd name="T7" fmla="*/ 2147483647 h 1253"/>
              <a:gd name="T8" fmla="*/ 2147483647 w 1369"/>
              <a:gd name="T9" fmla="*/ 0 h 1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9" h="1253">
                <a:moveTo>
                  <a:pt x="1369" y="216"/>
                </a:moveTo>
                <a:lnTo>
                  <a:pt x="1362" y="1252"/>
                </a:lnTo>
                <a:lnTo>
                  <a:pt x="16" y="1253"/>
                </a:lnTo>
                <a:lnTo>
                  <a:pt x="0" y="121"/>
                </a:lnTo>
                <a:lnTo>
                  <a:pt x="191"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7" name="Freeform 147">
            <a:extLst>
              <a:ext uri="{FF2B5EF4-FFF2-40B4-BE49-F238E27FC236}">
                <a16:creationId xmlns:a16="http://schemas.microsoft.com/office/drawing/2014/main" id="{911482D4-C931-F64A-A760-F208DA9E7FB6}"/>
              </a:ext>
            </a:extLst>
          </p:cNvPr>
          <p:cNvSpPr>
            <a:spLocks/>
          </p:cNvSpPr>
          <p:nvPr/>
        </p:nvSpPr>
        <p:spPr bwMode="auto">
          <a:xfrm>
            <a:off x="6468918" y="4456982"/>
            <a:ext cx="1984375" cy="1876425"/>
          </a:xfrm>
          <a:custGeom>
            <a:avLst/>
            <a:gdLst>
              <a:gd name="T0" fmla="*/ 2147483647 w 1250"/>
              <a:gd name="T1" fmla="*/ 2147483647 h 1182"/>
              <a:gd name="T2" fmla="*/ 2147483647 w 1250"/>
              <a:gd name="T3" fmla="*/ 2147483647 h 1182"/>
              <a:gd name="T4" fmla="*/ 2147483647 w 1250"/>
              <a:gd name="T5" fmla="*/ 2147483647 h 1182"/>
              <a:gd name="T6" fmla="*/ 0 w 1250"/>
              <a:gd name="T7" fmla="*/ 2147483647 h 1182"/>
              <a:gd name="T8" fmla="*/ 2147483647 w 1250"/>
              <a:gd name="T9" fmla="*/ 0 h 1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0" h="1182">
                <a:moveTo>
                  <a:pt x="1250" y="190"/>
                </a:moveTo>
                <a:lnTo>
                  <a:pt x="1244" y="1182"/>
                </a:lnTo>
                <a:lnTo>
                  <a:pt x="19" y="1181"/>
                </a:lnTo>
                <a:lnTo>
                  <a:pt x="0" y="155"/>
                </a:lnTo>
                <a:lnTo>
                  <a:pt x="171"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8" name="Oval 36">
            <a:extLst>
              <a:ext uri="{FF2B5EF4-FFF2-40B4-BE49-F238E27FC236}">
                <a16:creationId xmlns:a16="http://schemas.microsoft.com/office/drawing/2014/main" id="{6C459D77-5631-504A-9CB0-A48BD9C61B3E}"/>
              </a:ext>
            </a:extLst>
          </p:cNvPr>
          <p:cNvSpPr>
            <a:spLocks noChangeArrowheads="1"/>
          </p:cNvSpPr>
          <p:nvPr/>
        </p:nvSpPr>
        <p:spPr bwMode="auto">
          <a:xfrm>
            <a:off x="9809018" y="453635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omic Sans MS" charset="0"/>
              <a:ea typeface="ＭＳ Ｐゴシック" charset="0"/>
              <a:cs typeface="+mn-cs"/>
            </a:endParaRPr>
          </a:p>
        </p:txBody>
      </p:sp>
      <p:grpSp>
        <p:nvGrpSpPr>
          <p:cNvPr id="8" name="Group 7"/>
          <p:cNvGrpSpPr/>
          <p:nvPr/>
        </p:nvGrpSpPr>
        <p:grpSpPr>
          <a:xfrm>
            <a:off x="6060931" y="4663331"/>
            <a:ext cx="555332" cy="71510"/>
            <a:chOff x="1420065" y="5012608"/>
            <a:chExt cx="555332" cy="71510"/>
          </a:xfrm>
        </p:grpSpPr>
        <p:sp>
          <p:nvSpPr>
            <p:cNvPr id="210" name="Oval 166">
              <a:extLst>
                <a:ext uri="{FF2B5EF4-FFF2-40B4-BE49-F238E27FC236}">
                  <a16:creationId xmlns:a16="http://schemas.microsoft.com/office/drawing/2014/main" id="{ADD1825C-C7DB-6844-A3DF-BCF2BA1F0533}"/>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Oval 167">
              <a:extLst>
                <a:ext uri="{FF2B5EF4-FFF2-40B4-BE49-F238E27FC236}">
                  <a16:creationId xmlns:a16="http://schemas.microsoft.com/office/drawing/2014/main" id="{0600B33C-3B3C-0646-85DB-B042B7A87603}"/>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Freeform 168">
            <a:extLst>
              <a:ext uri="{FF2B5EF4-FFF2-40B4-BE49-F238E27FC236}">
                <a16:creationId xmlns:a16="http://schemas.microsoft.com/office/drawing/2014/main" id="{202E5E96-F7A0-1448-90F0-6A79F4073978}"/>
              </a:ext>
            </a:extLst>
          </p:cNvPr>
          <p:cNvSpPr>
            <a:spLocks/>
          </p:cNvSpPr>
          <p:nvPr/>
        </p:nvSpPr>
        <p:spPr bwMode="auto">
          <a:xfrm>
            <a:off x="5311630" y="3275882"/>
            <a:ext cx="688975" cy="1435100"/>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3" name="Group 172">
            <a:extLst>
              <a:ext uri="{FF2B5EF4-FFF2-40B4-BE49-F238E27FC236}">
                <a16:creationId xmlns:a16="http://schemas.microsoft.com/office/drawing/2014/main" id="{A2D29F5F-484F-7547-9B9A-8974E37BD10F}"/>
              </a:ext>
            </a:extLst>
          </p:cNvPr>
          <p:cNvGrpSpPr>
            <a:grpSpLocks/>
          </p:cNvGrpSpPr>
          <p:nvPr/>
        </p:nvGrpSpPr>
        <p:grpSpPr bwMode="auto">
          <a:xfrm>
            <a:off x="6211743" y="3239369"/>
            <a:ext cx="1047750" cy="1441450"/>
            <a:chOff x="2432" y="1758"/>
            <a:chExt cx="660" cy="908"/>
          </a:xfrm>
        </p:grpSpPr>
        <p:sp>
          <p:nvSpPr>
            <p:cNvPr id="214" name="Oval 170">
              <a:extLst>
                <a:ext uri="{FF2B5EF4-FFF2-40B4-BE49-F238E27FC236}">
                  <a16:creationId xmlns:a16="http://schemas.microsoft.com/office/drawing/2014/main" id="{E03C7F13-7247-C24D-85C2-723A1405F160}"/>
                </a:ext>
              </a:extLst>
            </p:cNvPr>
            <p:cNvSpPr>
              <a:spLocks noChangeArrowheads="1"/>
            </p:cNvSpPr>
            <p:nvPr/>
          </p:nvSpPr>
          <p:spPr bwMode="auto">
            <a:xfrm>
              <a:off x="2432" y="2564"/>
              <a:ext cx="144" cy="102"/>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Freeform 171">
              <a:extLst>
                <a:ext uri="{FF2B5EF4-FFF2-40B4-BE49-F238E27FC236}">
                  <a16:creationId xmlns:a16="http://schemas.microsoft.com/office/drawing/2014/main" id="{9BC6BA8A-16A3-F446-97F4-76774828464D}"/>
                </a:ext>
              </a:extLst>
            </p:cNvPr>
            <p:cNvSpPr>
              <a:spLocks/>
            </p:cNvSpPr>
            <p:nvPr/>
          </p:nvSpPr>
          <p:spPr bwMode="auto">
            <a:xfrm>
              <a:off x="2506" y="1758"/>
              <a:ext cx="586" cy="810"/>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5" name="Group 176">
            <a:extLst>
              <a:ext uri="{FF2B5EF4-FFF2-40B4-BE49-F238E27FC236}">
                <a16:creationId xmlns:a16="http://schemas.microsoft.com/office/drawing/2014/main" id="{A688A9DA-2CE4-9245-B0CF-12C3AB6DA03D}"/>
              </a:ext>
            </a:extLst>
          </p:cNvPr>
          <p:cNvGrpSpPr>
            <a:grpSpLocks/>
          </p:cNvGrpSpPr>
          <p:nvPr/>
        </p:nvGrpSpPr>
        <p:grpSpPr bwMode="auto">
          <a:xfrm>
            <a:off x="1183088" y="1563001"/>
            <a:ext cx="4826032" cy="1719654"/>
            <a:chOff x="5" y="727"/>
            <a:chExt cx="2460" cy="1047"/>
          </a:xfrm>
        </p:grpSpPr>
        <p:sp>
          <p:nvSpPr>
            <p:cNvPr id="256" name="Text Box 45">
              <a:extLst>
                <a:ext uri="{FF2B5EF4-FFF2-40B4-BE49-F238E27FC236}">
                  <a16:creationId xmlns:a16="http://schemas.microsoft.com/office/drawing/2014/main" id="{08227C49-D6DA-834A-88D1-4F61E7C3A2C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57" name="Rectangle 46">
              <a:extLst>
                <a:ext uri="{FF2B5EF4-FFF2-40B4-BE49-F238E27FC236}">
                  <a16:creationId xmlns:a16="http://schemas.microsoft.com/office/drawing/2014/main" id="{3B2C1C25-63A3-9D42-A34A-56DE5B3AC226}"/>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58" name="Group 47">
              <a:extLst>
                <a:ext uri="{FF2B5EF4-FFF2-40B4-BE49-F238E27FC236}">
                  <a16:creationId xmlns:a16="http://schemas.microsoft.com/office/drawing/2014/main" id="{9141C6D7-5B52-C14E-B286-0BE1FAEACCB8}"/>
                </a:ext>
              </a:extLst>
            </p:cNvPr>
            <p:cNvGrpSpPr>
              <a:grpSpLocks/>
            </p:cNvGrpSpPr>
            <p:nvPr/>
          </p:nvGrpSpPr>
          <p:grpSpPr bwMode="auto">
            <a:xfrm>
              <a:off x="91" y="727"/>
              <a:ext cx="1854" cy="375"/>
              <a:chOff x="869" y="3567"/>
              <a:chExt cx="1780" cy="375"/>
            </a:xfrm>
          </p:grpSpPr>
          <p:sp>
            <p:nvSpPr>
              <p:cNvPr id="259" name="Rectangle 48">
                <a:extLst>
                  <a:ext uri="{FF2B5EF4-FFF2-40B4-BE49-F238E27FC236}">
                    <a16:creationId xmlns:a16="http://schemas.microsoft.com/office/drawing/2014/main" id="{9B8AF1CA-3C6F-F243-9464-0DF4CA71C4FF}"/>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260" name="Text Box 49">
                <a:extLst>
                  <a:ext uri="{FF2B5EF4-FFF2-40B4-BE49-F238E27FC236}">
                    <a16:creationId xmlns:a16="http://schemas.microsoft.com/office/drawing/2014/main" id="{70A5AF43-DDA0-2A40-9B92-B39F358268CD}"/>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as sender:</a:t>
                </a:r>
              </a:p>
            </p:txBody>
          </p:sp>
        </p:grpSp>
      </p:grpSp>
      <p:sp>
        <p:nvSpPr>
          <p:cNvPr id="169" name="Freeform 142">
            <a:extLst>
              <a:ext uri="{FF2B5EF4-FFF2-40B4-BE49-F238E27FC236}">
                <a16:creationId xmlns:a16="http://schemas.microsoft.com/office/drawing/2014/main" id="{9633E13F-8D02-CA4B-A3EB-E64D4EB42802}"/>
              </a:ext>
            </a:extLst>
          </p:cNvPr>
          <p:cNvSpPr>
            <a:spLocks/>
          </p:cNvSpPr>
          <p:nvPr/>
        </p:nvSpPr>
        <p:spPr bwMode="auto">
          <a:xfrm>
            <a:off x="4198793" y="4458569"/>
            <a:ext cx="1962150" cy="1897063"/>
          </a:xfrm>
          <a:custGeom>
            <a:avLst/>
            <a:gdLst>
              <a:gd name="T0" fmla="*/ 0 w 1236"/>
              <a:gd name="T1" fmla="*/ 2147483647 h 1195"/>
              <a:gd name="T2" fmla="*/ 2147483647 w 1236"/>
              <a:gd name="T3" fmla="*/ 2147483647 h 1195"/>
              <a:gd name="T4" fmla="*/ 2147483647 w 1236"/>
              <a:gd name="T5" fmla="*/ 2147483647 h 1195"/>
              <a:gd name="T6" fmla="*/ 2147483647 w 1236"/>
              <a:gd name="T7" fmla="*/ 2147483647 h 1195"/>
              <a:gd name="T8" fmla="*/ 2147483647 w 1236"/>
              <a:gd name="T9" fmla="*/ 0 h 11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6" h="1195">
                <a:moveTo>
                  <a:pt x="0" y="202"/>
                </a:moveTo>
                <a:lnTo>
                  <a:pt x="6" y="1194"/>
                </a:lnTo>
                <a:lnTo>
                  <a:pt x="1236" y="1195"/>
                </a:lnTo>
                <a:lnTo>
                  <a:pt x="1227" y="150"/>
                </a:lnTo>
                <a:lnTo>
                  <a:pt x="1069"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Freeform 141">
            <a:extLst>
              <a:ext uri="{FF2B5EF4-FFF2-40B4-BE49-F238E27FC236}">
                <a16:creationId xmlns:a16="http://schemas.microsoft.com/office/drawing/2014/main" id="{68E70704-F4BA-164C-AD06-3859E25D67E2}"/>
              </a:ext>
            </a:extLst>
          </p:cNvPr>
          <p:cNvSpPr>
            <a:spLocks/>
          </p:cNvSpPr>
          <p:nvPr/>
        </p:nvSpPr>
        <p:spPr bwMode="auto">
          <a:xfrm>
            <a:off x="4135293" y="4433169"/>
            <a:ext cx="2160588" cy="1989138"/>
          </a:xfrm>
          <a:custGeom>
            <a:avLst/>
            <a:gdLst>
              <a:gd name="T0" fmla="*/ 0 w 1361"/>
              <a:gd name="T1" fmla="*/ 2147483647 h 1253"/>
              <a:gd name="T2" fmla="*/ 2147483647 w 1361"/>
              <a:gd name="T3" fmla="*/ 2147483647 h 1253"/>
              <a:gd name="T4" fmla="*/ 2147483647 w 1361"/>
              <a:gd name="T5" fmla="*/ 2147483647 h 1253"/>
              <a:gd name="T6" fmla="*/ 2147483647 w 1361"/>
              <a:gd name="T7" fmla="*/ 2147483647 h 1253"/>
              <a:gd name="T8" fmla="*/ 2147483647 w 1361"/>
              <a:gd name="T9" fmla="*/ 2147483647 h 1253"/>
              <a:gd name="T10" fmla="*/ 2147483647 w 1361"/>
              <a:gd name="T11" fmla="*/ 0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1" h="1253">
                <a:moveTo>
                  <a:pt x="0" y="216"/>
                </a:moveTo>
                <a:lnTo>
                  <a:pt x="7" y="1252"/>
                </a:lnTo>
                <a:lnTo>
                  <a:pt x="1320" y="1253"/>
                </a:lnTo>
                <a:lnTo>
                  <a:pt x="1361" y="1252"/>
                </a:lnTo>
                <a:lnTo>
                  <a:pt x="1353" y="114"/>
                </a:lnTo>
                <a:lnTo>
                  <a:pt x="1178"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4450940" y="4321755"/>
            <a:ext cx="3748969" cy="114880"/>
            <a:chOff x="4450940" y="4321755"/>
            <a:chExt cx="3748969" cy="114880"/>
          </a:xfrm>
        </p:grpSpPr>
        <p:sp>
          <p:nvSpPr>
            <p:cNvPr id="6" name="Left-Right Arrow 5"/>
            <p:cNvSpPr/>
            <p:nvPr/>
          </p:nvSpPr>
          <p:spPr>
            <a:xfrm rot="20821812">
              <a:off x="4450940" y="4321755"/>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1" name="Left-Right Arrow 260"/>
            <p:cNvSpPr/>
            <p:nvPr/>
          </p:nvSpPr>
          <p:spPr>
            <a:xfrm rot="778188" flipV="1">
              <a:off x="6983757" y="4337631"/>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209" name="Slide Number Placeholder 2">
            <a:extLst>
              <a:ext uri="{FF2B5EF4-FFF2-40B4-BE49-F238E27FC236}">
                <a16:creationId xmlns:a16="http://schemas.microsoft.com/office/drawing/2014/main" id="{1BB112E7-9179-7C48-99F0-38E45F5BCF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4452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55"/>
                                        </p:tgtEl>
                                        <p:attrNameLst>
                                          <p:attrName>style.visibility</p:attrName>
                                        </p:attrNameLst>
                                      </p:cBhvr>
                                      <p:to>
                                        <p:strVal val="visible"/>
                                      </p:to>
                                    </p:set>
                                    <p:animEffect transition="in" filter="dissolve">
                                      <p:cBhvr>
                                        <p:cTn id="15" dur="500"/>
                                        <p:tgtEl>
                                          <p:spTgt spid="25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2"/>
                                        </p:tgtEl>
                                        <p:attrNameLst>
                                          <p:attrName>style.visibility</p:attrName>
                                        </p:attrNameLst>
                                      </p:cBhvr>
                                      <p:to>
                                        <p:strVal val="visible"/>
                                      </p:to>
                                    </p:set>
                                    <p:animEffect transition="in" filter="dissolve">
                                      <p:cBhvr>
                                        <p:cTn id="18" dur="500"/>
                                        <p:tgtEl>
                                          <p:spTgt spid="212"/>
                                        </p:tgtEl>
                                      </p:cBhvr>
                                    </p:animEffect>
                                  </p:childTnLst>
                                </p:cTn>
                              </p:par>
                              <p:par>
                                <p:cTn id="19" presetID="9"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13"/>
                                        </p:tgtEl>
                                        <p:attrNameLst>
                                          <p:attrName>style.visibility</p:attrName>
                                        </p:attrNameLst>
                                      </p:cBhvr>
                                      <p:to>
                                        <p:strVal val="visible"/>
                                      </p:to>
                                    </p:se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68"/>
                                        </p:tgtEl>
                                        <p:attrNameLst>
                                          <p:attrName>style.visibility</p:attrName>
                                        </p:attrNameLst>
                                      </p:cBhvr>
                                      <p:to>
                                        <p:strVal val="visible"/>
                                      </p:to>
                                    </p:set>
                                    <p:animEffect transition="in" filter="dissolve">
                                      <p:cBhvr>
                                        <p:cTn id="31" dur="500"/>
                                        <p:tgtEl>
                                          <p:spTgt spid="16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06"/>
                                        </p:tgtEl>
                                        <p:attrNameLst>
                                          <p:attrName>style.visibility</p:attrName>
                                        </p:attrNameLst>
                                      </p:cBhvr>
                                      <p:to>
                                        <p:strVal val="visible"/>
                                      </p:to>
                                    </p:set>
                                    <p:animEffect transition="in" filter="dissolve">
                                      <p:cBhvr>
                                        <p:cTn id="34" dur="500"/>
                                        <p:tgtEl>
                                          <p:spTgt spid="206"/>
                                        </p:tgtEl>
                                      </p:cBhvr>
                                    </p:animEffect>
                                  </p:childTnLst>
                                </p:cTn>
                              </p:par>
                              <p:par>
                                <p:cTn id="35" presetID="9" presetClass="exit" presetSubtype="0" fill="hold" grpId="0" nodeType="withEffect">
                                  <p:stCondLst>
                                    <p:cond delay="0"/>
                                  </p:stCondLst>
                                  <p:childTnLst>
                                    <p:animEffect transition="out" filter="dissolve">
                                      <p:cBhvr>
                                        <p:cTn id="36" dur="500"/>
                                        <p:tgtEl>
                                          <p:spTgt spid="169"/>
                                        </p:tgtEl>
                                      </p:cBhvr>
                                    </p:animEffect>
                                    <p:set>
                                      <p:cBhvr>
                                        <p:cTn id="37" dur="1" fill="hold">
                                          <p:stCondLst>
                                            <p:cond delay="499"/>
                                          </p:stCondLst>
                                        </p:cTn>
                                        <p:tgtEl>
                                          <p:spTgt spid="16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212"/>
                                        </p:tgtEl>
                                      </p:cBhvr>
                                    </p:animEffect>
                                    <p:set>
                                      <p:cBhvr>
                                        <p:cTn id="43" dur="1" fill="hold">
                                          <p:stCondLst>
                                            <p:cond delay="499"/>
                                          </p:stCondLst>
                                        </p:cTn>
                                        <p:tgtEl>
                                          <p:spTgt spid="212"/>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55"/>
                                        </p:tgtEl>
                                      </p:cBhvr>
                                    </p:animEffect>
                                    <p:set>
                                      <p:cBhvr>
                                        <p:cTn id="46" dur="1" fill="hold">
                                          <p:stCondLst>
                                            <p:cond delay="499"/>
                                          </p:stCondLst>
                                        </p:cTn>
                                        <p:tgtEl>
                                          <p:spTgt spid="255"/>
                                        </p:tgtEl>
                                        <p:attrNameLst>
                                          <p:attrName>style.visibility</p:attrName>
                                        </p:attrNameLst>
                                      </p:cBhvr>
                                      <p:to>
                                        <p:strVal val="hidden"/>
                                      </p:to>
                                    </p:set>
                                  </p:childTnLst>
                                </p:cTn>
                              </p:par>
                              <p:par>
                                <p:cTn id="47" presetID="9" presetClass="exit" presetSubtype="0" fill="hold" grpId="0" nodeType="withEffect">
                                  <p:stCondLst>
                                    <p:cond delay="0"/>
                                  </p:stCondLst>
                                  <p:childTnLst>
                                    <p:animEffect transition="out" filter="dissolve">
                                      <p:cBhvr>
                                        <p:cTn id="48" dur="500"/>
                                        <p:tgtEl>
                                          <p:spTgt spid="207"/>
                                        </p:tgtEl>
                                      </p:cBhvr>
                                    </p:animEffect>
                                    <p:set>
                                      <p:cBhvr>
                                        <p:cTn id="49" dur="1" fill="hold">
                                          <p:stCondLst>
                                            <p:cond delay="499"/>
                                          </p:stCondLst>
                                        </p:cTn>
                                        <p:tgtEl>
                                          <p:spTgt spid="20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animBg="1"/>
      <p:bldP spid="212" grpId="0" animBg="1"/>
      <p:bldP spid="212" grpId="1" animBg="1"/>
      <p:bldP spid="169" grpId="0" animBg="1"/>
      <p:bldP spid="168"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7480C6A1-B418-BAFF-0A9B-DF3373520BD3}"/>
              </a:ext>
            </a:extLst>
          </p:cNvPr>
          <p:cNvGrpSpPr/>
          <p:nvPr/>
        </p:nvGrpSpPr>
        <p:grpSpPr>
          <a:xfrm>
            <a:off x="5844802" y="2291678"/>
            <a:ext cx="1108206" cy="369332"/>
            <a:chOff x="5844802" y="2291678"/>
            <a:chExt cx="1108206" cy="369332"/>
          </a:xfrm>
        </p:grpSpPr>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44802" y="2291678"/>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a:t>
            </a:fld>
            <a:endParaRPr lang="en-US" dirty="0"/>
          </a:p>
        </p:txBody>
      </p:sp>
      <p:grpSp>
        <p:nvGrpSpPr>
          <p:cNvPr id="10" name="Group 9">
            <a:extLst>
              <a:ext uri="{FF2B5EF4-FFF2-40B4-BE49-F238E27FC236}">
                <a16:creationId xmlns:a16="http://schemas.microsoft.com/office/drawing/2014/main" id="{D8F1E19D-C79D-0399-56EA-1548EEA2BB22}"/>
              </a:ext>
            </a:extLst>
          </p:cNvPr>
          <p:cNvGrpSpPr/>
          <p:nvPr/>
        </p:nvGrpSpPr>
        <p:grpSpPr>
          <a:xfrm>
            <a:off x="5528837" y="2685375"/>
            <a:ext cx="1404036" cy="384588"/>
            <a:chOff x="8597346" y="692270"/>
            <a:chExt cx="1404036" cy="384588"/>
          </a:xfrm>
        </p:grpSpPr>
        <p:sp>
          <p:nvSpPr>
            <p:cNvPr id="12" name="Rectangle 11">
              <a:extLst>
                <a:ext uri="{FF2B5EF4-FFF2-40B4-BE49-F238E27FC236}">
                  <a16:creationId xmlns:a16="http://schemas.microsoft.com/office/drawing/2014/main" id="{545E4894-255A-88E4-2AC9-82A2C51C90CE}"/>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F8C4C298-170E-3D5D-F527-651548E2EB1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14" name="TextBox 13">
              <a:extLst>
                <a:ext uri="{FF2B5EF4-FFF2-40B4-BE49-F238E27FC236}">
                  <a16:creationId xmlns:a16="http://schemas.microsoft.com/office/drawing/2014/main" id="{4315BD13-0EBF-E48C-A912-8A2018D96B53}"/>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grpSp>
        <p:nvGrpSpPr>
          <p:cNvPr id="21" name="Group 20">
            <a:extLst>
              <a:ext uri="{FF2B5EF4-FFF2-40B4-BE49-F238E27FC236}">
                <a16:creationId xmlns:a16="http://schemas.microsoft.com/office/drawing/2014/main" id="{BD8A7E22-A105-49C5-2F08-CFBB2A4F7EB3}"/>
              </a:ext>
            </a:extLst>
          </p:cNvPr>
          <p:cNvGrpSpPr/>
          <p:nvPr/>
        </p:nvGrpSpPr>
        <p:grpSpPr>
          <a:xfrm>
            <a:off x="5272320" y="3145339"/>
            <a:ext cx="1651423" cy="389371"/>
            <a:chOff x="8349959" y="687487"/>
            <a:chExt cx="1651423" cy="389371"/>
          </a:xfrm>
        </p:grpSpPr>
        <p:sp>
          <p:nvSpPr>
            <p:cNvPr id="22" name="Rectangle 21">
              <a:extLst>
                <a:ext uri="{FF2B5EF4-FFF2-40B4-BE49-F238E27FC236}">
                  <a16:creationId xmlns:a16="http://schemas.microsoft.com/office/drawing/2014/main" id="{C55FC8CA-9850-2897-FDF7-32850A59AD47}"/>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 name="TextBox 22">
              <a:extLst>
                <a:ext uri="{FF2B5EF4-FFF2-40B4-BE49-F238E27FC236}">
                  <a16:creationId xmlns:a16="http://schemas.microsoft.com/office/drawing/2014/main" id="{AA67C767-1F5A-6342-E5A6-3154E7B6B33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24" name="TextBox 23">
              <a:extLst>
                <a:ext uri="{FF2B5EF4-FFF2-40B4-BE49-F238E27FC236}">
                  <a16:creationId xmlns:a16="http://schemas.microsoft.com/office/drawing/2014/main" id="{4121B5BB-BA6A-F414-E84E-3101842ACD4B}"/>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25" name="TextBox 24">
              <a:extLst>
                <a:ext uri="{FF2B5EF4-FFF2-40B4-BE49-F238E27FC236}">
                  <a16:creationId xmlns:a16="http://schemas.microsoft.com/office/drawing/2014/main" id="{D0750AC3-5B88-E099-CDDB-3E6C13E05DE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grpSp>
        <p:nvGrpSpPr>
          <p:cNvPr id="31" name="Group 30">
            <a:extLst>
              <a:ext uri="{FF2B5EF4-FFF2-40B4-BE49-F238E27FC236}">
                <a16:creationId xmlns:a16="http://schemas.microsoft.com/office/drawing/2014/main" id="{6CF77B7B-CAA6-5EE4-F51C-9FA3BA7AE0EA}"/>
              </a:ext>
            </a:extLst>
          </p:cNvPr>
          <p:cNvGrpSpPr/>
          <p:nvPr/>
        </p:nvGrpSpPr>
        <p:grpSpPr>
          <a:xfrm>
            <a:off x="4107096" y="5561831"/>
            <a:ext cx="1651423" cy="389371"/>
            <a:chOff x="8349959" y="687487"/>
            <a:chExt cx="1651423" cy="389371"/>
          </a:xfrm>
        </p:grpSpPr>
        <p:sp>
          <p:nvSpPr>
            <p:cNvPr id="32" name="Rectangle 31">
              <a:extLst>
                <a:ext uri="{FF2B5EF4-FFF2-40B4-BE49-F238E27FC236}">
                  <a16:creationId xmlns:a16="http://schemas.microsoft.com/office/drawing/2014/main" id="{362B2F3C-1A2C-22DE-11C6-35EF01FB4964}"/>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63BA422A-055D-83BF-7614-2A6490E1E42A}"/>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34" name="TextBox 33">
              <a:extLst>
                <a:ext uri="{FF2B5EF4-FFF2-40B4-BE49-F238E27FC236}">
                  <a16:creationId xmlns:a16="http://schemas.microsoft.com/office/drawing/2014/main" id="{847F086F-8EE5-B65B-F3AD-B90AC3BAA993}"/>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35" name="TextBox 34">
              <a:extLst>
                <a:ext uri="{FF2B5EF4-FFF2-40B4-BE49-F238E27FC236}">
                  <a16:creationId xmlns:a16="http://schemas.microsoft.com/office/drawing/2014/main" id="{A767B5E6-9B62-1E9F-8ECC-7C6440F2D722}"/>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cxnSp>
        <p:nvCxnSpPr>
          <p:cNvPr id="36" name="Straight Connector 35">
            <a:extLst>
              <a:ext uri="{FF2B5EF4-FFF2-40B4-BE49-F238E27FC236}">
                <a16:creationId xmlns:a16="http://schemas.microsoft.com/office/drawing/2014/main" id="{C50FCAC8-2BD7-5831-502D-460A2985C4FB}"/>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3B86B99E-8B69-2971-9DBA-1E90AD4CFFA5}"/>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0F2BD8D8-9D10-8B19-1C62-4230F283322B}"/>
              </a:ext>
            </a:extLst>
          </p:cNvPr>
          <p:cNvGrpSpPr/>
          <p:nvPr/>
        </p:nvGrpSpPr>
        <p:grpSpPr>
          <a:xfrm>
            <a:off x="1825736" y="3693979"/>
            <a:ext cx="1651423" cy="389371"/>
            <a:chOff x="8349959" y="687487"/>
            <a:chExt cx="1651423" cy="389371"/>
          </a:xfrm>
        </p:grpSpPr>
        <p:sp>
          <p:nvSpPr>
            <p:cNvPr id="39" name="Rectangle 38">
              <a:extLst>
                <a:ext uri="{FF2B5EF4-FFF2-40B4-BE49-F238E27FC236}">
                  <a16:creationId xmlns:a16="http://schemas.microsoft.com/office/drawing/2014/main" id="{C37143D8-5E22-4921-A36A-DE7F809ACE66}"/>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2C57A99-F5E8-A08D-D8C0-7C5182504E8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41" name="TextBox 40">
              <a:extLst>
                <a:ext uri="{FF2B5EF4-FFF2-40B4-BE49-F238E27FC236}">
                  <a16:creationId xmlns:a16="http://schemas.microsoft.com/office/drawing/2014/main" id="{F5073EDC-3591-CB08-2DDA-368C690C6706}"/>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42" name="TextBox 41">
              <a:extLst>
                <a:ext uri="{FF2B5EF4-FFF2-40B4-BE49-F238E27FC236}">
                  <a16:creationId xmlns:a16="http://schemas.microsoft.com/office/drawing/2014/main" id="{C979AAC8-CBF1-2DA6-B365-73E019AA038B}"/>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spTree>
    <p:extLst>
      <p:ext uri="{BB962C8B-B14F-4D97-AF65-F5344CB8AC3E}">
        <p14:creationId xmlns:p14="http://schemas.microsoft.com/office/powerpoint/2010/main" val="3140532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7"/>
                                        </p:tgtEl>
                                      </p:cBhvr>
                                    </p:animEffect>
                                    <p:set>
                                      <p:cBhvr>
                                        <p:cTn id="7" dur="1" fill="hold">
                                          <p:stCondLst>
                                            <p:cond delay="499"/>
                                          </p:stCondLst>
                                        </p:cTn>
                                        <p:tgtEl>
                                          <p:spTgt spid="7"/>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10"/>
                                        </p:tgtEl>
                                      </p:cBhvr>
                                    </p:animEffect>
                                    <p:set>
                                      <p:cBhvr>
                                        <p:cTn id="15" dur="1" fill="hold">
                                          <p:stCondLst>
                                            <p:cond delay="499"/>
                                          </p:stCondLst>
                                        </p:cTn>
                                        <p:tgtEl>
                                          <p:spTgt spid="10"/>
                                        </p:tgtEl>
                                        <p:attrNameLst>
                                          <p:attrName>style.visibility</p:attrName>
                                        </p:attrNameLst>
                                      </p:cBhvr>
                                      <p:to>
                                        <p:strVal val="hidden"/>
                                      </p:to>
                                    </p:set>
                                  </p:childTnLst>
                                </p:cTn>
                              </p:par>
                              <p:par>
                                <p:cTn id="16" presetID="9" presetClass="entr" presetSubtype="0" fill="hold"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dissolve">
                                      <p:cBhvr>
                                        <p:cTn id="18" dur="500"/>
                                        <p:tgtEl>
                                          <p:spTgt spid="21"/>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xit" presetSubtype="0" fill="hold" nodeType="clickEffect">
                                  <p:stCondLst>
                                    <p:cond delay="0"/>
                                  </p:stCondLst>
                                  <p:childTnLst>
                                    <p:animEffect transition="out" filter="dissolve">
                                      <p:cBhvr>
                                        <p:cTn id="22" dur="500"/>
                                        <p:tgtEl>
                                          <p:spTgt spid="21"/>
                                        </p:tgtEl>
                                      </p:cBhvr>
                                    </p:animEffect>
                                    <p:set>
                                      <p:cBhvr>
                                        <p:cTn id="23" dur="1" fill="hold">
                                          <p:stCondLst>
                                            <p:cond delay="499"/>
                                          </p:stCondLst>
                                        </p:cTn>
                                        <p:tgtEl>
                                          <p:spTgt spid="21"/>
                                        </p:tgtEl>
                                        <p:attrNameLst>
                                          <p:attrName>style.visibility</p:attrName>
                                        </p:attrNameLst>
                                      </p:cBhvr>
                                      <p:to>
                                        <p:strVal val="hidden"/>
                                      </p:to>
                                    </p:set>
                                  </p:childTnLst>
                                </p:cTn>
                              </p:par>
                            </p:childTnLst>
                          </p:cTn>
                        </p:par>
                        <p:par>
                          <p:cTn id="24" fill="hold">
                            <p:stCondLst>
                              <p:cond delay="500"/>
                            </p:stCondLst>
                            <p:childTnLst>
                              <p:par>
                                <p:cTn id="25" presetID="22" presetClass="entr" presetSubtype="2" fill="hold" nodeType="after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wipe(right)">
                                      <p:cBhvr>
                                        <p:cTn id="27" dur="500"/>
                                        <p:tgtEl>
                                          <p:spTgt spid="31"/>
                                        </p:tgtEl>
                                      </p:cBhvr>
                                    </p:animEffect>
                                  </p:childTnLst>
                                </p:cTn>
                              </p:par>
                            </p:childTnLst>
                          </p:cTn>
                        </p:par>
                        <p:par>
                          <p:cTn id="28" fill="hold">
                            <p:stCondLst>
                              <p:cond delay="1000"/>
                            </p:stCondLst>
                            <p:childTnLst>
                              <p:par>
                                <p:cTn id="29" presetID="22" presetClass="entr" presetSubtype="2" fill="hold"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right)">
                                      <p:cBhvr>
                                        <p:cTn id="31" dur="500"/>
                                        <p:tgtEl>
                                          <p:spTgt spid="3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1"/>
                                        </p:tgtEl>
                                      </p:cBhvr>
                                    </p:animEffect>
                                    <p:set>
                                      <p:cBhvr>
                                        <p:cTn id="36" dur="1" fill="hold">
                                          <p:stCondLst>
                                            <p:cond delay="499"/>
                                          </p:stCondLst>
                                        </p:cTn>
                                        <p:tgtEl>
                                          <p:spTgt spid="31"/>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37"/>
                                        </p:tgtEl>
                                      </p:cBhvr>
                                    </p:animEffect>
                                    <p:set>
                                      <p:cBhvr>
                                        <p:cTn id="39" dur="1" fill="hold">
                                          <p:stCondLst>
                                            <p:cond delay="499"/>
                                          </p:stCondLst>
                                        </p:cTn>
                                        <p:tgtEl>
                                          <p:spTgt spid="37"/>
                                        </p:tgtEl>
                                        <p:attrNameLst>
                                          <p:attrName>style.visibility</p:attrName>
                                        </p:attrNameLst>
                                      </p:cBhvr>
                                      <p:to>
                                        <p:strVal val="hidden"/>
                                      </p:to>
                                    </p:set>
                                  </p:childTnLst>
                                </p:cTn>
                              </p:par>
                              <p:par>
                                <p:cTn id="40" presetID="9" presetClass="entr" presetSubtype="0" fill="hold" nodeType="with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dissolve">
                                      <p:cBhvr>
                                        <p:cTn id="4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1298122"/>
            <a:ext cx="11908971" cy="4268807"/>
            <a:chOff x="2511281" y="3572744"/>
            <a:chExt cx="7770812" cy="2811463"/>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6B048DEA-97AB-1F43-8741-12645B01C3F5}"/>
              </a:ext>
            </a:extLst>
          </p:cNvPr>
          <p:cNvSpPr/>
          <p:nvPr/>
        </p:nvSpPr>
        <p:spPr>
          <a:xfrm>
            <a:off x="1776642" y="3222226"/>
            <a:ext cx="1824687"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A739BD94-0F47-854B-9CF2-AB21F1755B7E}"/>
              </a:ext>
            </a:extLst>
          </p:cNvPr>
          <p:cNvGrpSpPr/>
          <p:nvPr/>
        </p:nvGrpSpPr>
        <p:grpSpPr>
          <a:xfrm>
            <a:off x="3073015" y="2669125"/>
            <a:ext cx="1108206" cy="369332"/>
            <a:chOff x="8893175" y="707526"/>
            <a:chExt cx="1108206" cy="369332"/>
          </a:xfrm>
        </p:grpSpPr>
        <p:sp>
          <p:nvSpPr>
            <p:cNvPr id="108" name="Rectangle 107">
              <a:extLst>
                <a:ext uri="{FF2B5EF4-FFF2-40B4-BE49-F238E27FC236}">
                  <a16:creationId xmlns:a16="http://schemas.microsoft.com/office/drawing/2014/main" id="{74E14681-F8C2-E943-9036-9B66F8026102}"/>
                </a:ext>
              </a:extLst>
            </p:cNvPr>
            <p:cNvSpPr/>
            <p:nvPr/>
          </p:nvSpPr>
          <p:spPr>
            <a:xfrm>
              <a:off x="8934834" y="756182"/>
              <a:ext cx="1066547"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TextBox 108">
              <a:extLst>
                <a:ext uri="{FF2B5EF4-FFF2-40B4-BE49-F238E27FC236}">
                  <a16:creationId xmlns:a16="http://schemas.microsoft.com/office/drawing/2014/main" id="{9FE05029-2B07-9140-B651-352A9EE32350}"/>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pic>
        <p:nvPicPr>
          <p:cNvPr id="111" name="Picture 8" descr="Image result for blue question mark icon">
            <a:extLst>
              <a:ext uri="{FF2B5EF4-FFF2-40B4-BE49-F238E27FC236}">
                <a16:creationId xmlns:a16="http://schemas.microsoft.com/office/drawing/2014/main" id="{7A8F5C24-D5BC-6046-A8A9-E43B225E498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8355" y="104889"/>
            <a:ext cx="1624375" cy="1624375"/>
          </a:xfrm>
          <a:prstGeom prst="rect">
            <a:avLst/>
          </a:prstGeom>
          <a:noFill/>
          <a:extLst>
            <a:ext uri="{909E8E84-426E-40dd-AFC4-6F175D3DCCD1}">
              <a14:hiddenFill xmlns:a14="http://schemas.microsoft.com/office/drawing/2010/main" xmlns="">
                <a:solidFill>
                  <a:srgbClr val="FFFFFF"/>
                </a:solidFill>
              </a14:hiddenFill>
            </a:ext>
          </a:extLst>
        </p:spPr>
      </p:pic>
      <p:sp>
        <p:nvSpPr>
          <p:cNvPr id="2" name="TextBox 1">
            <a:extLst>
              <a:ext uri="{FF2B5EF4-FFF2-40B4-BE49-F238E27FC236}">
                <a16:creationId xmlns:a16="http://schemas.microsoft.com/office/drawing/2014/main" id="{EC617D77-5487-F243-B8B2-CF4CA1D7049C}"/>
              </a:ext>
            </a:extLst>
          </p:cNvPr>
          <p:cNvSpPr txBox="1"/>
          <p:nvPr/>
        </p:nvSpPr>
        <p:spPr>
          <a:xfrm>
            <a:off x="2209800" y="266700"/>
            <a:ext cx="9664700" cy="828047"/>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how did transport layer know to deliver message to Firefox browser process rather then Netflix process or Skype process?</a:t>
            </a:r>
          </a:p>
        </p:txBody>
      </p:sp>
    </p:spTree>
    <p:extLst>
      <p:ext uri="{BB962C8B-B14F-4D97-AF65-F5344CB8AC3E}">
        <p14:creationId xmlns:p14="http://schemas.microsoft.com/office/powerpoint/2010/main" val="765649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1"/>
                                        </p:tgtEl>
                                        <p:attrNameLst>
                                          <p:attrName>style.visibility</p:attrName>
                                        </p:attrNameLst>
                                      </p:cBhvr>
                                      <p:to>
                                        <p:strVal val="visible"/>
                                      </p:to>
                                    </p:set>
                                    <p:animEffect transition="in" filter="dissolve">
                                      <p:cBhvr>
                                        <p:cTn id="7" dur="1000"/>
                                        <p:tgtEl>
                                          <p:spTgt spid="111"/>
                                        </p:tgtEl>
                                      </p:cBhvr>
                                    </p:animEffect>
                                  </p:childTnLst>
                                </p:cTn>
                              </p:par>
                            </p:childTnLst>
                          </p:cTn>
                        </p:par>
                        <p:par>
                          <p:cTn id="8" fill="hold">
                            <p:stCondLst>
                              <p:cond delay="3000"/>
                            </p:stCondLst>
                            <p:childTnLst>
                              <p:par>
                                <p:cTn id="9" presetID="9"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4216816" y="1873503"/>
            <a:ext cx="2790948" cy="3309399"/>
            <a:chOff x="5478735" y="1883160"/>
            <a:chExt cx="2790948" cy="3309399"/>
          </a:xfrm>
        </p:grpSpPr>
        <p:grpSp>
          <p:nvGrpSpPr>
            <p:cNvPr id="10" name="Group 9"/>
            <p:cNvGrpSpPr/>
            <p:nvPr/>
          </p:nvGrpSpPr>
          <p:grpSpPr>
            <a:xfrm>
              <a:off x="5901165" y="1883160"/>
              <a:ext cx="2008556" cy="2443958"/>
              <a:chOff x="5901165" y="1883160"/>
              <a:chExt cx="2008556" cy="2443958"/>
            </a:xfrm>
          </p:grpSpPr>
          <p:sp>
            <p:nvSpPr>
              <p:cNvPr id="2" name="Oval 1"/>
              <p:cNvSpPr/>
              <p:nvPr/>
            </p:nvSpPr>
            <p:spPr>
              <a:xfrm>
                <a:off x="6581083" y="2834918"/>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6878224" y="3527614"/>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6690618" y="2768416"/>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5901165" y="2086013"/>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7229803" y="2090667"/>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6874209" y="1883160"/>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1" name="TextBox 10"/>
            <p:cNvSpPr txBox="1"/>
            <p:nvPr/>
          </p:nvSpPr>
          <p:spPr>
            <a:xfrm>
              <a:off x="5478735" y="4607783"/>
              <a:ext cx="2790948" cy="584776"/>
            </a:xfrm>
            <a:prstGeom prst="rect">
              <a:avLst/>
            </a:prstGeom>
            <a:noFill/>
          </p:spPr>
          <p:txBody>
            <a:bodyPr wrap="none" rtlCol="0">
              <a:spAutoFit/>
            </a:bodyPr>
            <a:lstStyle/>
            <a:p>
              <a:r>
                <a:rPr lang="en-US" sz="3200" dirty="0"/>
                <a:t>de-multiplexing</a:t>
              </a:r>
            </a:p>
          </p:txBody>
        </p:sp>
      </p:grpSp>
    </p:spTree>
    <p:extLst>
      <p:ext uri="{BB962C8B-B14F-4D97-AF65-F5344CB8AC3E}">
        <p14:creationId xmlns:p14="http://schemas.microsoft.com/office/powerpoint/2010/main" val="3119182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5428699" y="2758759"/>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4639246" y="2076356"/>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216816" y="4598126"/>
            <a:ext cx="2790948" cy="584776"/>
          </a:xfrm>
          <a:prstGeom prst="rect">
            <a:avLst/>
          </a:prstGeom>
          <a:noFill/>
        </p:spPr>
        <p:txBody>
          <a:bodyPr wrap="none" rtlCol="0">
            <a:spAutoFit/>
          </a:bodyPr>
          <a:lstStyle/>
          <a:p>
            <a:r>
              <a:rPr lang="en-US" sz="3200" dirty="0"/>
              <a:t>de-multiplexing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1644255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0C86CF3-5283-F242-9D46-46CE5E5A64D4}"/>
              </a:ext>
            </a:extLst>
          </p:cNvPr>
          <p:cNvPicPr>
            <a:picLocks noChangeAspect="1"/>
          </p:cNvPicPr>
          <p:nvPr/>
        </p:nvPicPr>
        <p:blipFill>
          <a:blip r:embed="rId2"/>
          <a:stretch>
            <a:fillRect/>
          </a:stretch>
        </p:blipFill>
        <p:spPr>
          <a:xfrm>
            <a:off x="-161693" y="-160447"/>
            <a:ext cx="12509888" cy="7178894"/>
          </a:xfrm>
          <a:prstGeom prst="rect">
            <a:avLst/>
          </a:prstGeom>
          <a:effectLst>
            <a:glow rad="127000">
              <a:schemeClr val="bg1"/>
            </a:glow>
          </a:effectLst>
        </p:spPr>
      </p:pic>
      <p:sp>
        <p:nvSpPr>
          <p:cNvPr id="5" name="TextBox 4">
            <a:extLst>
              <a:ext uri="{FF2B5EF4-FFF2-40B4-BE49-F238E27FC236}">
                <a16:creationId xmlns:a16="http://schemas.microsoft.com/office/drawing/2014/main" id="{BE5F1534-F52B-1947-9FF8-F3900CBE5770}"/>
              </a:ext>
            </a:extLst>
          </p:cNvPr>
          <p:cNvSpPr txBox="1"/>
          <p:nvPr/>
        </p:nvSpPr>
        <p:spPr>
          <a:xfrm>
            <a:off x="2859577" y="5354404"/>
            <a:ext cx="646734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Demultiplexing</a:t>
            </a:r>
          </a:p>
        </p:txBody>
      </p:sp>
    </p:spTree>
    <p:extLst>
      <p:ext uri="{BB962C8B-B14F-4D97-AF65-F5344CB8AC3E}">
        <p14:creationId xmlns:p14="http://schemas.microsoft.com/office/powerpoint/2010/main" val="189621375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3128834-3551-3342-8511-A6239EDCCED7}"/>
              </a:ext>
            </a:extLst>
          </p:cNvPr>
          <p:cNvPicPr>
            <a:picLocks noChangeAspect="1"/>
          </p:cNvPicPr>
          <p:nvPr/>
        </p:nvPicPr>
        <p:blipFill rotWithShape="1">
          <a:blip r:embed="rId2"/>
          <a:srcRect r="978"/>
          <a:stretch/>
        </p:blipFill>
        <p:spPr>
          <a:xfrm>
            <a:off x="1460597" y="10"/>
            <a:ext cx="9270806" cy="6857990"/>
          </a:xfrm>
          <a:custGeom>
            <a:avLst/>
            <a:gdLst/>
            <a:ahLst/>
            <a:cxnLst/>
            <a:rect l="l" t="t" r="r" b="b"/>
            <a:pathLst>
              <a:path w="9270806" h="6858000">
                <a:moveTo>
                  <a:pt x="1503712" y="0"/>
                </a:moveTo>
                <a:lnTo>
                  <a:pt x="7767094" y="0"/>
                </a:lnTo>
                <a:lnTo>
                  <a:pt x="7913128" y="139721"/>
                </a:lnTo>
                <a:cubicBezTo>
                  <a:pt x="8751971" y="981521"/>
                  <a:pt x="9270806" y="2144457"/>
                  <a:pt x="9270806" y="3429000"/>
                </a:cubicBezTo>
                <a:cubicBezTo>
                  <a:pt x="9270806" y="4713544"/>
                  <a:pt x="8751971" y="5876479"/>
                  <a:pt x="7913128" y="6718279"/>
                </a:cubicBezTo>
                <a:lnTo>
                  <a:pt x="7767094" y="6858000"/>
                </a:lnTo>
                <a:lnTo>
                  <a:pt x="1503712" y="6858000"/>
                </a:lnTo>
                <a:lnTo>
                  <a:pt x="1357679" y="6718279"/>
                </a:lnTo>
                <a:cubicBezTo>
                  <a:pt x="518835" y="5876479"/>
                  <a:pt x="0" y="4713544"/>
                  <a:pt x="0" y="3429000"/>
                </a:cubicBezTo>
                <a:cubicBezTo>
                  <a:pt x="0" y="2144457"/>
                  <a:pt x="518835" y="981521"/>
                  <a:pt x="1357679" y="139721"/>
                </a:cubicBezTo>
                <a:close/>
              </a:path>
            </a:pathLst>
          </a:custGeom>
        </p:spPr>
      </p:pic>
    </p:spTree>
    <p:extLst>
      <p:ext uri="{BB962C8B-B14F-4D97-AF65-F5344CB8AC3E}">
        <p14:creationId xmlns:p14="http://schemas.microsoft.com/office/powerpoint/2010/main" val="369618799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060AE63-F98B-2E42-BB70-BC6FB853C5F0}"/>
              </a:ext>
            </a:extLst>
          </p:cNvPr>
          <p:cNvSpPr/>
          <p:nvPr/>
        </p:nvSpPr>
        <p:spPr>
          <a:xfrm>
            <a:off x="-135699" y="0"/>
            <a:ext cx="12463397" cy="7014575"/>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74" name="Picture 2" descr="Image result for TSA precheck">
            <a:extLst>
              <a:ext uri="{FF2B5EF4-FFF2-40B4-BE49-F238E27FC236}">
                <a16:creationId xmlns:a16="http://schemas.microsoft.com/office/drawing/2014/main" id="{16C15E37-2218-114F-8523-CD30C5ED90E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7655" y="710856"/>
            <a:ext cx="9946307" cy="5592861"/>
          </a:xfrm>
          <a:prstGeom prst="rect">
            <a:avLst/>
          </a:prstGeom>
          <a:noFill/>
          <a:extLst>
            <a:ext uri="{909E8E84-426E-40dd-AFC4-6F175D3DCCD1}">
              <a14:hiddenFill xmlns="" xmlns:a14="http://schemas.microsoft.com/office/drawing/2010/main">
                <a:solidFill>
                  <a:srgbClr val="FFFFFF"/>
                </a:solidFill>
              </a14:hiddenFill>
            </a:ext>
          </a:extLst>
        </p:spPr>
      </p:pic>
      <p:sp>
        <p:nvSpPr>
          <p:cNvPr id="4" name="Freeform 3">
            <a:extLst>
              <a:ext uri="{FF2B5EF4-FFF2-40B4-BE49-F238E27FC236}">
                <a16:creationId xmlns:a16="http://schemas.microsoft.com/office/drawing/2014/main" id="{289B84F5-2163-2B45-BBF6-A39FBFB0055C}"/>
              </a:ext>
            </a:extLst>
          </p:cNvPr>
          <p:cNvSpPr/>
          <p:nvPr/>
        </p:nvSpPr>
        <p:spPr>
          <a:xfrm>
            <a:off x="0" y="0"/>
            <a:ext cx="2730674" cy="6889315"/>
          </a:xfrm>
          <a:custGeom>
            <a:avLst/>
            <a:gdLst>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0674" h="6889315">
                <a:moveTo>
                  <a:pt x="2730674" y="0"/>
                </a:moveTo>
                <a:lnTo>
                  <a:pt x="0" y="0"/>
                </a:lnTo>
                <a:lnTo>
                  <a:pt x="0" y="6889315"/>
                </a:lnTo>
                <a:lnTo>
                  <a:pt x="2317315" y="6876789"/>
                </a:lnTo>
                <a:cubicBezTo>
                  <a:pt x="2023699" y="6430027"/>
                  <a:pt x="1185797" y="5722009"/>
                  <a:pt x="1120781" y="3696819"/>
                </a:cubicBezTo>
                <a:cubicBezTo>
                  <a:pt x="1154483" y="1448545"/>
                  <a:pt x="2245241" y="641188"/>
                  <a:pt x="2680570" y="0"/>
                </a:cubicBezTo>
                <a:lnTo>
                  <a:pt x="2680570" y="0"/>
                </a:ln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4">
            <a:extLst>
              <a:ext uri="{FF2B5EF4-FFF2-40B4-BE49-F238E27FC236}">
                <a16:creationId xmlns:a16="http://schemas.microsoft.com/office/drawing/2014/main" id="{C155379D-AC5B-9545-9DBF-9AA511AB3235}"/>
              </a:ext>
            </a:extLst>
          </p:cNvPr>
          <p:cNvSpPr/>
          <p:nvPr/>
        </p:nvSpPr>
        <p:spPr>
          <a:xfrm flipH="1">
            <a:off x="9473852" y="-31325"/>
            <a:ext cx="2730674" cy="6889315"/>
          </a:xfrm>
          <a:custGeom>
            <a:avLst/>
            <a:gdLst>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0674" h="6889315">
                <a:moveTo>
                  <a:pt x="2730674" y="0"/>
                </a:moveTo>
                <a:lnTo>
                  <a:pt x="0" y="0"/>
                </a:lnTo>
                <a:lnTo>
                  <a:pt x="0" y="6889315"/>
                </a:lnTo>
                <a:lnTo>
                  <a:pt x="2317315" y="6876789"/>
                </a:lnTo>
                <a:cubicBezTo>
                  <a:pt x="2023699" y="6430027"/>
                  <a:pt x="1185797" y="5722009"/>
                  <a:pt x="1120781" y="3696819"/>
                </a:cubicBezTo>
                <a:cubicBezTo>
                  <a:pt x="1154483" y="1448545"/>
                  <a:pt x="2245241" y="641188"/>
                  <a:pt x="2680570" y="0"/>
                </a:cubicBezTo>
                <a:lnTo>
                  <a:pt x="2680570" y="0"/>
                </a:ln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6049027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spTree>
    <p:extLst>
      <p:ext uri="{BB962C8B-B14F-4D97-AF65-F5344CB8AC3E}">
        <p14:creationId xmlns:p14="http://schemas.microsoft.com/office/powerpoint/2010/main" val="3917007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10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nodeType="withEffect">
                                  <p:stCondLst>
                                    <p:cond delay="0"/>
                                  </p:stCondLst>
                                  <p:childTnLst>
                                    <p:set>
                                      <p:cBhvr>
                                        <p:cTn id="12" dur="1" fill="hold">
                                          <p:stCondLst>
                                            <p:cond delay="0"/>
                                          </p:stCondLst>
                                        </p:cTn>
                                        <p:tgtEl>
                                          <p:spTgt spid="93"/>
                                        </p:tgtEl>
                                        <p:attrNameLst>
                                          <p:attrName>style.visibility</p:attrName>
                                        </p:attrNameLst>
                                      </p:cBhvr>
                                      <p:to>
                                        <p:strVal val="visible"/>
                                      </p:to>
                                    </p:set>
                                    <p:animEffect transition="in" filter="dissolve">
                                      <p:cBhvr>
                                        <p:cTn id="13" dur="500"/>
                                        <p:tgtEl>
                                          <p:spTgt spid="93"/>
                                        </p:tgtEl>
                                      </p:cBhvr>
                                    </p:animEffect>
                                  </p:childTnLst>
                                </p:cTn>
                              </p:par>
                              <p:par>
                                <p:cTn id="14" presetID="9" presetClass="entr" presetSubtype="0" fill="hold" nodeType="withEffect">
                                  <p:stCondLst>
                                    <p:cond delay="0"/>
                                  </p:stCondLst>
                                  <p:childTnLst>
                                    <p:set>
                                      <p:cBhvr>
                                        <p:cTn id="15" dur="1" fill="hold">
                                          <p:stCondLst>
                                            <p:cond delay="0"/>
                                          </p:stCondLst>
                                        </p:cTn>
                                        <p:tgtEl>
                                          <p:spTgt spid="95"/>
                                        </p:tgtEl>
                                        <p:attrNameLst>
                                          <p:attrName>style.visibility</p:attrName>
                                        </p:attrNameLst>
                                      </p:cBhvr>
                                      <p:to>
                                        <p:strVal val="visible"/>
                                      </p:to>
                                    </p:set>
                                    <p:animEffect transition="in" filter="dissolve">
                                      <p:cBhvr>
                                        <p:cTn id="16" dur="500"/>
                                        <p:tgtEl>
                                          <p:spTgt spid="95"/>
                                        </p:tgtEl>
                                      </p:cBhvr>
                                    </p:animEffect>
                                  </p:childTnLst>
                                </p:cTn>
                              </p:par>
                              <p:par>
                                <p:cTn id="17" presetID="9" presetClass="entr" presetSubtype="0" fill="hold" nodeType="withEffect">
                                  <p:stCondLst>
                                    <p:cond delay="0"/>
                                  </p:stCondLst>
                                  <p:childTnLst>
                                    <p:set>
                                      <p:cBhvr>
                                        <p:cTn id="18" dur="1" fill="hold">
                                          <p:stCondLst>
                                            <p:cond delay="0"/>
                                          </p:stCondLst>
                                        </p:cTn>
                                        <p:tgtEl>
                                          <p:spTgt spid="96"/>
                                        </p:tgtEl>
                                        <p:attrNameLst>
                                          <p:attrName>style.visibility</p:attrName>
                                        </p:attrNameLst>
                                      </p:cBhvr>
                                      <p:to>
                                        <p:strVal val="visible"/>
                                      </p:to>
                                    </p:set>
                                    <p:animEffect transition="in" filter="dissolve">
                                      <p:cBhvr>
                                        <p:cTn id="19" dur="500"/>
                                        <p:tgtEl>
                                          <p:spTgt spid="96"/>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2262739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B9CCC5-D908-9C4E-A49D-1E21751E78A3}"/>
              </a:ext>
            </a:extLst>
          </p:cNvPr>
          <p:cNvSpPr/>
          <p:nvPr/>
        </p:nvSpPr>
        <p:spPr>
          <a:xfrm>
            <a:off x="-125260" y="0"/>
            <a:ext cx="12463397" cy="7014575"/>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6" name="Picture 2" descr="Cars merge">
            <a:extLst>
              <a:ext uri="{FF2B5EF4-FFF2-40B4-BE49-F238E27FC236}">
                <a16:creationId xmlns:a16="http://schemas.microsoft.com/office/drawing/2014/main" id="{93314E34-1FD8-0649-B734-DBACB89E296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96092" y="376036"/>
            <a:ext cx="9399815" cy="6266543"/>
          </a:xfrm>
          <a:prstGeom prst="rect">
            <a:avLst/>
          </a:prstGeom>
          <a:noFill/>
          <a:extLst>
            <a:ext uri="{909E8E84-426E-40dd-AFC4-6F175D3DCCD1}">
              <a14:hiddenFill xmlns=""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2DCC19CE-833B-5F4C-B0C9-7CBB36ED852F}"/>
              </a:ext>
            </a:extLst>
          </p:cNvPr>
          <p:cNvSpPr txBox="1"/>
          <p:nvPr/>
        </p:nvSpPr>
        <p:spPr>
          <a:xfrm>
            <a:off x="3404140" y="4843419"/>
            <a:ext cx="538371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Multiplexing</a:t>
            </a:r>
          </a:p>
        </p:txBody>
      </p:sp>
    </p:spTree>
    <p:extLst>
      <p:ext uri="{BB962C8B-B14F-4D97-AF65-F5344CB8AC3E}">
        <p14:creationId xmlns:p14="http://schemas.microsoft.com/office/powerpoint/2010/main" val="4014377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kumimoji="0" lang="en-US" sz="32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IP addresses &amp; port numbers</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22</a:t>
            </a:fld>
            <a:endParaRPr lang="en-US" dirty="0"/>
          </a:p>
        </p:txBody>
      </p:sp>
    </p:spTree>
    <p:extLst>
      <p:ext uri="{BB962C8B-B14F-4D97-AF65-F5344CB8AC3E}">
        <p14:creationId xmlns:p14="http://schemas.microsoft.com/office/powerpoint/2010/main" val="3850549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a:t>
            </a:r>
          </a:p>
        </p:txBody>
      </p:sp>
      <p:sp>
        <p:nvSpPr>
          <p:cNvPr id="18" name="Rectangle 3">
            <a:extLst>
              <a:ext uri="{FF2B5EF4-FFF2-40B4-BE49-F238E27FC236}">
                <a16:creationId xmlns:a16="http://schemas.microsoft.com/office/drawing/2014/main" id="{5E258CE6-39AA-994E-A005-93DEFB62A33E}"/>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500" b="0" i="1" u="none" strike="noStrike" kern="1200" cap="none" spc="0" normalizeH="0" baseline="0" noProof="0" dirty="0">
                <a:ln>
                  <a:noFill/>
                </a:ln>
                <a:solidFill>
                  <a:prstClr val="black"/>
                </a:solidFill>
                <a:effectLst/>
                <a:uLnTx/>
                <a:uFillTx/>
                <a:latin typeface="Calibri" panose="020F0502020204030204"/>
                <a:ea typeface="+mn-ea"/>
                <a:cs typeface="+mn-cs"/>
              </a:rPr>
              <a:t>Recall:</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DatagramSocket mySocket1        = new DatagramSocket(</a:t>
            </a:r>
            <a:r>
              <a:rPr kumimoji="0" lang="en-US" sz="2400" b="0" i="0" u="none" strike="noStrike" kern="1200" cap="none" spc="0" normalizeH="0" baseline="0" noProof="0" dirty="0">
                <a:ln>
                  <a:noFill/>
                </a:ln>
                <a:solidFill>
                  <a:srgbClr val="CC0000"/>
                </a:solidFill>
                <a:effectLst/>
                <a:uLnTx/>
                <a:uFillTx/>
                <a:latin typeface="Courier" pitchFamily="2" charset="0"/>
                <a:ea typeface="+mn-ea"/>
                <a:cs typeface="+mn-cs"/>
              </a:rPr>
              <a:t>12534</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86EE0BD4-F2E4-AA4C-ABE7-69DA3D49354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D64D1D76-B139-F94A-A00F-C768B6656938}"/>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creating datagram to send into UDP socket,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1D23ED05-24C1-E24F-9A5D-E84D26B5270D}"/>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dest.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0FE900-8538-8F4F-BD27-2C9A09F232E9}"/>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Oval 3">
            <a:extLst>
              <a:ext uri="{FF2B5EF4-FFF2-40B4-BE49-F238E27FC236}">
                <a16:creationId xmlns:a16="http://schemas.microsoft.com/office/drawing/2014/main" id="{7E32E731-A5B9-B44F-853B-A87FFA65AAE0}"/>
              </a:ext>
            </a:extLst>
          </p:cNvPr>
          <p:cNvSpPr/>
          <p:nvPr/>
        </p:nvSpPr>
        <p:spPr>
          <a:xfrm>
            <a:off x="4202130" y="2887038"/>
            <a:ext cx="1909314" cy="9961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Slide Number Placeholder 2">
            <a:extLst>
              <a:ext uri="{FF2B5EF4-FFF2-40B4-BE49-F238E27FC236}">
                <a16:creationId xmlns:a16="http://schemas.microsoft.com/office/drawing/2014/main" id="{86F80CC4-FDCF-FF42-8BB3-8A9B1A2B5D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23</a:t>
            </a:fld>
            <a:endParaRPr lang="en-US" dirty="0"/>
          </a:p>
        </p:txBody>
      </p:sp>
    </p:spTree>
    <p:extLst>
      <p:ext uri="{BB962C8B-B14F-4D97-AF65-F5344CB8AC3E}">
        <p14:creationId xmlns:p14="http://schemas.microsoft.com/office/powerpoint/2010/main" val="153893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9" presetClass="exit" presetSubtype="0" fill="hold" grpId="1"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dissolve">
                                      <p:cBhvr>
                                        <p:cTn id="25" dur="500"/>
                                        <p:tgtEl>
                                          <p:spTgt spid="2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dissolve">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P spid="4" grpId="0" animBg="1"/>
      <p:bldP spid="4" grpId="1"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77944" y="2807714"/>
            <a:ext cx="397763" cy="2143904"/>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 name="connsiteX0" fmla="*/ 517 w 10000"/>
              <a:gd name="connsiteY0" fmla="*/ 10000 h 10000"/>
              <a:gd name="connsiteX1" fmla="*/ 0 w 10000"/>
              <a:gd name="connsiteY1" fmla="*/ 9841 h 10000"/>
              <a:gd name="connsiteX2" fmla="*/ 10000 w 10000"/>
              <a:gd name="connsiteY2" fmla="*/ 0 h 10000"/>
              <a:gd name="connsiteX3" fmla="*/ 9793 w 10000"/>
              <a:gd name="connsiteY3" fmla="*/ 9103 h 10000"/>
              <a:gd name="connsiteX4" fmla="*/ 517 w 10000"/>
              <a:gd name="connsiteY4" fmla="*/ 10000 h 10000"/>
              <a:gd name="connsiteX0" fmla="*/ 0 w 9483"/>
              <a:gd name="connsiteY0" fmla="*/ 10000 h 10000"/>
              <a:gd name="connsiteX1" fmla="*/ 843 w 9483"/>
              <a:gd name="connsiteY1" fmla="*/ 8128 h 10000"/>
              <a:gd name="connsiteX2" fmla="*/ 9483 w 9483"/>
              <a:gd name="connsiteY2" fmla="*/ 0 h 10000"/>
              <a:gd name="connsiteX3" fmla="*/ 9276 w 9483"/>
              <a:gd name="connsiteY3" fmla="*/ 9103 h 10000"/>
              <a:gd name="connsiteX4" fmla="*/ 0 w 9483"/>
              <a:gd name="connsiteY4" fmla="*/ 10000 h 10000"/>
              <a:gd name="connsiteX0" fmla="*/ 2554 w 9111"/>
              <a:gd name="connsiteY0" fmla="*/ 9772 h 9772"/>
              <a:gd name="connsiteX1" fmla="*/ 0 w 9111"/>
              <a:gd name="connsiteY1" fmla="*/ 8128 h 9772"/>
              <a:gd name="connsiteX2" fmla="*/ 9111 w 9111"/>
              <a:gd name="connsiteY2" fmla="*/ 0 h 9772"/>
              <a:gd name="connsiteX3" fmla="*/ 8893 w 9111"/>
              <a:gd name="connsiteY3" fmla="*/ 9103 h 9772"/>
              <a:gd name="connsiteX4" fmla="*/ 2554 w 9111"/>
              <a:gd name="connsiteY4" fmla="*/ 9772 h 9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1" h="9772">
                <a:moveTo>
                  <a:pt x="2554" y="9772"/>
                </a:moveTo>
                <a:lnTo>
                  <a:pt x="0" y="8128"/>
                </a:lnTo>
                <a:lnTo>
                  <a:pt x="9111" y="0"/>
                </a:lnTo>
                <a:cubicBezTo>
                  <a:pt x="9038" y="3034"/>
                  <a:pt x="8966" y="6069"/>
                  <a:pt x="8893" y="9103"/>
                </a:cubicBezTo>
                <a:lnTo>
                  <a:pt x="2554" y="9772"/>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587706" y="2812476"/>
            <a:ext cx="430060" cy="2171151"/>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 name="connsiteX0" fmla="*/ 10000 w 10000"/>
              <a:gd name="connsiteY0" fmla="*/ 10000 h 10176"/>
              <a:gd name="connsiteX1" fmla="*/ 377 w 10000"/>
              <a:gd name="connsiteY1" fmla="*/ 0 h 10176"/>
              <a:gd name="connsiteX2" fmla="*/ 0 w 10000"/>
              <a:gd name="connsiteY2" fmla="*/ 9107 h 10176"/>
              <a:gd name="connsiteX3" fmla="*/ 8519 w 10000"/>
              <a:gd name="connsiteY3" fmla="*/ 10176 h 10176"/>
              <a:gd name="connsiteX4" fmla="*/ 10000 w 10000"/>
              <a:gd name="connsiteY4" fmla="*/ 10000 h 10176"/>
              <a:gd name="connsiteX0" fmla="*/ 7767 w 8519"/>
              <a:gd name="connsiteY0" fmla="*/ 8356 h 10176"/>
              <a:gd name="connsiteX1" fmla="*/ 377 w 8519"/>
              <a:gd name="connsiteY1" fmla="*/ 0 h 10176"/>
              <a:gd name="connsiteX2" fmla="*/ 0 w 8519"/>
              <a:gd name="connsiteY2" fmla="*/ 9107 h 10176"/>
              <a:gd name="connsiteX3" fmla="*/ 8519 w 8519"/>
              <a:gd name="connsiteY3" fmla="*/ 10176 h 10176"/>
              <a:gd name="connsiteX4" fmla="*/ 7767 w 8519"/>
              <a:gd name="connsiteY4" fmla="*/ 8356 h 1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9" h="10176">
                <a:moveTo>
                  <a:pt x="7767" y="8356"/>
                </a:moveTo>
                <a:lnTo>
                  <a:pt x="377" y="0"/>
                </a:lnTo>
                <a:cubicBezTo>
                  <a:pt x="251" y="3036"/>
                  <a:pt x="126" y="6071"/>
                  <a:pt x="0" y="9107"/>
                </a:cubicBezTo>
                <a:lnTo>
                  <a:pt x="8519" y="10176"/>
                </a:lnTo>
                <a:lnTo>
                  <a:pt x="7767" y="8356"/>
                </a:lnTo>
                <a:close/>
              </a:path>
            </a:pathLst>
          </a:custGeom>
          <a:gradFill rotWithShape="1">
            <a:gsLst>
              <a:gs pos="0">
                <a:srgbClr val="B2B2B2"/>
              </a:gs>
              <a:gs pos="100000">
                <a:schemeClr val="bg1">
                  <a:lumMod val="95000"/>
                </a:schemeClr>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a:effectLst>
            <a:outerShdw blurRad="50800" dist="38100" dir="13500000" algn="br"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1254875" y="193307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socket(AF_INET,SOCK_STREAM)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9157</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26531" y="5790630"/>
            <a:ext cx="1658938" cy="657226"/>
            <a:chOff x="1309" y="3697"/>
            <a:chExt cx="1045" cy="414"/>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09" y="3822"/>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4" y="4914330"/>
            <a:ext cx="1706563" cy="657226"/>
            <a:chOff x="2741" y="3750"/>
            <a:chExt cx="1075" cy="414"/>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7063581" y="4914326"/>
            <a:ext cx="1341437" cy="652463"/>
            <a:chOff x="1509" y="3697"/>
            <a:chExt cx="845" cy="411"/>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509" y="3822"/>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6" y="5768401"/>
            <a:ext cx="1389062" cy="652463"/>
            <a:chOff x="2741" y="3750"/>
            <a:chExt cx="875" cy="411"/>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 name="TextBox 4">
            <a:extLst>
              <a:ext uri="{FF2B5EF4-FFF2-40B4-BE49-F238E27FC236}">
                <a16:creationId xmlns:a16="http://schemas.microsoft.com/office/drawing/2014/main" id="{8F71DBCB-192B-CC42-80BF-FB60B27D1133}"/>
              </a:ext>
            </a:extLst>
          </p:cNvPr>
          <p:cNvSpPr txBox="1"/>
          <p:nvPr/>
        </p:nvSpPr>
        <p:spPr>
          <a:xfrm>
            <a:off x="3494761" y="5722142"/>
            <a:ext cx="317716" cy="369332"/>
          </a:xfrm>
          <a:prstGeom prst="rect">
            <a:avLst/>
          </a:prstGeom>
          <a:noFill/>
        </p:spPr>
        <p:txBody>
          <a:bodyPr wrap="none" rtlCol="0">
            <a:spAutoFit/>
          </a:bodyPr>
          <a:lstStyle/>
          <a:p>
            <a:r>
              <a:rPr lang="en-US" dirty="0">
                <a:solidFill>
                  <a:schemeClr val="bg1"/>
                </a:solidFill>
              </a:rPr>
              <a:t>A</a:t>
            </a:r>
          </a:p>
        </p:txBody>
      </p:sp>
      <p:sp>
        <p:nvSpPr>
          <p:cNvPr id="131" name="TextBox 130">
            <a:extLst>
              <a:ext uri="{FF2B5EF4-FFF2-40B4-BE49-F238E27FC236}">
                <a16:creationId xmlns:a16="http://schemas.microsoft.com/office/drawing/2014/main" id="{B7AFE08E-CB17-6F42-9518-20370F3483F4}"/>
              </a:ext>
            </a:extLst>
          </p:cNvPr>
          <p:cNvSpPr txBox="1"/>
          <p:nvPr/>
        </p:nvSpPr>
        <p:spPr>
          <a:xfrm>
            <a:off x="4623206" y="4847126"/>
            <a:ext cx="317716" cy="369332"/>
          </a:xfrm>
          <a:prstGeom prst="rect">
            <a:avLst/>
          </a:prstGeom>
          <a:noFill/>
        </p:spPr>
        <p:txBody>
          <a:bodyPr wrap="none" rtlCol="0">
            <a:spAutoFit/>
          </a:bodyPr>
          <a:lstStyle/>
          <a:p>
            <a:r>
              <a:rPr lang="en-US" dirty="0">
                <a:solidFill>
                  <a:schemeClr val="bg1"/>
                </a:solidFill>
              </a:rPr>
              <a:t>B</a:t>
            </a:r>
          </a:p>
        </p:txBody>
      </p:sp>
      <p:sp>
        <p:nvSpPr>
          <p:cNvPr id="132" name="TextBox 131">
            <a:extLst>
              <a:ext uri="{FF2B5EF4-FFF2-40B4-BE49-F238E27FC236}">
                <a16:creationId xmlns:a16="http://schemas.microsoft.com/office/drawing/2014/main" id="{4D37FF6A-48D3-AE49-82AD-DF5CE9A2542A}"/>
              </a:ext>
            </a:extLst>
          </p:cNvPr>
          <p:cNvSpPr txBox="1"/>
          <p:nvPr/>
        </p:nvSpPr>
        <p:spPr>
          <a:xfrm>
            <a:off x="6902357" y="5698169"/>
            <a:ext cx="317716" cy="369332"/>
          </a:xfrm>
          <a:prstGeom prst="rect">
            <a:avLst/>
          </a:prstGeom>
          <a:noFill/>
        </p:spPr>
        <p:txBody>
          <a:bodyPr wrap="none" rtlCol="0">
            <a:spAutoFit/>
          </a:bodyPr>
          <a:lstStyle/>
          <a:p>
            <a:r>
              <a:rPr lang="en-US" dirty="0">
                <a:solidFill>
                  <a:schemeClr val="bg1"/>
                </a:solidFill>
              </a:rPr>
              <a:t>C</a:t>
            </a:r>
          </a:p>
        </p:txBody>
      </p:sp>
      <p:sp>
        <p:nvSpPr>
          <p:cNvPr id="133" name="TextBox 132">
            <a:extLst>
              <a:ext uri="{FF2B5EF4-FFF2-40B4-BE49-F238E27FC236}">
                <a16:creationId xmlns:a16="http://schemas.microsoft.com/office/drawing/2014/main" id="{5C3F8F57-1EC3-A444-90B5-A9967EAA485D}"/>
              </a:ext>
            </a:extLst>
          </p:cNvPr>
          <p:cNvSpPr txBox="1"/>
          <p:nvPr/>
        </p:nvSpPr>
        <p:spPr>
          <a:xfrm>
            <a:off x="7496546" y="4843702"/>
            <a:ext cx="327334" cy="369332"/>
          </a:xfrm>
          <a:prstGeom prst="rect">
            <a:avLst/>
          </a:prstGeom>
          <a:noFill/>
        </p:spPr>
        <p:txBody>
          <a:bodyPr wrap="none" rtlCol="0">
            <a:spAutoFit/>
          </a:bodyPr>
          <a:lstStyle/>
          <a:p>
            <a:r>
              <a:rPr lang="en-US" dirty="0">
                <a:solidFill>
                  <a:schemeClr val="bg1"/>
                </a:solidFill>
              </a:rPr>
              <a:t>D</a:t>
            </a:r>
          </a:p>
        </p:txBody>
      </p:sp>
      <p:sp>
        <p:nvSpPr>
          <p:cNvPr id="127" name="Rectangle 174">
            <a:extLst>
              <a:ext uri="{FF2B5EF4-FFF2-40B4-BE49-F238E27FC236}">
                <a16:creationId xmlns:a16="http://schemas.microsoft.com/office/drawing/2014/main" id="{F1B64B39-C299-EC44-8493-F36F1F2A8CD8}"/>
              </a:ext>
            </a:extLst>
          </p:cNvPr>
          <p:cNvSpPr>
            <a:spLocks noChangeArrowheads="1"/>
          </p:cNvSpPr>
          <p:nvPr/>
        </p:nvSpPr>
        <p:spPr bwMode="auto">
          <a:xfrm>
            <a:off x="7575600" y="199248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socket(AF_INET,SOCK_STREAM)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5775</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8" name="Rectangle 174">
            <a:extLst>
              <a:ext uri="{FF2B5EF4-FFF2-40B4-BE49-F238E27FC236}">
                <a16:creationId xmlns:a16="http://schemas.microsoft.com/office/drawing/2014/main" id="{821B066F-1D54-9842-8B91-6EFC02EED78C}"/>
              </a:ext>
            </a:extLst>
          </p:cNvPr>
          <p:cNvSpPr>
            <a:spLocks noChangeArrowheads="1"/>
          </p:cNvSpPr>
          <p:nvPr/>
        </p:nvSpPr>
        <p:spPr bwMode="auto">
          <a:xfrm>
            <a:off x="4163389" y="113749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6428</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9" name="Title 1">
            <a:extLst>
              <a:ext uri="{FF2B5EF4-FFF2-40B4-BE49-F238E27FC236}">
                <a16:creationId xmlns:a16="http://schemas.microsoft.com/office/drawing/2014/main" id="{8F00F9B4-0BB2-B845-92FC-6EB603238F78}"/>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Tree>
    <p:extLst>
      <p:ext uri="{BB962C8B-B14F-4D97-AF65-F5344CB8AC3E}">
        <p14:creationId xmlns:p14="http://schemas.microsoft.com/office/powerpoint/2010/main" val="2043992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27"/>
                                        </p:tgtEl>
                                        <p:attrNameLst>
                                          <p:attrName>style.visibility</p:attrName>
                                        </p:attrNameLst>
                                      </p:cBhvr>
                                      <p:to>
                                        <p:strVal val="visible"/>
                                      </p:to>
                                    </p:set>
                                    <p:animEffect transition="in" filter="dissolve">
                                      <p:cBhvr>
                                        <p:cTn id="18" dur="500"/>
                                        <p:tgtEl>
                                          <p:spTgt spid="12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28"/>
                                        </p:tgtEl>
                                        <p:attrNameLst>
                                          <p:attrName>style.visibility</p:attrName>
                                        </p:attrNameLst>
                                      </p:cBhvr>
                                      <p:to>
                                        <p:strVal val="visible"/>
                                      </p:to>
                                    </p:set>
                                    <p:animEffect transition="in" filter="dissolve">
                                      <p:cBhvr>
                                        <p:cTn id="26" dur="500"/>
                                        <p:tgtEl>
                                          <p:spTgt spid="12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95"/>
                                        </p:tgtEl>
                                        <p:attrNameLst>
                                          <p:attrName>style.visibility</p:attrName>
                                        </p:attrNameLst>
                                      </p:cBhvr>
                                      <p:to>
                                        <p:strVal val="visible"/>
                                      </p:to>
                                    </p:set>
                                    <p:animEffect transition="in" filter="wipe(up)">
                                      <p:cBhvr>
                                        <p:cTn id="31" dur="500"/>
                                        <p:tgtEl>
                                          <p:spTgt spid="195"/>
                                        </p:tgtEl>
                                      </p:cBhvr>
                                    </p:animEffect>
                                  </p:childTnLst>
                                </p:cTn>
                              </p:par>
                            </p:childTnLst>
                          </p:cTn>
                        </p:par>
                        <p:par>
                          <p:cTn id="32" fill="hold">
                            <p:stCondLst>
                              <p:cond delay="500"/>
                            </p:stCondLst>
                            <p:childTnLst>
                              <p:par>
                                <p:cTn id="33" presetID="22" presetClass="entr" presetSubtype="8" fill="hold" nodeType="afterEffect">
                                  <p:stCondLst>
                                    <p:cond delay="0"/>
                                  </p:stCondLst>
                                  <p:childTnLst>
                                    <p:set>
                                      <p:cBhvr>
                                        <p:cTn id="34" dur="1" fill="hold">
                                          <p:stCondLst>
                                            <p:cond delay="0"/>
                                          </p:stCondLst>
                                        </p:cTn>
                                        <p:tgtEl>
                                          <p:spTgt spid="197"/>
                                        </p:tgtEl>
                                        <p:attrNameLst>
                                          <p:attrName>style.visibility</p:attrName>
                                        </p:attrNameLst>
                                      </p:cBhvr>
                                      <p:to>
                                        <p:strVal val="visible"/>
                                      </p:to>
                                    </p:set>
                                    <p:animEffect transition="in" filter="wipe(left)">
                                      <p:cBhvr>
                                        <p:cTn id="35" dur="500"/>
                                        <p:tgtEl>
                                          <p:spTgt spid="197"/>
                                        </p:tgtEl>
                                      </p:cBhvr>
                                    </p:animEffect>
                                  </p:childTnLst>
                                </p:cTn>
                              </p:par>
                              <p:par>
                                <p:cTn id="36" presetID="22" presetClass="entr" presetSubtype="8" fill="hold" nodeType="with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left)">
                                      <p:cBhvr>
                                        <p:cTn id="38" dur="500"/>
                                        <p:tgtEl>
                                          <p:spTgt spid="207"/>
                                        </p:tgtEl>
                                      </p:cBhvr>
                                    </p:animEffect>
                                  </p:childTnLst>
                                </p:cTn>
                              </p:par>
                            </p:childTnLst>
                          </p:cTn>
                        </p:par>
                        <p:par>
                          <p:cTn id="39" fill="hold">
                            <p:stCondLst>
                              <p:cond delay="1000"/>
                            </p:stCondLst>
                            <p:childTnLst>
                              <p:par>
                                <p:cTn id="40" presetID="22" presetClass="entr" presetSubtype="4" fill="hold" nodeType="afterEffect">
                                  <p:stCondLst>
                                    <p:cond delay="0"/>
                                  </p:stCondLst>
                                  <p:childTnLst>
                                    <p:set>
                                      <p:cBhvr>
                                        <p:cTn id="41" dur="1" fill="hold">
                                          <p:stCondLst>
                                            <p:cond delay="0"/>
                                          </p:stCondLst>
                                        </p:cTn>
                                        <p:tgtEl>
                                          <p:spTgt spid="196"/>
                                        </p:tgtEl>
                                        <p:attrNameLst>
                                          <p:attrName>style.visibility</p:attrName>
                                        </p:attrNameLst>
                                      </p:cBhvr>
                                      <p:to>
                                        <p:strVal val="visible"/>
                                      </p:to>
                                    </p:set>
                                    <p:animEffect transition="in" filter="wipe(down)">
                                      <p:cBhvr>
                                        <p:cTn id="42" dur="500"/>
                                        <p:tgtEl>
                                          <p:spTgt spid="19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198"/>
                                        </p:tgtEl>
                                        <p:attrNameLst>
                                          <p:attrName>style.visibility</p:attrName>
                                        </p:attrNameLst>
                                      </p:cBhvr>
                                      <p:to>
                                        <p:strVal val="visible"/>
                                      </p:to>
                                    </p:set>
                                    <p:animEffect transition="in" filter="wipe(up)">
                                      <p:cBhvr>
                                        <p:cTn id="47" dur="500"/>
                                        <p:tgtEl>
                                          <p:spTgt spid="198"/>
                                        </p:tgtEl>
                                      </p:cBhvr>
                                    </p:animEffect>
                                  </p:childTnLst>
                                </p:cTn>
                              </p:par>
                            </p:childTnLst>
                          </p:cTn>
                        </p:par>
                        <p:par>
                          <p:cTn id="48" fill="hold">
                            <p:stCondLst>
                              <p:cond delay="500"/>
                            </p:stCondLst>
                            <p:childTnLst>
                              <p:par>
                                <p:cTn id="49" presetID="22" presetClass="entr" presetSubtype="2" fill="hold" nodeType="afterEffect">
                                  <p:stCondLst>
                                    <p:cond delay="0"/>
                                  </p:stCondLst>
                                  <p:childTnLst>
                                    <p:set>
                                      <p:cBhvr>
                                        <p:cTn id="50" dur="1" fill="hold">
                                          <p:stCondLst>
                                            <p:cond delay="0"/>
                                          </p:stCondLst>
                                        </p:cTn>
                                        <p:tgtEl>
                                          <p:spTgt spid="199"/>
                                        </p:tgtEl>
                                        <p:attrNameLst>
                                          <p:attrName>style.visibility</p:attrName>
                                        </p:attrNameLst>
                                      </p:cBhvr>
                                      <p:to>
                                        <p:strVal val="visible"/>
                                      </p:to>
                                    </p:set>
                                    <p:animEffect transition="in" filter="wipe(right)">
                                      <p:cBhvr>
                                        <p:cTn id="51" dur="500"/>
                                        <p:tgtEl>
                                          <p:spTgt spid="199"/>
                                        </p:tgtEl>
                                      </p:cBhvr>
                                    </p:animEffect>
                                  </p:childTnLst>
                                </p:cTn>
                              </p:par>
                              <p:par>
                                <p:cTn id="52" presetID="22" presetClass="entr" presetSubtype="2" fill="hold" nodeType="withEffect">
                                  <p:stCondLst>
                                    <p:cond delay="0"/>
                                  </p:stCondLst>
                                  <p:childTnLst>
                                    <p:set>
                                      <p:cBhvr>
                                        <p:cTn id="53" dur="1" fill="hold">
                                          <p:stCondLst>
                                            <p:cond delay="0"/>
                                          </p:stCondLst>
                                        </p:cTn>
                                        <p:tgtEl>
                                          <p:spTgt spid="211"/>
                                        </p:tgtEl>
                                        <p:attrNameLst>
                                          <p:attrName>style.visibility</p:attrName>
                                        </p:attrNameLst>
                                      </p:cBhvr>
                                      <p:to>
                                        <p:strVal val="visible"/>
                                      </p:to>
                                    </p:set>
                                    <p:animEffect transition="in" filter="wipe(right)">
                                      <p:cBhvr>
                                        <p:cTn id="54" dur="500"/>
                                        <p:tgtEl>
                                          <p:spTgt spid="211"/>
                                        </p:tgtEl>
                                      </p:cBhvr>
                                    </p:animEffect>
                                  </p:childTnLst>
                                </p:cTn>
                              </p:par>
                            </p:childTnLst>
                          </p:cTn>
                        </p:par>
                        <p:par>
                          <p:cTn id="55" fill="hold">
                            <p:stCondLst>
                              <p:cond delay="1000"/>
                            </p:stCondLst>
                            <p:childTnLst>
                              <p:par>
                                <p:cTn id="56" presetID="22" presetClass="entr" presetSubtype="4" fill="hold" nodeType="afterEffect">
                                  <p:stCondLst>
                                    <p:cond delay="0"/>
                                  </p:stCondLst>
                                  <p:childTnLst>
                                    <p:set>
                                      <p:cBhvr>
                                        <p:cTn id="57" dur="1" fill="hold">
                                          <p:stCondLst>
                                            <p:cond delay="0"/>
                                          </p:stCondLst>
                                        </p:cTn>
                                        <p:tgtEl>
                                          <p:spTgt spid="200"/>
                                        </p:tgtEl>
                                        <p:attrNameLst>
                                          <p:attrName>style.visibility</p:attrName>
                                        </p:attrNameLst>
                                      </p:cBhvr>
                                      <p:to>
                                        <p:strVal val="visible"/>
                                      </p:to>
                                    </p:set>
                                    <p:animEffect transition="in" filter="wipe(down)">
                                      <p:cBhvr>
                                        <p:cTn id="58" dur="500"/>
                                        <p:tgtEl>
                                          <p:spTgt spid="200"/>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204"/>
                                        </p:tgtEl>
                                        <p:attrNameLst>
                                          <p:attrName>style.visibility</p:attrName>
                                        </p:attrNameLst>
                                      </p:cBhvr>
                                      <p:to>
                                        <p:strVal val="visible"/>
                                      </p:to>
                                    </p:set>
                                    <p:animEffect transition="in" filter="wipe(up)">
                                      <p:cBhvr>
                                        <p:cTn id="63" dur="500"/>
                                        <p:tgtEl>
                                          <p:spTgt spid="204"/>
                                        </p:tgtEl>
                                      </p:cBhvr>
                                    </p:animEffect>
                                  </p:childTnLst>
                                </p:cTn>
                              </p:par>
                            </p:childTnLst>
                          </p:cTn>
                        </p:par>
                        <p:par>
                          <p:cTn id="64" fill="hold">
                            <p:stCondLst>
                              <p:cond delay="500"/>
                            </p:stCondLst>
                            <p:childTnLst>
                              <p:par>
                                <p:cTn id="65" presetID="22" presetClass="entr" presetSubtype="8" fill="hold" nodeType="afterEffect">
                                  <p:stCondLst>
                                    <p:cond delay="0"/>
                                  </p:stCondLst>
                                  <p:childTnLst>
                                    <p:set>
                                      <p:cBhvr>
                                        <p:cTn id="66" dur="1" fill="hold">
                                          <p:stCondLst>
                                            <p:cond delay="0"/>
                                          </p:stCondLst>
                                        </p:cTn>
                                        <p:tgtEl>
                                          <p:spTgt spid="206"/>
                                        </p:tgtEl>
                                        <p:attrNameLst>
                                          <p:attrName>style.visibility</p:attrName>
                                        </p:attrNameLst>
                                      </p:cBhvr>
                                      <p:to>
                                        <p:strVal val="visible"/>
                                      </p:to>
                                    </p:set>
                                    <p:animEffect transition="in" filter="wipe(left)">
                                      <p:cBhvr>
                                        <p:cTn id="67" dur="500"/>
                                        <p:tgtEl>
                                          <p:spTgt spid="206"/>
                                        </p:tgtEl>
                                      </p:cBhvr>
                                    </p:animEffect>
                                  </p:childTnLst>
                                </p:cTn>
                              </p:par>
                              <p:par>
                                <p:cTn id="68" presetID="22" presetClass="entr" presetSubtype="8" fill="hold" nodeType="withEffect">
                                  <p:stCondLst>
                                    <p:cond delay="0"/>
                                  </p:stCondLst>
                                  <p:childTnLst>
                                    <p:set>
                                      <p:cBhvr>
                                        <p:cTn id="69" dur="1" fill="hold">
                                          <p:stCondLst>
                                            <p:cond delay="0"/>
                                          </p:stCondLst>
                                        </p:cTn>
                                        <p:tgtEl>
                                          <p:spTgt spid="215"/>
                                        </p:tgtEl>
                                        <p:attrNameLst>
                                          <p:attrName>style.visibility</p:attrName>
                                        </p:attrNameLst>
                                      </p:cBhvr>
                                      <p:to>
                                        <p:strVal val="visible"/>
                                      </p:to>
                                    </p:set>
                                    <p:animEffect transition="in" filter="wipe(left)">
                                      <p:cBhvr>
                                        <p:cTn id="70" dur="500"/>
                                        <p:tgtEl>
                                          <p:spTgt spid="215"/>
                                        </p:tgtEl>
                                      </p:cBhvr>
                                    </p:animEffect>
                                  </p:childTnLst>
                                </p:cTn>
                              </p:par>
                            </p:childTnLst>
                          </p:cTn>
                        </p:par>
                        <p:par>
                          <p:cTn id="71" fill="hold">
                            <p:stCondLst>
                              <p:cond delay="1000"/>
                            </p:stCondLst>
                            <p:childTnLst>
                              <p:par>
                                <p:cTn id="72" presetID="22" presetClass="entr" presetSubtype="4" fill="hold" nodeType="afterEffect">
                                  <p:stCondLst>
                                    <p:cond delay="0"/>
                                  </p:stCondLst>
                                  <p:childTnLst>
                                    <p:set>
                                      <p:cBhvr>
                                        <p:cTn id="73" dur="1" fill="hold">
                                          <p:stCondLst>
                                            <p:cond delay="0"/>
                                          </p:stCondLst>
                                        </p:cTn>
                                        <p:tgtEl>
                                          <p:spTgt spid="202"/>
                                        </p:tgtEl>
                                        <p:attrNameLst>
                                          <p:attrName>style.visibility</p:attrName>
                                        </p:attrNameLst>
                                      </p:cBhvr>
                                      <p:to>
                                        <p:strVal val="visible"/>
                                      </p:to>
                                    </p:set>
                                    <p:animEffect transition="in" filter="wipe(down)">
                                      <p:cBhvr>
                                        <p:cTn id="74" dur="500"/>
                                        <p:tgtEl>
                                          <p:spTgt spid="202"/>
                                        </p:tgtEl>
                                      </p:cBhvr>
                                    </p:animEffect>
                                  </p:childTnLst>
                                </p:cTn>
                              </p:par>
                            </p:childTnLst>
                          </p:cTn>
                        </p:par>
                        <p:par>
                          <p:cTn id="75" fill="hold">
                            <p:stCondLst>
                              <p:cond delay="1500"/>
                            </p:stCondLst>
                            <p:childTnLst>
                              <p:par>
                                <p:cTn id="76" presetID="22" presetClass="entr" presetSubtype="1" fill="hold" nodeType="afterEffect">
                                  <p:stCondLst>
                                    <p:cond delay="0"/>
                                  </p:stCondLst>
                                  <p:childTnLst>
                                    <p:set>
                                      <p:cBhvr>
                                        <p:cTn id="77" dur="1" fill="hold">
                                          <p:stCondLst>
                                            <p:cond delay="0"/>
                                          </p:stCondLst>
                                        </p:cTn>
                                        <p:tgtEl>
                                          <p:spTgt spid="201"/>
                                        </p:tgtEl>
                                        <p:attrNameLst>
                                          <p:attrName>style.visibility</p:attrName>
                                        </p:attrNameLst>
                                      </p:cBhvr>
                                      <p:to>
                                        <p:strVal val="visible"/>
                                      </p:to>
                                    </p:set>
                                    <p:animEffect transition="in" filter="wipe(up)">
                                      <p:cBhvr>
                                        <p:cTn id="78" dur="500"/>
                                        <p:tgtEl>
                                          <p:spTgt spid="201"/>
                                        </p:tgtEl>
                                      </p:cBhvr>
                                    </p:animEffect>
                                  </p:childTnLst>
                                </p:cTn>
                              </p:par>
                            </p:childTnLst>
                          </p:cTn>
                        </p:par>
                        <p:par>
                          <p:cTn id="79" fill="hold">
                            <p:stCondLst>
                              <p:cond delay="2000"/>
                            </p:stCondLst>
                            <p:childTnLst>
                              <p:par>
                                <p:cTn id="80" presetID="22" presetClass="entr" presetSubtype="2" fill="hold" nodeType="afterEffect">
                                  <p:stCondLst>
                                    <p:cond delay="0"/>
                                  </p:stCondLst>
                                  <p:childTnLst>
                                    <p:set>
                                      <p:cBhvr>
                                        <p:cTn id="81" dur="1" fill="hold">
                                          <p:stCondLst>
                                            <p:cond delay="0"/>
                                          </p:stCondLst>
                                        </p:cTn>
                                        <p:tgtEl>
                                          <p:spTgt spid="205"/>
                                        </p:tgtEl>
                                        <p:attrNameLst>
                                          <p:attrName>style.visibility</p:attrName>
                                        </p:attrNameLst>
                                      </p:cBhvr>
                                      <p:to>
                                        <p:strVal val="visible"/>
                                      </p:to>
                                    </p:set>
                                    <p:animEffect transition="in" filter="wipe(right)">
                                      <p:cBhvr>
                                        <p:cTn id="82" dur="500"/>
                                        <p:tgtEl>
                                          <p:spTgt spid="205"/>
                                        </p:tgtEl>
                                      </p:cBhvr>
                                    </p:animEffect>
                                  </p:childTnLst>
                                </p:cTn>
                              </p:par>
                              <p:par>
                                <p:cTn id="83" presetID="22" presetClass="entr" presetSubtype="2" fill="hold" nodeType="withEffect">
                                  <p:stCondLst>
                                    <p:cond delay="0"/>
                                  </p:stCondLst>
                                  <p:childTnLst>
                                    <p:set>
                                      <p:cBhvr>
                                        <p:cTn id="84" dur="1" fill="hold">
                                          <p:stCondLst>
                                            <p:cond delay="0"/>
                                          </p:stCondLst>
                                        </p:cTn>
                                        <p:tgtEl>
                                          <p:spTgt spid="219"/>
                                        </p:tgtEl>
                                        <p:attrNameLst>
                                          <p:attrName>style.visibility</p:attrName>
                                        </p:attrNameLst>
                                      </p:cBhvr>
                                      <p:to>
                                        <p:strVal val="visible"/>
                                      </p:to>
                                    </p:set>
                                    <p:animEffect transition="in" filter="wipe(right)">
                                      <p:cBhvr>
                                        <p:cTn id="85" dur="500"/>
                                        <p:tgtEl>
                                          <p:spTgt spid="219"/>
                                        </p:tgtEl>
                                      </p:cBhvr>
                                    </p:animEffect>
                                  </p:childTnLst>
                                </p:cTn>
                              </p:par>
                            </p:childTnLst>
                          </p:cTn>
                        </p:par>
                        <p:par>
                          <p:cTn id="86" fill="hold">
                            <p:stCondLst>
                              <p:cond delay="2500"/>
                            </p:stCondLst>
                            <p:childTnLst>
                              <p:par>
                                <p:cTn id="87" presetID="22" presetClass="entr" presetSubtype="4" fill="hold" nodeType="afterEffect">
                                  <p:stCondLst>
                                    <p:cond delay="0"/>
                                  </p:stCondLst>
                                  <p:childTnLst>
                                    <p:set>
                                      <p:cBhvr>
                                        <p:cTn id="88" dur="1" fill="hold">
                                          <p:stCondLst>
                                            <p:cond delay="0"/>
                                          </p:stCondLst>
                                        </p:cTn>
                                        <p:tgtEl>
                                          <p:spTgt spid="203"/>
                                        </p:tgtEl>
                                        <p:attrNameLst>
                                          <p:attrName>style.visibility</p:attrName>
                                        </p:attrNameLst>
                                      </p:cBhvr>
                                      <p:to>
                                        <p:strVal val="visible"/>
                                      </p:to>
                                    </p:set>
                                    <p:animEffect transition="in" filter="wipe(down)">
                                      <p:cBhvr>
                                        <p:cTn id="89"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27" grpId="0"/>
      <p:bldP spid="128"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port number</a:t>
            </a:r>
          </a:p>
        </p:txBody>
      </p:sp>
      <p:sp>
        <p:nvSpPr>
          <p:cNvPr id="129" name="Rectangle 4">
            <a:extLst>
              <a:ext uri="{FF2B5EF4-FFF2-40B4-BE49-F238E27FC236}">
                <a16:creationId xmlns:a16="http://schemas.microsoft.com/office/drawing/2014/main" id="{C6672EA0-BD4C-AA4C-B327-560672E6A24F}"/>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2C2F9B28-FDD9-B047-936F-1DE26AECFD6E}"/>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AE4D1361-EDC2-E64C-B2A5-339968681A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134549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7563D6BB-009E-434A-9515-A6EAB0387E14}"/>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C4ABCFDA-E140-9C42-81C9-A5B5F6C446B3}"/>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614F9B0E-1109-CC4B-8E75-55A6C74E6801}"/>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CBD89C10-5030-2D42-A25D-BFEC970A8F20}"/>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8D7EF085-D57A-E243-98DA-BEAC54BDE621}"/>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0ED9175A-7497-DD4F-9C18-ACF0B19F7B51}"/>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FD58D124-018E-3848-9BB8-DBD51A4D851F}"/>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15074162-585A-BC41-91A3-96670F676188}"/>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23B1C83D-9CD1-7141-80E9-B23AF1A120DD}"/>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18FD1BAC-22E0-E743-8D85-AD83603D9B8E}"/>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FA894B51-006F-1749-B20E-08F2DE8012E4}"/>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986C06D0-2FCC-3C4A-8B26-E47FEACB6A76}"/>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D076C0F4-C178-3E40-A5A0-D9949817A0D5}"/>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2A71094C-18F7-1C46-8C86-7D8D2BCF2A4A}"/>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539" name="Group 20">
            <a:extLst>
              <a:ext uri="{FF2B5EF4-FFF2-40B4-BE49-F238E27FC236}">
                <a16:creationId xmlns:a16="http://schemas.microsoft.com/office/drawing/2014/main" id="{554821E9-E611-EF4C-B4ED-D5A7C0CB1055}"/>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BEBEC012-39DF-A541-830E-6FF13ADAE41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C54558CA-8722-654B-8BA0-93D5C1A6759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4ECE78D1-C229-D44C-8946-E5D845D77BF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5E3A5BD1-1D56-EA42-9427-8F0D4DE4565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9E1F493A-E899-D74E-919F-F4A60AE16A91}"/>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49A0180F-5303-6E4C-99BF-19A56AAC7C47}"/>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23645F4E-01B1-3349-9A7F-2F24FC4C20C1}"/>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9BED65C6-B309-8B4D-A068-E19EDFD116B4}"/>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3CB9E7E9-E087-BE49-8C38-35C7E48BA8C9}"/>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5F58D18-0976-1447-9AE8-E0B265BD816E}"/>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2A7F5798-BB67-5141-90FB-F51D589E31C6}"/>
              </a:ext>
            </a:extLst>
          </p:cNvPr>
          <p:cNvSpPr>
            <a:spLocks noChangeArrowheads="1"/>
          </p:cNvSpPr>
          <p:nvPr/>
        </p:nvSpPr>
        <p:spPr bwMode="auto">
          <a:xfrm>
            <a:off x="5132099" y="1727255"/>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32D4A7B1-DBDA-2B47-8511-4BF8176AC42D}"/>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DAED2C2D-612B-9147-A573-0082B49107C3}"/>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892F681F-FE7B-A849-886C-3DB4B71509FA}"/>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5491EDD3-2B63-BB4B-87FA-02E376F65B7B}"/>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0FB3A86D-FFE9-EE49-AD2D-1E57E4F89BB1}"/>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9835580D-BB7F-E64A-B442-691428929F13}"/>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31A0CB7D-BCCB-D34A-A890-C07347817887}"/>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F992062B-7A21-DE43-9A4C-83CB3E9CB13F}"/>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AC38FC98-798D-384B-B25B-E64D646DDFC5}"/>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28913095-A052-0A42-8972-4D75538256AD}"/>
              </a:ext>
            </a:extLst>
          </p:cNvPr>
          <p:cNvSpPr txBox="1">
            <a:spLocks noChangeArrowheads="1"/>
          </p:cNvSpPr>
          <p:nvPr/>
        </p:nvSpPr>
        <p:spPr bwMode="auto">
          <a:xfrm flipH="1">
            <a:off x="1723736" y="4418067"/>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A</a:t>
            </a:r>
          </a:p>
        </p:txBody>
      </p:sp>
      <p:sp>
        <p:nvSpPr>
          <p:cNvPr id="569" name="Text Box 94">
            <a:extLst>
              <a:ext uri="{FF2B5EF4-FFF2-40B4-BE49-F238E27FC236}">
                <a16:creationId xmlns:a16="http://schemas.microsoft.com/office/drawing/2014/main" id="{E982CF1A-0928-6A45-8462-D083EBC09BA7}"/>
              </a:ext>
            </a:extLst>
          </p:cNvPr>
          <p:cNvSpPr txBox="1">
            <a:spLocks noChangeArrowheads="1"/>
          </p:cNvSpPr>
          <p:nvPr/>
        </p:nvSpPr>
        <p:spPr bwMode="auto">
          <a:xfrm flipH="1">
            <a:off x="9480261" y="4314880"/>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C</a:t>
            </a:r>
          </a:p>
        </p:txBody>
      </p:sp>
      <p:sp>
        <p:nvSpPr>
          <p:cNvPr id="570" name="Line 96">
            <a:extLst>
              <a:ext uri="{FF2B5EF4-FFF2-40B4-BE49-F238E27FC236}">
                <a16:creationId xmlns:a16="http://schemas.microsoft.com/office/drawing/2014/main" id="{2EEED614-F433-E440-B256-A6E56708BB1E}"/>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098FD8B8-DDC2-8146-812C-346AC97FA30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8BEC305F-DB39-A945-9B16-8D9FBE53F071}"/>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7CB610F0-F0BE-7D49-8D7A-0F03DEB1C350}"/>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1D31CBE9-4A8E-BC4A-A036-BA509B6CF5EA}"/>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91441727-AAD7-1140-AF05-A3D324B8DC6B}"/>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70206F36-B050-C844-A36F-47D4A71EE355}"/>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5F70B84F-C600-BF41-9794-BB79AB85B4E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9352E66B-31B1-0244-9A00-013E38F02047}"/>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A72F3B32-D2F7-184C-B710-25A136D5D06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0" name="Oval 106">
            <a:extLst>
              <a:ext uri="{FF2B5EF4-FFF2-40B4-BE49-F238E27FC236}">
                <a16:creationId xmlns:a16="http://schemas.microsoft.com/office/drawing/2014/main" id="{775F6544-1FEC-F148-8D8D-09EF67871450}"/>
              </a:ext>
            </a:extLst>
          </p:cNvPr>
          <p:cNvSpPr>
            <a:spLocks noChangeArrowheads="1"/>
          </p:cNvSpPr>
          <p:nvPr/>
        </p:nvSpPr>
        <p:spPr bwMode="auto">
          <a:xfrm>
            <a:off x="6498936" y="173201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P6</a:t>
            </a:r>
          </a:p>
        </p:txBody>
      </p:sp>
      <p:sp>
        <p:nvSpPr>
          <p:cNvPr id="581" name="Oval 112">
            <a:extLst>
              <a:ext uri="{FF2B5EF4-FFF2-40B4-BE49-F238E27FC236}">
                <a16:creationId xmlns:a16="http://schemas.microsoft.com/office/drawing/2014/main" id="{1A7AFB65-C131-864D-BB01-D752C9A2B6C2}"/>
              </a:ext>
            </a:extLst>
          </p:cNvPr>
          <p:cNvSpPr>
            <a:spLocks noChangeArrowheads="1"/>
          </p:cNvSpPr>
          <p:nvPr/>
        </p:nvSpPr>
        <p:spPr bwMode="auto">
          <a:xfrm>
            <a:off x="5827424" y="1730430"/>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P5</a:t>
            </a:r>
          </a:p>
        </p:txBody>
      </p:sp>
      <p:grpSp>
        <p:nvGrpSpPr>
          <p:cNvPr id="582" name="Group 118">
            <a:extLst>
              <a:ext uri="{FF2B5EF4-FFF2-40B4-BE49-F238E27FC236}">
                <a16:creationId xmlns:a16="http://schemas.microsoft.com/office/drawing/2014/main" id="{72BEDA86-D9D6-634C-B8D0-F4A3A594F27F}"/>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967F16BC-79F0-D947-BF48-B3D4DFC3760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E857091F-6411-DE41-A408-86F1597775F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10EEFABE-8406-A849-8F8B-3E87430B80EE}"/>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65CA8326-C8A6-0740-8CBC-12905C52988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997E9D96-904C-5A46-A87E-C65B0FD83028}"/>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83A5305C-938A-3540-92FC-D9E6B3AA52E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5B51F3FA-BED2-9741-B674-7BC7A9E263F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79C8DFFC-9ECB-D741-B85F-80F0EF7532BF}"/>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978D323D-4AE7-9141-B532-67630F4025D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B3924FC9-2487-424F-B323-57225BB1F6F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8C5E5D9B-06EC-8040-963A-0448FFE65135}"/>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B6E44884-802F-C140-8F4F-ECCAD20C64C2}"/>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267911A5-63F3-4640-87F3-C5B06264CB37}"/>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EE1E98D-B6C0-2C4E-AD21-6D19C0FB7F86}"/>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61B34E55-D106-A049-9E71-650BFC4F134B}"/>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11316511-2186-B14B-B2A0-0967B623A5F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7A116F04-A632-B845-B528-4E4C72A9479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4A85FADB-4AF1-F94D-8774-770D5D08763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9F60C830-B1B4-8D40-9EFA-BCF609F3183A}"/>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6EF6EEDA-22BF-6241-8415-4BAB32D1286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3DD5FE6D-6228-3940-8146-E91BBCD9F57B}"/>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15547CDB-C790-C348-AE10-9B28B2C54F9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9BAD7A1-391C-F44A-8C97-BB2749F44B10}"/>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714C3193-ABA3-E549-9000-1B9EA94280C7}"/>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5" name="Group 4"/>
          <p:cNvGrpSpPr/>
          <p:nvPr/>
        </p:nvGrpSpPr>
        <p:grpSpPr>
          <a:xfrm>
            <a:off x="3128674" y="2152705"/>
            <a:ext cx="2695575" cy="3382962"/>
            <a:chOff x="3128674" y="2152705"/>
            <a:chExt cx="2695575" cy="3382962"/>
          </a:xfrm>
        </p:grpSpPr>
        <p:grpSp>
          <p:nvGrpSpPr>
            <p:cNvPr id="4" name="Group 3"/>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54B1DF71-9399-154E-A326-E57B31715B4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126F8F0C-1620-8242-B2D8-31D60CE3B0C0}"/>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B4AFF46B-1913-5749-A0C2-475F8713C47B}"/>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CE607ED2-10F4-764C-A00E-207E57A6B5C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 port: B,80</a:t>
                  </a:r>
                </a:p>
              </p:txBody>
            </p:sp>
          </p:grpSp>
          <p:grpSp>
            <p:nvGrpSpPr>
              <p:cNvPr id="564" name="Group 80">
                <a:extLst>
                  <a:ext uri="{FF2B5EF4-FFF2-40B4-BE49-F238E27FC236}">
                    <a16:creationId xmlns:a16="http://schemas.microsoft.com/office/drawing/2014/main" id="{BE97DD4B-C63C-784B-AC3B-62C82E3DEAE1}"/>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4CBF1123-14B9-314E-90DC-C336B1E5677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C63CC2F7-6C69-D341-8C27-77AE238CB115}"/>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FEC19C07-3FF2-1243-80F2-5776AC478D33}"/>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C20C0751-24F4-5540-AE77-1F150DE44DAE}"/>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29302AA3-50A5-1244-9A33-D38F93F145D5}"/>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6BB33F5D-182F-DB4B-A83A-42910CF0B783}"/>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8F2EC129-42A1-CA45-9C29-F66369B61163}"/>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5531015F-C493-CC46-9820-D16FD213713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2E6849E0-3812-A84C-9E80-84DB1D6B09BE}"/>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EC838B59-7BC3-3F46-8B4A-83CBD6DB573B}"/>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69105778-FE71-EB4F-B01B-3760910DFB08}"/>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885FFA84-ACB8-0744-B24C-9A28B05875F1}"/>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0B2DDB46-0A9D-004F-9F24-788225385A0B}"/>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33813E80-F8C8-1546-93E7-7005B836EEC5}"/>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sp>
        <p:nvSpPr>
          <p:cNvPr id="621" name="Text Box 160">
            <a:extLst>
              <a:ext uri="{FF2B5EF4-FFF2-40B4-BE49-F238E27FC236}">
                <a16:creationId xmlns:a16="http://schemas.microsoft.com/office/drawing/2014/main" id="{49EFE28C-CCBF-994C-948D-5E439252E1FF}"/>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F577BA28-7CF9-6040-97DF-D64452645ABD}"/>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933B9AE8-1AB5-0247-896A-09244B6616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69892481-5981-1C41-BD9D-4791FA8BA07F}"/>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354758CC-97E4-CA41-BF22-FC3AA11AB13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452D8B73-C85C-AF42-85A5-B7F8AAB9693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4CB417AA-005D-CD44-9481-C2F20963092B}"/>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54399D05-60E0-3447-A0B8-793547A7FDFA}"/>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0E8C1976-030F-F746-864E-A9949085466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C0F343F2-B11A-FB40-AC3A-93CAC1E9A9F0}"/>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72257BB6-BE40-C84A-9F2C-7D75F5B3408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249FAA90-2012-A843-9B2F-CC46D38944B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1EEEC70E-1D82-B143-BDE1-8B59092C041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EAE13528-3255-7344-B721-B6980B90F5D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7188C30C-A22A-5D45-91C2-1ACAE8C1CB9F}"/>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F5086B84-99D0-6841-BE96-8395BC0620D5}"/>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962F32CB-2CBA-0D4F-B8E2-EFFEF093D1AA}"/>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EE96D227-3E09-6043-A826-C244873EE1DF}"/>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EE37F51B-AE5B-774A-9400-F6B84CC895AF}"/>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BB4E54F7-0208-D144-94CD-AE16252B07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CDDF1C6E-720C-1C4E-97D6-FEEA034A422E}"/>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FCE1B24C-C6D5-A74E-BCC9-1790A44777C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ECD7FAA8-997C-6741-B542-8F6CB8A79865}"/>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FABC00AC-70CA-7043-A832-BD8E42059D3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113F4917-6305-434E-A2A6-9F8FC8CD207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14DDB482-D40B-9E4B-B569-8524D8E8FF9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44EB568A-9CE3-C54A-9206-BDCE5E179782}"/>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47334A5D-96E6-664D-926C-2595FA58305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013B8477-EEF2-7747-8060-985EE5C53AC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385C752-6DAC-4A48-9BB5-AEA57D6A9BF6}"/>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0B04B216-03CD-F645-ACA2-BD47FCE98AD8}"/>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268FC658-A568-D546-9053-FA503C84E7FB}"/>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E3521055-5803-D44C-B1AC-A56EE246B7A9}"/>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B01113D0-7A5F-2845-BBE5-E5DEE7D3C21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AE6C24AF-B399-914A-BD00-8F2930D965CE}"/>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449668ED-5F76-8646-97D9-D6F2A29D0D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AF9581BE-4372-754E-A062-1EE3EABE6AD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30AD3BDA-F1F4-4640-8F27-22736C618AA1}"/>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C3C56932-EC72-5E4B-9CCA-7833A8B915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742962E-DBDD-4F4E-8296-B71CC5A6A68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05C5CCE5-0F17-B045-BA74-C5A452C2E19A}"/>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dest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5" name="Oval 144"/>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6" name="Oval 145"/>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a14="http://schemas.microsoft.com/office/drawing/2010/main" xmlns="">
                <a:solidFill>
                  <a:srgbClr val="FFFFFF"/>
                </a:solidFill>
              </a14:hiddenFill>
            </a:ext>
          </a:extLst>
        </p:spPr>
      </p:pic>
      <p:sp>
        <p:nvSpPr>
          <p:cNvPr id="144" name="Slide Number Placeholder 2">
            <a:extLst>
              <a:ext uri="{FF2B5EF4-FFF2-40B4-BE49-F238E27FC236}">
                <a16:creationId xmlns:a16="http://schemas.microsoft.com/office/drawing/2014/main" id="{AAD45FF3-B333-6B47-9ECE-46B770CFE6C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26</a:t>
            </a:fld>
            <a:endParaRPr lang="en-US" dirty="0"/>
          </a:p>
        </p:txBody>
      </p:sp>
    </p:spTree>
    <p:extLst>
      <p:ext uri="{BB962C8B-B14F-4D97-AF65-F5344CB8AC3E}">
        <p14:creationId xmlns:p14="http://schemas.microsoft.com/office/powerpoint/2010/main" val="202231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8"/>
                                        </p:tgtEl>
                                        <p:attrNameLst>
                                          <p:attrName>style.visibility</p:attrName>
                                        </p:attrNameLst>
                                      </p:cBhvr>
                                      <p:to>
                                        <p:strVal val="visible"/>
                                      </p:to>
                                    </p:set>
                                    <p:animEffect transition="in" filter="dissolve">
                                      <p:cBhvr>
                                        <p:cTn id="17" dur="500"/>
                                        <p:tgtEl>
                                          <p:spTgt spid="608"/>
                                        </p:tgtEl>
                                      </p:cBhvr>
                                    </p:animEffect>
                                  </p:childTnLst>
                                </p:cTn>
                              </p:par>
                              <p:par>
                                <p:cTn id="18" presetID="9" presetClass="entr" presetSubtype="0" fill="hold" nodeType="withEffect">
                                  <p:stCondLst>
                                    <p:cond delay="0"/>
                                  </p:stCondLst>
                                  <p:childTnLst>
                                    <p:set>
                                      <p:cBhvr>
                                        <p:cTn id="19" dur="1" fill="hold">
                                          <p:stCondLst>
                                            <p:cond delay="0"/>
                                          </p:stCondLst>
                                        </p:cTn>
                                        <p:tgtEl>
                                          <p:spTgt spid="614"/>
                                        </p:tgtEl>
                                        <p:attrNameLst>
                                          <p:attrName>style.visibility</p:attrName>
                                        </p:attrNameLst>
                                      </p:cBhvr>
                                      <p:to>
                                        <p:strVal val="visible"/>
                                      </p:to>
                                    </p:set>
                                    <p:animEffect transition="in" filter="dissolve">
                                      <p:cBhvr>
                                        <p:cTn id="20" dur="500"/>
                                        <p:tgtEl>
                                          <p:spTgt spid="6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500"/>
                                        <p:tgtEl>
                                          <p:spTgt spid="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45"/>
                                        </p:tgtEl>
                                        <p:attrNameLst>
                                          <p:attrName>style.visibility</p:attrName>
                                        </p:attrNameLst>
                                      </p:cBhvr>
                                      <p:to>
                                        <p:strVal val="visible"/>
                                      </p:to>
                                    </p:set>
                                    <p:animEffect transition="in" filter="dissolve">
                                      <p:cBhvr>
                                        <p:cTn id="28" dur="500"/>
                                        <p:tgtEl>
                                          <p:spTgt spid="1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46"/>
                                        </p:tgtEl>
                                        <p:attrNameLst>
                                          <p:attrName>style.visibility</p:attrName>
                                        </p:attrNameLst>
                                      </p:cBhvr>
                                      <p:to>
                                        <p:strVal val="visible"/>
                                      </p:to>
                                    </p:set>
                                    <p:animEffect transition="in" filter="dissolve">
                                      <p:cBhvr>
                                        <p:cTn id="31" dur="500"/>
                                        <p:tgtEl>
                                          <p:spTgt spid="14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61"/>
                                        </p:tgtEl>
                                        <p:attrNameLst>
                                          <p:attrName>style.visibility</p:attrName>
                                        </p:attrNameLst>
                                      </p:cBhvr>
                                      <p:to>
                                        <p:strVal val="visible"/>
                                      </p:to>
                                    </p:set>
                                    <p:animEffect transition="in" filter="dissolve">
                                      <p:cBhvr>
                                        <p:cTn id="34"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C00000"/>
                </a:solidFill>
                <a:effectLst/>
                <a:uLnTx/>
                <a:uFillTx/>
                <a:latin typeface="Calibri"/>
                <a:ea typeface="+mn-ea"/>
                <a:cs typeface="+mn-cs"/>
              </a:rPr>
              <a:t>UDP: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a:t>
            </a:r>
            <a:r>
              <a:rPr kumimoji="0" lang="en-US" sz="32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a:ea typeface="+mn-ea"/>
                <a:cs typeface="+mn-cs"/>
              </a:rPr>
              <a:t>destination port number (only)</a:t>
            </a:r>
          </a:p>
          <a:p>
            <a:pPr marL="463550" indent="-339725">
              <a:buFont typeface="Wingdings" charset="2"/>
              <a:buChar char="§"/>
              <a:defRPr/>
            </a:pPr>
            <a:r>
              <a:rPr kumimoji="0" lang="en-US" sz="3600" b="1" i="0" u="none" strike="noStrike" kern="1200" cap="none" spc="0" normalizeH="0" baseline="0" noProof="0" dirty="0">
                <a:ln>
                  <a:noFill/>
                </a:ln>
                <a:solidFill>
                  <a:srgbClr val="C00000"/>
                </a:solidFill>
                <a:effectLst/>
                <a:uLnTx/>
                <a:uFillTx/>
                <a:latin typeface="Calibri"/>
                <a:ea typeface="+mn-ea"/>
                <a:cs typeface="+mn-cs"/>
              </a:rPr>
              <a:t>TCP: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a:t>
            </a:r>
            <a:r>
              <a:rPr lang="en-US" sz="3200" b="1" dirty="0">
                <a:solidFill>
                  <a:srgbClr val="FF0000"/>
                </a:solidFill>
                <a:effectLst>
                  <a:outerShdw blurRad="38100" dist="38100" dir="2700000" algn="tl">
                    <a:srgbClr val="000000">
                      <a:alpha val="43137"/>
                    </a:srgbClr>
                  </a:outerShdw>
                </a:effectLst>
                <a:latin typeface="Calibri"/>
              </a:rPr>
              <a:t>4-tuple: source and destination IP addresses, and port numbers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Multiplexing/demultiplexing happen </a:t>
            </a:r>
            <a:r>
              <a:rPr lang="en-US" sz="3200" b="1" dirty="0">
                <a:solidFill>
                  <a:srgbClr val="FF0000"/>
                </a:solidFill>
                <a:effectLst>
                  <a:outerShdw blurRad="38100" dist="38100" dir="2700000" algn="tl">
                    <a:srgbClr val="000000">
                      <a:alpha val="43137"/>
                    </a:srgbClr>
                  </a:outerShdw>
                </a:effectLst>
                <a:latin typeface="Calibri"/>
              </a:rPr>
              <a:t>at all layers</a:t>
            </a: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27</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1" end="1"/>
                                            </p:txEl>
                                          </p:spTgt>
                                        </p:tgtEl>
                                        <p:attrNameLst>
                                          <p:attrName>style.visibility</p:attrName>
                                        </p:attrNameLst>
                                      </p:cBhvr>
                                      <p:to>
                                        <p:strVal val="visible"/>
                                      </p:to>
                                    </p:set>
                                    <p:animEffect transition="in" filter="dissolve">
                                      <p:cBhvr>
                                        <p:cTn id="7" dur="500"/>
                                        <p:tgtEl>
                                          <p:spTgt spid="12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2" end="2"/>
                                            </p:txEl>
                                          </p:spTgt>
                                        </p:tgtEl>
                                        <p:attrNameLst>
                                          <p:attrName>style.visibility</p:attrName>
                                        </p:attrNameLst>
                                      </p:cBhvr>
                                      <p:to>
                                        <p:strVal val="visible"/>
                                      </p:to>
                                    </p:set>
                                    <p:animEffect transition="in" filter="dissolve">
                                      <p:cBhvr>
                                        <p:cTn id="12" dur="500"/>
                                        <p:tgtEl>
                                          <p:spTgt spid="12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3" end="3"/>
                                            </p:txEl>
                                          </p:spTgt>
                                        </p:tgtEl>
                                        <p:attrNameLst>
                                          <p:attrName>style.visibility</p:attrName>
                                        </p:attrNameLst>
                                      </p:cBhvr>
                                      <p:to>
                                        <p:strVal val="visible"/>
                                      </p:to>
                                    </p:set>
                                    <p:animEffect transition="in" filter="dissolve">
                                      <p:cBhvr>
                                        <p:cTn id="17" dur="500"/>
                                        <p:tgtEl>
                                          <p:spTgt spid="1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dirty="0"/>
              <a:t>Transport Layer: 3-</a:t>
            </a:r>
            <a:fld id="{C4204591-24BD-A542-B9D5-F8D8A88D2FEE}" type="slidenum">
              <a:rPr lang="en-US" smtClean="0"/>
              <a:pPr/>
              <a:t>28</a:t>
            </a:fld>
            <a:endParaRPr lang="en-US" dirty="0"/>
          </a:p>
        </p:txBody>
      </p:sp>
      <p:pic>
        <p:nvPicPr>
          <p:cNvPr id="6" name="Picture 5">
            <a:extLst>
              <a:ext uri="{FF2B5EF4-FFF2-40B4-BE49-F238E27FC236}">
                <a16:creationId xmlns:a16="http://schemas.microsoft.com/office/drawing/2014/main" id="{1BA4839A-73B6-AB4F-BAAF-2F0309156AE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lang="en-US" altLang="ja-JP" sz="3500" b="1" dirty="0">
                <a:solidFill>
                  <a:srgbClr val="FF0000"/>
                </a:solidFill>
                <a:effectLst>
                  <a:outerShdw blurRad="38100" dist="38100" dir="2700000" algn="tl">
                    <a:srgbClr val="000000">
                      <a:alpha val="43137"/>
                    </a:srgbClr>
                  </a:outerShdw>
                </a:effectLst>
                <a:latin typeface="Calibri"/>
              </a:rPr>
              <a:t>no frills</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lang="en-US" altLang="ja-JP" sz="3500" b="1" dirty="0">
                <a:solidFill>
                  <a:srgbClr val="FF0000"/>
                </a:solidFill>
                <a:effectLst>
                  <a:outerShdw blurRad="38100" dist="38100" dir="2700000" algn="tl">
                    <a:srgbClr val="000000">
                      <a:alpha val="43137"/>
                    </a:srgbClr>
                  </a:outerShdw>
                </a:effectLst>
                <a:latin typeface="Calibri"/>
              </a:rPr>
              <a:t>bare bones</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lang="en-US" altLang="ja-JP" sz="3500" b="1" dirty="0">
                <a:solidFill>
                  <a:srgbClr val="FF0000"/>
                </a:solidFill>
                <a:effectLst>
                  <a:outerShdw blurRad="38100" dist="38100" dir="2700000" algn="tl">
                    <a:srgbClr val="000000">
                      <a:alpha val="43137"/>
                    </a:srgbClr>
                  </a:outerShdw>
                </a:effectLst>
                <a:latin typeface="Calibri"/>
              </a:rPr>
              <a:t>best effort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lang="en-US" altLang="en-US" sz="3500" b="1" dirty="0">
                <a:solidFill>
                  <a:srgbClr val="FF0000"/>
                </a:solidFill>
                <a:effectLst>
                  <a:outerShdw blurRad="38100" dist="38100" dir="2700000" algn="tl">
                    <a:srgbClr val="000000">
                      <a:alpha val="43137"/>
                    </a:srgbClr>
                  </a:outerShdw>
                </a:effectLst>
                <a:latin typeface="Calibri"/>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a:t>
            </a:r>
            <a:r>
              <a:rPr lang="en-US" altLang="en-US" sz="3500" b="1" dirty="0">
                <a:solidFill>
                  <a:srgbClr val="FF0000"/>
                </a:solidFill>
                <a:effectLst>
                  <a:outerShdw blurRad="38100" dist="38100" dir="2700000" algn="tl">
                    <a:srgbClr val="000000">
                      <a:alpha val="43137"/>
                    </a:srgbClr>
                  </a:outerShdw>
                </a:effectLst>
                <a:latin typeface="Calibri"/>
              </a:rPr>
              <a:t>out-of-order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Why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lang="en-US" altLang="en-US" sz="3500" b="1" dirty="0">
                <a:solidFill>
                  <a:srgbClr val="FF0000"/>
                </a:solidFill>
                <a:effectLst>
                  <a:outerShdw blurRad="38100" dist="38100" dir="2700000" algn="tl">
                    <a:srgbClr val="000000">
                      <a:alpha val="43137"/>
                    </a:srgbClr>
                  </a:outerShdw>
                </a:effectLst>
                <a:latin typeface="Calibri"/>
              </a:rPr>
              <a:t>no handshaking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a:t>
            </a:r>
            <a:r>
              <a:rPr lang="en-US" altLang="en-US" sz="3500" b="1" dirty="0">
                <a:solidFill>
                  <a:srgbClr val="FF0000"/>
                </a:solidFill>
                <a:effectLst>
                  <a:outerShdw blurRad="38100" dist="38100" dir="2700000" algn="tl">
                    <a:srgbClr val="000000">
                      <a:alpha val="43137"/>
                    </a:srgbClr>
                  </a:outerShdw>
                </a:effectLst>
                <a:latin typeface="Calibri"/>
              </a:rPr>
              <a:t>handled independently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charset="0"/>
                <a:cs typeface="+mn-cs"/>
              </a:rPr>
              <a:t>streaming multimedia apps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lang="en-US" sz="2800" b="1" dirty="0">
                <a:solidFill>
                  <a:srgbClr val="FF0000"/>
                </a:solidFill>
                <a:effectLst>
                  <a:outerShdw blurRad="38100" dist="38100" dir="2700000" algn="tl">
                    <a:srgbClr val="000000">
                      <a:alpha val="43137"/>
                    </a:srgbClr>
                  </a:outerShdw>
                </a:effectLst>
                <a:latin typeface="Calibri" panose="020F0502020204030204"/>
                <a:ea typeface="ＭＳ Ｐゴシック" charset="0"/>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lang="en-US" sz="2800" b="1" dirty="0">
                <a:solidFill>
                  <a:srgbClr val="FF0000"/>
                </a:solidFill>
                <a:effectLst>
                  <a:outerShdw blurRad="38100" dist="38100" dir="2700000" algn="tl">
                    <a:srgbClr val="000000">
                      <a:alpha val="43137"/>
                    </a:srgbClr>
                  </a:outerShdw>
                </a:effectLst>
                <a:latin typeface="Calibri" panose="020F0502020204030204"/>
                <a:ea typeface="ＭＳ Ｐゴシック" charset="0"/>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lang="en-US" sz="2800" b="1" dirty="0">
                <a:solidFill>
                  <a:srgbClr val="FF0000"/>
                </a:solidFill>
                <a:effectLst>
                  <a:outerShdw blurRad="38100" dist="38100" dir="2700000" algn="tl">
                    <a:srgbClr val="000000">
                      <a:alpha val="43137"/>
                    </a:srgbClr>
                  </a:outerShdw>
                </a:effectLst>
                <a:latin typeface="Calibri" panose="020F0502020204030204"/>
                <a:ea typeface="ＭＳ Ｐゴシック" charset="0"/>
              </a:rPr>
              <a:t>HTTP/3</a:t>
            </a: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a:t>
            </a:r>
            <a:r>
              <a:rPr lang="en-US" sz="2800" b="1" dirty="0">
                <a:solidFill>
                  <a:srgbClr val="FF0000"/>
                </a:solidFill>
                <a:effectLst>
                  <a:outerShdw blurRad="38100" dist="38100" dir="2700000" algn="tl">
                    <a:srgbClr val="000000">
                      <a:alpha val="43137"/>
                    </a:srgbClr>
                  </a:outerShdw>
                </a:effectLst>
                <a:latin typeface="Calibri" panose="020F0502020204030204"/>
                <a:ea typeface="ＭＳ Ｐゴシック" charset="0"/>
              </a:rPr>
              <a:t>reliable transfer </a:t>
            </a: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needed over UDP (e.g., </a:t>
            </a:r>
            <a:r>
              <a:rPr lang="en-US" sz="2800" b="1" dirty="0">
                <a:solidFill>
                  <a:srgbClr val="FF0000"/>
                </a:solidFill>
                <a:effectLst>
                  <a:outerShdw blurRad="38100" dist="38100" dir="2700000" algn="tl">
                    <a:srgbClr val="000000">
                      <a:alpha val="43137"/>
                    </a:srgbClr>
                  </a:outerShdw>
                </a:effectLst>
                <a:latin typeface="Calibri" panose="020F0502020204030204"/>
                <a:ea typeface="ＭＳ Ｐゴシック" charset="0"/>
              </a:rPr>
              <a:t>HTTP/3</a:t>
            </a: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a:t>
            </a:r>
            <a:r>
              <a:rPr lang="en-US" sz="2800" b="1" dirty="0">
                <a:solidFill>
                  <a:srgbClr val="FF0000"/>
                </a:solidFill>
                <a:effectLst>
                  <a:outerShdw blurRad="38100" dist="38100" dir="2700000" algn="tl">
                    <a:srgbClr val="000000">
                      <a:alpha val="43137"/>
                    </a:srgbClr>
                  </a:outerShdw>
                </a:effectLst>
                <a:latin typeface="Calibri" panose="020F0502020204030204"/>
                <a:ea typeface="ＭＳ Ｐゴシック" charset="0"/>
              </a:rPr>
              <a:t>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a:t>
            </a:r>
            <a:r>
              <a:rPr lang="en-US" sz="2800" b="1" dirty="0">
                <a:solidFill>
                  <a:srgbClr val="FF0000"/>
                </a:solidFill>
                <a:effectLst>
                  <a:outerShdw blurRad="38100" dist="38100" dir="2700000" algn="tl">
                    <a:srgbClr val="000000">
                      <a:alpha val="43137"/>
                    </a:srgbClr>
                  </a:outerShdw>
                </a:effectLst>
                <a:latin typeface="Calibri" panose="020F0502020204030204"/>
                <a:ea typeface="ＭＳ Ｐゴシック" charset="0"/>
              </a:rPr>
              <a:t>congestion control at application layer</a:t>
            </a: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35</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detect </a:t>
            </a:r>
            <a:r>
              <a:rPr kumimoji="0" lang="en-US" altLang="ja-JP" sz="32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errors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36</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 carryout from the most significant bit 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 name="TextBox 1">
            <a:extLst>
              <a:ext uri="{FF2B5EF4-FFF2-40B4-BE49-F238E27FC236}">
                <a16:creationId xmlns:a16="http://schemas.microsoft.com/office/drawing/2014/main" id="{898A9607-38BF-9544-B70F-067CC64A39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38</a:t>
            </a:fld>
            <a:endParaRPr lang="en-US" dirty="0"/>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39</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sz="5400" b="0" dirty="0"/>
              <a:t>Summary</a:t>
            </a:r>
            <a:r>
              <a:rPr lang="en-US" sz="4800" b="0" dirty="0"/>
              <a:t>: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a:t>
            </a:r>
            <a:r>
              <a:rPr lang="en-US" sz="3200" b="1" dirty="0">
                <a:solidFill>
                  <a:srgbClr val="FF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send and hope for the best</a:t>
            </a:r>
            <a:r>
              <a:rPr kumimoji="0" lang="en-US" sz="2800" b="0" i="0" u="none" strike="noStrike" kern="1200" cap="none" spc="0" normalizeH="0" baseline="0" noProof="0" dirty="0">
                <a:ln>
                  <a:noFill/>
                </a:ln>
                <a:solidFill>
                  <a:prstClr val="black"/>
                </a:solidFill>
                <a:effectLst/>
                <a:uLnTx/>
                <a:uFillTx/>
                <a:latin typeface="Calibri"/>
                <a:ea typeface="+mn-ea"/>
                <a:cs typeface="+mn-cs"/>
              </a:rPr>
              <a: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41</a:t>
            </a:fld>
            <a:endParaRPr lang="en-US" dirty="0"/>
          </a:p>
        </p:txBody>
      </p:sp>
      <p:pic>
        <p:nvPicPr>
          <p:cNvPr id="6" name="Picture 5">
            <a:extLst>
              <a:ext uri="{FF2B5EF4-FFF2-40B4-BE49-F238E27FC236}">
                <a16:creationId xmlns:a16="http://schemas.microsoft.com/office/drawing/2014/main" id="{3DC958F9-547C-2644-99EE-6ECDE636E5F6}"/>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369880"/>
            <a:chOff x="995688" y="4013928"/>
            <a:chExt cx="9016751" cy="2369880"/>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36988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a:t>
              </a:r>
              <a:r>
                <a:rPr lang="en-US" sz="3200" b="1" dirty="0">
                  <a:solidFill>
                    <a:srgbClr val="FF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lose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lang="en-US" sz="3200" b="1" dirty="0">
                  <a:solidFill>
                    <a:srgbClr val="FF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corrupt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lang="en-US" sz="3200" b="1" dirty="0">
                  <a:solidFill>
                    <a:srgbClr val="FF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reorder data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800767"/>
            <a:chOff x="1042183" y="4044925"/>
            <a:chExt cx="8970256" cy="2800767"/>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80076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dirty="0">
                  <a:solidFill>
                    <a:srgbClr val="FF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Sender, receiver do not know the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(rdt):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rdt_send()</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udt_send()</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rdt_rcv()</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deliver_data()</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rdt_rcv():</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deliver_data():</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incrementally develop sender, receiver sides of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r</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eliable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d</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ata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ransfer protocol (</a:t>
            </a:r>
            <a:r>
              <a:rPr kumimoji="0" lang="en-US" altLang="en-US" sz="2800" b="0" i="0" u="none" strike="noStrike" kern="0" cap="none" spc="0" normalizeH="0" baseline="0" noProof="0" dirty="0">
                <a:ln>
                  <a:noFill/>
                </a:ln>
                <a:solidFill>
                  <a:prstClr val="black"/>
                </a:solidFill>
                <a:effectLst/>
                <a:uLnTx/>
                <a:uFillTx/>
                <a:latin typeface="Courier" pitchFamily="2" charset="0"/>
                <a:ea typeface="ＭＳ Ｐゴシック" panose="020B0600070205080204" pitchFamily="34" charset="-128"/>
              </a:rPr>
              <a:t>rdt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1" i="0" u="none" strike="noStrike" kern="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1" i="0" u="none" strike="noStrike" kern="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a:t>
            </a:r>
            <a:r>
              <a:rPr lang="en-US" altLang="en-US" b="1" kern="0" dirty="0">
                <a:solidFill>
                  <a:srgbClr val="FF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finite state machines (FSM)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rdt1.0: </a:t>
            </a:r>
            <a:r>
              <a:rPr lang="en-US" sz="4400" dirty="0"/>
              <a:t>reliable transfer over a reliable channel</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perfectly reliable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bit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loss of packets</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make_pkt(data)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(packet,data)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rdt_rcv(packet)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separate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FSMs for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data into underlying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reads data from underlying channel</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(e.g., Internet checksum) to detect bit errors</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do humans recover from “</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errors”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during conversation?</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49</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27439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95275"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to detect bit errors</a:t>
            </a:r>
          </a:p>
          <a:p>
            <a:pPr marL="409575" marR="0" lvl="0" indent="-2794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
            <a:extLst>
              <a:ext uri="{FF2B5EF4-FFF2-40B4-BE49-F238E27FC236}">
                <a16:creationId xmlns:a16="http://schemas.microsoft.com/office/drawing/2014/main" id="{6EBA4373-2F4E-9C40-8D34-CD4CD038CE07}"/>
              </a:ext>
            </a:extLst>
          </p:cNvPr>
          <p:cNvSpPr txBox="1">
            <a:spLocks noChangeArrowheads="1"/>
          </p:cNvSpPr>
          <p:nvPr/>
        </p:nvSpPr>
        <p:spPr>
          <a:xfrm>
            <a:off x="662419" y="2680738"/>
            <a:ext cx="11004862" cy="215700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ct val="450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acknowledgements (ACKs):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received OK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negative acknowledgements (NAKs):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had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retransmits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pkt on receipt of NAK</a:t>
            </a:r>
          </a:p>
        </p:txBody>
      </p:sp>
      <p:grpSp>
        <p:nvGrpSpPr>
          <p:cNvPr id="7" name="Group 13">
            <a:extLst>
              <a:ext uri="{FF2B5EF4-FFF2-40B4-BE49-F238E27FC236}">
                <a16:creationId xmlns:a16="http://schemas.microsoft.com/office/drawing/2014/main" id="{0DED2191-7C7B-EA46-AFB1-5A7A4509EEC8}"/>
              </a:ext>
            </a:extLst>
          </p:cNvPr>
          <p:cNvGrpSpPr>
            <a:grpSpLocks/>
          </p:cNvGrpSpPr>
          <p:nvPr/>
        </p:nvGrpSpPr>
        <p:grpSpPr bwMode="auto">
          <a:xfrm>
            <a:off x="937549" y="5087784"/>
            <a:ext cx="10729731" cy="1466850"/>
            <a:chOff x="1552" y="2800"/>
            <a:chExt cx="2578" cy="924"/>
          </a:xfrm>
        </p:grpSpPr>
        <p:sp>
          <p:nvSpPr>
            <p:cNvPr id="8" name="Rectangle 7">
              <a:extLst>
                <a:ext uri="{FF2B5EF4-FFF2-40B4-BE49-F238E27FC236}">
                  <a16:creationId xmlns:a16="http://schemas.microsoft.com/office/drawing/2014/main" id="{CA5C33DB-F1DF-074B-AA2F-B41978703359}"/>
                </a:ext>
              </a:extLst>
            </p:cNvPr>
            <p:cNvSpPr>
              <a:spLocks noChangeArrowheads="1"/>
            </p:cNvSpPr>
            <p:nvPr/>
          </p:nvSpPr>
          <p:spPr bwMode="auto">
            <a:xfrm>
              <a:off x="1552" y="2974"/>
              <a:ext cx="2578" cy="59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 name="Rectangle 9">
              <a:extLst>
                <a:ext uri="{FF2B5EF4-FFF2-40B4-BE49-F238E27FC236}">
                  <a16:creationId xmlns:a16="http://schemas.microsoft.com/office/drawing/2014/main" id="{CB4139DF-921F-E940-9AD8-677EFA8E24B3}"/>
                </a:ext>
              </a:extLst>
            </p:cNvPr>
            <p:cNvSpPr>
              <a:spLocks noChangeArrowheads="1"/>
            </p:cNvSpPr>
            <p:nvPr/>
          </p:nvSpPr>
          <p:spPr bwMode="auto">
            <a:xfrm>
              <a:off x="2226" y="2864"/>
              <a:ext cx="88"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10">
              <a:extLst>
                <a:ext uri="{FF2B5EF4-FFF2-40B4-BE49-F238E27FC236}">
                  <a16:creationId xmlns:a16="http://schemas.microsoft.com/office/drawing/2014/main" id="{B44BC4A2-14C8-8A47-B1A1-506171B4D389}"/>
                </a:ext>
              </a:extLst>
            </p:cNvPr>
            <p:cNvSpPr txBox="1">
              <a:spLocks noChangeArrowheads="1"/>
            </p:cNvSpPr>
            <p:nvPr/>
          </p:nvSpPr>
          <p:spPr bwMode="auto">
            <a:xfrm>
              <a:off x="1724" y="2800"/>
              <a:ext cx="687"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11" name="Text Box 6">
              <a:extLst>
                <a:ext uri="{FF2B5EF4-FFF2-40B4-BE49-F238E27FC236}">
                  <a16:creationId xmlns:a16="http://schemas.microsoft.com/office/drawing/2014/main" id="{EEE47A92-87A4-AD48-8A94-DC9DCFA6DD50}"/>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2" name="Slide Number Placeholder 2">
            <a:extLst>
              <a:ext uri="{FF2B5EF4-FFF2-40B4-BE49-F238E27FC236}">
                <a16:creationId xmlns:a16="http://schemas.microsoft.com/office/drawing/2014/main" id="{8EDA3199-9071-AC4D-8C68-A368602E92B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50</a:t>
            </a:fld>
            <a:endParaRPr lang="en-US" dirty="0"/>
          </a:p>
        </p:txBody>
      </p:sp>
    </p:spTree>
    <p:extLst>
      <p:ext uri="{BB962C8B-B14F-4D97-AF65-F5344CB8AC3E}">
        <p14:creationId xmlns:p14="http://schemas.microsoft.com/office/powerpoint/2010/main" val="157211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dissolve">
                                      <p:cBhvr>
                                        <p:cTn id="12" dur="500"/>
                                        <p:tgtEl>
                                          <p:spTgt spid="2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
                                            <p:txEl>
                                              <p:pRg st="1" end="1"/>
                                            </p:txEl>
                                          </p:spTgt>
                                        </p:tgtEl>
                                        <p:attrNameLst>
                                          <p:attrName>style.visibility</p:attrName>
                                        </p:attrNameLst>
                                      </p:cBhvr>
                                      <p:to>
                                        <p:strVal val="visible"/>
                                      </p:to>
                                    </p:set>
                                    <p:animEffect transition="in" filter="dissolve">
                                      <p:cBhvr>
                                        <p:cTn id="17" dur="500"/>
                                        <p:tgtEl>
                                          <p:spTgt spid="2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
                                            <p:txEl>
                                              <p:pRg st="2" end="2"/>
                                            </p:txEl>
                                          </p:spTgt>
                                        </p:tgtEl>
                                        <p:attrNameLst>
                                          <p:attrName>style.visibility</p:attrName>
                                        </p:attrNameLst>
                                      </p:cBhvr>
                                      <p:to>
                                        <p:strVal val="visible"/>
                                      </p:to>
                                    </p:set>
                                    <p:animEffect transition="in" filter="dissolve">
                                      <p:cBhvr>
                                        <p:cTn id="22" dur="500"/>
                                        <p:tgtEl>
                                          <p:spTgt spid="25">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build="p" bldLvl="2"/>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specifications</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Note: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of receiver (did the receiver get my message correctly?) isn’t known to sender unless somehow communicated from receiver to sender</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that’s why we need a protocol!</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52</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operation with no errors</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corrupted packet scenario</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has a fatal flaw!</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happens if ACK/NAK corrupted</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know what happened at receiver!</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just retransmit: possible duplicate</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handling duplicates</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retransmits current pkt if ACK/NAK corrupted</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adds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sequence number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each pkt</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discards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deliver up) duplicate pkt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sender, handling garbled ACK/NAKs</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&amp;&amp; isACK(rcvpkt)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receiver, handling garbled ACK/NAKs</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discussion</a:t>
            </a:r>
            <a:endParaRPr lang="en-US" sz="4400" dirty="0"/>
          </a:p>
        </p:txBody>
      </p:sp>
      <p:sp>
        <p:nvSpPr>
          <p:cNvPr id="44" name="Rectangle 3">
            <a:extLst>
              <a:ext uri="{FF2B5EF4-FFF2-40B4-BE49-F238E27FC236}">
                <a16:creationId xmlns:a16="http://schemas.microsoft.com/office/drawing/2014/main" id="{4DBF4802-B282-F141-BA7A-BF4F98FB2E8F}"/>
              </a:ext>
            </a:extLst>
          </p:cNvPr>
          <p:cNvSpPr txBox="1">
            <a:spLocks noChangeArrowheads="1"/>
          </p:cNvSpPr>
          <p:nvPr/>
        </p:nvSpPr>
        <p:spPr>
          <a:xfrm>
            <a:off x="798690" y="1355502"/>
            <a:ext cx="529731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added to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(0,1) will suffice.  Why?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must check if received ACK/NAK corrupted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twice as many states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state must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remember” whether “expected” pkt should have seq # of 0 or 1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Rectangle 4">
            <a:extLst>
              <a:ext uri="{FF2B5EF4-FFF2-40B4-BE49-F238E27FC236}">
                <a16:creationId xmlns:a16="http://schemas.microsoft.com/office/drawing/2014/main" id="{BEBB060B-A254-E240-9526-00C3EB96E136}"/>
              </a:ext>
            </a:extLst>
          </p:cNvPr>
          <p:cNvSpPr txBox="1">
            <a:spLocks noChangeArrowheads="1"/>
          </p:cNvSpPr>
          <p:nvPr/>
        </p:nvSpPr>
        <p:spPr>
          <a:xfrm>
            <a:off x="6543540" y="1355502"/>
            <a:ext cx="4849769"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receiver:</a:t>
            </a:r>
            <a:endPar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must check if received packet is duplicate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indicates whether 0 or 1 is expected pkt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note: receiver can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if its last ACK/NAK received OK at sender</a:t>
            </a:r>
          </a:p>
        </p:txBody>
      </p:sp>
      <p:sp>
        <p:nvSpPr>
          <p:cNvPr id="5" name="Slide Number Placeholder 2">
            <a:extLst>
              <a:ext uri="{FF2B5EF4-FFF2-40B4-BE49-F238E27FC236}">
                <a16:creationId xmlns:a16="http://schemas.microsoft.com/office/drawing/2014/main" id="{ADBE880F-C2E4-0642-AE62-E70C2E89903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3964008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dissolv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a NAK-free protocol</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same functionality as rdt2.1, </a:t>
            </a:r>
            <a:r>
              <a:rPr kumimoji="0" lang="en-US" sz="32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mn-ea"/>
                <a:cs typeface="+mn-cs"/>
              </a:rPr>
              <a:t>using ACKs only</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instead of NAK, receiver </a:t>
            </a:r>
            <a:r>
              <a:rPr lang="en-US" sz="3200" b="1" dirty="0">
                <a:solidFill>
                  <a:srgbClr val="FF0000"/>
                </a:solidFill>
                <a:effectLst>
                  <a:outerShdw blurRad="38100" dist="38100" dir="2700000" algn="tl">
                    <a:srgbClr val="000000">
                      <a:alpha val="43137"/>
                    </a:srgbClr>
                  </a:outerShdw>
                </a:effectLst>
                <a:latin typeface="Calibri" panose="020F0502020204030204"/>
              </a:rPr>
              <a:t>sends ACK for last pkt received OK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receiver must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explicitly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lang="en-US" sz="3200" b="1" dirty="0">
                <a:solidFill>
                  <a:srgbClr val="FF0000"/>
                </a:solidFill>
                <a:effectLst>
                  <a:outerShdw blurRad="38100" dist="38100" dir="2700000" algn="tl">
                    <a:srgbClr val="000000">
                      <a:alpha val="43137"/>
                    </a:srgbClr>
                  </a:outerShdw>
                </a:effectLst>
                <a:latin typeface="Calibri" panose="020F0502020204030204"/>
              </a:rPr>
              <a:t>include seq # of pkt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being ACKed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duplicate ACK at sender results in same action as NAK: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retransmit current pkt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1383152" y="4894399"/>
            <a:ext cx="9275040"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dirty="0">
                <a:solidFill>
                  <a:srgbClr val="FF0000"/>
                </a:solidFill>
                <a:effectLst>
                  <a:outerShdw blurRad="38100" dist="38100" dir="2700000" algn="tl">
                    <a:srgbClr val="000000">
                      <a:alpha val="43137"/>
                    </a:srgbClr>
                  </a:outerShdw>
                </a:effectLst>
                <a:latin typeface="Calibri" panose="020F0502020204030204"/>
              </a:rPr>
              <a:t>As we will see, TCP uses this approach to be NAK-free</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sender, receiver fragments</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sender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rgbClr val="FF0000"/>
                    </a:solidFill>
                    <a:prstDash val="dash"/>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receiver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New channel assumption:</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underlying channel can also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 (data,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sequence #s, ACKs, retransmissions will be of help … but not quite enough</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How do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humans</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handle lost sender-to-receiver words in conversation?</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61</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Approach:</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t>
            </a:r>
            <a:r>
              <a:rPr kumimoji="0" lang="en-US" altLang="en-US" sz="32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waits </a:t>
            </a:r>
            <a:r>
              <a:rPr kumimoji="0" lang="en-US" altLang="ja-JP" sz="32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“reasonable” amount of time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 ACK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retransmits if no ACK received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 this time</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pkt (or ACK) just delayed (not lost):</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ACKed</a:t>
            </a: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lang="en-US" altLang="en-US" sz="3200" b="1" dirty="0">
                <a:solidFill>
                  <a:srgbClr val="FF0000"/>
                </a:solidFill>
                <a:effectLst>
                  <a:outerShdw blurRad="38100" dist="38100" dir="2700000" algn="tl">
                    <a:srgbClr val="000000">
                      <a:alpha val="43137"/>
                    </a:srgbClr>
                  </a:outerShdw>
                </a:effectLst>
                <a:latin typeface="Calibri" panose="020F0502020204030204"/>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62</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63</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65</a:t>
            </a:fld>
            <a:endParaRPr lang="en-US" dirty="0"/>
          </a:p>
        </p:txBody>
      </p:sp>
    </p:spTree>
    <p:extLst>
      <p:ext uri="{BB962C8B-B14F-4D97-AF65-F5344CB8AC3E}">
        <p14:creationId xmlns:p14="http://schemas.microsoft.com/office/powerpoint/2010/main" val="260942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66</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ms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67</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68</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sender</a:t>
              </a: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mn-ea"/>
                <a:cs typeface="+mn-cs"/>
              </a:rPr>
              <a:t>rdt 3.0 protocol performance stinks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a:t>
            </a:r>
            <a:r>
              <a:rPr kumimoji="0" lang="en-US" sz="2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mn-ea"/>
                <a:cs typeface="+mn-cs"/>
              </a:rPr>
              <a:t>limits performance of underlying infrastructure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t>
            </a:r>
            <a:r>
              <a:rPr kumimoji="0" lang="en-US" altLang="en-US" sz="2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allows multiple, “</a:t>
            </a:r>
            <a:r>
              <a:rPr kumimoji="0" lang="en-US" altLang="ja-JP" sz="2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in-flight”,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70</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name="Picture" r:id="rId3" imgW="2578100" imgH="355600" progId="Word.Picture.8">
                  <p:embed/>
                </p:oleObj>
              </mc:Choice>
              <mc:Fallback>
                <p:oleObj name="Picture" r:id="rId3"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71</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unACKed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ACKs all packets up to, including seq # </a:t>
            </a:r>
            <a:r>
              <a:rPr kumimoji="0" lang="en-US" altLang="en-US" sz="2800" b="1" i="1"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n</a:t>
            </a:r>
            <a:r>
              <a:rPr kumimoji="0" lang="en-US" altLang="en-US" sz="2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move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72</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ACKed</a:t>
                </a: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ACKed</a:t>
                </a: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73</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329054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136"/>
                                        </p:tgtEl>
                                        <p:attrNameLst>
                                          <p:attrName>style.visibility</p:attrName>
                                        </p:attrNameLst>
                                      </p:cBhvr>
                                      <p:to>
                                        <p:strVal val="visible"/>
                                      </p:to>
                                    </p:set>
                                    <p:animEffect transition="in" filter="dissolve">
                                      <p:cBhvr>
                                        <p:cTn id="43" dur="500"/>
                                        <p:tgtEl>
                                          <p:spTgt spid="13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137"/>
                                        </p:tgtEl>
                                        <p:attrNameLst>
                                          <p:attrName>style.visibility</p:attrName>
                                        </p:attrNameLst>
                                      </p:cBhvr>
                                      <p:to>
                                        <p:strVal val="visible"/>
                                      </p:to>
                                    </p:set>
                                    <p:animEffect transition="in" filter="dissolve">
                                      <p:cBhvr>
                                        <p:cTn id="56" dur="500"/>
                                        <p:tgtEl>
                                          <p:spTgt spid="13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139"/>
                                        </p:tgtEl>
                                        <p:attrNameLst>
                                          <p:attrName>style.visibility</p:attrName>
                                        </p:attrNameLst>
                                      </p:cBhvr>
                                      <p:to>
                                        <p:strVal val="visible"/>
                                      </p:to>
                                    </p:set>
                                    <p:animEffect transition="in" filter="dissolve">
                                      <p:cBhvr>
                                        <p:cTn id="61" dur="500"/>
                                        <p:tgtEl>
                                          <p:spTgt spid="13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2" fill="hold" nodeType="click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wipe(right)">
                                      <p:cBhvr>
                                        <p:cTn id="66" dur="500"/>
                                        <p:tgtEl>
                                          <p:spTgt spid="13"/>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nodeType="clickEffect">
                                  <p:stCondLst>
                                    <p:cond delay="0"/>
                                  </p:stCondLst>
                                  <p:childTnLst>
                                    <p:set>
                                      <p:cBhvr>
                                        <p:cTn id="70" dur="1" fill="hold">
                                          <p:stCondLst>
                                            <p:cond delay="0"/>
                                          </p:stCondLst>
                                        </p:cTn>
                                        <p:tgtEl>
                                          <p:spTgt spid="9"/>
                                        </p:tgtEl>
                                        <p:attrNameLst>
                                          <p:attrName>style.visibility</p:attrName>
                                        </p:attrNameLst>
                                      </p:cBhvr>
                                      <p:to>
                                        <p:strVal val="visible"/>
                                      </p:to>
                                    </p:set>
                                    <p:animEffect transition="in" filter="dissolve">
                                      <p:cBhvr>
                                        <p:cTn id="71" dur="500"/>
                                        <p:tgtEl>
                                          <p:spTgt spid="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wipe(left)">
                                      <p:cBhvr>
                                        <p:cTn id="76" dur="500"/>
                                        <p:tgtEl>
                                          <p:spTgt spid="10"/>
                                        </p:tgtEl>
                                      </p:cBhvr>
                                    </p:animEffect>
                                  </p:childTnLst>
                                </p:cTn>
                              </p:par>
                            </p:childTnLst>
                          </p:cTn>
                        </p:par>
                        <p:par>
                          <p:cTn id="77" fill="hold">
                            <p:stCondLst>
                              <p:cond delay="500"/>
                            </p:stCondLst>
                            <p:childTnLst>
                              <p:par>
                                <p:cTn id="78" presetID="22" presetClass="entr" presetSubtype="8" fill="hold" grpId="0" nodeType="afterEffect">
                                  <p:stCondLst>
                                    <p:cond delay="0"/>
                                  </p:stCondLst>
                                  <p:childTnLst>
                                    <p:set>
                                      <p:cBhvr>
                                        <p:cTn id="79" dur="1" fill="hold">
                                          <p:stCondLst>
                                            <p:cond delay="0"/>
                                          </p:stCondLst>
                                        </p:cTn>
                                        <p:tgtEl>
                                          <p:spTgt spid="116"/>
                                        </p:tgtEl>
                                        <p:attrNameLst>
                                          <p:attrName>style.visibility</p:attrName>
                                        </p:attrNameLst>
                                      </p:cBhvr>
                                      <p:to>
                                        <p:strVal val="visible"/>
                                      </p:to>
                                    </p:set>
                                    <p:animEffect transition="in" filter="wipe(left)">
                                      <p:cBhvr>
                                        <p:cTn id="80" dur="500"/>
                                        <p:tgtEl>
                                          <p:spTgt spid="116"/>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1"/>
                                        </p:tgtEl>
                                        <p:attrNameLst>
                                          <p:attrName>style.visibility</p:attrName>
                                        </p:attrNameLst>
                                      </p:cBhvr>
                                      <p:to>
                                        <p:strVal val="visible"/>
                                      </p:to>
                                    </p:set>
                                    <p:animEffect transition="in" filter="wipe(left)">
                                      <p:cBhvr>
                                        <p:cTn id="84" dur="500"/>
                                        <p:tgtEl>
                                          <p:spTgt spid="11"/>
                                        </p:tgtEl>
                                      </p:cBhvr>
                                    </p:animEffect>
                                  </p:childTnLst>
                                </p:cTn>
                              </p:par>
                            </p:childTnLst>
                          </p:cTn>
                        </p:par>
                        <p:par>
                          <p:cTn id="85" fill="hold">
                            <p:stCondLst>
                              <p:cond delay="1500"/>
                            </p:stCondLst>
                            <p:childTnLst>
                              <p:par>
                                <p:cTn id="86" presetID="9" presetClass="entr" presetSubtype="0" fill="hold" grpId="0" nodeType="afterEffect">
                                  <p:stCondLst>
                                    <p:cond delay="0"/>
                                  </p:stCondLst>
                                  <p:childTnLst>
                                    <p:set>
                                      <p:cBhvr>
                                        <p:cTn id="87" dur="1" fill="hold">
                                          <p:stCondLst>
                                            <p:cond delay="0"/>
                                          </p:stCondLst>
                                        </p:cTn>
                                        <p:tgtEl>
                                          <p:spTgt spid="138"/>
                                        </p:tgtEl>
                                        <p:attrNameLst>
                                          <p:attrName>style.visibility</p:attrName>
                                        </p:attrNameLst>
                                      </p:cBhvr>
                                      <p:to>
                                        <p:strVal val="visible"/>
                                      </p:to>
                                    </p:set>
                                    <p:animEffect transition="in" filter="dissolve">
                                      <p:cBhvr>
                                        <p:cTn id="88" dur="500"/>
                                        <p:tgtEl>
                                          <p:spTgt spid="138"/>
                                        </p:tgtEl>
                                      </p:cBhvr>
                                    </p:animEffect>
                                  </p:childTnLst>
                                </p:cTn>
                              </p:par>
                            </p:childTnLst>
                          </p:cTn>
                        </p:par>
                        <p:par>
                          <p:cTn id="89" fill="hold">
                            <p:stCondLst>
                              <p:cond delay="2000"/>
                            </p:stCondLst>
                            <p:childTnLst>
                              <p:par>
                                <p:cTn id="90" presetID="22" presetClass="entr" presetSubtype="2" fill="hold"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wipe(right)">
                                      <p:cBhvr>
                                        <p:cTn id="9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the approach</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545687" y="1489418"/>
            <a:ext cx="1135362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multiple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in flight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 individually ACKs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a:t>
            </a:r>
          </a:p>
          <a:p>
            <a:pPr marL="747713" lvl="1" indent="-227013">
              <a:spcBef>
                <a:spcPts val="1000"/>
              </a:spcBef>
              <a:buClr>
                <a:srgbClr val="0000A3"/>
              </a:buClr>
              <a:defRPr/>
            </a:pPr>
            <a:r>
              <a:rPr lang="en-US" altLang="en-US" sz="2800" dirty="0">
                <a:solidFill>
                  <a:prstClr val="black"/>
                </a:solidFill>
                <a:ea typeface="ＭＳ Ｐゴシック" panose="020B0600070205080204" pitchFamily="34" charset="-128"/>
              </a:rPr>
              <a:t>maintains (conceptually) a timer for each unACKed pkt</a:t>
            </a:r>
          </a:p>
          <a:p>
            <a:pPr marL="1195388" lvl="2" indent="-227013">
              <a:spcBef>
                <a:spcPts val="1000"/>
              </a:spcBef>
              <a:buClr>
                <a:srgbClr val="0000A3"/>
              </a:buClr>
              <a:defRPr/>
            </a:pPr>
            <a:r>
              <a:rPr lang="en-US" altLang="en-US" sz="2800" dirty="0">
                <a:solidFill>
                  <a:prstClr val="black"/>
                </a:solidFill>
                <a:ea typeface="ＭＳ Ｐゴシック" panose="020B0600070205080204" pitchFamily="34" charset="-128"/>
              </a:rPr>
              <a:t>timeout: </a:t>
            </a:r>
            <a:r>
              <a:rPr lang="en-US" altLang="en-US" sz="2800" b="1" dirty="0">
                <a:solidFill>
                  <a:srgbClr val="FF0000"/>
                </a:solidFill>
                <a:effectLst>
                  <a:outerShdw blurRad="38100" dist="38100" dir="2700000" algn="tl">
                    <a:srgbClr val="000000">
                      <a:alpha val="43137"/>
                    </a:srgbClr>
                  </a:outerShdw>
                </a:effectLst>
                <a:ea typeface="ＭＳ Ｐゴシック" panose="020B0600070205080204" pitchFamily="34" charset="-128"/>
              </a:rPr>
              <a:t>retransmits single unACKed packet  associated with timeout</a:t>
            </a:r>
          </a:p>
          <a:p>
            <a:pPr marL="746125" lvl="1" indent="-223838">
              <a:spcBef>
                <a:spcPts val="1000"/>
              </a:spcBef>
              <a:buClr>
                <a:srgbClr val="0000A3"/>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maintains (conceptually) “window” over </a:t>
            </a:r>
            <a:r>
              <a:rPr kumimoji="0" lang="en-US" altLang="en-US" sz="2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lvl="2" indent="-231775">
              <a:buClr>
                <a:srgbClr val="0000A8"/>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pipelined, “in flight” packets to be within this window</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25200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2">
                                            <p:txEl>
                                              <p:pRg st="1" end="1"/>
                                            </p:txEl>
                                          </p:spTgt>
                                        </p:tgtEl>
                                        <p:attrNameLst>
                                          <p:attrName>style.visibility</p:attrName>
                                        </p:attrNameLst>
                                      </p:cBhvr>
                                      <p:to>
                                        <p:strVal val="visible"/>
                                      </p:to>
                                    </p:set>
                                    <p:animEffect transition="in" filter="dissolve">
                                      <p:cBhvr>
                                        <p:cTn id="12" dur="500"/>
                                        <p:tgtEl>
                                          <p:spTgt spid="72">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72">
                                            <p:txEl>
                                              <p:pRg st="3" end="3"/>
                                            </p:txEl>
                                          </p:spTgt>
                                        </p:tgtEl>
                                        <p:attrNameLst>
                                          <p:attrName>style.visibility</p:attrName>
                                        </p:attrNameLst>
                                      </p:cBhvr>
                                      <p:to>
                                        <p:strVal val="visible"/>
                                      </p:to>
                                    </p:set>
                                    <p:animEffect transition="in" filter="dissolve">
                                      <p:cBhvr>
                                        <p:cTn id="20" dur="500"/>
                                        <p:tgtEl>
                                          <p:spTgt spid="72">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72">
                                            <p:txEl>
                                              <p:pRg st="7" end="7"/>
                                            </p:txEl>
                                          </p:spTgt>
                                        </p:tgtEl>
                                        <p:attrNameLst>
                                          <p:attrName>style.visibility</p:attrName>
                                        </p:attrNameLst>
                                      </p:cBhvr>
                                      <p:to>
                                        <p:strVal val="visible"/>
                                      </p:to>
                                    </p:set>
                                    <p:animEffect transition="in" filter="dissolve">
                                      <p:cBhvr>
                                        <p:cTn id="32" dur="500"/>
                                        <p:tgtEl>
                                          <p:spTgt spid="7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76</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sendbase,sendbase+N-1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unACKed packet, advance window base to next unACKed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77</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79</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what relationship is needed between sequence # size and window size to avoid problem in scenario (b)?</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can’</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see sender side</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behavior identical in both cases!</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something’</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 (very) wrong!</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80</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81</a:t>
            </a:fld>
            <a:endParaRPr lang="en-US" dirty="0"/>
          </a:p>
        </p:txBody>
      </p:sp>
      <p:pic>
        <p:nvPicPr>
          <p:cNvPr id="6" name="Picture 5">
            <a:extLst>
              <a:ext uri="{FF2B5EF4-FFF2-40B4-BE49-F238E27FC236}">
                <a16:creationId xmlns:a16="http://schemas.microsoft.com/office/drawing/2014/main" id="{BC34935B-A6B2-0C48-9638-656FA430E71C}"/>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steam:</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82</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dest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Urg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83</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ACKed</a:t>
            </a: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84</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how to set TCP timeout value?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longer than RTT, but RTT varies!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short: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premature timeout, unnecessary retransmissions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long: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slow reaction to segment loss</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to estimate RTT?</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time from segment transmission until ACK receipt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retransmissions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will vary, want estimated RTT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smoother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several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recent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measurements, not just current </a:t>
            </a:r>
            <a:r>
              <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86</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*SampleRTT</a:t>
            </a: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xponential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eighted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oving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verage (EWMA)</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influence of past sample decreases exponentially fast</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typical value: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0.125</a:t>
            </a: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RTT (milliseconds)</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gaia.cs.umass.edu</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to</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fantasia.eurecom.fr</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 (seconds)</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87</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 interval:</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plus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safety margin”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 variation in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 a larger safety margin</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TimeoutInterval = EstimatedRTT + 4*DevRTT</a:t>
              </a: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Tahoma" charset="0"/>
                  <a:ea typeface="ＭＳ Ｐゴシック" charset="0"/>
                  <a:cs typeface="+mn-cs"/>
                </a:rPr>
                <a:t>estimated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safety margin</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TextBox 1">
            <a:extLst>
              <a:ext uri="{FF2B5EF4-FFF2-40B4-BE49-F238E27FC236}">
                <a16:creationId xmlns:a16="http://schemas.microsoft.com/office/drawing/2014/main" id="{04CEDEED-587A-DF46-A338-0F70AC9A28A9}"/>
              </a:ext>
            </a:extLst>
          </p:cNvPr>
          <p:cNvSpPr txBox="1">
            <a:spLocks noChangeArrowheads="1"/>
          </p:cNvSpPr>
          <p:nvPr/>
        </p:nvSpPr>
        <p:spPr bwMode="auto">
          <a:xfrm>
            <a:off x="876300" y="6343507"/>
            <a:ext cx="10018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nvGrpSpPr>
          <p:cNvPr id="4" name="Group 3">
            <a:extLst>
              <a:ext uri="{FF2B5EF4-FFF2-40B4-BE49-F238E27FC236}">
                <a16:creationId xmlns:a16="http://schemas.microsoft.com/office/drawing/2014/main" id="{32E77073-7604-A04F-8597-12BF5941CCE7}"/>
              </a:ext>
            </a:extLst>
          </p:cNvPr>
          <p:cNvGrpSpPr/>
          <p:nvPr/>
        </p:nvGrpSpPr>
        <p:grpSpPr>
          <a:xfrm>
            <a:off x="1304479" y="4827690"/>
            <a:ext cx="10446405" cy="940044"/>
            <a:chOff x="1837879" y="3151290"/>
            <a:chExt cx="10446405" cy="940044"/>
          </a:xfrm>
        </p:grpSpPr>
        <p:sp>
          <p:nvSpPr>
            <p:cNvPr id="69" name="Rectangle 68">
              <a:extLst>
                <a:ext uri="{FF2B5EF4-FFF2-40B4-BE49-F238E27FC236}">
                  <a16:creationId xmlns:a16="http://schemas.microsoft.com/office/drawing/2014/main" id="{6D88E7C6-ABA1-FA45-A2D5-10F964EB5DB8}"/>
                </a:ext>
              </a:extLst>
            </p:cNvPr>
            <p:cNvSpPr/>
            <p:nvPr/>
          </p:nvSpPr>
          <p:spPr>
            <a:xfrm>
              <a:off x="1837879" y="3151290"/>
              <a:ext cx="9532486" cy="5222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Text Box 7">
              <a:extLst>
                <a:ext uri="{FF2B5EF4-FFF2-40B4-BE49-F238E27FC236}">
                  <a16:creationId xmlns:a16="http://schemas.microsoft.com/office/drawing/2014/main" id="{2F6AE672-95B4-DF44-B435-567781B49E2D}"/>
                </a:ext>
              </a:extLst>
            </p:cNvPr>
            <p:cNvSpPr txBox="1">
              <a:spLocks noChangeArrowheads="1"/>
            </p:cNvSpPr>
            <p:nvPr/>
          </p:nvSpPr>
          <p:spPr bwMode="auto">
            <a:xfrm>
              <a:off x="1837879" y="3151831"/>
              <a:ext cx="10018644"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(1-</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*|SampleRTT-EstimatedRTT|</a:t>
              </a:r>
            </a:p>
          </p:txBody>
        </p:sp>
        <p:sp>
          <p:nvSpPr>
            <p:cNvPr id="61" name="Text Box 12">
              <a:extLst>
                <a:ext uri="{FF2B5EF4-FFF2-40B4-BE49-F238E27FC236}">
                  <a16:creationId xmlns:a16="http://schemas.microsoft.com/office/drawing/2014/main" id="{D33A459F-5B30-B942-A281-437341BBF16B}"/>
                </a:ext>
              </a:extLst>
            </p:cNvPr>
            <p:cNvSpPr txBox="1">
              <a:spLocks noChangeArrowheads="1"/>
            </p:cNvSpPr>
            <p:nvPr/>
          </p:nvSpPr>
          <p:spPr bwMode="auto">
            <a:xfrm>
              <a:off x="8898147" y="3694459"/>
              <a:ext cx="338613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(typically, </a:t>
              </a:r>
              <a:r>
                <a:rPr kumimoji="0" lang="en-US" sz="2000" b="0"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0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 0.25)</a:t>
              </a:r>
            </a:p>
          </p:txBody>
        </p:sp>
      </p:grpSp>
      <p:sp>
        <p:nvSpPr>
          <p:cNvPr id="16" name="Rectangle 5">
            <a:extLst>
              <a:ext uri="{FF2B5EF4-FFF2-40B4-BE49-F238E27FC236}">
                <a16:creationId xmlns:a16="http://schemas.microsoft.com/office/drawing/2014/main" id="{4DBD9BE8-0206-984D-9734-DB015980BF63}"/>
              </a:ext>
            </a:extLst>
          </p:cNvPr>
          <p:cNvSpPr txBox="1">
            <a:spLocks noChangeArrowheads="1"/>
          </p:cNvSpPr>
          <p:nvPr/>
        </p:nvSpPr>
        <p:spPr>
          <a:xfrm>
            <a:off x="660538" y="4192141"/>
            <a:ext cx="11327678" cy="5449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DevRTT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EWMA of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SampleRTT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deviation from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p:txBody>
      </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88</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unACKed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ACKed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89</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ACKed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ACKing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96231" y="4237973"/>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90</a:t>
            </a:fld>
            <a:endParaRPr lang="en-US" dirty="0"/>
          </a:p>
        </p:txBody>
      </p:sp>
    </p:spTree>
    <p:extLst>
      <p:ext uri="{BB962C8B-B14F-4D97-AF65-F5344CB8AC3E}">
        <p14:creationId xmlns:p14="http://schemas.microsoft.com/office/powerpoint/2010/main" val="1771317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92</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triple duplicate ACKs”),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unACKed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unACKed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94</a:t>
            </a:fld>
            <a:endParaRPr lang="en-US" dirty="0"/>
          </a:p>
        </p:txBody>
      </p:sp>
      <p:pic>
        <p:nvPicPr>
          <p:cNvPr id="6" name="Picture 5">
            <a:extLst>
              <a:ext uri="{FF2B5EF4-FFF2-40B4-BE49-F238E27FC236}">
                <a16:creationId xmlns:a16="http://schemas.microsoft.com/office/drawing/2014/main" id="{B5FB4D37-2E98-204A-ACC1-DA60FB1860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95</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a:t>
            </a:r>
            <a:r>
              <a:rPr kumimoji="0" lang="en-US" sz="24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mn-ea"/>
                <a:cs typeface="+mn-cs"/>
              </a:rPr>
              <a:t>network layer delivers data faster than application layer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pic>
        <p:nvPicPr>
          <p:cNvPr id="1026" name="Picture 2" descr="Drinking from the Firehose: How VividCortex Compresses its Metrics">
            <a:extLst>
              <a:ext uri="{FF2B5EF4-FFF2-40B4-BE49-F238E27FC236}">
                <a16:creationId xmlns:a16="http://schemas.microsoft.com/office/drawing/2014/main" id="{4F457921-03BB-884A-B43A-C231DAB769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7754" y="4484079"/>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rinking From the Information Firehose">
            <a:extLst>
              <a:ext uri="{FF2B5EF4-FFF2-40B4-BE49-F238E27FC236}">
                <a16:creationId xmlns:a16="http://schemas.microsoft.com/office/drawing/2014/main" id="{CC4ECDA6-EF5F-7940-8430-C0BB879305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223" y="3300222"/>
            <a:ext cx="2699594" cy="1781732"/>
          </a:xfrm>
          <a:prstGeom prst="rect">
            <a:avLst/>
          </a:prstGeom>
          <a:noFill/>
          <a:extLst>
            <a:ext uri="{909E8E84-426E-40DD-AFC4-6F175D3DCCD1}">
              <a14:hiddenFill xmlns:a14="http://schemas.microsoft.com/office/drawing/2010/main">
                <a:solidFill>
                  <a:srgbClr val="FFFFFF"/>
                </a:solidFill>
              </a14:hiddenFill>
            </a:ext>
          </a:extLst>
        </p:spPr>
      </p:pic>
      <p:sp>
        <p:nvSpPr>
          <p:cNvPr id="50" name="Slide Number Placeholder 2">
            <a:extLst>
              <a:ext uri="{FF2B5EF4-FFF2-40B4-BE49-F238E27FC236}">
                <a16:creationId xmlns:a16="http://schemas.microsoft.com/office/drawing/2014/main" id="{48F7A259-99DD-7041-B802-66CCB4B0EB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96</a:t>
            </a:fld>
            <a:endParaRPr lang="en-US" dirty="0"/>
          </a:p>
        </p:txBody>
      </p:sp>
    </p:spTree>
    <p:extLst>
      <p:ext uri="{BB962C8B-B14F-4D97-AF65-F5344CB8AC3E}">
        <p14:creationId xmlns:p14="http://schemas.microsoft.com/office/powerpoint/2010/main" val="473837047"/>
      </p:ext>
    </p:extLst>
  </p:cSld>
  <p:clrMapOvr>
    <a:masterClrMapping/>
  </p:clrMapOvr>
  <p:transition spd="med">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97</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won’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overflow 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buffered data</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free buffer space</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segment payloads</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to application process</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receiver-side buffering</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segment format</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100</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101</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req_conn(x))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pic>
        <p:nvPicPr>
          <p:cNvPr id="212" name="Picture 62" descr="Alice">
            <a:extLst>
              <a:ext uri="{FF2B5EF4-FFF2-40B4-BE49-F238E27FC236}">
                <a16:creationId xmlns:a16="http://schemas.microsoft.com/office/drawing/2014/main" id="{15DE982A-54F5-BC41-BC95-48D876587A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2408" y="2031271"/>
            <a:ext cx="685440" cy="68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63" descr="Bob">
            <a:extLst>
              <a:ext uri="{FF2B5EF4-FFF2-40B4-BE49-F238E27FC236}">
                <a16:creationId xmlns:a16="http://schemas.microsoft.com/office/drawing/2014/main" id="{178ED826-4BC2-684F-9F28-0736092503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2300" y="2069246"/>
            <a:ext cx="839663" cy="690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102</a:t>
            </a:fld>
            <a:endParaRPr lang="en-US" dirty="0"/>
          </a:p>
        </p:txBody>
      </p:sp>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103</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104</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msg, acking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Client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Server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clientSocket.connect((serverName,serverPort))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106</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 human 3-way handshake protocol</a:t>
            </a:r>
            <a:endParaRPr lang="en-US" sz="4400" b="0" dirty="0"/>
          </a:p>
        </p:txBody>
      </p:sp>
      <p:pic>
        <p:nvPicPr>
          <p:cNvPr id="4" name="Picture 3" descr="A pile of snow&#10;&#10;Description automatically generated">
            <a:extLst>
              <a:ext uri="{FF2B5EF4-FFF2-40B4-BE49-F238E27FC236}">
                <a16:creationId xmlns:a16="http://schemas.microsoft.com/office/drawing/2014/main" id="{E63D2048-06F6-874E-A18A-05CFDA61C6A2}"/>
              </a:ext>
            </a:extLst>
          </p:cNvPr>
          <p:cNvPicPr>
            <a:picLocks noChangeAspect="1"/>
          </p:cNvPicPr>
          <p:nvPr/>
        </p:nvPicPr>
        <p:blipFill>
          <a:blip r:embed="rId3"/>
          <a:stretch>
            <a:fillRect/>
          </a:stretch>
        </p:blipFill>
        <p:spPr>
          <a:xfrm>
            <a:off x="1750251" y="1530219"/>
            <a:ext cx="8358252" cy="5472528"/>
          </a:xfrm>
          <a:prstGeom prst="rect">
            <a:avLst/>
          </a:prstGeom>
        </p:spPr>
      </p:pic>
      <p:grpSp>
        <p:nvGrpSpPr>
          <p:cNvPr id="9" name="Group 8">
            <a:extLst>
              <a:ext uri="{FF2B5EF4-FFF2-40B4-BE49-F238E27FC236}">
                <a16:creationId xmlns:a16="http://schemas.microsoft.com/office/drawing/2014/main" id="{3F1282CE-CF66-EE4E-B4A8-587BD1E81F39}"/>
              </a:ext>
            </a:extLst>
          </p:cNvPr>
          <p:cNvGrpSpPr/>
          <p:nvPr/>
        </p:nvGrpSpPr>
        <p:grpSpPr>
          <a:xfrm>
            <a:off x="6538586" y="2065751"/>
            <a:ext cx="1730667" cy="612648"/>
            <a:chOff x="6538586" y="2065751"/>
            <a:chExt cx="1730667" cy="612648"/>
          </a:xfrm>
        </p:grpSpPr>
        <p:sp>
          <p:nvSpPr>
            <p:cNvPr id="5" name="Rounded Rectangular Callout 4">
              <a:extLst>
                <a:ext uri="{FF2B5EF4-FFF2-40B4-BE49-F238E27FC236}">
                  <a16:creationId xmlns:a16="http://schemas.microsoft.com/office/drawing/2014/main" id="{3CAF74F1-7DAE-DA49-A56B-F6F58EAC0B3D}"/>
                </a:ext>
              </a:extLst>
            </p:cNvPr>
            <p:cNvSpPr/>
            <p:nvPr/>
          </p:nvSpPr>
          <p:spPr>
            <a:xfrm>
              <a:off x="6551111" y="2065751"/>
              <a:ext cx="1672748" cy="612648"/>
            </a:xfrm>
            <a:prstGeom prst="wedgeRoundRectCallout">
              <a:avLst>
                <a:gd name="adj1" fmla="val 54830"/>
                <a:gd name="adj2" fmla="val 429311"/>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1EBBA823-6C58-6A44-A2FF-F652E9B2671F}"/>
                </a:ext>
              </a:extLst>
            </p:cNvPr>
            <p:cNvSpPr txBox="1"/>
            <p:nvPr/>
          </p:nvSpPr>
          <p:spPr>
            <a:xfrm>
              <a:off x="6538586" y="2153433"/>
              <a:ext cx="17306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1. On belay?</a:t>
              </a:r>
            </a:p>
          </p:txBody>
        </p:sp>
      </p:grpSp>
      <p:sp>
        <p:nvSpPr>
          <p:cNvPr id="7" name="Rectangle 6">
            <a:extLst>
              <a:ext uri="{FF2B5EF4-FFF2-40B4-BE49-F238E27FC236}">
                <a16:creationId xmlns:a16="http://schemas.microsoft.com/office/drawing/2014/main" id="{CB827F8F-A1CF-B74C-ACC4-ECEAAE61D0B0}"/>
              </a:ext>
            </a:extLst>
          </p:cNvPr>
          <p:cNvSpPr/>
          <p:nvPr/>
        </p:nvSpPr>
        <p:spPr>
          <a:xfrm>
            <a:off x="1640908" y="5812076"/>
            <a:ext cx="10459233" cy="12776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305210F9-A841-2C44-B9F0-E355CF305198}"/>
              </a:ext>
            </a:extLst>
          </p:cNvPr>
          <p:cNvGrpSpPr/>
          <p:nvPr/>
        </p:nvGrpSpPr>
        <p:grpSpPr>
          <a:xfrm>
            <a:off x="5814165" y="3280776"/>
            <a:ext cx="1672748" cy="612648"/>
            <a:chOff x="5814165" y="3280776"/>
            <a:chExt cx="1672748" cy="612648"/>
          </a:xfrm>
        </p:grpSpPr>
        <p:sp>
          <p:nvSpPr>
            <p:cNvPr id="78" name="Rounded Rectangular Callout 77">
              <a:extLst>
                <a:ext uri="{FF2B5EF4-FFF2-40B4-BE49-F238E27FC236}">
                  <a16:creationId xmlns:a16="http://schemas.microsoft.com/office/drawing/2014/main" id="{C4B444F3-2C14-474E-8B61-1E282DE03385}"/>
                </a:ext>
              </a:extLst>
            </p:cNvPr>
            <p:cNvSpPr/>
            <p:nvPr/>
          </p:nvSpPr>
          <p:spPr>
            <a:xfrm>
              <a:off x="5814165" y="3280776"/>
              <a:ext cx="1672748" cy="612648"/>
            </a:xfrm>
            <a:prstGeom prst="wedgeRoundRectCallout">
              <a:avLst>
                <a:gd name="adj1" fmla="val -120395"/>
                <a:gd name="adj2" fmla="val -120679"/>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7B59616D-98BC-2340-969B-E8EFA3D4DA5A}"/>
                </a:ext>
              </a:extLst>
            </p:cNvPr>
            <p:cNvSpPr txBox="1"/>
            <p:nvPr/>
          </p:nvSpPr>
          <p:spPr>
            <a:xfrm>
              <a:off x="5826690" y="3332968"/>
              <a:ext cx="162807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2. Belay on.</a:t>
              </a:r>
            </a:p>
          </p:txBody>
        </p:sp>
      </p:grpSp>
      <p:grpSp>
        <p:nvGrpSpPr>
          <p:cNvPr id="11" name="Group 10">
            <a:extLst>
              <a:ext uri="{FF2B5EF4-FFF2-40B4-BE49-F238E27FC236}">
                <a16:creationId xmlns:a16="http://schemas.microsoft.com/office/drawing/2014/main" id="{E943AF12-B0EB-4F44-91E7-681492934EEA}"/>
              </a:ext>
            </a:extLst>
          </p:cNvPr>
          <p:cNvGrpSpPr/>
          <p:nvPr/>
        </p:nvGrpSpPr>
        <p:grpSpPr>
          <a:xfrm>
            <a:off x="8321457" y="3646119"/>
            <a:ext cx="1695712" cy="612648"/>
            <a:chOff x="8321457" y="3646119"/>
            <a:chExt cx="1695712" cy="612648"/>
          </a:xfrm>
        </p:grpSpPr>
        <p:sp>
          <p:nvSpPr>
            <p:cNvPr id="80" name="Rounded Rectangular Callout 79">
              <a:extLst>
                <a:ext uri="{FF2B5EF4-FFF2-40B4-BE49-F238E27FC236}">
                  <a16:creationId xmlns:a16="http://schemas.microsoft.com/office/drawing/2014/main" id="{8B23EB90-C1E0-D44A-8B27-62175510872C}"/>
                </a:ext>
              </a:extLst>
            </p:cNvPr>
            <p:cNvSpPr/>
            <p:nvPr/>
          </p:nvSpPr>
          <p:spPr>
            <a:xfrm>
              <a:off x="8344421" y="3646119"/>
              <a:ext cx="1672748" cy="612648"/>
            </a:xfrm>
            <a:prstGeom prst="wedgeRoundRectCallout">
              <a:avLst>
                <a:gd name="adj1" fmla="val -44764"/>
                <a:gd name="adj2" fmla="val 169650"/>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1" name="TextBox 80">
              <a:extLst>
                <a:ext uri="{FF2B5EF4-FFF2-40B4-BE49-F238E27FC236}">
                  <a16:creationId xmlns:a16="http://schemas.microsoft.com/office/drawing/2014/main" id="{35F183B7-733D-694A-B964-309D0B0097B1}"/>
                </a:ext>
              </a:extLst>
            </p:cNvPr>
            <p:cNvSpPr txBox="1"/>
            <p:nvPr/>
          </p:nvSpPr>
          <p:spPr>
            <a:xfrm>
              <a:off x="8321457" y="3710836"/>
              <a:ext cx="16514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3. Climbing.</a:t>
              </a:r>
            </a:p>
          </p:txBody>
        </p:sp>
      </p:grpSp>
      <p:sp>
        <p:nvSpPr>
          <p:cNvPr id="14" name="Slide Number Placeholder 2">
            <a:extLst>
              <a:ext uri="{FF2B5EF4-FFF2-40B4-BE49-F238E27FC236}">
                <a16:creationId xmlns:a16="http://schemas.microsoft.com/office/drawing/2014/main" id="{41298F7A-0643-9F47-8207-6B139EFB88B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107</a:t>
            </a:fld>
            <a:endParaRPr lang="en-US" dirty="0"/>
          </a:p>
        </p:txBody>
      </p:sp>
    </p:spTree>
    <p:extLst>
      <p:ext uri="{BB962C8B-B14F-4D97-AF65-F5344CB8AC3E}">
        <p14:creationId xmlns:p14="http://schemas.microsoft.com/office/powerpoint/2010/main" val="51864185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Closing a TCP connection</a:t>
            </a:r>
            <a:endParaRPr lang="en-US" sz="4400" b="0"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108</a:t>
            </a:fld>
            <a:endParaRPr lang="en-US" dirty="0"/>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Transport Layer: 3-</a:t>
            </a:r>
            <a:fld id="{C4204591-24BD-A542-B9D5-F8D8A88D2FEE}" type="slidenum">
              <a:rPr lang="en-US" smtClean="0"/>
              <a:pPr/>
              <a:t>109</a:t>
            </a:fld>
            <a:endParaRPr lang="en-US" dirty="0"/>
          </a:p>
        </p:txBody>
      </p:sp>
      <p:pic>
        <p:nvPicPr>
          <p:cNvPr id="6" name="Picture 5">
            <a:extLst>
              <a:ext uri="{FF2B5EF4-FFF2-40B4-BE49-F238E27FC236}">
                <a16:creationId xmlns:a16="http://schemas.microsoft.com/office/drawing/2014/main" id="{FC6EDA9F-A4F6-9E48-A741-C2AF8BE224B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Congestion:</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informally: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too many sources sending too much data too fast for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handle”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manifestations: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long delays (queueing in router buffers)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packet loss (buffer overflow at routers)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from flow control!</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Principles of congestion control</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congestion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too many senders, sending too fast</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flow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one sender too fast for one receiver</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 top-10 problem!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110</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Simplest scenario:</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maximum per-connection throughput: 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throughput: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large delays as arrival rate </a:t>
            </a: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line</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capacity</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arrival rate </a:t>
            </a:r>
            <a:r>
              <a:rPr kumimoji="0" lang="en-US" sz="2800" b="0" i="1" u="none" strike="noStrike" kern="1200" cap="none" spc="0" normalizeH="0" baseline="0" noProof="0" dirty="0">
                <a:ln>
                  <a:noFill/>
                </a:ln>
                <a:solidFill>
                  <a:srgbClr val="C00000"/>
                </a:solidFill>
                <a:effectLst/>
                <a:uLnTx/>
                <a:uFillTx/>
                <a:latin typeface="Symbol" charset="0"/>
                <a:ea typeface="ＭＳ Ｐゴシック" charset="0"/>
                <a:cs typeface="+mn-cs"/>
              </a:rPr>
              <a:t>l</a:t>
            </a:r>
            <a:r>
              <a:rPr kumimoji="0" lang="en-US" sz="2800" b="0" i="0" u="none" strike="noStrike" kern="1200" cap="none" spc="0" normalizeH="0" baseline="-25000" noProof="0" dirty="0">
                <a:ln>
                  <a:noFill/>
                </a:ln>
                <a:solidFill>
                  <a:srgbClr val="C00000"/>
                </a:solidFill>
                <a:effectLst/>
                <a:uLnTx/>
                <a:uFillTx/>
                <a:latin typeface="Calibri"/>
                <a:ea typeface="ＭＳ Ｐゴシック" charset="0"/>
                <a:cs typeface="+mn-cs"/>
              </a:rPr>
              <a:t>in</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R/2?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two flows</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one router, infinite buffers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input, output link capacity: R</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no retransmissions needed</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delay</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throughput: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111</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80D23465-6886-5547-A6E1-507D7810B0F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463">
            <a:extLst>
              <a:ext uri="{FF2B5EF4-FFF2-40B4-BE49-F238E27FC236}">
                <a16:creationId xmlns:a16="http://schemas.microsoft.com/office/drawing/2014/main" id="{ED623061-0BAD-094E-BE78-B8341568F372}"/>
              </a:ext>
            </a:extLst>
          </p:cNvPr>
          <p:cNvGrpSpPr/>
          <p:nvPr/>
        </p:nvGrpSpPr>
        <p:grpSpPr>
          <a:xfrm>
            <a:off x="6240513" y="5016599"/>
            <a:ext cx="720732" cy="1182930"/>
            <a:chOff x="10910965" y="2513124"/>
            <a:chExt cx="586768" cy="904023"/>
          </a:xfrm>
        </p:grpSpPr>
        <p:sp>
          <p:nvSpPr>
            <p:cNvPr id="465" name="Rectangle 464">
              <a:extLst>
                <a:ext uri="{FF2B5EF4-FFF2-40B4-BE49-F238E27FC236}">
                  <a16:creationId xmlns:a16="http://schemas.microsoft.com/office/drawing/2014/main" id="{FF2C2633-7018-BA41-AB83-B819BB9A45E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6" name="Straight Connector 465">
              <a:extLst>
                <a:ext uri="{FF2B5EF4-FFF2-40B4-BE49-F238E27FC236}">
                  <a16:creationId xmlns:a16="http://schemas.microsoft.com/office/drawing/2014/main" id="{302760D7-48DE-8A4B-ACF3-A7CD0B9C646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B159F5A-C0DA-EB4C-A34A-F001D131F1E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D2F7871-F8B6-2849-8DE5-284CB68B59A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8AE2A84E-B822-F046-878E-584B56EF1E3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909" name="Rectangle 2">
            <a:extLst>
              <a:ext uri="{FF2B5EF4-FFF2-40B4-BE49-F238E27FC236}">
                <a16:creationId xmlns:a16="http://schemas.microsoft.com/office/drawing/2014/main" id="{D810901F-4456-034F-A011-28193A3B4968}"/>
              </a:ext>
            </a:extLst>
          </p:cNvPr>
          <p:cNvSpPr txBox="1">
            <a:spLocks noChangeArrowheads="1"/>
          </p:cNvSpPr>
          <p:nvPr/>
        </p:nvSpPr>
        <p:spPr>
          <a:xfrm>
            <a:off x="634964" y="1182473"/>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one router,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finite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buffers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9">
            <a:extLst>
              <a:ext uri="{FF2B5EF4-FFF2-40B4-BE49-F238E27FC236}">
                <a16:creationId xmlns:a16="http://schemas.microsoft.com/office/drawing/2014/main" id="{31041B91-E0FC-7E47-86EF-C839592CEEF9}"/>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3" name="Group 152">
            <a:extLst>
              <a:ext uri="{FF2B5EF4-FFF2-40B4-BE49-F238E27FC236}">
                <a16:creationId xmlns:a16="http://schemas.microsoft.com/office/drawing/2014/main" id="{C664E13D-A71D-7A41-9ED2-950A4602199F}"/>
              </a:ext>
            </a:extLst>
          </p:cNvPr>
          <p:cNvGrpSpPr/>
          <p:nvPr/>
        </p:nvGrpSpPr>
        <p:grpSpPr>
          <a:xfrm>
            <a:off x="1278678" y="4683698"/>
            <a:ext cx="720732" cy="1182930"/>
            <a:chOff x="10910965" y="2513124"/>
            <a:chExt cx="586768" cy="904023"/>
          </a:xfrm>
        </p:grpSpPr>
        <p:sp>
          <p:nvSpPr>
            <p:cNvPr id="292" name="Rectangle 291">
              <a:extLst>
                <a:ext uri="{FF2B5EF4-FFF2-40B4-BE49-F238E27FC236}">
                  <a16:creationId xmlns:a16="http://schemas.microsoft.com/office/drawing/2014/main" id="{E609789D-FAF9-5746-8CD2-A008EE6CECB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93" name="Straight Connector 292">
              <a:extLst>
                <a:ext uri="{FF2B5EF4-FFF2-40B4-BE49-F238E27FC236}">
                  <a16:creationId xmlns:a16="http://schemas.microsoft.com/office/drawing/2014/main" id="{6D5231DA-8104-CB44-92A0-570084A4B4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6E0EC21-BE7F-C342-9CAD-4288FEF4BF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DF9FAFCD-7CC5-104B-8E70-9A9A226394D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C0759462-583F-5148-89B2-CAC38E98E11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18064D3-1463-5B40-A9E3-050E65014C75}"/>
              </a:ext>
            </a:extLst>
          </p:cNvPr>
          <p:cNvGrpSpPr/>
          <p:nvPr/>
        </p:nvGrpSpPr>
        <p:grpSpPr>
          <a:xfrm>
            <a:off x="2355044" y="3521091"/>
            <a:ext cx="720732" cy="1182930"/>
            <a:chOff x="10910965" y="2513124"/>
            <a:chExt cx="586768" cy="904023"/>
          </a:xfrm>
        </p:grpSpPr>
        <p:sp>
          <p:nvSpPr>
            <p:cNvPr id="287" name="Rectangle 286">
              <a:extLst>
                <a:ext uri="{FF2B5EF4-FFF2-40B4-BE49-F238E27FC236}">
                  <a16:creationId xmlns:a16="http://schemas.microsoft.com/office/drawing/2014/main" id="{8D19C0FC-E2FD-B34E-B3FB-BDFF7FD70A3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8" name="Straight Connector 287">
              <a:extLst>
                <a:ext uri="{FF2B5EF4-FFF2-40B4-BE49-F238E27FC236}">
                  <a16:creationId xmlns:a16="http://schemas.microsoft.com/office/drawing/2014/main" id="{FB7598A7-2ED2-704C-A197-75E68BC404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40FCF7-9EBB-7C41-8D3A-965DA0A9761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0F40B610-359C-5A46-86F3-309280845EC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9FA9EB9-49D7-3F4E-9667-CD5C42ECC86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 name="Freeform 6">
            <a:extLst>
              <a:ext uri="{FF2B5EF4-FFF2-40B4-BE49-F238E27FC236}">
                <a16:creationId xmlns:a16="http://schemas.microsoft.com/office/drawing/2014/main" id="{4DB18098-9AC8-F84F-9EFC-E14F468703DC}"/>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9E49415B-7EB6-4743-B880-41FB066DB4B9}"/>
              </a:ext>
            </a:extLst>
          </p:cNvPr>
          <p:cNvGrpSpPr/>
          <p:nvPr/>
        </p:nvGrpSpPr>
        <p:grpSpPr>
          <a:xfrm>
            <a:off x="6698918" y="3667889"/>
            <a:ext cx="720732" cy="1182930"/>
            <a:chOff x="10910965" y="2513124"/>
            <a:chExt cx="586768" cy="904023"/>
          </a:xfrm>
        </p:grpSpPr>
        <p:sp>
          <p:nvSpPr>
            <p:cNvPr id="282" name="Rectangle 281">
              <a:extLst>
                <a:ext uri="{FF2B5EF4-FFF2-40B4-BE49-F238E27FC236}">
                  <a16:creationId xmlns:a16="http://schemas.microsoft.com/office/drawing/2014/main" id="{0448B2D2-1A62-5C43-9150-A99468BAB68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3" name="Straight Connector 282">
              <a:extLst>
                <a:ext uri="{FF2B5EF4-FFF2-40B4-BE49-F238E27FC236}">
                  <a16:creationId xmlns:a16="http://schemas.microsoft.com/office/drawing/2014/main" id="{940DD19D-B2AD-964D-83A9-82488AF7E0E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1E98CF7C-ADBA-454F-9236-1C970C41D5B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5343C97A-736C-CB4E-A0C3-58EA9178C035}"/>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95638F38-76DF-9646-AF7C-7B73311BC37D}"/>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455C231-4F77-2943-A4A7-79D8A6F887B7}"/>
              </a:ext>
            </a:extLst>
          </p:cNvPr>
          <p:cNvGrpSpPr/>
          <p:nvPr/>
        </p:nvGrpSpPr>
        <p:grpSpPr>
          <a:xfrm>
            <a:off x="3770696" y="5033645"/>
            <a:ext cx="1286871" cy="734927"/>
            <a:chOff x="7493876" y="2774731"/>
            <a:chExt cx="1481958" cy="894622"/>
          </a:xfrm>
        </p:grpSpPr>
        <p:sp>
          <p:nvSpPr>
            <p:cNvPr id="275" name="Freeform 274">
              <a:extLst>
                <a:ext uri="{FF2B5EF4-FFF2-40B4-BE49-F238E27FC236}">
                  <a16:creationId xmlns:a16="http://schemas.microsoft.com/office/drawing/2014/main" id="{4D0698D9-69AC-074F-89C8-D8A88994A28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59DCF5EE-AB68-B240-BE5F-5203162A96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170C8D46-5FC3-C145-B11A-7CB2D312B360}"/>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AF04230D-700C-C549-99E0-41EBB2B22DD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4D1E1E76-B8D0-7C4B-9A0D-667DF456C81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B9903FEA-8DB2-E54A-AD78-7A6E5A6847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B092F8C6-79B6-BC42-B991-7922CC9AB6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8" name="Group 124">
            <a:extLst>
              <a:ext uri="{FF2B5EF4-FFF2-40B4-BE49-F238E27FC236}">
                <a16:creationId xmlns:a16="http://schemas.microsoft.com/office/drawing/2014/main" id="{BC5A178C-850C-0546-B828-A97A5F9A9008}"/>
              </a:ext>
            </a:extLst>
          </p:cNvPr>
          <p:cNvGrpSpPr>
            <a:grpSpLocks/>
          </p:cNvGrpSpPr>
          <p:nvPr/>
        </p:nvGrpSpPr>
        <p:grpSpPr bwMode="auto">
          <a:xfrm>
            <a:off x="1317421" y="3877120"/>
            <a:ext cx="645431" cy="569172"/>
            <a:chOff x="-44" y="1473"/>
            <a:chExt cx="981" cy="1105"/>
          </a:xfrm>
        </p:grpSpPr>
        <p:pic>
          <p:nvPicPr>
            <p:cNvPr id="273" name="Picture 125" descr="desktop_computer_stylized_medium">
              <a:extLst>
                <a:ext uri="{FF2B5EF4-FFF2-40B4-BE49-F238E27FC236}">
                  <a16:creationId xmlns:a16="http://schemas.microsoft.com/office/drawing/2014/main" id="{8B5BD8CE-2A84-E846-817A-1550E18BFB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Freeform 126">
              <a:extLst>
                <a:ext uri="{FF2B5EF4-FFF2-40B4-BE49-F238E27FC236}">
                  <a16:creationId xmlns:a16="http://schemas.microsoft.com/office/drawing/2014/main" id="{56638146-3603-4B43-8C07-22A53DD29F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0" name="Freeform 12">
            <a:extLst>
              <a:ext uri="{FF2B5EF4-FFF2-40B4-BE49-F238E27FC236}">
                <a16:creationId xmlns:a16="http://schemas.microsoft.com/office/drawing/2014/main" id="{B265A6FF-6F16-644A-A3DA-369A224CF48A}"/>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Line 33">
            <a:extLst>
              <a:ext uri="{FF2B5EF4-FFF2-40B4-BE49-F238E27FC236}">
                <a16:creationId xmlns:a16="http://schemas.microsoft.com/office/drawing/2014/main" id="{C878E23C-4C42-2D44-B41A-E547E44A04AD}"/>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Text Box 42">
            <a:extLst>
              <a:ext uri="{FF2B5EF4-FFF2-40B4-BE49-F238E27FC236}">
                <a16:creationId xmlns:a16="http://schemas.microsoft.com/office/drawing/2014/main" id="{DFAA6AE2-F5C0-4846-83FF-51CD9D3430C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3" name="Text Box 52">
            <a:extLst>
              <a:ext uri="{FF2B5EF4-FFF2-40B4-BE49-F238E27FC236}">
                <a16:creationId xmlns:a16="http://schemas.microsoft.com/office/drawing/2014/main" id="{697CE3BC-08E3-0743-B33B-A06D8A9715A3}"/>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64" name="Line 53">
            <a:extLst>
              <a:ext uri="{FF2B5EF4-FFF2-40B4-BE49-F238E27FC236}">
                <a16:creationId xmlns:a16="http://schemas.microsoft.com/office/drawing/2014/main" id="{66A4B303-46B3-9E4D-A4D5-76E145975885}"/>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Line 54">
            <a:extLst>
              <a:ext uri="{FF2B5EF4-FFF2-40B4-BE49-F238E27FC236}">
                <a16:creationId xmlns:a16="http://schemas.microsoft.com/office/drawing/2014/main" id="{17F5C019-D2C3-9C47-8837-56EB26DFF68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Line 55">
            <a:extLst>
              <a:ext uri="{FF2B5EF4-FFF2-40B4-BE49-F238E27FC236}">
                <a16:creationId xmlns:a16="http://schemas.microsoft.com/office/drawing/2014/main" id="{5B033825-3CFA-7B48-B2A8-5386F733A453}"/>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57">
            <a:extLst>
              <a:ext uri="{FF2B5EF4-FFF2-40B4-BE49-F238E27FC236}">
                <a16:creationId xmlns:a16="http://schemas.microsoft.com/office/drawing/2014/main" id="{6C1DD6E4-4DE9-0F41-BF04-1F6DF97D23BF}"/>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3" name="Group 127">
            <a:extLst>
              <a:ext uri="{FF2B5EF4-FFF2-40B4-BE49-F238E27FC236}">
                <a16:creationId xmlns:a16="http://schemas.microsoft.com/office/drawing/2014/main" id="{3808CE02-5C3D-C346-BEE9-B6E121BF954D}"/>
              </a:ext>
            </a:extLst>
          </p:cNvPr>
          <p:cNvGrpSpPr>
            <a:grpSpLocks/>
          </p:cNvGrpSpPr>
          <p:nvPr/>
        </p:nvGrpSpPr>
        <p:grpSpPr bwMode="auto">
          <a:xfrm>
            <a:off x="7531958" y="4473878"/>
            <a:ext cx="284691" cy="577481"/>
            <a:chOff x="4140" y="429"/>
            <a:chExt cx="1425" cy="2396"/>
          </a:xfrm>
        </p:grpSpPr>
        <p:sp>
          <p:nvSpPr>
            <p:cNvPr id="233" name="Freeform 128">
              <a:extLst>
                <a:ext uri="{FF2B5EF4-FFF2-40B4-BE49-F238E27FC236}">
                  <a16:creationId xmlns:a16="http://schemas.microsoft.com/office/drawing/2014/main" id="{811C558B-4215-704B-94D0-E123046450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129">
              <a:extLst>
                <a:ext uri="{FF2B5EF4-FFF2-40B4-BE49-F238E27FC236}">
                  <a16:creationId xmlns:a16="http://schemas.microsoft.com/office/drawing/2014/main" id="{83BDE6F4-12C8-254F-99E6-1AC22AB23A6C}"/>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Freeform 130">
              <a:extLst>
                <a:ext uri="{FF2B5EF4-FFF2-40B4-BE49-F238E27FC236}">
                  <a16:creationId xmlns:a16="http://schemas.microsoft.com/office/drawing/2014/main" id="{505E1BFF-3C9F-B243-B5B0-75BB0D03FC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6" name="Freeform 131">
              <a:extLst>
                <a:ext uri="{FF2B5EF4-FFF2-40B4-BE49-F238E27FC236}">
                  <a16:creationId xmlns:a16="http://schemas.microsoft.com/office/drawing/2014/main" id="{6FA76602-7304-F042-9F0F-79DB3F9AFF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7" name="Rectangle 132">
              <a:extLst>
                <a:ext uri="{FF2B5EF4-FFF2-40B4-BE49-F238E27FC236}">
                  <a16:creationId xmlns:a16="http://schemas.microsoft.com/office/drawing/2014/main" id="{FA53C885-D9E0-A545-8445-B2721091BDB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133">
              <a:extLst>
                <a:ext uri="{FF2B5EF4-FFF2-40B4-BE49-F238E27FC236}">
                  <a16:creationId xmlns:a16="http://schemas.microsoft.com/office/drawing/2014/main" id="{3A3B6CB5-41F2-664A-A843-912B5DB61A2B}"/>
                </a:ext>
              </a:extLst>
            </p:cNvPr>
            <p:cNvGrpSpPr>
              <a:grpSpLocks/>
            </p:cNvGrpSpPr>
            <p:nvPr/>
          </p:nvGrpSpPr>
          <p:grpSpPr bwMode="auto">
            <a:xfrm>
              <a:off x="4749" y="668"/>
              <a:ext cx="581" cy="145"/>
              <a:chOff x="614" y="2568"/>
              <a:chExt cx="725" cy="139"/>
            </a:xfrm>
          </p:grpSpPr>
          <p:sp>
            <p:nvSpPr>
              <p:cNvPr id="263" name="AutoShape 134">
                <a:extLst>
                  <a:ext uri="{FF2B5EF4-FFF2-40B4-BE49-F238E27FC236}">
                    <a16:creationId xmlns:a16="http://schemas.microsoft.com/office/drawing/2014/main" id="{BC9432EE-0011-9F4F-8687-4173A06D0FE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AutoShape 135">
                <a:extLst>
                  <a:ext uri="{FF2B5EF4-FFF2-40B4-BE49-F238E27FC236}">
                    <a16:creationId xmlns:a16="http://schemas.microsoft.com/office/drawing/2014/main" id="{1850FFB1-810C-5D46-B468-F1377E8B869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Rectangle 136">
              <a:extLst>
                <a:ext uri="{FF2B5EF4-FFF2-40B4-BE49-F238E27FC236}">
                  <a16:creationId xmlns:a16="http://schemas.microsoft.com/office/drawing/2014/main" id="{E6E1815D-B0B7-C249-B837-587E975BE7D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137">
              <a:extLst>
                <a:ext uri="{FF2B5EF4-FFF2-40B4-BE49-F238E27FC236}">
                  <a16:creationId xmlns:a16="http://schemas.microsoft.com/office/drawing/2014/main" id="{7F97E068-6BF9-8149-811C-00184DED144A}"/>
                </a:ext>
              </a:extLst>
            </p:cNvPr>
            <p:cNvGrpSpPr>
              <a:grpSpLocks/>
            </p:cNvGrpSpPr>
            <p:nvPr/>
          </p:nvGrpSpPr>
          <p:grpSpPr bwMode="auto">
            <a:xfrm>
              <a:off x="4747" y="994"/>
              <a:ext cx="581" cy="134"/>
              <a:chOff x="614" y="2568"/>
              <a:chExt cx="725" cy="139"/>
            </a:xfrm>
          </p:grpSpPr>
          <p:sp>
            <p:nvSpPr>
              <p:cNvPr id="261" name="AutoShape 138">
                <a:extLst>
                  <a:ext uri="{FF2B5EF4-FFF2-40B4-BE49-F238E27FC236}">
                    <a16:creationId xmlns:a16="http://schemas.microsoft.com/office/drawing/2014/main" id="{6649A030-733E-DB43-A4BD-D41A8DDFDFB4}"/>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AutoShape 139">
                <a:extLst>
                  <a:ext uri="{FF2B5EF4-FFF2-40B4-BE49-F238E27FC236}">
                    <a16:creationId xmlns:a16="http://schemas.microsoft.com/office/drawing/2014/main" id="{9E214A48-F0EF-174A-A6D2-127D876264A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140">
              <a:extLst>
                <a:ext uri="{FF2B5EF4-FFF2-40B4-BE49-F238E27FC236}">
                  <a16:creationId xmlns:a16="http://schemas.microsoft.com/office/drawing/2014/main" id="{F4213574-ABC8-7F43-9C79-6E5C211657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Rectangle 141">
              <a:extLst>
                <a:ext uri="{FF2B5EF4-FFF2-40B4-BE49-F238E27FC236}">
                  <a16:creationId xmlns:a16="http://schemas.microsoft.com/office/drawing/2014/main" id="{6C7F02A7-1E6B-6744-BB83-50A5FD6692B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3" name="Group 142">
              <a:extLst>
                <a:ext uri="{FF2B5EF4-FFF2-40B4-BE49-F238E27FC236}">
                  <a16:creationId xmlns:a16="http://schemas.microsoft.com/office/drawing/2014/main" id="{8F919684-30D5-B14A-AB97-B5DFBEF5302D}"/>
                </a:ext>
              </a:extLst>
            </p:cNvPr>
            <p:cNvGrpSpPr>
              <a:grpSpLocks/>
            </p:cNvGrpSpPr>
            <p:nvPr/>
          </p:nvGrpSpPr>
          <p:grpSpPr bwMode="auto">
            <a:xfrm>
              <a:off x="4735" y="1627"/>
              <a:ext cx="582" cy="151"/>
              <a:chOff x="614" y="2568"/>
              <a:chExt cx="725" cy="139"/>
            </a:xfrm>
          </p:grpSpPr>
          <p:sp>
            <p:nvSpPr>
              <p:cNvPr id="259" name="AutoShape 143">
                <a:extLst>
                  <a:ext uri="{FF2B5EF4-FFF2-40B4-BE49-F238E27FC236}">
                    <a16:creationId xmlns:a16="http://schemas.microsoft.com/office/drawing/2014/main" id="{96D6248B-EAAA-2A4D-A4BD-1009D13EBACD}"/>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AutoShape 144">
                <a:extLst>
                  <a:ext uri="{FF2B5EF4-FFF2-40B4-BE49-F238E27FC236}">
                    <a16:creationId xmlns:a16="http://schemas.microsoft.com/office/drawing/2014/main" id="{B63C93F6-376E-2F42-8185-8FD1271480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4" name="Freeform 145">
              <a:extLst>
                <a:ext uri="{FF2B5EF4-FFF2-40B4-BE49-F238E27FC236}">
                  <a16:creationId xmlns:a16="http://schemas.microsoft.com/office/drawing/2014/main" id="{B5A663D7-E6EE-734B-9792-F536336D04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5" name="Group 146">
              <a:extLst>
                <a:ext uri="{FF2B5EF4-FFF2-40B4-BE49-F238E27FC236}">
                  <a16:creationId xmlns:a16="http://schemas.microsoft.com/office/drawing/2014/main" id="{C596A713-1C52-A34E-9381-F7F919A695BB}"/>
                </a:ext>
              </a:extLst>
            </p:cNvPr>
            <p:cNvGrpSpPr>
              <a:grpSpLocks/>
            </p:cNvGrpSpPr>
            <p:nvPr/>
          </p:nvGrpSpPr>
          <p:grpSpPr bwMode="auto">
            <a:xfrm>
              <a:off x="4739" y="1327"/>
              <a:ext cx="582" cy="139"/>
              <a:chOff x="614" y="2568"/>
              <a:chExt cx="725" cy="139"/>
            </a:xfrm>
          </p:grpSpPr>
          <p:sp>
            <p:nvSpPr>
              <p:cNvPr id="257" name="AutoShape 147">
                <a:extLst>
                  <a:ext uri="{FF2B5EF4-FFF2-40B4-BE49-F238E27FC236}">
                    <a16:creationId xmlns:a16="http://schemas.microsoft.com/office/drawing/2014/main" id="{A2AF9509-2E9C-F049-A69C-BC151ADB23C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AutoShape 148">
                <a:extLst>
                  <a:ext uri="{FF2B5EF4-FFF2-40B4-BE49-F238E27FC236}">
                    <a16:creationId xmlns:a16="http://schemas.microsoft.com/office/drawing/2014/main" id="{C59B2148-A3C8-0841-87D7-7B5FBFD9C24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6" name="Rectangle 149">
              <a:extLst>
                <a:ext uri="{FF2B5EF4-FFF2-40B4-BE49-F238E27FC236}">
                  <a16:creationId xmlns:a16="http://schemas.microsoft.com/office/drawing/2014/main" id="{B0F127BD-9A3A-EB41-A2E1-7CD4CC52498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150">
              <a:extLst>
                <a:ext uri="{FF2B5EF4-FFF2-40B4-BE49-F238E27FC236}">
                  <a16:creationId xmlns:a16="http://schemas.microsoft.com/office/drawing/2014/main" id="{3BBBB4B7-56DB-1D43-A6D4-1D492AE1586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Freeform 151">
              <a:extLst>
                <a:ext uri="{FF2B5EF4-FFF2-40B4-BE49-F238E27FC236}">
                  <a16:creationId xmlns:a16="http://schemas.microsoft.com/office/drawing/2014/main" id="{591A95E8-6F86-8A42-A0C9-7487B89DA12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Oval 152">
              <a:extLst>
                <a:ext uri="{FF2B5EF4-FFF2-40B4-BE49-F238E27FC236}">
                  <a16:creationId xmlns:a16="http://schemas.microsoft.com/office/drawing/2014/main" id="{7C866B93-DCBC-7749-9A90-2E6DF2E7A4D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Freeform 153">
              <a:extLst>
                <a:ext uri="{FF2B5EF4-FFF2-40B4-BE49-F238E27FC236}">
                  <a16:creationId xmlns:a16="http://schemas.microsoft.com/office/drawing/2014/main" id="{20096CEE-1D0A-DA4A-B4EA-CE851FB638C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1" name="AutoShape 154">
              <a:extLst>
                <a:ext uri="{FF2B5EF4-FFF2-40B4-BE49-F238E27FC236}">
                  <a16:creationId xmlns:a16="http://schemas.microsoft.com/office/drawing/2014/main" id="{800A41D3-8C32-9540-A084-0538BB956E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55">
              <a:extLst>
                <a:ext uri="{FF2B5EF4-FFF2-40B4-BE49-F238E27FC236}">
                  <a16:creationId xmlns:a16="http://schemas.microsoft.com/office/drawing/2014/main" id="{67F818BC-2518-4C4C-8597-C941419A472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Oval 156">
              <a:extLst>
                <a:ext uri="{FF2B5EF4-FFF2-40B4-BE49-F238E27FC236}">
                  <a16:creationId xmlns:a16="http://schemas.microsoft.com/office/drawing/2014/main" id="{80D903FF-E73B-D84D-B215-D7FB2AA30BC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Oval 157">
              <a:extLst>
                <a:ext uri="{FF2B5EF4-FFF2-40B4-BE49-F238E27FC236}">
                  <a16:creationId xmlns:a16="http://schemas.microsoft.com/office/drawing/2014/main" id="{CB203238-7D82-C747-B805-A2FDFABD199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5" name="Oval 158">
              <a:extLst>
                <a:ext uri="{FF2B5EF4-FFF2-40B4-BE49-F238E27FC236}">
                  <a16:creationId xmlns:a16="http://schemas.microsoft.com/office/drawing/2014/main" id="{963F0D1E-6FE3-8E42-B74D-4F2947878C5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159">
              <a:extLst>
                <a:ext uri="{FF2B5EF4-FFF2-40B4-BE49-F238E27FC236}">
                  <a16:creationId xmlns:a16="http://schemas.microsoft.com/office/drawing/2014/main" id="{3C003407-E16A-4B46-B1EA-E94247F7467D}"/>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4" name="Group 160">
            <a:extLst>
              <a:ext uri="{FF2B5EF4-FFF2-40B4-BE49-F238E27FC236}">
                <a16:creationId xmlns:a16="http://schemas.microsoft.com/office/drawing/2014/main" id="{0F097A1A-2185-F148-8F82-34ABB517D6AE}"/>
              </a:ext>
            </a:extLst>
          </p:cNvPr>
          <p:cNvGrpSpPr>
            <a:grpSpLocks/>
          </p:cNvGrpSpPr>
          <p:nvPr/>
        </p:nvGrpSpPr>
        <p:grpSpPr bwMode="auto">
          <a:xfrm>
            <a:off x="585296" y="5655276"/>
            <a:ext cx="645431" cy="569172"/>
            <a:chOff x="-44" y="1473"/>
            <a:chExt cx="981" cy="1105"/>
          </a:xfrm>
        </p:grpSpPr>
        <p:pic>
          <p:nvPicPr>
            <p:cNvPr id="231" name="Picture 161" descr="desktop_computer_stylized_medium">
              <a:extLst>
                <a:ext uri="{FF2B5EF4-FFF2-40B4-BE49-F238E27FC236}">
                  <a16:creationId xmlns:a16="http://schemas.microsoft.com/office/drawing/2014/main" id="{739E1A58-F96D-1345-AEAE-EA59CB2F60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62">
              <a:extLst>
                <a:ext uri="{FF2B5EF4-FFF2-40B4-BE49-F238E27FC236}">
                  <a16:creationId xmlns:a16="http://schemas.microsoft.com/office/drawing/2014/main" id="{476098FC-333E-C14D-BD39-044AEB98AE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163">
            <a:extLst>
              <a:ext uri="{FF2B5EF4-FFF2-40B4-BE49-F238E27FC236}">
                <a16:creationId xmlns:a16="http://schemas.microsoft.com/office/drawing/2014/main" id="{E2EFDB81-0D19-4A48-8538-D27C6B7F7D14}"/>
              </a:ext>
            </a:extLst>
          </p:cNvPr>
          <p:cNvGrpSpPr>
            <a:grpSpLocks/>
          </p:cNvGrpSpPr>
          <p:nvPr/>
        </p:nvGrpSpPr>
        <p:grpSpPr bwMode="auto">
          <a:xfrm>
            <a:off x="7141970" y="5736859"/>
            <a:ext cx="284691" cy="577481"/>
            <a:chOff x="4140" y="429"/>
            <a:chExt cx="1425" cy="2396"/>
          </a:xfrm>
        </p:grpSpPr>
        <p:sp>
          <p:nvSpPr>
            <p:cNvPr id="199" name="Freeform 164">
              <a:extLst>
                <a:ext uri="{FF2B5EF4-FFF2-40B4-BE49-F238E27FC236}">
                  <a16:creationId xmlns:a16="http://schemas.microsoft.com/office/drawing/2014/main" id="{BD6EFF4C-D844-414A-9756-E53717BA495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0" name="Rectangle 165">
              <a:extLst>
                <a:ext uri="{FF2B5EF4-FFF2-40B4-BE49-F238E27FC236}">
                  <a16:creationId xmlns:a16="http://schemas.microsoft.com/office/drawing/2014/main" id="{7CB552E3-C1C5-F942-A2D3-56184702A5A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Freeform 166">
              <a:extLst>
                <a:ext uri="{FF2B5EF4-FFF2-40B4-BE49-F238E27FC236}">
                  <a16:creationId xmlns:a16="http://schemas.microsoft.com/office/drawing/2014/main" id="{ADBEFE66-AA30-4B46-A1C5-46CBEA0C1B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2" name="Freeform 167">
              <a:extLst>
                <a:ext uri="{FF2B5EF4-FFF2-40B4-BE49-F238E27FC236}">
                  <a16:creationId xmlns:a16="http://schemas.microsoft.com/office/drawing/2014/main" id="{02AE45A3-16A5-2145-B7BC-4400869B56C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3" name="Rectangle 168">
              <a:extLst>
                <a:ext uri="{FF2B5EF4-FFF2-40B4-BE49-F238E27FC236}">
                  <a16:creationId xmlns:a16="http://schemas.microsoft.com/office/drawing/2014/main" id="{8CFC0F08-B9F2-1B47-BFD4-FF5DCA08002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169">
              <a:extLst>
                <a:ext uri="{FF2B5EF4-FFF2-40B4-BE49-F238E27FC236}">
                  <a16:creationId xmlns:a16="http://schemas.microsoft.com/office/drawing/2014/main" id="{13A37EEE-1891-1440-9CC9-602B2446BBA2}"/>
                </a:ext>
              </a:extLst>
            </p:cNvPr>
            <p:cNvGrpSpPr>
              <a:grpSpLocks/>
            </p:cNvGrpSpPr>
            <p:nvPr/>
          </p:nvGrpSpPr>
          <p:grpSpPr bwMode="auto">
            <a:xfrm>
              <a:off x="4749" y="668"/>
              <a:ext cx="581" cy="145"/>
              <a:chOff x="614" y="2568"/>
              <a:chExt cx="725" cy="139"/>
            </a:xfrm>
          </p:grpSpPr>
          <p:sp>
            <p:nvSpPr>
              <p:cNvPr id="229" name="AutoShape 170">
                <a:extLst>
                  <a:ext uri="{FF2B5EF4-FFF2-40B4-BE49-F238E27FC236}">
                    <a16:creationId xmlns:a16="http://schemas.microsoft.com/office/drawing/2014/main" id="{0DE9F83D-BA7B-AB43-9A9D-4DC6E78250E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171">
                <a:extLst>
                  <a:ext uri="{FF2B5EF4-FFF2-40B4-BE49-F238E27FC236}">
                    <a16:creationId xmlns:a16="http://schemas.microsoft.com/office/drawing/2014/main" id="{A22C12A6-C6AF-F645-B954-ECC93E01FA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172">
              <a:extLst>
                <a:ext uri="{FF2B5EF4-FFF2-40B4-BE49-F238E27FC236}">
                  <a16:creationId xmlns:a16="http://schemas.microsoft.com/office/drawing/2014/main" id="{E3DCF607-14CC-8F49-81D1-A0BB7C7DE346}"/>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6" name="Group 173">
              <a:extLst>
                <a:ext uri="{FF2B5EF4-FFF2-40B4-BE49-F238E27FC236}">
                  <a16:creationId xmlns:a16="http://schemas.microsoft.com/office/drawing/2014/main" id="{86D015C1-5E8B-3F4F-82D3-56E79D5E8284}"/>
                </a:ext>
              </a:extLst>
            </p:cNvPr>
            <p:cNvGrpSpPr>
              <a:grpSpLocks/>
            </p:cNvGrpSpPr>
            <p:nvPr/>
          </p:nvGrpSpPr>
          <p:grpSpPr bwMode="auto">
            <a:xfrm>
              <a:off x="4747" y="994"/>
              <a:ext cx="581" cy="134"/>
              <a:chOff x="614" y="2568"/>
              <a:chExt cx="725" cy="139"/>
            </a:xfrm>
          </p:grpSpPr>
          <p:sp>
            <p:nvSpPr>
              <p:cNvPr id="227" name="AutoShape 174">
                <a:extLst>
                  <a:ext uri="{FF2B5EF4-FFF2-40B4-BE49-F238E27FC236}">
                    <a16:creationId xmlns:a16="http://schemas.microsoft.com/office/drawing/2014/main" id="{48620533-E7B5-AD47-9B24-98B7CD27707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175">
                <a:extLst>
                  <a:ext uri="{FF2B5EF4-FFF2-40B4-BE49-F238E27FC236}">
                    <a16:creationId xmlns:a16="http://schemas.microsoft.com/office/drawing/2014/main" id="{E12148F0-F22A-FE46-8240-0D9581F97CF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7" name="Rectangle 176">
              <a:extLst>
                <a:ext uri="{FF2B5EF4-FFF2-40B4-BE49-F238E27FC236}">
                  <a16:creationId xmlns:a16="http://schemas.microsoft.com/office/drawing/2014/main" id="{9AEDD470-9194-E749-BE81-8C84F3423921}"/>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Rectangle 177">
              <a:extLst>
                <a:ext uri="{FF2B5EF4-FFF2-40B4-BE49-F238E27FC236}">
                  <a16:creationId xmlns:a16="http://schemas.microsoft.com/office/drawing/2014/main" id="{92944065-57F3-474C-B7C9-8C3EF2246EB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9" name="Group 178">
              <a:extLst>
                <a:ext uri="{FF2B5EF4-FFF2-40B4-BE49-F238E27FC236}">
                  <a16:creationId xmlns:a16="http://schemas.microsoft.com/office/drawing/2014/main" id="{F21A1F7B-AAFD-0B45-8D20-66719A131603}"/>
                </a:ext>
              </a:extLst>
            </p:cNvPr>
            <p:cNvGrpSpPr>
              <a:grpSpLocks/>
            </p:cNvGrpSpPr>
            <p:nvPr/>
          </p:nvGrpSpPr>
          <p:grpSpPr bwMode="auto">
            <a:xfrm>
              <a:off x="4735" y="1627"/>
              <a:ext cx="582" cy="151"/>
              <a:chOff x="614" y="2568"/>
              <a:chExt cx="725" cy="139"/>
            </a:xfrm>
          </p:grpSpPr>
          <p:sp>
            <p:nvSpPr>
              <p:cNvPr id="225" name="AutoShape 179">
                <a:extLst>
                  <a:ext uri="{FF2B5EF4-FFF2-40B4-BE49-F238E27FC236}">
                    <a16:creationId xmlns:a16="http://schemas.microsoft.com/office/drawing/2014/main" id="{C1DDC539-D8AE-0F41-B3C6-7BDF3D7B6C7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AutoShape 180">
                <a:extLst>
                  <a:ext uri="{FF2B5EF4-FFF2-40B4-BE49-F238E27FC236}">
                    <a16:creationId xmlns:a16="http://schemas.microsoft.com/office/drawing/2014/main" id="{7BE912F4-6A13-C146-872D-5E728DEDB99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Freeform 181">
              <a:extLst>
                <a:ext uri="{FF2B5EF4-FFF2-40B4-BE49-F238E27FC236}">
                  <a16:creationId xmlns:a16="http://schemas.microsoft.com/office/drawing/2014/main" id="{2D115A2E-4180-8D4D-9CD8-D6CDE2038C7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1" name="Group 182">
              <a:extLst>
                <a:ext uri="{FF2B5EF4-FFF2-40B4-BE49-F238E27FC236}">
                  <a16:creationId xmlns:a16="http://schemas.microsoft.com/office/drawing/2014/main" id="{60622201-2E59-994D-AB7D-72EE5A986908}"/>
                </a:ext>
              </a:extLst>
            </p:cNvPr>
            <p:cNvGrpSpPr>
              <a:grpSpLocks/>
            </p:cNvGrpSpPr>
            <p:nvPr/>
          </p:nvGrpSpPr>
          <p:grpSpPr bwMode="auto">
            <a:xfrm>
              <a:off x="4739" y="1327"/>
              <a:ext cx="582" cy="139"/>
              <a:chOff x="614" y="2568"/>
              <a:chExt cx="725" cy="139"/>
            </a:xfrm>
          </p:grpSpPr>
          <p:sp>
            <p:nvSpPr>
              <p:cNvPr id="223" name="AutoShape 183">
                <a:extLst>
                  <a:ext uri="{FF2B5EF4-FFF2-40B4-BE49-F238E27FC236}">
                    <a16:creationId xmlns:a16="http://schemas.microsoft.com/office/drawing/2014/main" id="{4C230A94-BC0D-F34B-A373-92423746E14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AutoShape 184">
                <a:extLst>
                  <a:ext uri="{FF2B5EF4-FFF2-40B4-BE49-F238E27FC236}">
                    <a16:creationId xmlns:a16="http://schemas.microsoft.com/office/drawing/2014/main" id="{790B5D31-2480-4F41-8E42-1AF6E8FAD50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Rectangle 185">
              <a:extLst>
                <a:ext uri="{FF2B5EF4-FFF2-40B4-BE49-F238E27FC236}">
                  <a16:creationId xmlns:a16="http://schemas.microsoft.com/office/drawing/2014/main" id="{FDF61F85-9CD0-354B-947A-470245040D5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Freeform 186">
              <a:extLst>
                <a:ext uri="{FF2B5EF4-FFF2-40B4-BE49-F238E27FC236}">
                  <a16:creationId xmlns:a16="http://schemas.microsoft.com/office/drawing/2014/main" id="{611684CC-E72C-034A-A61A-6164A0BF856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4" name="Freeform 187">
              <a:extLst>
                <a:ext uri="{FF2B5EF4-FFF2-40B4-BE49-F238E27FC236}">
                  <a16:creationId xmlns:a16="http://schemas.microsoft.com/office/drawing/2014/main" id="{DBB964D6-CEE2-3241-BFDA-5DB20E1598D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Oval 188">
              <a:extLst>
                <a:ext uri="{FF2B5EF4-FFF2-40B4-BE49-F238E27FC236}">
                  <a16:creationId xmlns:a16="http://schemas.microsoft.com/office/drawing/2014/main" id="{27197FE3-A9C2-EE42-B3C2-C3A9CBF3D281}"/>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6" name="Freeform 189">
              <a:extLst>
                <a:ext uri="{FF2B5EF4-FFF2-40B4-BE49-F238E27FC236}">
                  <a16:creationId xmlns:a16="http://schemas.microsoft.com/office/drawing/2014/main" id="{F3ED62CF-FC3D-8949-A608-5B7BFE69DA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7" name="AutoShape 190">
              <a:extLst>
                <a:ext uri="{FF2B5EF4-FFF2-40B4-BE49-F238E27FC236}">
                  <a16:creationId xmlns:a16="http://schemas.microsoft.com/office/drawing/2014/main" id="{3091CE7F-A295-6F47-B397-614B62DF0B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AutoShape 191">
              <a:extLst>
                <a:ext uri="{FF2B5EF4-FFF2-40B4-BE49-F238E27FC236}">
                  <a16:creationId xmlns:a16="http://schemas.microsoft.com/office/drawing/2014/main" id="{415A0F15-253E-F54D-B178-9525AED1847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Oval 192">
              <a:extLst>
                <a:ext uri="{FF2B5EF4-FFF2-40B4-BE49-F238E27FC236}">
                  <a16:creationId xmlns:a16="http://schemas.microsoft.com/office/drawing/2014/main" id="{C2CD80B7-EEF4-014D-B5A6-EAE8E9D2D83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Oval 193">
              <a:extLst>
                <a:ext uri="{FF2B5EF4-FFF2-40B4-BE49-F238E27FC236}">
                  <a16:creationId xmlns:a16="http://schemas.microsoft.com/office/drawing/2014/main" id="{36F54B23-051A-244E-98BA-0B1F8C40258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1" name="Oval 194">
              <a:extLst>
                <a:ext uri="{FF2B5EF4-FFF2-40B4-BE49-F238E27FC236}">
                  <a16:creationId xmlns:a16="http://schemas.microsoft.com/office/drawing/2014/main" id="{9B7CB66A-4AB2-C249-9259-D8943EEC647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Rectangle 195">
              <a:extLst>
                <a:ext uri="{FF2B5EF4-FFF2-40B4-BE49-F238E27FC236}">
                  <a16:creationId xmlns:a16="http://schemas.microsoft.com/office/drawing/2014/main" id="{99EDA04F-76BC-A24E-994C-040F379BA75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Line 57">
            <a:extLst>
              <a:ext uri="{FF2B5EF4-FFF2-40B4-BE49-F238E27FC236}">
                <a16:creationId xmlns:a16="http://schemas.microsoft.com/office/drawing/2014/main" id="{57E79EDF-A69C-7748-A8F5-A8D11C416955}"/>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Line 57">
            <a:extLst>
              <a:ext uri="{FF2B5EF4-FFF2-40B4-BE49-F238E27FC236}">
                <a16:creationId xmlns:a16="http://schemas.microsoft.com/office/drawing/2014/main" id="{F9B908EA-CCC5-9140-968E-E85601F061A8}"/>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7">
            <a:extLst>
              <a:ext uri="{FF2B5EF4-FFF2-40B4-BE49-F238E27FC236}">
                <a16:creationId xmlns:a16="http://schemas.microsoft.com/office/drawing/2014/main" id="{B8DA85AE-A4EF-8949-A171-7D8A32E2383C}"/>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88B36FCA-98F2-334E-B745-8BE5CDDCBFB2}"/>
              </a:ext>
            </a:extLst>
          </p:cNvPr>
          <p:cNvGrpSpPr/>
          <p:nvPr/>
        </p:nvGrpSpPr>
        <p:grpSpPr>
          <a:xfrm>
            <a:off x="2749090" y="3427413"/>
            <a:ext cx="2851610" cy="946150"/>
            <a:chOff x="2749090" y="3427413"/>
            <a:chExt cx="2851610" cy="946150"/>
          </a:xfrm>
        </p:grpSpPr>
        <p:sp>
          <p:nvSpPr>
            <p:cNvPr id="297" name="Text Box 68">
              <a:extLst>
                <a:ext uri="{FF2B5EF4-FFF2-40B4-BE49-F238E27FC236}">
                  <a16:creationId xmlns:a16="http://schemas.microsoft.com/office/drawing/2014/main" id="{A106E788-CB34-784B-A7C6-28841DDC2E4F}"/>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98" name="Oval 217">
              <a:extLst>
                <a:ext uri="{FF2B5EF4-FFF2-40B4-BE49-F238E27FC236}">
                  <a16:creationId xmlns:a16="http://schemas.microsoft.com/office/drawing/2014/main" id="{CEE2DA5C-50A0-D742-A105-CCD7EE70973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Line 229">
              <a:extLst>
                <a:ext uri="{FF2B5EF4-FFF2-40B4-BE49-F238E27FC236}">
                  <a16:creationId xmlns:a16="http://schemas.microsoft.com/office/drawing/2014/main" id="{255225C8-6B39-2541-95EB-F48A1F34AF4E}"/>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Oval 232">
              <a:extLst>
                <a:ext uri="{FF2B5EF4-FFF2-40B4-BE49-F238E27FC236}">
                  <a16:creationId xmlns:a16="http://schemas.microsoft.com/office/drawing/2014/main" id="{43D2CE91-2B81-EF48-9C07-31413440C1BA}"/>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Text Box 233">
              <a:extLst>
                <a:ext uri="{FF2B5EF4-FFF2-40B4-BE49-F238E27FC236}">
                  <a16:creationId xmlns:a16="http://schemas.microsoft.com/office/drawing/2014/main" id="{FE1C66F4-D8DA-494A-9A89-F8E745865FF4}"/>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Line 234">
              <a:extLst>
                <a:ext uri="{FF2B5EF4-FFF2-40B4-BE49-F238E27FC236}">
                  <a16:creationId xmlns:a16="http://schemas.microsoft.com/office/drawing/2014/main" id="{63AF49C8-A0AA-624A-85D8-166B2AE4973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235">
              <a:extLst>
                <a:ext uri="{FF2B5EF4-FFF2-40B4-BE49-F238E27FC236}">
                  <a16:creationId xmlns:a16="http://schemas.microsoft.com/office/drawing/2014/main" id="{DB362CDB-1FF4-4C41-99F9-FAF1CC7CC705}"/>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9DD48FEE-9456-1B4E-84A7-B3ED91FFE8E0}"/>
              </a:ext>
            </a:extLst>
          </p:cNvPr>
          <p:cNvGrpSpPr/>
          <p:nvPr/>
        </p:nvGrpSpPr>
        <p:grpSpPr>
          <a:xfrm>
            <a:off x="2913490" y="5218953"/>
            <a:ext cx="1938730" cy="1300181"/>
            <a:chOff x="2913490" y="5218953"/>
            <a:chExt cx="1938730" cy="1300181"/>
          </a:xfrm>
        </p:grpSpPr>
        <p:sp>
          <p:nvSpPr>
            <p:cNvPr id="182" name="Text Box 32">
              <a:extLst>
                <a:ext uri="{FF2B5EF4-FFF2-40B4-BE49-F238E27FC236}">
                  <a16:creationId xmlns:a16="http://schemas.microsoft.com/office/drawing/2014/main" id="{CF2B7F29-466D-FC4A-ACE7-BFBF267B0CB3}"/>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184" name="Line 77">
              <a:extLst>
                <a:ext uri="{FF2B5EF4-FFF2-40B4-BE49-F238E27FC236}">
                  <a16:creationId xmlns:a16="http://schemas.microsoft.com/office/drawing/2014/main" id="{7E362826-A3B7-5941-AE9B-A10769F86A4D}"/>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5" name="Group 324">
              <a:extLst>
                <a:ext uri="{FF2B5EF4-FFF2-40B4-BE49-F238E27FC236}">
                  <a16:creationId xmlns:a16="http://schemas.microsoft.com/office/drawing/2014/main" id="{F6512663-A281-404F-AF8E-A1DB8E5E7ECA}"/>
                </a:ext>
              </a:extLst>
            </p:cNvPr>
            <p:cNvGrpSpPr/>
            <p:nvPr/>
          </p:nvGrpSpPr>
          <p:grpSpPr>
            <a:xfrm>
              <a:off x="4030362" y="5218953"/>
              <a:ext cx="821858" cy="355937"/>
              <a:chOff x="6859123" y="5156933"/>
              <a:chExt cx="456701" cy="226548"/>
            </a:xfrm>
          </p:grpSpPr>
          <p:sp>
            <p:nvSpPr>
              <p:cNvPr id="326" name="Rectangle 325">
                <a:extLst>
                  <a:ext uri="{FF2B5EF4-FFF2-40B4-BE49-F238E27FC236}">
                    <a16:creationId xmlns:a16="http://schemas.microsoft.com/office/drawing/2014/main" id="{115AD671-DB74-444A-B48E-E8BEAB79A7D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2" name="Straight Connector 331">
                <a:extLst>
                  <a:ext uri="{FF2B5EF4-FFF2-40B4-BE49-F238E27FC236}">
                    <a16:creationId xmlns:a16="http://schemas.microsoft.com/office/drawing/2014/main" id="{99DD12F9-E416-394B-8D63-40D48A708559}"/>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5780100-29B8-5C4F-93B7-5649208D6A95}"/>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202CCE17-CE75-B441-ADA2-F35E98844675}"/>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9471ACA7-44C6-004C-B2C2-7818A49BE16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2FD74F9-7342-F046-8132-AF1193BA35CF}"/>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4E5C557C-7FBE-9746-A186-91684629902D}"/>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B6FEECA-C37C-BB48-B144-6D6274CBC31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2" name="Freeform 91">
            <a:extLst>
              <a:ext uri="{FF2B5EF4-FFF2-40B4-BE49-F238E27FC236}">
                <a16:creationId xmlns:a16="http://schemas.microsoft.com/office/drawing/2014/main" id="{A9B480FF-21CF-FC44-9DF0-9C672684A51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1" name="Group 170">
            <a:extLst>
              <a:ext uri="{FF2B5EF4-FFF2-40B4-BE49-F238E27FC236}">
                <a16:creationId xmlns:a16="http://schemas.microsoft.com/office/drawing/2014/main" id="{FE72A71E-CC9B-AE4A-AE8F-124BCB210BCD}"/>
              </a:ext>
            </a:extLst>
          </p:cNvPr>
          <p:cNvGrpSpPr/>
          <p:nvPr/>
        </p:nvGrpSpPr>
        <p:grpSpPr>
          <a:xfrm>
            <a:off x="1586591" y="4743924"/>
            <a:ext cx="4913849" cy="1346072"/>
            <a:chOff x="5641439" y="2685215"/>
            <a:chExt cx="4000500" cy="1028700"/>
          </a:xfrm>
        </p:grpSpPr>
        <p:sp>
          <p:nvSpPr>
            <p:cNvPr id="265" name="Oval 73">
              <a:extLst>
                <a:ext uri="{FF2B5EF4-FFF2-40B4-BE49-F238E27FC236}">
                  <a16:creationId xmlns:a16="http://schemas.microsoft.com/office/drawing/2014/main" id="{CBF2A11D-CB4B-5047-8DCE-1CCA81F60201}"/>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90">
              <a:extLst>
                <a:ext uri="{FF2B5EF4-FFF2-40B4-BE49-F238E27FC236}">
                  <a16:creationId xmlns:a16="http://schemas.microsoft.com/office/drawing/2014/main" id="{A788A76C-C9BB-D246-93A9-CFA5F5F5A5F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7A2C2F29-CDE1-7F43-8E31-AA4451365879}"/>
              </a:ext>
            </a:extLst>
          </p:cNvPr>
          <p:cNvGrpSpPr/>
          <p:nvPr/>
        </p:nvGrpSpPr>
        <p:grpSpPr>
          <a:xfrm>
            <a:off x="643673" y="1714605"/>
            <a:ext cx="9710831" cy="1905000"/>
            <a:chOff x="643673" y="1714605"/>
            <a:chExt cx="9710831" cy="1905000"/>
          </a:xfrm>
        </p:grpSpPr>
        <p:grpSp>
          <p:nvGrpSpPr>
            <p:cNvPr id="910" name="Group 237">
              <a:extLst>
                <a:ext uri="{FF2B5EF4-FFF2-40B4-BE49-F238E27FC236}">
                  <a16:creationId xmlns:a16="http://schemas.microsoft.com/office/drawing/2014/main" id="{EC72FC62-B230-A94B-A95E-6B7E5B9B9AA4}"/>
                </a:ext>
              </a:extLst>
            </p:cNvPr>
            <p:cNvGrpSpPr>
              <a:grpSpLocks/>
            </p:cNvGrpSpPr>
            <p:nvPr/>
          </p:nvGrpSpPr>
          <p:grpSpPr bwMode="auto">
            <a:xfrm>
              <a:off x="7750739" y="2720058"/>
              <a:ext cx="195221" cy="142875"/>
              <a:chOff x="174" y="3986"/>
              <a:chExt cx="51" cy="62"/>
            </a:xfrm>
          </p:grpSpPr>
          <p:sp>
            <p:nvSpPr>
              <p:cNvPr id="911" name="Freeform 238">
                <a:extLst>
                  <a:ext uri="{FF2B5EF4-FFF2-40B4-BE49-F238E27FC236}">
                    <a16:creationId xmlns:a16="http://schemas.microsoft.com/office/drawing/2014/main" id="{8675489A-2D10-4445-84BB-BCD7F29CF98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Line 239">
                <a:extLst>
                  <a:ext uri="{FF2B5EF4-FFF2-40B4-BE49-F238E27FC236}">
                    <a16:creationId xmlns:a16="http://schemas.microsoft.com/office/drawing/2014/main" id="{6EE2EE7A-D9AA-9444-A38F-5ADDE6E80F73}"/>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460" name="Rectangle 2">
              <a:extLst>
                <a:ext uri="{FF2B5EF4-FFF2-40B4-BE49-F238E27FC236}">
                  <a16:creationId xmlns:a16="http://schemas.microsoft.com/office/drawing/2014/main" id="{03320F89-A084-7B49-8A13-3CBCE2696C5C}"/>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retransmits lost, timed-out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application-layer input = application-layer output: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out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transport-layer input includes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retransmissions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a:t>
              </a:r>
              <a:endPar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3C232186-DB8B-EE41-ABB8-8C4434E748DD}"/>
              </a:ext>
            </a:extLst>
          </p:cNvPr>
          <p:cNvGrpSpPr/>
          <p:nvPr/>
        </p:nvGrpSpPr>
        <p:grpSpPr>
          <a:xfrm>
            <a:off x="7116763" y="3629025"/>
            <a:ext cx="1057275" cy="473075"/>
            <a:chOff x="7116763" y="3629025"/>
            <a:chExt cx="1057275" cy="473075"/>
          </a:xfrm>
        </p:grpSpPr>
        <p:sp>
          <p:nvSpPr>
            <p:cNvPr id="461" name="Text Box 219">
              <a:extLst>
                <a:ext uri="{FF2B5EF4-FFF2-40B4-BE49-F238E27FC236}">
                  <a16:creationId xmlns:a16="http://schemas.microsoft.com/office/drawing/2014/main" id="{C648AB54-6598-DE46-92A6-D245E6D0B322}"/>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2" name="Line 236">
              <a:extLst>
                <a:ext uri="{FF2B5EF4-FFF2-40B4-BE49-F238E27FC236}">
                  <a16:creationId xmlns:a16="http://schemas.microsoft.com/office/drawing/2014/main" id="{1870B461-7B79-EB4C-840A-4B5BE77A4D9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65560666-FC53-B945-9620-BB2E2AE986CF}"/>
              </a:ext>
            </a:extLst>
          </p:cNvPr>
          <p:cNvGrpSpPr/>
          <p:nvPr/>
        </p:nvGrpSpPr>
        <p:grpSpPr>
          <a:xfrm>
            <a:off x="3289650" y="5336775"/>
            <a:ext cx="2124396" cy="604097"/>
            <a:chOff x="3289650" y="5336775"/>
            <a:chExt cx="2124396" cy="604097"/>
          </a:xfrm>
        </p:grpSpPr>
        <p:sp>
          <p:nvSpPr>
            <p:cNvPr id="181" name="TextBox 180">
              <a:extLst>
                <a:ext uri="{FF2B5EF4-FFF2-40B4-BE49-F238E27FC236}">
                  <a16:creationId xmlns:a16="http://schemas.microsoft.com/office/drawing/2014/main" id="{8372AD6F-EEFC-914F-BE23-DE28BE98C152}"/>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3" name="TextBox 462">
              <a:extLst>
                <a:ext uri="{FF2B5EF4-FFF2-40B4-BE49-F238E27FC236}">
                  <a16:creationId xmlns:a16="http://schemas.microsoft.com/office/drawing/2014/main" id="{AECD2E0A-D6E2-2842-934A-3F651325C0C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168" name="Slide Number Placeholder 2">
            <a:extLst>
              <a:ext uri="{FF2B5EF4-FFF2-40B4-BE49-F238E27FC236}">
                <a16:creationId xmlns:a16="http://schemas.microsoft.com/office/drawing/2014/main" id="{EDF89B14-4877-B447-9EAB-EAB6735B3B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112</a:t>
            </a:fld>
            <a:endParaRPr lang="en-US" dirty="0"/>
          </a:p>
        </p:txBody>
      </p:sp>
    </p:spTree>
    <p:extLst>
      <p:ext uri="{BB962C8B-B14F-4D97-AF65-F5344CB8AC3E}">
        <p14:creationId xmlns:p14="http://schemas.microsoft.com/office/powerpoint/2010/main" val="344901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3">
            <a:extLst>
              <a:ext uri="{FF2B5EF4-FFF2-40B4-BE49-F238E27FC236}">
                <a16:creationId xmlns:a16="http://schemas.microsoft.com/office/drawing/2014/main" id="{94850343-F164-9342-8172-492C44663F13}"/>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9" name="Group 468">
            <a:extLst>
              <a:ext uri="{FF2B5EF4-FFF2-40B4-BE49-F238E27FC236}">
                <a16:creationId xmlns:a16="http://schemas.microsoft.com/office/drawing/2014/main" id="{D7909E55-4569-0948-961D-43068CFC7348}"/>
              </a:ext>
            </a:extLst>
          </p:cNvPr>
          <p:cNvGrpSpPr/>
          <p:nvPr/>
        </p:nvGrpSpPr>
        <p:grpSpPr>
          <a:xfrm>
            <a:off x="6240513" y="5016599"/>
            <a:ext cx="720732" cy="1182930"/>
            <a:chOff x="10910965" y="2513124"/>
            <a:chExt cx="586768" cy="904023"/>
          </a:xfrm>
        </p:grpSpPr>
        <p:sp>
          <p:nvSpPr>
            <p:cNvPr id="470" name="Rectangle 469">
              <a:extLst>
                <a:ext uri="{FF2B5EF4-FFF2-40B4-BE49-F238E27FC236}">
                  <a16:creationId xmlns:a16="http://schemas.microsoft.com/office/drawing/2014/main" id="{78B11350-9794-2342-B562-D5B69F60AC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1" name="Straight Connector 470">
              <a:extLst>
                <a:ext uri="{FF2B5EF4-FFF2-40B4-BE49-F238E27FC236}">
                  <a16:creationId xmlns:a16="http://schemas.microsoft.com/office/drawing/2014/main" id="{A2D0AADF-2038-FE4A-BA0E-1A216AAE264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A6F32B7-0022-B245-AE89-E8233E5F30D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F3C70DC5-A1ED-2147-9421-DD1A8221645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CBAE229-1066-ED4A-BFB7-7DDF8153B5E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Freeform 9">
            <a:extLst>
              <a:ext uri="{FF2B5EF4-FFF2-40B4-BE49-F238E27FC236}">
                <a16:creationId xmlns:a16="http://schemas.microsoft.com/office/drawing/2014/main" id="{6FAE0227-588C-3740-BD2A-167D60FE1374}"/>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6" name="Group 165">
            <a:extLst>
              <a:ext uri="{FF2B5EF4-FFF2-40B4-BE49-F238E27FC236}">
                <a16:creationId xmlns:a16="http://schemas.microsoft.com/office/drawing/2014/main" id="{27FD24CC-8B00-1249-B3EA-B48ED9BD0C16}"/>
              </a:ext>
            </a:extLst>
          </p:cNvPr>
          <p:cNvGrpSpPr/>
          <p:nvPr/>
        </p:nvGrpSpPr>
        <p:grpSpPr>
          <a:xfrm>
            <a:off x="1278678" y="4683698"/>
            <a:ext cx="720732" cy="1182930"/>
            <a:chOff x="10910965" y="2513124"/>
            <a:chExt cx="586768" cy="904023"/>
          </a:xfrm>
        </p:grpSpPr>
        <p:sp>
          <p:nvSpPr>
            <p:cNvPr id="458" name="Rectangle 457">
              <a:extLst>
                <a:ext uri="{FF2B5EF4-FFF2-40B4-BE49-F238E27FC236}">
                  <a16:creationId xmlns:a16="http://schemas.microsoft.com/office/drawing/2014/main" id="{90C923E9-F601-6A4C-8C38-FACF63AC4DA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9" name="Straight Connector 458">
              <a:extLst>
                <a:ext uri="{FF2B5EF4-FFF2-40B4-BE49-F238E27FC236}">
                  <a16:creationId xmlns:a16="http://schemas.microsoft.com/office/drawing/2014/main" id="{3B5A7695-AD4A-514E-8995-83287D6880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E21D7D74-8D80-2446-BB07-DFA009FB035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63D0752-8B82-6B47-8C73-82CD069862DA}"/>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4D54E01-67AD-BD41-8FC0-3607A456773F}"/>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BFD7089E-96E8-4D43-B449-4D5C177E9983}"/>
              </a:ext>
            </a:extLst>
          </p:cNvPr>
          <p:cNvGrpSpPr/>
          <p:nvPr/>
        </p:nvGrpSpPr>
        <p:grpSpPr>
          <a:xfrm>
            <a:off x="2355044" y="3521091"/>
            <a:ext cx="720732" cy="1182930"/>
            <a:chOff x="10910965" y="2513124"/>
            <a:chExt cx="586768" cy="904023"/>
          </a:xfrm>
        </p:grpSpPr>
        <p:sp>
          <p:nvSpPr>
            <p:cNvPr id="453" name="Rectangle 452">
              <a:extLst>
                <a:ext uri="{FF2B5EF4-FFF2-40B4-BE49-F238E27FC236}">
                  <a16:creationId xmlns:a16="http://schemas.microsoft.com/office/drawing/2014/main" id="{2B9795D8-DE72-0E4D-B8D0-8A4FE22C6F3F}"/>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4" name="Straight Connector 453">
              <a:extLst>
                <a:ext uri="{FF2B5EF4-FFF2-40B4-BE49-F238E27FC236}">
                  <a16:creationId xmlns:a16="http://schemas.microsoft.com/office/drawing/2014/main" id="{8DBB6C8D-4747-6047-8A27-F09F6A2E11D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F78138AC-BB02-AA47-B525-8C0F524F40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5263C1CB-C86A-1A4C-904B-C8D95F0C23F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2EBC4991-6315-5645-9FFE-52CAD0CCC2F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 name="Freeform 6">
            <a:extLst>
              <a:ext uri="{FF2B5EF4-FFF2-40B4-BE49-F238E27FC236}">
                <a16:creationId xmlns:a16="http://schemas.microsoft.com/office/drawing/2014/main" id="{3F104274-9FA2-EA4D-8A30-E52A462F2052}"/>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9" name="Group 168">
            <a:extLst>
              <a:ext uri="{FF2B5EF4-FFF2-40B4-BE49-F238E27FC236}">
                <a16:creationId xmlns:a16="http://schemas.microsoft.com/office/drawing/2014/main" id="{0C5836F1-F171-8247-9890-0337498997A7}"/>
              </a:ext>
            </a:extLst>
          </p:cNvPr>
          <p:cNvGrpSpPr/>
          <p:nvPr/>
        </p:nvGrpSpPr>
        <p:grpSpPr>
          <a:xfrm>
            <a:off x="6698918" y="3667889"/>
            <a:ext cx="720732" cy="1182930"/>
            <a:chOff x="10910965" y="2513124"/>
            <a:chExt cx="586768" cy="904023"/>
          </a:xfrm>
        </p:grpSpPr>
        <p:sp>
          <p:nvSpPr>
            <p:cNvPr id="448" name="Rectangle 447">
              <a:extLst>
                <a:ext uri="{FF2B5EF4-FFF2-40B4-BE49-F238E27FC236}">
                  <a16:creationId xmlns:a16="http://schemas.microsoft.com/office/drawing/2014/main" id="{C659B83A-9A86-D445-A5DC-64CCDEE48D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6EBE406A-A87A-9E4C-85A9-355AAF8EA23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957A93EE-01C8-704A-ACA5-9A2DD1B9436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9523A07-6615-7940-9047-7059C0F0677B}"/>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6A1A35B4-82C9-A345-8F03-D2DFA4D94CF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44E2CB90-F397-AB48-B9D9-5B9B57BE257D}"/>
              </a:ext>
            </a:extLst>
          </p:cNvPr>
          <p:cNvGrpSpPr/>
          <p:nvPr/>
        </p:nvGrpSpPr>
        <p:grpSpPr>
          <a:xfrm>
            <a:off x="3770696" y="5033645"/>
            <a:ext cx="1286871" cy="734927"/>
            <a:chOff x="7493876" y="2774731"/>
            <a:chExt cx="1481958" cy="894622"/>
          </a:xfrm>
        </p:grpSpPr>
        <p:sp>
          <p:nvSpPr>
            <p:cNvPr id="441" name="Freeform 440">
              <a:extLst>
                <a:ext uri="{FF2B5EF4-FFF2-40B4-BE49-F238E27FC236}">
                  <a16:creationId xmlns:a16="http://schemas.microsoft.com/office/drawing/2014/main" id="{75657808-7F9A-4548-9BE7-735D4EF9B5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2" name="Oval 441">
              <a:extLst>
                <a:ext uri="{FF2B5EF4-FFF2-40B4-BE49-F238E27FC236}">
                  <a16:creationId xmlns:a16="http://schemas.microsoft.com/office/drawing/2014/main" id="{D4514D5D-3874-B943-8C94-3144D5AD3E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3" name="Group 442">
              <a:extLst>
                <a:ext uri="{FF2B5EF4-FFF2-40B4-BE49-F238E27FC236}">
                  <a16:creationId xmlns:a16="http://schemas.microsoft.com/office/drawing/2014/main" id="{54922FA6-F0ED-144C-A4FA-75A78D9FC6B7}"/>
                </a:ext>
              </a:extLst>
            </p:cNvPr>
            <p:cNvGrpSpPr/>
            <p:nvPr/>
          </p:nvGrpSpPr>
          <p:grpSpPr>
            <a:xfrm>
              <a:off x="7713663" y="2848339"/>
              <a:ext cx="1042107" cy="425543"/>
              <a:chOff x="7786941" y="2884917"/>
              <a:chExt cx="897649" cy="353919"/>
            </a:xfrm>
          </p:grpSpPr>
          <p:sp>
            <p:nvSpPr>
              <p:cNvPr id="444" name="Freeform 443">
                <a:extLst>
                  <a:ext uri="{FF2B5EF4-FFF2-40B4-BE49-F238E27FC236}">
                    <a16:creationId xmlns:a16="http://schemas.microsoft.com/office/drawing/2014/main" id="{707D05DA-BBC6-CB49-A557-5ADC3226F9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5" name="Freeform 444">
                <a:extLst>
                  <a:ext uri="{FF2B5EF4-FFF2-40B4-BE49-F238E27FC236}">
                    <a16:creationId xmlns:a16="http://schemas.microsoft.com/office/drawing/2014/main" id="{4C02C300-6C33-5F4F-839D-3428AD261D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6" name="Freeform 445">
                <a:extLst>
                  <a:ext uri="{FF2B5EF4-FFF2-40B4-BE49-F238E27FC236}">
                    <a16:creationId xmlns:a16="http://schemas.microsoft.com/office/drawing/2014/main" id="{BC516460-C1B4-3B4A-8BA7-BE2B0D6B211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7" name="Freeform 446">
                <a:extLst>
                  <a:ext uri="{FF2B5EF4-FFF2-40B4-BE49-F238E27FC236}">
                    <a16:creationId xmlns:a16="http://schemas.microsoft.com/office/drawing/2014/main" id="{26184741-429A-0845-8EDF-E02659947D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1" name="Group 124">
            <a:extLst>
              <a:ext uri="{FF2B5EF4-FFF2-40B4-BE49-F238E27FC236}">
                <a16:creationId xmlns:a16="http://schemas.microsoft.com/office/drawing/2014/main" id="{928D5C6C-2458-A340-B436-05E659095139}"/>
              </a:ext>
            </a:extLst>
          </p:cNvPr>
          <p:cNvGrpSpPr>
            <a:grpSpLocks/>
          </p:cNvGrpSpPr>
          <p:nvPr/>
        </p:nvGrpSpPr>
        <p:grpSpPr bwMode="auto">
          <a:xfrm>
            <a:off x="1317421" y="3877120"/>
            <a:ext cx="645431" cy="569172"/>
            <a:chOff x="-44" y="1473"/>
            <a:chExt cx="981" cy="1105"/>
          </a:xfrm>
        </p:grpSpPr>
        <p:pic>
          <p:nvPicPr>
            <p:cNvPr id="439" name="Picture 125" descr="desktop_computer_stylized_medium">
              <a:extLst>
                <a:ext uri="{FF2B5EF4-FFF2-40B4-BE49-F238E27FC236}">
                  <a16:creationId xmlns:a16="http://schemas.microsoft.com/office/drawing/2014/main" id="{0FD471B6-3E5D-2949-BD49-9611B77F5E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126">
              <a:extLst>
                <a:ext uri="{FF2B5EF4-FFF2-40B4-BE49-F238E27FC236}">
                  <a16:creationId xmlns:a16="http://schemas.microsoft.com/office/drawing/2014/main" id="{DC143BE7-08FC-9746-BAC8-890A432870E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3" name="Freeform 12">
            <a:extLst>
              <a:ext uri="{FF2B5EF4-FFF2-40B4-BE49-F238E27FC236}">
                <a16:creationId xmlns:a16="http://schemas.microsoft.com/office/drawing/2014/main" id="{3498F994-5BD8-E74A-A219-152CBAE8AB41}"/>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33">
            <a:extLst>
              <a:ext uri="{FF2B5EF4-FFF2-40B4-BE49-F238E27FC236}">
                <a16:creationId xmlns:a16="http://schemas.microsoft.com/office/drawing/2014/main" id="{4EAD0965-6EDE-3044-BDA1-47195A36E4BA}"/>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42">
            <a:extLst>
              <a:ext uri="{FF2B5EF4-FFF2-40B4-BE49-F238E27FC236}">
                <a16:creationId xmlns:a16="http://schemas.microsoft.com/office/drawing/2014/main" id="{A72787AC-48CD-E748-AFE1-B2DF4BC2F136}"/>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76" name="Text Box 52">
            <a:extLst>
              <a:ext uri="{FF2B5EF4-FFF2-40B4-BE49-F238E27FC236}">
                <a16:creationId xmlns:a16="http://schemas.microsoft.com/office/drawing/2014/main" id="{A95B344E-5BB8-1A4C-96D5-1A5CCC9D80C7}"/>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18" name="Line 53">
            <a:extLst>
              <a:ext uri="{FF2B5EF4-FFF2-40B4-BE49-F238E27FC236}">
                <a16:creationId xmlns:a16="http://schemas.microsoft.com/office/drawing/2014/main" id="{36BC3461-D266-FC4F-AC75-DCAB735675AE}"/>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2" name="Line 54">
            <a:extLst>
              <a:ext uri="{FF2B5EF4-FFF2-40B4-BE49-F238E27FC236}">
                <a16:creationId xmlns:a16="http://schemas.microsoft.com/office/drawing/2014/main" id="{0FD51E39-54E3-FC4B-8438-1DA851F5A221}"/>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3" name="Line 55">
            <a:extLst>
              <a:ext uri="{FF2B5EF4-FFF2-40B4-BE49-F238E27FC236}">
                <a16:creationId xmlns:a16="http://schemas.microsoft.com/office/drawing/2014/main" id="{C7D9A69E-6BD1-3F4C-A4E5-506632A2540D}"/>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Line 57">
            <a:extLst>
              <a:ext uri="{FF2B5EF4-FFF2-40B4-BE49-F238E27FC236}">
                <a16:creationId xmlns:a16="http://schemas.microsoft.com/office/drawing/2014/main" id="{6191562F-E046-7846-9AFD-82F26FA47437}"/>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6" name="Group 127">
            <a:extLst>
              <a:ext uri="{FF2B5EF4-FFF2-40B4-BE49-F238E27FC236}">
                <a16:creationId xmlns:a16="http://schemas.microsoft.com/office/drawing/2014/main" id="{976B064D-F0CE-FD45-997B-82999C62D57F}"/>
              </a:ext>
            </a:extLst>
          </p:cNvPr>
          <p:cNvGrpSpPr>
            <a:grpSpLocks/>
          </p:cNvGrpSpPr>
          <p:nvPr/>
        </p:nvGrpSpPr>
        <p:grpSpPr bwMode="auto">
          <a:xfrm>
            <a:off x="7531958" y="4473878"/>
            <a:ext cx="284691" cy="577481"/>
            <a:chOff x="4140" y="429"/>
            <a:chExt cx="1425" cy="2396"/>
          </a:xfrm>
        </p:grpSpPr>
        <p:sp>
          <p:nvSpPr>
            <p:cNvPr id="401" name="Freeform 128">
              <a:extLst>
                <a:ext uri="{FF2B5EF4-FFF2-40B4-BE49-F238E27FC236}">
                  <a16:creationId xmlns:a16="http://schemas.microsoft.com/office/drawing/2014/main" id="{CDE4EA92-43F5-C648-9A6C-E9056B53081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Rectangle 129">
              <a:extLst>
                <a:ext uri="{FF2B5EF4-FFF2-40B4-BE49-F238E27FC236}">
                  <a16:creationId xmlns:a16="http://schemas.microsoft.com/office/drawing/2014/main" id="{AA5B00D6-3312-7844-B058-10026A6BD6D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30">
              <a:extLst>
                <a:ext uri="{FF2B5EF4-FFF2-40B4-BE49-F238E27FC236}">
                  <a16:creationId xmlns:a16="http://schemas.microsoft.com/office/drawing/2014/main" id="{027D1F88-5C4B-6F4F-B91D-DE0B9249D24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Freeform 131">
              <a:extLst>
                <a:ext uri="{FF2B5EF4-FFF2-40B4-BE49-F238E27FC236}">
                  <a16:creationId xmlns:a16="http://schemas.microsoft.com/office/drawing/2014/main" id="{727D8677-A797-794C-AA30-D4400E7BECF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5" name="Rectangle 132">
              <a:extLst>
                <a:ext uri="{FF2B5EF4-FFF2-40B4-BE49-F238E27FC236}">
                  <a16:creationId xmlns:a16="http://schemas.microsoft.com/office/drawing/2014/main" id="{EB2FFBCE-C89F-BA45-B3E6-368DBC16E58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6" name="Group 133">
              <a:extLst>
                <a:ext uri="{FF2B5EF4-FFF2-40B4-BE49-F238E27FC236}">
                  <a16:creationId xmlns:a16="http://schemas.microsoft.com/office/drawing/2014/main" id="{D9B4D6C3-55E2-914C-9392-B06DB43BF6A3}"/>
                </a:ext>
              </a:extLst>
            </p:cNvPr>
            <p:cNvGrpSpPr>
              <a:grpSpLocks/>
            </p:cNvGrpSpPr>
            <p:nvPr/>
          </p:nvGrpSpPr>
          <p:grpSpPr bwMode="auto">
            <a:xfrm>
              <a:off x="4749" y="668"/>
              <a:ext cx="581" cy="145"/>
              <a:chOff x="614" y="2568"/>
              <a:chExt cx="725" cy="139"/>
            </a:xfrm>
          </p:grpSpPr>
          <p:sp>
            <p:nvSpPr>
              <p:cNvPr id="431" name="AutoShape 134">
                <a:extLst>
                  <a:ext uri="{FF2B5EF4-FFF2-40B4-BE49-F238E27FC236}">
                    <a16:creationId xmlns:a16="http://schemas.microsoft.com/office/drawing/2014/main" id="{C69DD16D-9B89-454E-86FE-146165B84FB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AutoShape 135">
                <a:extLst>
                  <a:ext uri="{FF2B5EF4-FFF2-40B4-BE49-F238E27FC236}">
                    <a16:creationId xmlns:a16="http://schemas.microsoft.com/office/drawing/2014/main" id="{C5088E43-3534-E14E-B8F5-D6373D3DC00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7" name="Rectangle 136">
              <a:extLst>
                <a:ext uri="{FF2B5EF4-FFF2-40B4-BE49-F238E27FC236}">
                  <a16:creationId xmlns:a16="http://schemas.microsoft.com/office/drawing/2014/main" id="{10AC52A8-0502-8D4A-AC13-7CB92F60C63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8" name="Group 137">
              <a:extLst>
                <a:ext uri="{FF2B5EF4-FFF2-40B4-BE49-F238E27FC236}">
                  <a16:creationId xmlns:a16="http://schemas.microsoft.com/office/drawing/2014/main" id="{74705E03-7801-7B48-B480-350446C44388}"/>
                </a:ext>
              </a:extLst>
            </p:cNvPr>
            <p:cNvGrpSpPr>
              <a:grpSpLocks/>
            </p:cNvGrpSpPr>
            <p:nvPr/>
          </p:nvGrpSpPr>
          <p:grpSpPr bwMode="auto">
            <a:xfrm>
              <a:off x="4747" y="994"/>
              <a:ext cx="581" cy="134"/>
              <a:chOff x="614" y="2568"/>
              <a:chExt cx="725" cy="139"/>
            </a:xfrm>
          </p:grpSpPr>
          <p:sp>
            <p:nvSpPr>
              <p:cNvPr id="429" name="AutoShape 138">
                <a:extLst>
                  <a:ext uri="{FF2B5EF4-FFF2-40B4-BE49-F238E27FC236}">
                    <a16:creationId xmlns:a16="http://schemas.microsoft.com/office/drawing/2014/main" id="{99F3069A-6DD0-8644-9400-4D75C6E7A8D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AutoShape 139">
                <a:extLst>
                  <a:ext uri="{FF2B5EF4-FFF2-40B4-BE49-F238E27FC236}">
                    <a16:creationId xmlns:a16="http://schemas.microsoft.com/office/drawing/2014/main" id="{5CD3DB9D-6837-A440-8052-1C258BC50C4C}"/>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9" name="Rectangle 140">
              <a:extLst>
                <a:ext uri="{FF2B5EF4-FFF2-40B4-BE49-F238E27FC236}">
                  <a16:creationId xmlns:a16="http://schemas.microsoft.com/office/drawing/2014/main" id="{5E25305B-0E4D-B64C-986D-5C897080168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Rectangle 141">
              <a:extLst>
                <a:ext uri="{FF2B5EF4-FFF2-40B4-BE49-F238E27FC236}">
                  <a16:creationId xmlns:a16="http://schemas.microsoft.com/office/drawing/2014/main" id="{9BE5A888-367B-F34A-89D6-EDE1723A298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1" name="Group 142">
              <a:extLst>
                <a:ext uri="{FF2B5EF4-FFF2-40B4-BE49-F238E27FC236}">
                  <a16:creationId xmlns:a16="http://schemas.microsoft.com/office/drawing/2014/main" id="{6A6FAD94-34FC-AE44-83CD-8483AEB15BE4}"/>
                </a:ext>
              </a:extLst>
            </p:cNvPr>
            <p:cNvGrpSpPr>
              <a:grpSpLocks/>
            </p:cNvGrpSpPr>
            <p:nvPr/>
          </p:nvGrpSpPr>
          <p:grpSpPr bwMode="auto">
            <a:xfrm>
              <a:off x="4735" y="1627"/>
              <a:ext cx="582" cy="151"/>
              <a:chOff x="614" y="2568"/>
              <a:chExt cx="725" cy="139"/>
            </a:xfrm>
          </p:grpSpPr>
          <p:sp>
            <p:nvSpPr>
              <p:cNvPr id="427" name="AutoShape 143">
                <a:extLst>
                  <a:ext uri="{FF2B5EF4-FFF2-40B4-BE49-F238E27FC236}">
                    <a16:creationId xmlns:a16="http://schemas.microsoft.com/office/drawing/2014/main" id="{FDB729FC-0BB7-714B-8CB7-04CEB3A7D61B}"/>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44">
                <a:extLst>
                  <a:ext uri="{FF2B5EF4-FFF2-40B4-BE49-F238E27FC236}">
                    <a16:creationId xmlns:a16="http://schemas.microsoft.com/office/drawing/2014/main" id="{26E1758B-606B-A54A-B37B-4D5B7FB64E9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2" name="Freeform 145">
              <a:extLst>
                <a:ext uri="{FF2B5EF4-FFF2-40B4-BE49-F238E27FC236}">
                  <a16:creationId xmlns:a16="http://schemas.microsoft.com/office/drawing/2014/main" id="{CA66D6F4-6566-2346-AE37-5D46968036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13" name="Group 146">
              <a:extLst>
                <a:ext uri="{FF2B5EF4-FFF2-40B4-BE49-F238E27FC236}">
                  <a16:creationId xmlns:a16="http://schemas.microsoft.com/office/drawing/2014/main" id="{14E0B7CB-EDF8-5B41-B427-8AD65964DE01}"/>
                </a:ext>
              </a:extLst>
            </p:cNvPr>
            <p:cNvGrpSpPr>
              <a:grpSpLocks/>
            </p:cNvGrpSpPr>
            <p:nvPr/>
          </p:nvGrpSpPr>
          <p:grpSpPr bwMode="auto">
            <a:xfrm>
              <a:off x="4739" y="1327"/>
              <a:ext cx="582" cy="139"/>
              <a:chOff x="614" y="2568"/>
              <a:chExt cx="725" cy="139"/>
            </a:xfrm>
          </p:grpSpPr>
          <p:sp>
            <p:nvSpPr>
              <p:cNvPr id="425" name="AutoShape 147">
                <a:extLst>
                  <a:ext uri="{FF2B5EF4-FFF2-40B4-BE49-F238E27FC236}">
                    <a16:creationId xmlns:a16="http://schemas.microsoft.com/office/drawing/2014/main" id="{467127AD-2CB0-8C45-8018-5848115D91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AutoShape 148">
                <a:extLst>
                  <a:ext uri="{FF2B5EF4-FFF2-40B4-BE49-F238E27FC236}">
                    <a16:creationId xmlns:a16="http://schemas.microsoft.com/office/drawing/2014/main" id="{0796E888-44D7-9F44-8AFE-FED1CF4EBA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4" name="Rectangle 149">
              <a:extLst>
                <a:ext uri="{FF2B5EF4-FFF2-40B4-BE49-F238E27FC236}">
                  <a16:creationId xmlns:a16="http://schemas.microsoft.com/office/drawing/2014/main" id="{4E54C520-F74E-674F-A888-F85B55FA577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Freeform 150">
              <a:extLst>
                <a:ext uri="{FF2B5EF4-FFF2-40B4-BE49-F238E27FC236}">
                  <a16:creationId xmlns:a16="http://schemas.microsoft.com/office/drawing/2014/main" id="{0B18E885-C455-204F-9F4D-7CADCD00CB7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6" name="Freeform 151">
              <a:extLst>
                <a:ext uri="{FF2B5EF4-FFF2-40B4-BE49-F238E27FC236}">
                  <a16:creationId xmlns:a16="http://schemas.microsoft.com/office/drawing/2014/main" id="{2B747C07-7872-A24D-BBEF-F9E8EAAF1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7" name="Oval 152">
              <a:extLst>
                <a:ext uri="{FF2B5EF4-FFF2-40B4-BE49-F238E27FC236}">
                  <a16:creationId xmlns:a16="http://schemas.microsoft.com/office/drawing/2014/main" id="{AD0A4401-053C-AC45-9D2C-65FFC62C7980}"/>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Freeform 153">
              <a:extLst>
                <a:ext uri="{FF2B5EF4-FFF2-40B4-BE49-F238E27FC236}">
                  <a16:creationId xmlns:a16="http://schemas.microsoft.com/office/drawing/2014/main" id="{89E1D87C-2C15-6646-AFDC-9A1416DDED7C}"/>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9" name="AutoShape 154">
              <a:extLst>
                <a:ext uri="{FF2B5EF4-FFF2-40B4-BE49-F238E27FC236}">
                  <a16:creationId xmlns:a16="http://schemas.microsoft.com/office/drawing/2014/main" id="{66C645BA-D886-044E-8239-D4BE8DA9A6C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0" name="AutoShape 155">
              <a:extLst>
                <a:ext uri="{FF2B5EF4-FFF2-40B4-BE49-F238E27FC236}">
                  <a16:creationId xmlns:a16="http://schemas.microsoft.com/office/drawing/2014/main" id="{5747D9F6-ED38-1747-B38A-3A0F3326F02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Oval 156">
              <a:extLst>
                <a:ext uri="{FF2B5EF4-FFF2-40B4-BE49-F238E27FC236}">
                  <a16:creationId xmlns:a16="http://schemas.microsoft.com/office/drawing/2014/main" id="{0317D36C-EC57-0840-A957-CE85B2AD965D}"/>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Oval 157">
              <a:extLst>
                <a:ext uri="{FF2B5EF4-FFF2-40B4-BE49-F238E27FC236}">
                  <a16:creationId xmlns:a16="http://schemas.microsoft.com/office/drawing/2014/main" id="{540537FD-C807-3D49-8566-6C4A55E3A420}"/>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23" name="Oval 158">
              <a:extLst>
                <a:ext uri="{FF2B5EF4-FFF2-40B4-BE49-F238E27FC236}">
                  <a16:creationId xmlns:a16="http://schemas.microsoft.com/office/drawing/2014/main" id="{23CFD8C3-6E99-8C40-806D-0A745B8363F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4" name="Rectangle 159">
              <a:extLst>
                <a:ext uri="{FF2B5EF4-FFF2-40B4-BE49-F238E27FC236}">
                  <a16:creationId xmlns:a16="http://schemas.microsoft.com/office/drawing/2014/main" id="{8A5D6DAA-891A-F544-9751-D8BAAF267EA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37" name="Group 160">
            <a:extLst>
              <a:ext uri="{FF2B5EF4-FFF2-40B4-BE49-F238E27FC236}">
                <a16:creationId xmlns:a16="http://schemas.microsoft.com/office/drawing/2014/main" id="{4D8A606A-8EFC-7640-A900-5D4C81F03937}"/>
              </a:ext>
            </a:extLst>
          </p:cNvPr>
          <p:cNvGrpSpPr>
            <a:grpSpLocks/>
          </p:cNvGrpSpPr>
          <p:nvPr/>
        </p:nvGrpSpPr>
        <p:grpSpPr bwMode="auto">
          <a:xfrm>
            <a:off x="585296" y="5655276"/>
            <a:ext cx="645431" cy="569172"/>
            <a:chOff x="-44" y="1473"/>
            <a:chExt cx="981" cy="1105"/>
          </a:xfrm>
        </p:grpSpPr>
        <p:pic>
          <p:nvPicPr>
            <p:cNvPr id="399" name="Picture 161" descr="desktop_computer_stylized_medium">
              <a:extLst>
                <a:ext uri="{FF2B5EF4-FFF2-40B4-BE49-F238E27FC236}">
                  <a16:creationId xmlns:a16="http://schemas.microsoft.com/office/drawing/2014/main" id="{F51E3138-EF14-9E48-9BD4-406B983C41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Freeform 162">
              <a:extLst>
                <a:ext uri="{FF2B5EF4-FFF2-40B4-BE49-F238E27FC236}">
                  <a16:creationId xmlns:a16="http://schemas.microsoft.com/office/drawing/2014/main" id="{1256EDE8-FC43-7540-94FC-794D24BB662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38" name="Group 163">
            <a:extLst>
              <a:ext uri="{FF2B5EF4-FFF2-40B4-BE49-F238E27FC236}">
                <a16:creationId xmlns:a16="http://schemas.microsoft.com/office/drawing/2014/main" id="{0E7884E3-4890-9244-AEB3-FF8C9DC515D6}"/>
              </a:ext>
            </a:extLst>
          </p:cNvPr>
          <p:cNvGrpSpPr>
            <a:grpSpLocks/>
          </p:cNvGrpSpPr>
          <p:nvPr/>
        </p:nvGrpSpPr>
        <p:grpSpPr bwMode="auto">
          <a:xfrm>
            <a:off x="7141970" y="5736859"/>
            <a:ext cx="284691" cy="577481"/>
            <a:chOff x="4140" y="429"/>
            <a:chExt cx="1425" cy="2396"/>
          </a:xfrm>
        </p:grpSpPr>
        <p:sp>
          <p:nvSpPr>
            <p:cNvPr id="367" name="Freeform 164">
              <a:extLst>
                <a:ext uri="{FF2B5EF4-FFF2-40B4-BE49-F238E27FC236}">
                  <a16:creationId xmlns:a16="http://schemas.microsoft.com/office/drawing/2014/main" id="{3564F793-BB5B-2049-A377-2092094C063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8" name="Rectangle 165">
              <a:extLst>
                <a:ext uri="{FF2B5EF4-FFF2-40B4-BE49-F238E27FC236}">
                  <a16:creationId xmlns:a16="http://schemas.microsoft.com/office/drawing/2014/main" id="{EF360F4F-5495-6B4D-B6E0-552EB9DCADC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Freeform 166">
              <a:extLst>
                <a:ext uri="{FF2B5EF4-FFF2-40B4-BE49-F238E27FC236}">
                  <a16:creationId xmlns:a16="http://schemas.microsoft.com/office/drawing/2014/main" id="{49576006-660E-9B47-AFBF-364EFC883E6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Freeform 167">
              <a:extLst>
                <a:ext uri="{FF2B5EF4-FFF2-40B4-BE49-F238E27FC236}">
                  <a16:creationId xmlns:a16="http://schemas.microsoft.com/office/drawing/2014/main" id="{8EB33FC8-E304-CE41-9CD6-0AD73C996C2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Rectangle 168">
              <a:extLst>
                <a:ext uri="{FF2B5EF4-FFF2-40B4-BE49-F238E27FC236}">
                  <a16:creationId xmlns:a16="http://schemas.microsoft.com/office/drawing/2014/main" id="{6C778B32-41A0-8244-BBE2-93B6E176137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2" name="Group 169">
              <a:extLst>
                <a:ext uri="{FF2B5EF4-FFF2-40B4-BE49-F238E27FC236}">
                  <a16:creationId xmlns:a16="http://schemas.microsoft.com/office/drawing/2014/main" id="{7BA4195B-DEBE-4B4C-9882-FED7243E720C}"/>
                </a:ext>
              </a:extLst>
            </p:cNvPr>
            <p:cNvGrpSpPr>
              <a:grpSpLocks/>
            </p:cNvGrpSpPr>
            <p:nvPr/>
          </p:nvGrpSpPr>
          <p:grpSpPr bwMode="auto">
            <a:xfrm>
              <a:off x="4749" y="668"/>
              <a:ext cx="581" cy="145"/>
              <a:chOff x="614" y="2568"/>
              <a:chExt cx="725" cy="139"/>
            </a:xfrm>
          </p:grpSpPr>
          <p:sp>
            <p:nvSpPr>
              <p:cNvPr id="397" name="AutoShape 170">
                <a:extLst>
                  <a:ext uri="{FF2B5EF4-FFF2-40B4-BE49-F238E27FC236}">
                    <a16:creationId xmlns:a16="http://schemas.microsoft.com/office/drawing/2014/main" id="{C3147CE6-9A26-0846-A572-5121F21F6CF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AutoShape 171">
                <a:extLst>
                  <a:ext uri="{FF2B5EF4-FFF2-40B4-BE49-F238E27FC236}">
                    <a16:creationId xmlns:a16="http://schemas.microsoft.com/office/drawing/2014/main" id="{E60D0823-A680-E749-BF37-E473D78B1738}"/>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3" name="Rectangle 172">
              <a:extLst>
                <a:ext uri="{FF2B5EF4-FFF2-40B4-BE49-F238E27FC236}">
                  <a16:creationId xmlns:a16="http://schemas.microsoft.com/office/drawing/2014/main" id="{FC18395B-F97E-B149-8E05-15194860B04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4" name="Group 173">
              <a:extLst>
                <a:ext uri="{FF2B5EF4-FFF2-40B4-BE49-F238E27FC236}">
                  <a16:creationId xmlns:a16="http://schemas.microsoft.com/office/drawing/2014/main" id="{2BA003D7-82C2-B445-B5A2-C950E112D3A8}"/>
                </a:ext>
              </a:extLst>
            </p:cNvPr>
            <p:cNvGrpSpPr>
              <a:grpSpLocks/>
            </p:cNvGrpSpPr>
            <p:nvPr/>
          </p:nvGrpSpPr>
          <p:grpSpPr bwMode="auto">
            <a:xfrm>
              <a:off x="4747" y="994"/>
              <a:ext cx="581" cy="134"/>
              <a:chOff x="614" y="2568"/>
              <a:chExt cx="725" cy="139"/>
            </a:xfrm>
          </p:grpSpPr>
          <p:sp>
            <p:nvSpPr>
              <p:cNvPr id="395" name="AutoShape 174">
                <a:extLst>
                  <a:ext uri="{FF2B5EF4-FFF2-40B4-BE49-F238E27FC236}">
                    <a16:creationId xmlns:a16="http://schemas.microsoft.com/office/drawing/2014/main" id="{FAC3334E-F98D-3143-8A22-9FBE215555C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AutoShape 175">
                <a:extLst>
                  <a:ext uri="{FF2B5EF4-FFF2-40B4-BE49-F238E27FC236}">
                    <a16:creationId xmlns:a16="http://schemas.microsoft.com/office/drawing/2014/main" id="{E2C9795D-E16D-BA42-A574-5505AF764534}"/>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5" name="Rectangle 176">
              <a:extLst>
                <a:ext uri="{FF2B5EF4-FFF2-40B4-BE49-F238E27FC236}">
                  <a16:creationId xmlns:a16="http://schemas.microsoft.com/office/drawing/2014/main" id="{E8ADCEF9-A7C3-1346-9F35-EAE9DE327CB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6" name="Rectangle 177">
              <a:extLst>
                <a:ext uri="{FF2B5EF4-FFF2-40B4-BE49-F238E27FC236}">
                  <a16:creationId xmlns:a16="http://schemas.microsoft.com/office/drawing/2014/main" id="{04D364FF-2C20-5C4D-B865-EF176AD2D2E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7" name="Group 178">
              <a:extLst>
                <a:ext uri="{FF2B5EF4-FFF2-40B4-BE49-F238E27FC236}">
                  <a16:creationId xmlns:a16="http://schemas.microsoft.com/office/drawing/2014/main" id="{62CBF903-6CC6-274F-B178-5CF7DFE4E8FF}"/>
                </a:ext>
              </a:extLst>
            </p:cNvPr>
            <p:cNvGrpSpPr>
              <a:grpSpLocks/>
            </p:cNvGrpSpPr>
            <p:nvPr/>
          </p:nvGrpSpPr>
          <p:grpSpPr bwMode="auto">
            <a:xfrm>
              <a:off x="4735" y="1627"/>
              <a:ext cx="582" cy="151"/>
              <a:chOff x="614" y="2568"/>
              <a:chExt cx="725" cy="139"/>
            </a:xfrm>
          </p:grpSpPr>
          <p:sp>
            <p:nvSpPr>
              <p:cNvPr id="393" name="AutoShape 179">
                <a:extLst>
                  <a:ext uri="{FF2B5EF4-FFF2-40B4-BE49-F238E27FC236}">
                    <a16:creationId xmlns:a16="http://schemas.microsoft.com/office/drawing/2014/main" id="{204B8DDB-66CE-734E-B5AA-D99AAFCB5D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80">
                <a:extLst>
                  <a:ext uri="{FF2B5EF4-FFF2-40B4-BE49-F238E27FC236}">
                    <a16:creationId xmlns:a16="http://schemas.microsoft.com/office/drawing/2014/main" id="{1C725834-7BCF-624D-ADAE-62F2539CDD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8" name="Freeform 181">
              <a:extLst>
                <a:ext uri="{FF2B5EF4-FFF2-40B4-BE49-F238E27FC236}">
                  <a16:creationId xmlns:a16="http://schemas.microsoft.com/office/drawing/2014/main" id="{98340748-8514-DB48-90DD-35536247277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9" name="Group 182">
              <a:extLst>
                <a:ext uri="{FF2B5EF4-FFF2-40B4-BE49-F238E27FC236}">
                  <a16:creationId xmlns:a16="http://schemas.microsoft.com/office/drawing/2014/main" id="{F9562A1A-DA6F-9849-AC85-D69A990FF6C5}"/>
                </a:ext>
              </a:extLst>
            </p:cNvPr>
            <p:cNvGrpSpPr>
              <a:grpSpLocks/>
            </p:cNvGrpSpPr>
            <p:nvPr/>
          </p:nvGrpSpPr>
          <p:grpSpPr bwMode="auto">
            <a:xfrm>
              <a:off x="4739" y="1327"/>
              <a:ext cx="582" cy="139"/>
              <a:chOff x="614" y="2568"/>
              <a:chExt cx="725" cy="139"/>
            </a:xfrm>
          </p:grpSpPr>
          <p:sp>
            <p:nvSpPr>
              <p:cNvPr id="391" name="AutoShape 183">
                <a:extLst>
                  <a:ext uri="{FF2B5EF4-FFF2-40B4-BE49-F238E27FC236}">
                    <a16:creationId xmlns:a16="http://schemas.microsoft.com/office/drawing/2014/main" id="{A670CFDF-AFF7-A547-9CF4-9F926AE4D45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AutoShape 184">
                <a:extLst>
                  <a:ext uri="{FF2B5EF4-FFF2-40B4-BE49-F238E27FC236}">
                    <a16:creationId xmlns:a16="http://schemas.microsoft.com/office/drawing/2014/main" id="{8B989888-AABB-1E49-9382-C06BFA14BDC8}"/>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0" name="Rectangle 185">
              <a:extLst>
                <a:ext uri="{FF2B5EF4-FFF2-40B4-BE49-F238E27FC236}">
                  <a16:creationId xmlns:a16="http://schemas.microsoft.com/office/drawing/2014/main" id="{BB8DEF06-6B12-6A43-8D15-89B827E3F7B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1" name="Freeform 186">
              <a:extLst>
                <a:ext uri="{FF2B5EF4-FFF2-40B4-BE49-F238E27FC236}">
                  <a16:creationId xmlns:a16="http://schemas.microsoft.com/office/drawing/2014/main" id="{D46CBF71-1AA1-1848-B7FE-0B5B429E7BF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Freeform 187">
              <a:extLst>
                <a:ext uri="{FF2B5EF4-FFF2-40B4-BE49-F238E27FC236}">
                  <a16:creationId xmlns:a16="http://schemas.microsoft.com/office/drawing/2014/main" id="{E33DBEE9-2A43-1846-9129-67A75C2B41A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Oval 188">
              <a:extLst>
                <a:ext uri="{FF2B5EF4-FFF2-40B4-BE49-F238E27FC236}">
                  <a16:creationId xmlns:a16="http://schemas.microsoft.com/office/drawing/2014/main" id="{4184AD3D-A3AA-D744-B0D4-86BC19CF850B}"/>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89">
              <a:extLst>
                <a:ext uri="{FF2B5EF4-FFF2-40B4-BE49-F238E27FC236}">
                  <a16:creationId xmlns:a16="http://schemas.microsoft.com/office/drawing/2014/main" id="{30BD63BA-1E7E-5543-8241-5EE587F00DF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AutoShape 190">
              <a:extLst>
                <a:ext uri="{FF2B5EF4-FFF2-40B4-BE49-F238E27FC236}">
                  <a16:creationId xmlns:a16="http://schemas.microsoft.com/office/drawing/2014/main" id="{221FD49B-FBB4-D44C-A5B9-40C856B448C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6" name="AutoShape 191">
              <a:extLst>
                <a:ext uri="{FF2B5EF4-FFF2-40B4-BE49-F238E27FC236}">
                  <a16:creationId xmlns:a16="http://schemas.microsoft.com/office/drawing/2014/main" id="{E02AA9C5-4176-1C44-A6F0-A95EC32403A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7" name="Oval 192">
              <a:extLst>
                <a:ext uri="{FF2B5EF4-FFF2-40B4-BE49-F238E27FC236}">
                  <a16:creationId xmlns:a16="http://schemas.microsoft.com/office/drawing/2014/main" id="{DB848E75-06E4-9845-A916-4E09A522EAB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Oval 193">
              <a:extLst>
                <a:ext uri="{FF2B5EF4-FFF2-40B4-BE49-F238E27FC236}">
                  <a16:creationId xmlns:a16="http://schemas.microsoft.com/office/drawing/2014/main" id="{E1CC4DA0-CE21-7849-ADF5-B8258F6A703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89" name="Oval 194">
              <a:extLst>
                <a:ext uri="{FF2B5EF4-FFF2-40B4-BE49-F238E27FC236}">
                  <a16:creationId xmlns:a16="http://schemas.microsoft.com/office/drawing/2014/main" id="{FB60D991-801A-5D49-A562-F17DB7672BEC}"/>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E71FA6D2-7AE4-AB49-97A1-DC456EBD084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9" name="Line 57">
            <a:extLst>
              <a:ext uri="{FF2B5EF4-FFF2-40B4-BE49-F238E27FC236}">
                <a16:creationId xmlns:a16="http://schemas.microsoft.com/office/drawing/2014/main" id="{249CC5AB-AB21-0542-9359-82773A70F7B0}"/>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0" name="Line 57">
            <a:extLst>
              <a:ext uri="{FF2B5EF4-FFF2-40B4-BE49-F238E27FC236}">
                <a16:creationId xmlns:a16="http://schemas.microsoft.com/office/drawing/2014/main" id="{D195CB72-88E8-C440-A559-6FA4F63B944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7">
            <a:extLst>
              <a:ext uri="{FF2B5EF4-FFF2-40B4-BE49-F238E27FC236}">
                <a16:creationId xmlns:a16="http://schemas.microsoft.com/office/drawing/2014/main" id="{4BEB9C9E-14C1-E440-B93B-C474D1D3078F}"/>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3" name="Group 342">
            <a:extLst>
              <a:ext uri="{FF2B5EF4-FFF2-40B4-BE49-F238E27FC236}">
                <a16:creationId xmlns:a16="http://schemas.microsoft.com/office/drawing/2014/main" id="{406EC58A-B6EC-4447-9E97-40F524DE60FB}"/>
              </a:ext>
            </a:extLst>
          </p:cNvPr>
          <p:cNvGrpSpPr/>
          <p:nvPr/>
        </p:nvGrpSpPr>
        <p:grpSpPr>
          <a:xfrm>
            <a:off x="2749090" y="3427413"/>
            <a:ext cx="2851610" cy="946150"/>
            <a:chOff x="2749090" y="3427413"/>
            <a:chExt cx="2851610" cy="946150"/>
          </a:xfrm>
        </p:grpSpPr>
        <p:sp>
          <p:nvSpPr>
            <p:cNvPr id="360" name="Text Box 68">
              <a:extLst>
                <a:ext uri="{FF2B5EF4-FFF2-40B4-BE49-F238E27FC236}">
                  <a16:creationId xmlns:a16="http://schemas.microsoft.com/office/drawing/2014/main" id="{FA375BE1-B3E2-C94A-A758-A65780134EA0}"/>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1" name="Oval 217">
              <a:extLst>
                <a:ext uri="{FF2B5EF4-FFF2-40B4-BE49-F238E27FC236}">
                  <a16:creationId xmlns:a16="http://schemas.microsoft.com/office/drawing/2014/main" id="{D579EE0C-24C1-7F4B-B6EE-A5D60E6E72F5}"/>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2" name="Line 229">
              <a:extLst>
                <a:ext uri="{FF2B5EF4-FFF2-40B4-BE49-F238E27FC236}">
                  <a16:creationId xmlns:a16="http://schemas.microsoft.com/office/drawing/2014/main" id="{7DFBE726-798B-1140-8F3C-66C3B37C2B5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Oval 232">
              <a:extLst>
                <a:ext uri="{FF2B5EF4-FFF2-40B4-BE49-F238E27FC236}">
                  <a16:creationId xmlns:a16="http://schemas.microsoft.com/office/drawing/2014/main" id="{41ED5C42-E6DE-0444-B4F1-99DA159ABE99}"/>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Text Box 233">
              <a:extLst>
                <a:ext uri="{FF2B5EF4-FFF2-40B4-BE49-F238E27FC236}">
                  <a16:creationId xmlns:a16="http://schemas.microsoft.com/office/drawing/2014/main" id="{B7139E43-D720-7844-9069-FE79DA74AC38}"/>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5" name="Line 234">
              <a:extLst>
                <a:ext uri="{FF2B5EF4-FFF2-40B4-BE49-F238E27FC236}">
                  <a16:creationId xmlns:a16="http://schemas.microsoft.com/office/drawing/2014/main" id="{0082E09C-2174-3D43-877E-80509AB6F4D1}"/>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235">
              <a:extLst>
                <a:ext uri="{FF2B5EF4-FFF2-40B4-BE49-F238E27FC236}">
                  <a16:creationId xmlns:a16="http://schemas.microsoft.com/office/drawing/2014/main" id="{D509C4AE-0768-3A40-9EEC-F41827CED3E1}"/>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4" name="Group 343">
            <a:extLst>
              <a:ext uri="{FF2B5EF4-FFF2-40B4-BE49-F238E27FC236}">
                <a16:creationId xmlns:a16="http://schemas.microsoft.com/office/drawing/2014/main" id="{D2E444DF-6D2A-054F-ACC0-9BC78029DB62}"/>
              </a:ext>
            </a:extLst>
          </p:cNvPr>
          <p:cNvGrpSpPr/>
          <p:nvPr/>
        </p:nvGrpSpPr>
        <p:grpSpPr>
          <a:xfrm>
            <a:off x="2913490" y="5218953"/>
            <a:ext cx="1938730" cy="1300181"/>
            <a:chOff x="2913490" y="5218953"/>
            <a:chExt cx="1938730" cy="1300181"/>
          </a:xfrm>
        </p:grpSpPr>
        <p:sp>
          <p:nvSpPr>
            <p:cNvPr id="349" name="Text Box 32">
              <a:extLst>
                <a:ext uri="{FF2B5EF4-FFF2-40B4-BE49-F238E27FC236}">
                  <a16:creationId xmlns:a16="http://schemas.microsoft.com/office/drawing/2014/main" id="{568EB7D0-7CC1-B447-B931-1708DD0E5D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0" name="Line 77">
              <a:extLst>
                <a:ext uri="{FF2B5EF4-FFF2-40B4-BE49-F238E27FC236}">
                  <a16:creationId xmlns:a16="http://schemas.microsoft.com/office/drawing/2014/main" id="{2609129D-FECD-5541-8755-40B9535EF20B}"/>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DC9E0C42-D0D0-C642-A75B-D2B504E09F89}"/>
                </a:ext>
              </a:extLst>
            </p:cNvPr>
            <p:cNvGrpSpPr/>
            <p:nvPr/>
          </p:nvGrpSpPr>
          <p:grpSpPr>
            <a:xfrm>
              <a:off x="4030362" y="5218953"/>
              <a:ext cx="821858" cy="355937"/>
              <a:chOff x="6859123" y="5156933"/>
              <a:chExt cx="456701" cy="226548"/>
            </a:xfrm>
          </p:grpSpPr>
          <p:sp>
            <p:nvSpPr>
              <p:cNvPr id="352" name="Rectangle 351">
                <a:extLst>
                  <a:ext uri="{FF2B5EF4-FFF2-40B4-BE49-F238E27FC236}">
                    <a16:creationId xmlns:a16="http://schemas.microsoft.com/office/drawing/2014/main" id="{E85536C7-7667-104C-AC53-1ACBD3293324}"/>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3" name="Straight Connector 352">
                <a:extLst>
                  <a:ext uri="{FF2B5EF4-FFF2-40B4-BE49-F238E27FC236}">
                    <a16:creationId xmlns:a16="http://schemas.microsoft.com/office/drawing/2014/main" id="{0F6C01FB-9ABA-2B44-8CD3-912673CE784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3479AC20-C321-4140-9DF7-DAE3A82CAFB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5D7A5D36-0D51-274E-BD57-89216EE3D0E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8C56DC83-453E-884E-88C0-5F16F3D2F239}"/>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486F91F-497E-4840-99FF-2F6E93438A65}"/>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F367282B-BA64-9F40-80F4-FC127E0FBA3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B165A859-F8AA-894A-AA38-F397DF087DF1}"/>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45" name="Freeform 91">
            <a:extLst>
              <a:ext uri="{FF2B5EF4-FFF2-40B4-BE49-F238E27FC236}">
                <a16:creationId xmlns:a16="http://schemas.microsoft.com/office/drawing/2014/main" id="{FE9A735A-D29D-5048-9B95-09DCFCC19EE5}"/>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6" name="Group 345">
            <a:extLst>
              <a:ext uri="{FF2B5EF4-FFF2-40B4-BE49-F238E27FC236}">
                <a16:creationId xmlns:a16="http://schemas.microsoft.com/office/drawing/2014/main" id="{D2EA7F33-E890-F044-9EFA-B51D448A85C4}"/>
              </a:ext>
            </a:extLst>
          </p:cNvPr>
          <p:cNvGrpSpPr/>
          <p:nvPr/>
        </p:nvGrpSpPr>
        <p:grpSpPr>
          <a:xfrm>
            <a:off x="1586591" y="4743924"/>
            <a:ext cx="4913849" cy="1346072"/>
            <a:chOff x="5641439" y="2685215"/>
            <a:chExt cx="4000500" cy="1028700"/>
          </a:xfrm>
        </p:grpSpPr>
        <p:sp>
          <p:nvSpPr>
            <p:cNvPr id="347" name="Oval 73">
              <a:extLst>
                <a:ext uri="{FF2B5EF4-FFF2-40B4-BE49-F238E27FC236}">
                  <a16:creationId xmlns:a16="http://schemas.microsoft.com/office/drawing/2014/main" id="{3265C07F-8CC7-8143-AF1A-B97C285AC26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Freeform 90">
              <a:extLst>
                <a:ext uri="{FF2B5EF4-FFF2-40B4-BE49-F238E27FC236}">
                  <a16:creationId xmlns:a16="http://schemas.microsoft.com/office/drawing/2014/main" id="{342C12D1-D3C0-854C-B5E9-1645E78B3183}"/>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15" name="Oval 217">
            <a:extLst>
              <a:ext uri="{FF2B5EF4-FFF2-40B4-BE49-F238E27FC236}">
                <a16:creationId xmlns:a16="http://schemas.microsoft.com/office/drawing/2014/main" id="{E8380F29-F9DD-FD41-A743-32A2D2C0356C}"/>
              </a:ext>
            </a:extLst>
          </p:cNvPr>
          <p:cNvSpPr>
            <a:spLocks noChangeArrowheads="1"/>
          </p:cNvSpPr>
          <p:nvPr/>
        </p:nvSpPr>
        <p:spPr bwMode="auto">
          <a:xfrm>
            <a:off x="2763838"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32">
            <a:extLst>
              <a:ext uri="{FF2B5EF4-FFF2-40B4-BE49-F238E27FC236}">
                <a16:creationId xmlns:a16="http://schemas.microsoft.com/office/drawing/2014/main" id="{6F587E7E-71AC-E54E-91B9-31091ED341D4}"/>
              </a:ext>
            </a:extLst>
          </p:cNvPr>
          <p:cNvSpPr>
            <a:spLocks noChangeArrowheads="1"/>
          </p:cNvSpPr>
          <p:nvPr/>
        </p:nvSpPr>
        <p:spPr bwMode="auto">
          <a:xfrm>
            <a:off x="2763838"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41">
            <a:extLst>
              <a:ext uri="{FF2B5EF4-FFF2-40B4-BE49-F238E27FC236}">
                <a16:creationId xmlns:a16="http://schemas.microsoft.com/office/drawing/2014/main" id="{17406B91-ED98-7540-A5E7-482325DFDBB3}"/>
              </a:ext>
            </a:extLst>
          </p:cNvPr>
          <p:cNvSpPr>
            <a:spLocks noChangeArrowheads="1"/>
          </p:cNvSpPr>
          <p:nvPr/>
        </p:nvSpPr>
        <p:spPr bwMode="auto">
          <a:xfrm>
            <a:off x="2711450" y="3590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42">
            <a:extLst>
              <a:ext uri="{FF2B5EF4-FFF2-40B4-BE49-F238E27FC236}">
                <a16:creationId xmlns:a16="http://schemas.microsoft.com/office/drawing/2014/main" id="{16D1BB3A-2730-5542-A67A-DC96F7F3C3AA}"/>
              </a:ext>
            </a:extLst>
          </p:cNvPr>
          <p:cNvSpPr>
            <a:spLocks noChangeArrowheads="1"/>
          </p:cNvSpPr>
          <p:nvPr/>
        </p:nvSpPr>
        <p:spPr bwMode="auto">
          <a:xfrm>
            <a:off x="2381250" y="3824288"/>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43">
            <a:extLst>
              <a:ext uri="{FF2B5EF4-FFF2-40B4-BE49-F238E27FC236}">
                <a16:creationId xmlns:a16="http://schemas.microsoft.com/office/drawing/2014/main" id="{0D22406C-BED1-1A4C-A523-FB8EDCECFC59}"/>
              </a:ext>
            </a:extLst>
          </p:cNvPr>
          <p:cNvSpPr txBox="1">
            <a:spLocks noChangeArrowheads="1"/>
          </p:cNvSpPr>
          <p:nvPr/>
        </p:nvSpPr>
        <p:spPr bwMode="auto">
          <a:xfrm>
            <a:off x="1757363" y="3714750"/>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8" name="Text Box 259">
            <a:extLst>
              <a:ext uri="{FF2B5EF4-FFF2-40B4-BE49-F238E27FC236}">
                <a16:creationId xmlns:a16="http://schemas.microsoft.com/office/drawing/2014/main" id="{586FFC28-194B-2246-81D3-22BA6BAE93C1}"/>
              </a:ext>
            </a:extLst>
          </p:cNvPr>
          <p:cNvSpPr txBox="1">
            <a:spLocks noChangeArrowheads="1"/>
          </p:cNvSpPr>
          <p:nvPr/>
        </p:nvSpPr>
        <p:spPr bwMode="auto">
          <a:xfrm>
            <a:off x="3722688" y="4738894"/>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319" name="Rectangle 3">
            <a:extLst>
              <a:ext uri="{FF2B5EF4-FFF2-40B4-BE49-F238E27FC236}">
                <a16:creationId xmlns:a16="http://schemas.microsoft.com/office/drawing/2014/main" id="{E5E65C79-ACE3-1743-A76E-FFA95B9A44A1}"/>
              </a:ext>
            </a:extLst>
          </p:cNvPr>
          <p:cNvSpPr txBox="1">
            <a:spLocks noChangeArrowheads="1"/>
          </p:cNvSpPr>
          <p:nvPr/>
        </p:nvSpPr>
        <p:spPr>
          <a:xfrm>
            <a:off x="592471" y="1287763"/>
            <a:ext cx="7623176" cy="1430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66725" marR="0" lvl="0" indent="-227013" algn="l" defTabSz="914400" rtl="0" eaLnBrk="1" fontAlgn="auto" latinLnBrk="0" hangingPunct="1">
              <a:lnSpc>
                <a:spcPct val="8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only when router buffers available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Text Box 219">
            <a:extLst>
              <a:ext uri="{FF2B5EF4-FFF2-40B4-BE49-F238E27FC236}">
                <a16:creationId xmlns:a16="http://schemas.microsoft.com/office/drawing/2014/main" id="{52831C5B-CB06-DA40-A231-55AF76B69619}"/>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4" name="Line 236">
            <a:extLst>
              <a:ext uri="{FF2B5EF4-FFF2-40B4-BE49-F238E27FC236}">
                <a16:creationId xmlns:a16="http://schemas.microsoft.com/office/drawing/2014/main" id="{AFF1C7E6-124D-294E-B63A-863323A2A9B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6" name="Group 465">
            <a:extLst>
              <a:ext uri="{FF2B5EF4-FFF2-40B4-BE49-F238E27FC236}">
                <a16:creationId xmlns:a16="http://schemas.microsoft.com/office/drawing/2014/main" id="{B447B17F-F2FC-BA4D-B4F5-E4177AE17CB6}"/>
              </a:ext>
            </a:extLst>
          </p:cNvPr>
          <p:cNvGrpSpPr/>
          <p:nvPr/>
        </p:nvGrpSpPr>
        <p:grpSpPr>
          <a:xfrm>
            <a:off x="3289650" y="5336775"/>
            <a:ext cx="2124396" cy="604097"/>
            <a:chOff x="3289650" y="5336775"/>
            <a:chExt cx="2124396" cy="604097"/>
          </a:xfrm>
        </p:grpSpPr>
        <p:sp>
          <p:nvSpPr>
            <p:cNvPr id="467" name="TextBox 466">
              <a:extLst>
                <a:ext uri="{FF2B5EF4-FFF2-40B4-BE49-F238E27FC236}">
                  <a16:creationId xmlns:a16="http://schemas.microsoft.com/office/drawing/2014/main" id="{047AB416-0A13-7F45-9060-405793255F64}"/>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8" name="TextBox 467">
              <a:extLst>
                <a:ext uri="{FF2B5EF4-FFF2-40B4-BE49-F238E27FC236}">
                  <a16:creationId xmlns:a16="http://schemas.microsoft.com/office/drawing/2014/main" id="{E0E6E743-A4D4-5C4F-827B-4DB74EAE48CD}"/>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grpSp>
        <p:nvGrpSpPr>
          <p:cNvPr id="10" name="Group 9">
            <a:extLst>
              <a:ext uri="{FF2B5EF4-FFF2-40B4-BE49-F238E27FC236}">
                <a16:creationId xmlns:a16="http://schemas.microsoft.com/office/drawing/2014/main" id="{C52758C3-5717-F349-9801-53D0A9A63540}"/>
              </a:ext>
            </a:extLst>
          </p:cNvPr>
          <p:cNvGrpSpPr/>
          <p:nvPr/>
        </p:nvGrpSpPr>
        <p:grpSpPr>
          <a:xfrm>
            <a:off x="8192434" y="1423967"/>
            <a:ext cx="3184336" cy="2791471"/>
            <a:chOff x="7614918" y="1260338"/>
            <a:chExt cx="3184336" cy="2791471"/>
          </a:xfrm>
        </p:grpSpPr>
        <p:sp>
          <p:nvSpPr>
            <p:cNvPr id="328" name="Text Box 285">
              <a:extLst>
                <a:ext uri="{FF2B5EF4-FFF2-40B4-BE49-F238E27FC236}">
                  <a16:creationId xmlns:a16="http://schemas.microsoft.com/office/drawing/2014/main" id="{6552704E-18C8-1F45-B183-35CF584169C1}"/>
                </a:ext>
              </a:extLst>
            </p:cNvPr>
            <p:cNvSpPr txBox="1">
              <a:spLocks noChangeArrowheads="1"/>
            </p:cNvSpPr>
            <p:nvPr/>
          </p:nvSpPr>
          <p:spPr bwMode="auto">
            <a:xfrm>
              <a:off x="9984131" y="35362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30" name="Text Box 287">
              <a:extLst>
                <a:ext uri="{FF2B5EF4-FFF2-40B4-BE49-F238E27FC236}">
                  <a16:creationId xmlns:a16="http://schemas.microsoft.com/office/drawing/2014/main" id="{D3FBF239-D37F-BE46-A593-750EEE535A20}"/>
                </a:ext>
              </a:extLst>
            </p:cNvPr>
            <p:cNvSpPr txBox="1">
              <a:spLocks noChangeArrowheads="1"/>
            </p:cNvSpPr>
            <p:nvPr/>
          </p:nvSpPr>
          <p:spPr bwMode="auto">
            <a:xfrm>
              <a:off x="8924637" y="3354937"/>
              <a:ext cx="801069" cy="6713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in</a:t>
              </a:r>
            </a:p>
          </p:txBody>
        </p:sp>
        <p:sp>
          <p:nvSpPr>
            <p:cNvPr id="321" name="Line 278">
              <a:extLst>
                <a:ext uri="{FF2B5EF4-FFF2-40B4-BE49-F238E27FC236}">
                  <a16:creationId xmlns:a16="http://schemas.microsoft.com/office/drawing/2014/main" id="{8D1C7E69-8607-034F-9010-2F675295D4F5}"/>
                </a:ext>
              </a:extLst>
            </p:cNvPr>
            <p:cNvSpPr>
              <a:spLocks noChangeShapeType="1"/>
            </p:cNvSpPr>
            <p:nvPr/>
          </p:nvSpPr>
          <p:spPr bwMode="auto">
            <a:xfrm>
              <a:off x="8219134" y="12603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Line 280">
              <a:extLst>
                <a:ext uri="{FF2B5EF4-FFF2-40B4-BE49-F238E27FC236}">
                  <a16:creationId xmlns:a16="http://schemas.microsoft.com/office/drawing/2014/main" id="{7BEEB8CF-6CB9-6340-9F43-F3E16379CE2E}"/>
                </a:ext>
              </a:extLst>
            </p:cNvPr>
            <p:cNvSpPr>
              <a:spLocks noChangeShapeType="1"/>
            </p:cNvSpPr>
            <p:nvPr/>
          </p:nvSpPr>
          <p:spPr bwMode="auto">
            <a:xfrm>
              <a:off x="10226022" y="14966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4" name="Freeform 281">
              <a:extLst>
                <a:ext uri="{FF2B5EF4-FFF2-40B4-BE49-F238E27FC236}">
                  <a16:creationId xmlns:a16="http://schemas.microsoft.com/office/drawing/2014/main" id="{8E4BA303-1A21-0447-B1FD-7D49AEC15714}"/>
                </a:ext>
              </a:extLst>
            </p:cNvPr>
            <p:cNvSpPr>
              <a:spLocks/>
            </p:cNvSpPr>
            <p:nvPr/>
          </p:nvSpPr>
          <p:spPr bwMode="auto">
            <a:xfrm>
              <a:off x="8207891" y="14375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Line 282">
              <a:extLst>
                <a:ext uri="{FF2B5EF4-FFF2-40B4-BE49-F238E27FC236}">
                  <a16:creationId xmlns:a16="http://schemas.microsoft.com/office/drawing/2014/main" id="{0C4AD16F-1863-314E-9708-694B5FDAA99C}"/>
                </a:ext>
              </a:extLst>
            </p:cNvPr>
            <p:cNvSpPr>
              <a:spLocks noChangeShapeType="1"/>
            </p:cNvSpPr>
            <p:nvPr/>
          </p:nvSpPr>
          <p:spPr bwMode="auto">
            <a:xfrm>
              <a:off x="8072974" y="14375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6" name="Line 283">
              <a:extLst>
                <a:ext uri="{FF2B5EF4-FFF2-40B4-BE49-F238E27FC236}">
                  <a16:creationId xmlns:a16="http://schemas.microsoft.com/office/drawing/2014/main" id="{9408EF0E-6715-C947-964B-F65207653824}"/>
                </a:ext>
              </a:extLst>
            </p:cNvPr>
            <p:cNvSpPr>
              <a:spLocks noChangeShapeType="1"/>
            </p:cNvSpPr>
            <p:nvPr/>
          </p:nvSpPr>
          <p:spPr bwMode="auto">
            <a:xfrm>
              <a:off x="10220401" y="34193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Text Box 284">
              <a:extLst>
                <a:ext uri="{FF2B5EF4-FFF2-40B4-BE49-F238E27FC236}">
                  <a16:creationId xmlns:a16="http://schemas.microsoft.com/office/drawing/2014/main" id="{DA7FA505-87D5-134C-A7F4-6FFBF2A5BAFE}"/>
                </a:ext>
              </a:extLst>
            </p:cNvPr>
            <p:cNvSpPr txBox="1">
              <a:spLocks noChangeArrowheads="1"/>
            </p:cNvSpPr>
            <p:nvPr/>
          </p:nvSpPr>
          <p:spPr bwMode="auto">
            <a:xfrm>
              <a:off x="7614918" y="12630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29" name="Text Box 286">
              <a:extLst>
                <a:ext uri="{FF2B5EF4-FFF2-40B4-BE49-F238E27FC236}">
                  <a16:creationId xmlns:a16="http://schemas.microsoft.com/office/drawing/2014/main" id="{F49DCA20-B1B5-E041-9E16-56DEDA3D0B40}"/>
                </a:ext>
              </a:extLst>
            </p:cNvPr>
            <p:cNvSpPr txBox="1">
              <a:spLocks noChangeArrowheads="1"/>
            </p:cNvSpPr>
            <p:nvPr/>
          </p:nvSpPr>
          <p:spPr bwMode="auto">
            <a:xfrm rot="16200000">
              <a:off x="7645131" y="13923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331" name="Line 288">
              <a:extLst>
                <a:ext uri="{FF2B5EF4-FFF2-40B4-BE49-F238E27FC236}">
                  <a16:creationId xmlns:a16="http://schemas.microsoft.com/office/drawing/2014/main" id="{91CAA45D-D9D4-7D43-8A3C-E896823A07F2}"/>
                </a:ext>
              </a:extLst>
            </p:cNvPr>
            <p:cNvSpPr>
              <a:spLocks noChangeShapeType="1"/>
            </p:cNvSpPr>
            <p:nvPr/>
          </p:nvSpPr>
          <p:spPr bwMode="auto">
            <a:xfrm>
              <a:off x="8252864" y="1440259"/>
              <a:ext cx="1841053"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4" name="Straight Connector 3">
              <a:extLst>
                <a:ext uri="{FF2B5EF4-FFF2-40B4-BE49-F238E27FC236}">
                  <a16:creationId xmlns:a16="http://schemas.microsoft.com/office/drawing/2014/main" id="{E424D221-E335-BE44-90B5-F02D72533E0A}"/>
                </a:ext>
              </a:extLst>
            </p:cNvPr>
            <p:cNvCxnSpPr>
              <a:cxnSpLocks/>
            </p:cNvCxnSpPr>
            <p:nvPr/>
          </p:nvCxnSpPr>
          <p:spPr>
            <a:xfrm>
              <a:off x="8229601" y="33977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378D6D1-AFF2-2349-B28A-F078B72C27EA}"/>
                </a:ext>
              </a:extLst>
            </p:cNvPr>
            <p:cNvSpPr txBox="1"/>
            <p:nvPr/>
          </p:nvSpPr>
          <p:spPr>
            <a:xfrm rot="16200000">
              <a:off x="7392763" y="24794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8" name="Oval 7">
              <a:extLst>
                <a:ext uri="{FF2B5EF4-FFF2-40B4-BE49-F238E27FC236}">
                  <a16:creationId xmlns:a16="http://schemas.microsoft.com/office/drawing/2014/main" id="{CC0BD9B2-FF07-7748-9C3C-FBC864C16D93}"/>
                </a:ext>
              </a:extLst>
            </p:cNvPr>
            <p:cNvSpPr/>
            <p:nvPr/>
          </p:nvSpPr>
          <p:spPr>
            <a:xfrm>
              <a:off x="10147300" y="1397000"/>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77" name="Slide Number Placeholder 2">
            <a:extLst>
              <a:ext uri="{FF2B5EF4-FFF2-40B4-BE49-F238E27FC236}">
                <a16:creationId xmlns:a16="http://schemas.microsoft.com/office/drawing/2014/main" id="{20FB35DE-567D-2248-A135-547303EA8E6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113</a:t>
            </a:fld>
            <a:endParaRPr lang="en-US" dirty="0"/>
          </a:p>
        </p:txBody>
      </p:sp>
    </p:spTree>
    <p:extLst>
      <p:ext uri="{BB962C8B-B14F-4D97-AF65-F5344CB8AC3E}">
        <p14:creationId xmlns:p14="http://schemas.microsoft.com/office/powerpoint/2010/main" val="445098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537 0.17871 L 0.03542 0.24167 L 0.14753 0.24167 " pathEditMode="relative" rAng="0" ptsTypes="AAAAA">
                                      <p:cBhvr>
                                        <p:cTn id="20" dur="2000" fill="hold"/>
                                        <p:tgtEl>
                                          <p:spTgt spid="235"/>
                                        </p:tgtEl>
                                        <p:attrNameLst>
                                          <p:attrName>ppt_x</p:attrName>
                                          <p:attrName>ppt_y</p:attrName>
                                        </p:attrNameLst>
                                      </p:cBhvr>
                                      <p:rCtr x="7370" y="10301"/>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753 0.24167 L 0.17917 0.24167 " pathEditMode="relative" rAng="0" ptsTypes="AA">
                                      <p:cBhvr>
                                        <p:cTn id="30" dur="3000" fill="hold"/>
                                        <p:tgtEl>
                                          <p:spTgt spid="235"/>
                                        </p:tgtEl>
                                        <p:attrNameLst>
                                          <p:attrName>ppt_x</p:attrName>
                                          <p:attrName>ppt_y</p:attrName>
                                        </p:attrNameLst>
                                      </p:cBhvr>
                                      <p:rCtr x="1576" y="0"/>
                                    </p:animMotion>
                                  </p:childTnLst>
                                </p:cTn>
                              </p:par>
                            </p:childTnLst>
                          </p:cTn>
                        </p:par>
                        <p:par>
                          <p:cTn id="31" fill="hold">
                            <p:stCondLst>
                              <p:cond delay="8500"/>
                            </p:stCondLst>
                            <p:childTnLst>
                              <p:par>
                                <p:cTn id="32" presetID="9" presetClass="exit" presetSubtype="0" fill="hold" grpId="1" nodeType="afterEffect">
                                  <p:stCondLst>
                                    <p:cond delay="0"/>
                                  </p:stCondLst>
                                  <p:childTnLst>
                                    <p:animEffect transition="out" filter="dissolve">
                                      <p:cBhvr>
                                        <p:cTn id="33" dur="500"/>
                                        <p:tgtEl>
                                          <p:spTgt spid="238"/>
                                        </p:tgtEl>
                                      </p:cBhvr>
                                    </p:animEffect>
                                    <p:set>
                                      <p:cBhvr>
                                        <p:cTn id="34" dur="1" fill="hold">
                                          <p:stCondLst>
                                            <p:cond delay="499"/>
                                          </p:stCondLst>
                                        </p:cTn>
                                        <p:tgtEl>
                                          <p:spTgt spid="238"/>
                                        </p:tgtEl>
                                        <p:attrNameLst>
                                          <p:attrName>style.visibility</p:attrName>
                                        </p:attrNameLst>
                                      </p:cBhvr>
                                      <p:to>
                                        <p:strVal val="hidden"/>
                                      </p:to>
                                    </p:set>
                                  </p:childTnLst>
                                </p:cTn>
                              </p:par>
                            </p:childTnLst>
                          </p:cTn>
                        </p:par>
                        <p:par>
                          <p:cTn id="35" fill="hold">
                            <p:stCondLst>
                              <p:cond delay="9000"/>
                            </p:stCondLst>
                            <p:childTnLst>
                              <p:par>
                                <p:cTn id="36" presetID="0" presetClass="path" presetSubtype="0" accel="50000" decel="50000" fill="hold" grpId="4" nodeType="afterEffect">
                                  <p:stCondLst>
                                    <p:cond delay="0"/>
                                  </p:stCondLst>
                                  <p:childTnLst>
                                    <p:animMotion origin="layout" path="M 0.17917 0.24167 L 0.22526 0.24167 L 0.27005 0.15278 L 0.33347 0.15278 L 0.33177 0.01297 " pathEditMode="relative" rAng="0" ptsTypes="AAAAA">
                                      <p:cBhvr>
                                        <p:cTn id="37" dur="2000" fill="hold"/>
                                        <p:tgtEl>
                                          <p:spTgt spid="235"/>
                                        </p:tgtEl>
                                        <p:attrNameLst>
                                          <p:attrName>ppt_x</p:attrName>
                                          <p:attrName>ppt_y</p:attrName>
                                        </p:attrNameLst>
                                      </p:cBhvr>
                                      <p:rCtr x="7708" y="-11435"/>
                                    </p:animMotion>
                                  </p:childTnLst>
                                </p:cTn>
                              </p:par>
                            </p:childTnLst>
                          </p:cTn>
                        </p:par>
                        <p:par>
                          <p:cTn id="38" fill="hold">
                            <p:stCondLst>
                              <p:cond delay="11000"/>
                            </p:stCondLst>
                            <p:childTnLst>
                              <p:par>
                                <p:cTn id="39" presetID="9" presetClass="exit" presetSubtype="0" fill="hold" grpId="5" nodeType="afterEffect">
                                  <p:stCondLst>
                                    <p:cond delay="0"/>
                                  </p:stCondLst>
                                  <p:childTnLst>
                                    <p:animEffect transition="out" filter="dissolve">
                                      <p:cBhvr>
                                        <p:cTn id="40" dur="500"/>
                                        <p:tgtEl>
                                          <p:spTgt spid="235"/>
                                        </p:tgtEl>
                                      </p:cBhvr>
                                    </p:animEffect>
                                    <p:set>
                                      <p:cBhvr>
                                        <p:cTn id="41" dur="1" fill="hold">
                                          <p:stCondLst>
                                            <p:cond delay="499"/>
                                          </p:stCondLst>
                                        </p:cTn>
                                        <p:tgtEl>
                                          <p:spTgt spid="235"/>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236"/>
                                        </p:tgtEl>
                                      </p:cBhvr>
                                    </p:animEffect>
                                    <p:set>
                                      <p:cBhvr>
                                        <p:cTn id="44" dur="1" fill="hold">
                                          <p:stCondLst>
                                            <p:cond delay="499"/>
                                          </p:stCondLst>
                                        </p:cTn>
                                        <p:tgtEl>
                                          <p:spTgt spid="23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ssolve">
                                      <p:cBhvr>
                                        <p:cTn id="4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6" grpId="0" animBg="1"/>
      <p:bldP spid="236" grpId="1" animBg="1"/>
      <p:bldP spid="237" grpId="0"/>
      <p:bldP spid="237" grpId="1"/>
      <p:bldP spid="238" grpId="0"/>
      <p:bldP spid="238" grpId="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 name="Picture 2" descr="garbage_can">
            <a:extLst>
              <a:ext uri="{FF2B5EF4-FFF2-40B4-BE49-F238E27FC236}">
                <a16:creationId xmlns:a16="http://schemas.microsoft.com/office/drawing/2014/main" id="{584AA802-2B1D-9B45-90AF-1F6B78CA92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9913" y="5775325"/>
            <a:ext cx="4873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3">
            <a:extLst>
              <a:ext uri="{FF2B5EF4-FFF2-40B4-BE49-F238E27FC236}">
                <a16:creationId xmlns:a16="http://schemas.microsoft.com/office/drawing/2014/main" id="{56CD104B-8E67-7142-9E50-DB57D15E8A7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47" name="Group 446">
            <a:extLst>
              <a:ext uri="{FF2B5EF4-FFF2-40B4-BE49-F238E27FC236}">
                <a16:creationId xmlns:a16="http://schemas.microsoft.com/office/drawing/2014/main" id="{E3154B3D-EA89-ED49-9BDD-71ADB5CBED52}"/>
              </a:ext>
            </a:extLst>
          </p:cNvPr>
          <p:cNvGrpSpPr/>
          <p:nvPr/>
        </p:nvGrpSpPr>
        <p:grpSpPr>
          <a:xfrm>
            <a:off x="6240513" y="5016599"/>
            <a:ext cx="720732" cy="1182930"/>
            <a:chOff x="10910965" y="2513124"/>
            <a:chExt cx="586768" cy="904023"/>
          </a:xfrm>
        </p:grpSpPr>
        <p:sp>
          <p:nvSpPr>
            <p:cNvPr id="448" name="Rectangle 447">
              <a:extLst>
                <a:ext uri="{FF2B5EF4-FFF2-40B4-BE49-F238E27FC236}">
                  <a16:creationId xmlns:a16="http://schemas.microsoft.com/office/drawing/2014/main" id="{C20196EC-5C9D-244E-A054-231C07CB12E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20DAC0A1-5E9E-9342-8773-AC28BFF1C79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B9D8B51B-4873-D441-BBAD-7FC691EBDD5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C668D72-9BBE-1141-800B-852CFD5E677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AA48DB-862D-C446-8306-33815B191079}"/>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Freeform 9">
            <a:extLst>
              <a:ext uri="{FF2B5EF4-FFF2-40B4-BE49-F238E27FC236}">
                <a16:creationId xmlns:a16="http://schemas.microsoft.com/office/drawing/2014/main" id="{259E0A94-54BE-7245-80CC-030B9BD2E052}"/>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4" name="Group 153">
            <a:extLst>
              <a:ext uri="{FF2B5EF4-FFF2-40B4-BE49-F238E27FC236}">
                <a16:creationId xmlns:a16="http://schemas.microsoft.com/office/drawing/2014/main" id="{746745B0-4450-AC42-B8BD-FE92C0ADE9D4}"/>
              </a:ext>
            </a:extLst>
          </p:cNvPr>
          <p:cNvGrpSpPr/>
          <p:nvPr/>
        </p:nvGrpSpPr>
        <p:grpSpPr>
          <a:xfrm>
            <a:off x="1278678" y="4683698"/>
            <a:ext cx="720732" cy="1182930"/>
            <a:chOff x="10910965" y="2513124"/>
            <a:chExt cx="586768" cy="904023"/>
          </a:xfrm>
        </p:grpSpPr>
        <p:sp>
          <p:nvSpPr>
            <p:cNvPr id="439" name="Rectangle 438">
              <a:extLst>
                <a:ext uri="{FF2B5EF4-FFF2-40B4-BE49-F238E27FC236}">
                  <a16:creationId xmlns:a16="http://schemas.microsoft.com/office/drawing/2014/main" id="{95C531B4-14C6-CF42-8F62-ECB0746666C0}"/>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0" name="Straight Connector 439">
              <a:extLst>
                <a:ext uri="{FF2B5EF4-FFF2-40B4-BE49-F238E27FC236}">
                  <a16:creationId xmlns:a16="http://schemas.microsoft.com/office/drawing/2014/main" id="{31B59911-BB8F-554E-A3ED-D3BD4296D93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535AE79-BB12-7844-B2DA-41BDECE3CD4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0B14C542-C613-7E4B-9B5A-53DE92065BB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04BDA539-80EE-F64B-81C9-754C3FD32F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4879B8F7-8950-1649-8D37-378ECBBFDB62}"/>
              </a:ext>
            </a:extLst>
          </p:cNvPr>
          <p:cNvGrpSpPr/>
          <p:nvPr/>
        </p:nvGrpSpPr>
        <p:grpSpPr>
          <a:xfrm>
            <a:off x="2355044" y="3521091"/>
            <a:ext cx="720732" cy="1182930"/>
            <a:chOff x="10910965" y="2513124"/>
            <a:chExt cx="586768" cy="904023"/>
          </a:xfrm>
        </p:grpSpPr>
        <p:sp>
          <p:nvSpPr>
            <p:cNvPr id="434" name="Rectangle 433">
              <a:extLst>
                <a:ext uri="{FF2B5EF4-FFF2-40B4-BE49-F238E27FC236}">
                  <a16:creationId xmlns:a16="http://schemas.microsoft.com/office/drawing/2014/main" id="{4E1426E7-23EC-AF46-8C8F-112D49CD5E7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5" name="Straight Connector 434">
              <a:extLst>
                <a:ext uri="{FF2B5EF4-FFF2-40B4-BE49-F238E27FC236}">
                  <a16:creationId xmlns:a16="http://schemas.microsoft.com/office/drawing/2014/main" id="{20090985-59C2-BD4B-855E-827534772F4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F629929-45C7-FC4C-A84E-2FD6FDD93F4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ED8CF2-A42B-EE49-9744-A4C7F576E88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635F92FB-5801-1845-9FAD-2C2BFB02757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 name="Freeform 6">
            <a:extLst>
              <a:ext uri="{FF2B5EF4-FFF2-40B4-BE49-F238E27FC236}">
                <a16:creationId xmlns:a16="http://schemas.microsoft.com/office/drawing/2014/main" id="{E2AF8D49-A0C7-EC4A-803B-E7B675E9573F}"/>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2" name="Group 161">
            <a:extLst>
              <a:ext uri="{FF2B5EF4-FFF2-40B4-BE49-F238E27FC236}">
                <a16:creationId xmlns:a16="http://schemas.microsoft.com/office/drawing/2014/main" id="{5C7D5A1E-3514-C947-B273-F2E0678C33D3}"/>
              </a:ext>
            </a:extLst>
          </p:cNvPr>
          <p:cNvGrpSpPr/>
          <p:nvPr/>
        </p:nvGrpSpPr>
        <p:grpSpPr>
          <a:xfrm>
            <a:off x="6698918" y="3667889"/>
            <a:ext cx="720732" cy="1182930"/>
            <a:chOff x="10910965" y="2513124"/>
            <a:chExt cx="586768" cy="904023"/>
          </a:xfrm>
        </p:grpSpPr>
        <p:sp>
          <p:nvSpPr>
            <p:cNvPr id="429" name="Rectangle 428">
              <a:extLst>
                <a:ext uri="{FF2B5EF4-FFF2-40B4-BE49-F238E27FC236}">
                  <a16:creationId xmlns:a16="http://schemas.microsoft.com/office/drawing/2014/main" id="{E1244AFB-0325-244E-A9B8-C17FA4F7C01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0" name="Straight Connector 429">
              <a:extLst>
                <a:ext uri="{FF2B5EF4-FFF2-40B4-BE49-F238E27FC236}">
                  <a16:creationId xmlns:a16="http://schemas.microsoft.com/office/drawing/2014/main" id="{A4F86619-DC06-F44A-B7E8-F853FF0B8F1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58D6F3BD-6F9A-CE4C-A9E8-F1527ABCD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A7318AF6-6AC3-FD4C-9C9B-6AEF838CD71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496FD87-9FA2-E348-8DF6-0A2ED6851CE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357E12A1-9668-9B42-B100-34C1DE0591E4}"/>
              </a:ext>
            </a:extLst>
          </p:cNvPr>
          <p:cNvGrpSpPr/>
          <p:nvPr/>
        </p:nvGrpSpPr>
        <p:grpSpPr>
          <a:xfrm>
            <a:off x="3770696" y="5033645"/>
            <a:ext cx="1286871" cy="734927"/>
            <a:chOff x="7493876" y="2774731"/>
            <a:chExt cx="1481958" cy="894622"/>
          </a:xfrm>
        </p:grpSpPr>
        <p:sp>
          <p:nvSpPr>
            <p:cNvPr id="422" name="Freeform 421">
              <a:extLst>
                <a:ext uri="{FF2B5EF4-FFF2-40B4-BE49-F238E27FC236}">
                  <a16:creationId xmlns:a16="http://schemas.microsoft.com/office/drawing/2014/main" id="{F56C0630-709C-2843-A3DC-28B191A54A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3" name="Oval 422">
              <a:extLst>
                <a:ext uri="{FF2B5EF4-FFF2-40B4-BE49-F238E27FC236}">
                  <a16:creationId xmlns:a16="http://schemas.microsoft.com/office/drawing/2014/main" id="{295F088B-9D9D-964F-AA6D-D5327CE0C3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4" name="Group 423">
              <a:extLst>
                <a:ext uri="{FF2B5EF4-FFF2-40B4-BE49-F238E27FC236}">
                  <a16:creationId xmlns:a16="http://schemas.microsoft.com/office/drawing/2014/main" id="{B1CAB28B-358E-AA46-BD50-E34CAAEF8E8D}"/>
                </a:ext>
              </a:extLst>
            </p:cNvPr>
            <p:cNvGrpSpPr/>
            <p:nvPr/>
          </p:nvGrpSpPr>
          <p:grpSpPr>
            <a:xfrm>
              <a:off x="7713663" y="2848339"/>
              <a:ext cx="1042107" cy="425543"/>
              <a:chOff x="7786941" y="2884917"/>
              <a:chExt cx="897649" cy="353919"/>
            </a:xfrm>
          </p:grpSpPr>
          <p:sp>
            <p:nvSpPr>
              <p:cNvPr id="425" name="Freeform 424">
                <a:extLst>
                  <a:ext uri="{FF2B5EF4-FFF2-40B4-BE49-F238E27FC236}">
                    <a16:creationId xmlns:a16="http://schemas.microsoft.com/office/drawing/2014/main" id="{01DD581A-A88A-A243-9941-2CA12F31E1D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DC80F0DF-8C07-9F4B-A91E-B69266F157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7" name="Freeform 426">
                <a:extLst>
                  <a:ext uri="{FF2B5EF4-FFF2-40B4-BE49-F238E27FC236}">
                    <a16:creationId xmlns:a16="http://schemas.microsoft.com/office/drawing/2014/main" id="{F8E66F3B-2637-A747-9C24-85B20184E6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8" name="Freeform 427">
                <a:extLst>
                  <a:ext uri="{FF2B5EF4-FFF2-40B4-BE49-F238E27FC236}">
                    <a16:creationId xmlns:a16="http://schemas.microsoft.com/office/drawing/2014/main" id="{3334DF4C-51D1-1941-B531-C15B374AB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4" name="Group 124">
            <a:extLst>
              <a:ext uri="{FF2B5EF4-FFF2-40B4-BE49-F238E27FC236}">
                <a16:creationId xmlns:a16="http://schemas.microsoft.com/office/drawing/2014/main" id="{FC5EB0EE-47AC-FF4C-AF7B-EEF579419908}"/>
              </a:ext>
            </a:extLst>
          </p:cNvPr>
          <p:cNvGrpSpPr>
            <a:grpSpLocks/>
          </p:cNvGrpSpPr>
          <p:nvPr/>
        </p:nvGrpSpPr>
        <p:grpSpPr bwMode="auto">
          <a:xfrm>
            <a:off x="1317421" y="3877120"/>
            <a:ext cx="645431" cy="569172"/>
            <a:chOff x="-44" y="1473"/>
            <a:chExt cx="981" cy="1105"/>
          </a:xfrm>
        </p:grpSpPr>
        <p:pic>
          <p:nvPicPr>
            <p:cNvPr id="420" name="Picture 125" descr="desktop_computer_stylized_medium">
              <a:extLst>
                <a:ext uri="{FF2B5EF4-FFF2-40B4-BE49-F238E27FC236}">
                  <a16:creationId xmlns:a16="http://schemas.microsoft.com/office/drawing/2014/main" id="{DCB34079-A6E3-9D4A-BE16-E82BDFE7BE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Freeform 126">
              <a:extLst>
                <a:ext uri="{FF2B5EF4-FFF2-40B4-BE49-F238E27FC236}">
                  <a16:creationId xmlns:a16="http://schemas.microsoft.com/office/drawing/2014/main" id="{B18A6DB4-0DA7-0441-9809-42625EC3D67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6" name="Freeform 12">
            <a:extLst>
              <a:ext uri="{FF2B5EF4-FFF2-40B4-BE49-F238E27FC236}">
                <a16:creationId xmlns:a16="http://schemas.microsoft.com/office/drawing/2014/main" id="{3953C5E3-1C88-7F42-A861-A35744860036}"/>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33">
            <a:extLst>
              <a:ext uri="{FF2B5EF4-FFF2-40B4-BE49-F238E27FC236}">
                <a16:creationId xmlns:a16="http://schemas.microsoft.com/office/drawing/2014/main" id="{6B880909-138C-864F-A544-21462FBDBD13}"/>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42">
            <a:extLst>
              <a:ext uri="{FF2B5EF4-FFF2-40B4-BE49-F238E27FC236}">
                <a16:creationId xmlns:a16="http://schemas.microsoft.com/office/drawing/2014/main" id="{C12F884F-8B3B-254B-979E-446A00E57D14}"/>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9" name="Text Box 52">
            <a:extLst>
              <a:ext uri="{FF2B5EF4-FFF2-40B4-BE49-F238E27FC236}">
                <a16:creationId xmlns:a16="http://schemas.microsoft.com/office/drawing/2014/main" id="{7B14A372-36AF-7943-B01F-CCDE7A3DF094}"/>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70" name="Line 53">
            <a:extLst>
              <a:ext uri="{FF2B5EF4-FFF2-40B4-BE49-F238E27FC236}">
                <a16:creationId xmlns:a16="http://schemas.microsoft.com/office/drawing/2014/main" id="{E766E562-5368-124F-9601-7FDC89262714}"/>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54">
            <a:extLst>
              <a:ext uri="{FF2B5EF4-FFF2-40B4-BE49-F238E27FC236}">
                <a16:creationId xmlns:a16="http://schemas.microsoft.com/office/drawing/2014/main" id="{5217D62B-C74B-E74F-A167-EAC133435E5A}"/>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55">
            <a:extLst>
              <a:ext uri="{FF2B5EF4-FFF2-40B4-BE49-F238E27FC236}">
                <a16:creationId xmlns:a16="http://schemas.microsoft.com/office/drawing/2014/main" id="{13864E4D-0C95-B848-9A1E-13BC90244670}"/>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57">
            <a:extLst>
              <a:ext uri="{FF2B5EF4-FFF2-40B4-BE49-F238E27FC236}">
                <a16:creationId xmlns:a16="http://schemas.microsoft.com/office/drawing/2014/main" id="{BF96F5E7-6F33-8C4E-8B93-288BD347F4C8}"/>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8" name="Group 127">
            <a:extLst>
              <a:ext uri="{FF2B5EF4-FFF2-40B4-BE49-F238E27FC236}">
                <a16:creationId xmlns:a16="http://schemas.microsoft.com/office/drawing/2014/main" id="{5A859FBC-BCA2-C842-8621-8728D6AA737D}"/>
              </a:ext>
            </a:extLst>
          </p:cNvPr>
          <p:cNvGrpSpPr>
            <a:grpSpLocks/>
          </p:cNvGrpSpPr>
          <p:nvPr/>
        </p:nvGrpSpPr>
        <p:grpSpPr bwMode="auto">
          <a:xfrm>
            <a:off x="7531958" y="4473878"/>
            <a:ext cx="284691" cy="577481"/>
            <a:chOff x="4140" y="429"/>
            <a:chExt cx="1425" cy="2396"/>
          </a:xfrm>
        </p:grpSpPr>
        <p:sp>
          <p:nvSpPr>
            <p:cNvPr id="382" name="Freeform 128">
              <a:extLst>
                <a:ext uri="{FF2B5EF4-FFF2-40B4-BE49-F238E27FC236}">
                  <a16:creationId xmlns:a16="http://schemas.microsoft.com/office/drawing/2014/main" id="{53E7DA9C-A2FB-2A47-9F85-7E7A65DE8A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Rectangle 129">
              <a:extLst>
                <a:ext uri="{FF2B5EF4-FFF2-40B4-BE49-F238E27FC236}">
                  <a16:creationId xmlns:a16="http://schemas.microsoft.com/office/drawing/2014/main" id="{3AF5C3FC-49CB-F149-8EC4-D3CE93FBDCD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30">
              <a:extLst>
                <a:ext uri="{FF2B5EF4-FFF2-40B4-BE49-F238E27FC236}">
                  <a16:creationId xmlns:a16="http://schemas.microsoft.com/office/drawing/2014/main" id="{7C42DC53-39FF-5A49-8C4F-6C40C63A2CA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Freeform 131">
              <a:extLst>
                <a:ext uri="{FF2B5EF4-FFF2-40B4-BE49-F238E27FC236}">
                  <a16:creationId xmlns:a16="http://schemas.microsoft.com/office/drawing/2014/main" id="{904C6061-3C0D-024D-9392-F0BBD56C7B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6" name="Rectangle 132">
              <a:extLst>
                <a:ext uri="{FF2B5EF4-FFF2-40B4-BE49-F238E27FC236}">
                  <a16:creationId xmlns:a16="http://schemas.microsoft.com/office/drawing/2014/main" id="{CBF7762D-B9E1-3F42-8A5B-2FD716C9EFA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7" name="Group 133">
              <a:extLst>
                <a:ext uri="{FF2B5EF4-FFF2-40B4-BE49-F238E27FC236}">
                  <a16:creationId xmlns:a16="http://schemas.microsoft.com/office/drawing/2014/main" id="{37F59F7C-B64B-B948-AF1B-7F3AF0207575}"/>
                </a:ext>
              </a:extLst>
            </p:cNvPr>
            <p:cNvGrpSpPr>
              <a:grpSpLocks/>
            </p:cNvGrpSpPr>
            <p:nvPr/>
          </p:nvGrpSpPr>
          <p:grpSpPr bwMode="auto">
            <a:xfrm>
              <a:off x="4749" y="668"/>
              <a:ext cx="581" cy="145"/>
              <a:chOff x="614" y="2568"/>
              <a:chExt cx="725" cy="139"/>
            </a:xfrm>
          </p:grpSpPr>
          <p:sp>
            <p:nvSpPr>
              <p:cNvPr id="412" name="AutoShape 134">
                <a:extLst>
                  <a:ext uri="{FF2B5EF4-FFF2-40B4-BE49-F238E27FC236}">
                    <a16:creationId xmlns:a16="http://schemas.microsoft.com/office/drawing/2014/main" id="{DC9F766E-CCD1-BE4A-94CB-63A12C7B94D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35">
                <a:extLst>
                  <a:ext uri="{FF2B5EF4-FFF2-40B4-BE49-F238E27FC236}">
                    <a16:creationId xmlns:a16="http://schemas.microsoft.com/office/drawing/2014/main" id="{DD08DC7B-FBF1-C548-A5EC-8949A2770AAA}"/>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36">
              <a:extLst>
                <a:ext uri="{FF2B5EF4-FFF2-40B4-BE49-F238E27FC236}">
                  <a16:creationId xmlns:a16="http://schemas.microsoft.com/office/drawing/2014/main" id="{C3C4DB9B-2C11-974B-AE3D-EEE3882C2E58}"/>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9" name="Group 137">
              <a:extLst>
                <a:ext uri="{FF2B5EF4-FFF2-40B4-BE49-F238E27FC236}">
                  <a16:creationId xmlns:a16="http://schemas.microsoft.com/office/drawing/2014/main" id="{EC619C0F-379A-2342-B3D5-485A8C9E4063}"/>
                </a:ext>
              </a:extLst>
            </p:cNvPr>
            <p:cNvGrpSpPr>
              <a:grpSpLocks/>
            </p:cNvGrpSpPr>
            <p:nvPr/>
          </p:nvGrpSpPr>
          <p:grpSpPr bwMode="auto">
            <a:xfrm>
              <a:off x="4747" y="994"/>
              <a:ext cx="581" cy="134"/>
              <a:chOff x="614" y="2568"/>
              <a:chExt cx="725" cy="139"/>
            </a:xfrm>
          </p:grpSpPr>
          <p:sp>
            <p:nvSpPr>
              <p:cNvPr id="410" name="AutoShape 138">
                <a:extLst>
                  <a:ext uri="{FF2B5EF4-FFF2-40B4-BE49-F238E27FC236}">
                    <a16:creationId xmlns:a16="http://schemas.microsoft.com/office/drawing/2014/main" id="{2F03F1AA-B144-6441-82E1-7E7D399D404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39">
                <a:extLst>
                  <a:ext uri="{FF2B5EF4-FFF2-40B4-BE49-F238E27FC236}">
                    <a16:creationId xmlns:a16="http://schemas.microsoft.com/office/drawing/2014/main" id="{F6577811-E5CB-A24A-9C7F-8DD1CEEA402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0" name="Rectangle 140">
              <a:extLst>
                <a:ext uri="{FF2B5EF4-FFF2-40B4-BE49-F238E27FC236}">
                  <a16:creationId xmlns:a16="http://schemas.microsoft.com/office/drawing/2014/main" id="{905394A9-0D77-834D-B74B-528F8F2CC8AC}"/>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1" name="Rectangle 141">
              <a:extLst>
                <a:ext uri="{FF2B5EF4-FFF2-40B4-BE49-F238E27FC236}">
                  <a16:creationId xmlns:a16="http://schemas.microsoft.com/office/drawing/2014/main" id="{54E45B44-7162-414B-951E-CC6695CB2B2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2" name="Group 142">
              <a:extLst>
                <a:ext uri="{FF2B5EF4-FFF2-40B4-BE49-F238E27FC236}">
                  <a16:creationId xmlns:a16="http://schemas.microsoft.com/office/drawing/2014/main" id="{AD966B92-0483-3941-BD39-3D5F6359C8E3}"/>
                </a:ext>
              </a:extLst>
            </p:cNvPr>
            <p:cNvGrpSpPr>
              <a:grpSpLocks/>
            </p:cNvGrpSpPr>
            <p:nvPr/>
          </p:nvGrpSpPr>
          <p:grpSpPr bwMode="auto">
            <a:xfrm>
              <a:off x="4735" y="1627"/>
              <a:ext cx="582" cy="151"/>
              <a:chOff x="614" y="2568"/>
              <a:chExt cx="725" cy="139"/>
            </a:xfrm>
          </p:grpSpPr>
          <p:sp>
            <p:nvSpPr>
              <p:cNvPr id="408" name="AutoShape 143">
                <a:extLst>
                  <a:ext uri="{FF2B5EF4-FFF2-40B4-BE49-F238E27FC236}">
                    <a16:creationId xmlns:a16="http://schemas.microsoft.com/office/drawing/2014/main" id="{632896F6-0B90-8F4D-96AE-09DA88C7C80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AutoShape 144">
                <a:extLst>
                  <a:ext uri="{FF2B5EF4-FFF2-40B4-BE49-F238E27FC236}">
                    <a16:creationId xmlns:a16="http://schemas.microsoft.com/office/drawing/2014/main" id="{AFD82636-77B9-2B47-8699-D3BF427B33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3" name="Freeform 145">
              <a:extLst>
                <a:ext uri="{FF2B5EF4-FFF2-40B4-BE49-F238E27FC236}">
                  <a16:creationId xmlns:a16="http://schemas.microsoft.com/office/drawing/2014/main" id="{35166E21-5125-774B-9623-4EF221B04D8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4" name="Group 146">
              <a:extLst>
                <a:ext uri="{FF2B5EF4-FFF2-40B4-BE49-F238E27FC236}">
                  <a16:creationId xmlns:a16="http://schemas.microsoft.com/office/drawing/2014/main" id="{6C8DAE71-3F1C-904C-85C2-214CB59E7094}"/>
                </a:ext>
              </a:extLst>
            </p:cNvPr>
            <p:cNvGrpSpPr>
              <a:grpSpLocks/>
            </p:cNvGrpSpPr>
            <p:nvPr/>
          </p:nvGrpSpPr>
          <p:grpSpPr bwMode="auto">
            <a:xfrm>
              <a:off x="4739" y="1327"/>
              <a:ext cx="582" cy="139"/>
              <a:chOff x="614" y="2568"/>
              <a:chExt cx="725" cy="139"/>
            </a:xfrm>
          </p:grpSpPr>
          <p:sp>
            <p:nvSpPr>
              <p:cNvPr id="406" name="AutoShape 147">
                <a:extLst>
                  <a:ext uri="{FF2B5EF4-FFF2-40B4-BE49-F238E27FC236}">
                    <a16:creationId xmlns:a16="http://schemas.microsoft.com/office/drawing/2014/main" id="{87A402FD-47EE-FD44-AD9E-357434560E1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AutoShape 148">
                <a:extLst>
                  <a:ext uri="{FF2B5EF4-FFF2-40B4-BE49-F238E27FC236}">
                    <a16:creationId xmlns:a16="http://schemas.microsoft.com/office/drawing/2014/main" id="{D38CC5CC-31DB-F84B-B60C-A5487B93F0CD}"/>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5" name="Rectangle 149">
              <a:extLst>
                <a:ext uri="{FF2B5EF4-FFF2-40B4-BE49-F238E27FC236}">
                  <a16:creationId xmlns:a16="http://schemas.microsoft.com/office/drawing/2014/main" id="{0FDFE2FA-B251-B04D-9A87-9FA1DEE270F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Freeform 150">
              <a:extLst>
                <a:ext uri="{FF2B5EF4-FFF2-40B4-BE49-F238E27FC236}">
                  <a16:creationId xmlns:a16="http://schemas.microsoft.com/office/drawing/2014/main" id="{861A3A88-011C-1648-B5E0-F5583D0CB17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Freeform 151">
              <a:extLst>
                <a:ext uri="{FF2B5EF4-FFF2-40B4-BE49-F238E27FC236}">
                  <a16:creationId xmlns:a16="http://schemas.microsoft.com/office/drawing/2014/main" id="{FF9AD10E-0B20-D549-B4F4-E090093215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8" name="Oval 152">
              <a:extLst>
                <a:ext uri="{FF2B5EF4-FFF2-40B4-BE49-F238E27FC236}">
                  <a16:creationId xmlns:a16="http://schemas.microsoft.com/office/drawing/2014/main" id="{7FC6D115-11CC-8C42-84FB-F9380DF797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9" name="Freeform 153">
              <a:extLst>
                <a:ext uri="{FF2B5EF4-FFF2-40B4-BE49-F238E27FC236}">
                  <a16:creationId xmlns:a16="http://schemas.microsoft.com/office/drawing/2014/main" id="{FA893A70-E205-C74B-B0B1-F0BE1C5379C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0" name="AutoShape 154">
              <a:extLst>
                <a:ext uri="{FF2B5EF4-FFF2-40B4-BE49-F238E27FC236}">
                  <a16:creationId xmlns:a16="http://schemas.microsoft.com/office/drawing/2014/main" id="{CA3DE6E4-EC59-C54E-A06D-302F82AD7F5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AutoShape 155">
              <a:extLst>
                <a:ext uri="{FF2B5EF4-FFF2-40B4-BE49-F238E27FC236}">
                  <a16:creationId xmlns:a16="http://schemas.microsoft.com/office/drawing/2014/main" id="{D5954570-3A29-A04C-A694-89339B8CA162}"/>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156">
              <a:extLst>
                <a:ext uri="{FF2B5EF4-FFF2-40B4-BE49-F238E27FC236}">
                  <a16:creationId xmlns:a16="http://schemas.microsoft.com/office/drawing/2014/main" id="{6D15A2AA-735B-1540-83A7-0CF4980B6F6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Oval 157">
              <a:extLst>
                <a:ext uri="{FF2B5EF4-FFF2-40B4-BE49-F238E27FC236}">
                  <a16:creationId xmlns:a16="http://schemas.microsoft.com/office/drawing/2014/main" id="{DBA0EFAE-DA9A-C341-9586-349045E9E09A}"/>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4" name="Oval 158">
              <a:extLst>
                <a:ext uri="{FF2B5EF4-FFF2-40B4-BE49-F238E27FC236}">
                  <a16:creationId xmlns:a16="http://schemas.microsoft.com/office/drawing/2014/main" id="{419BE2D4-504A-B24C-9BA2-88012DDF9C40}"/>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Rectangle 159">
              <a:extLst>
                <a:ext uri="{FF2B5EF4-FFF2-40B4-BE49-F238E27FC236}">
                  <a16:creationId xmlns:a16="http://schemas.microsoft.com/office/drawing/2014/main" id="{12323152-8DFE-D54A-8022-8B7157278EB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160">
            <a:extLst>
              <a:ext uri="{FF2B5EF4-FFF2-40B4-BE49-F238E27FC236}">
                <a16:creationId xmlns:a16="http://schemas.microsoft.com/office/drawing/2014/main" id="{FA087400-17DC-374A-8B3D-047A843A930C}"/>
              </a:ext>
            </a:extLst>
          </p:cNvPr>
          <p:cNvGrpSpPr>
            <a:grpSpLocks/>
          </p:cNvGrpSpPr>
          <p:nvPr/>
        </p:nvGrpSpPr>
        <p:grpSpPr bwMode="auto">
          <a:xfrm>
            <a:off x="585296" y="5655276"/>
            <a:ext cx="645431" cy="569172"/>
            <a:chOff x="-44" y="1473"/>
            <a:chExt cx="981" cy="1105"/>
          </a:xfrm>
        </p:grpSpPr>
        <p:pic>
          <p:nvPicPr>
            <p:cNvPr id="380" name="Picture 161" descr="desktop_computer_stylized_medium">
              <a:extLst>
                <a:ext uri="{FF2B5EF4-FFF2-40B4-BE49-F238E27FC236}">
                  <a16:creationId xmlns:a16="http://schemas.microsoft.com/office/drawing/2014/main" id="{3EA6EC22-E034-D743-91DD-5D279096F0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162">
              <a:extLst>
                <a:ext uri="{FF2B5EF4-FFF2-40B4-BE49-F238E27FC236}">
                  <a16:creationId xmlns:a16="http://schemas.microsoft.com/office/drawing/2014/main" id="{3DE644EB-7288-364C-85AD-A0B8C3C273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63">
            <a:extLst>
              <a:ext uri="{FF2B5EF4-FFF2-40B4-BE49-F238E27FC236}">
                <a16:creationId xmlns:a16="http://schemas.microsoft.com/office/drawing/2014/main" id="{C67AA62F-6B41-6E41-82AB-388CDEBE1BF4}"/>
              </a:ext>
            </a:extLst>
          </p:cNvPr>
          <p:cNvGrpSpPr>
            <a:grpSpLocks/>
          </p:cNvGrpSpPr>
          <p:nvPr/>
        </p:nvGrpSpPr>
        <p:grpSpPr bwMode="auto">
          <a:xfrm>
            <a:off x="7141970" y="5736859"/>
            <a:ext cx="284691" cy="577481"/>
            <a:chOff x="4140" y="429"/>
            <a:chExt cx="1425" cy="2396"/>
          </a:xfrm>
        </p:grpSpPr>
        <p:sp>
          <p:nvSpPr>
            <p:cNvPr id="348" name="Freeform 164">
              <a:extLst>
                <a:ext uri="{FF2B5EF4-FFF2-40B4-BE49-F238E27FC236}">
                  <a16:creationId xmlns:a16="http://schemas.microsoft.com/office/drawing/2014/main" id="{D195FCDA-1D6E-A14F-813E-82BA881BA57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Rectangle 165">
              <a:extLst>
                <a:ext uri="{FF2B5EF4-FFF2-40B4-BE49-F238E27FC236}">
                  <a16:creationId xmlns:a16="http://schemas.microsoft.com/office/drawing/2014/main" id="{08336962-E72A-234B-AE02-13BF68CF9D88}"/>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Freeform 166">
              <a:extLst>
                <a:ext uri="{FF2B5EF4-FFF2-40B4-BE49-F238E27FC236}">
                  <a16:creationId xmlns:a16="http://schemas.microsoft.com/office/drawing/2014/main" id="{9CC8CF3D-B0E5-DF41-A2B1-CB144840173A}"/>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Freeform 167">
              <a:extLst>
                <a:ext uri="{FF2B5EF4-FFF2-40B4-BE49-F238E27FC236}">
                  <a16:creationId xmlns:a16="http://schemas.microsoft.com/office/drawing/2014/main" id="{A62F35DC-6D41-2C46-9982-EC06FA2C340F}"/>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Rectangle 168">
              <a:extLst>
                <a:ext uri="{FF2B5EF4-FFF2-40B4-BE49-F238E27FC236}">
                  <a16:creationId xmlns:a16="http://schemas.microsoft.com/office/drawing/2014/main" id="{41008D83-EBD9-A042-BDC0-CCFD7F0B7B12}"/>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3" name="Group 169">
              <a:extLst>
                <a:ext uri="{FF2B5EF4-FFF2-40B4-BE49-F238E27FC236}">
                  <a16:creationId xmlns:a16="http://schemas.microsoft.com/office/drawing/2014/main" id="{D5C2A6D0-2900-374F-8B47-7CAC43E5EA66}"/>
                </a:ext>
              </a:extLst>
            </p:cNvPr>
            <p:cNvGrpSpPr>
              <a:grpSpLocks/>
            </p:cNvGrpSpPr>
            <p:nvPr/>
          </p:nvGrpSpPr>
          <p:grpSpPr bwMode="auto">
            <a:xfrm>
              <a:off x="4749" y="668"/>
              <a:ext cx="581" cy="145"/>
              <a:chOff x="614" y="2568"/>
              <a:chExt cx="725" cy="139"/>
            </a:xfrm>
          </p:grpSpPr>
          <p:sp>
            <p:nvSpPr>
              <p:cNvPr id="378" name="AutoShape 170">
                <a:extLst>
                  <a:ext uri="{FF2B5EF4-FFF2-40B4-BE49-F238E27FC236}">
                    <a16:creationId xmlns:a16="http://schemas.microsoft.com/office/drawing/2014/main" id="{316161F8-F72E-8842-A7EA-ACD5553EBA2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9" name="AutoShape 171">
                <a:extLst>
                  <a:ext uri="{FF2B5EF4-FFF2-40B4-BE49-F238E27FC236}">
                    <a16:creationId xmlns:a16="http://schemas.microsoft.com/office/drawing/2014/main" id="{65D8DF1E-DC5A-4048-8F8A-B22E74465030}"/>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4" name="Rectangle 172">
              <a:extLst>
                <a:ext uri="{FF2B5EF4-FFF2-40B4-BE49-F238E27FC236}">
                  <a16:creationId xmlns:a16="http://schemas.microsoft.com/office/drawing/2014/main" id="{F0278590-CB35-2B4C-8960-A8E639AE0BF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5" name="Group 173">
              <a:extLst>
                <a:ext uri="{FF2B5EF4-FFF2-40B4-BE49-F238E27FC236}">
                  <a16:creationId xmlns:a16="http://schemas.microsoft.com/office/drawing/2014/main" id="{6B7EAD7C-E09C-8C45-93EA-4861697FBBA8}"/>
                </a:ext>
              </a:extLst>
            </p:cNvPr>
            <p:cNvGrpSpPr>
              <a:grpSpLocks/>
            </p:cNvGrpSpPr>
            <p:nvPr/>
          </p:nvGrpSpPr>
          <p:grpSpPr bwMode="auto">
            <a:xfrm>
              <a:off x="4747" y="994"/>
              <a:ext cx="581" cy="134"/>
              <a:chOff x="614" y="2568"/>
              <a:chExt cx="725" cy="139"/>
            </a:xfrm>
          </p:grpSpPr>
          <p:sp>
            <p:nvSpPr>
              <p:cNvPr id="376" name="AutoShape 174">
                <a:extLst>
                  <a:ext uri="{FF2B5EF4-FFF2-40B4-BE49-F238E27FC236}">
                    <a16:creationId xmlns:a16="http://schemas.microsoft.com/office/drawing/2014/main" id="{B100E59C-193E-F74A-9B2F-64705FC8DCC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AutoShape 175">
                <a:extLst>
                  <a:ext uri="{FF2B5EF4-FFF2-40B4-BE49-F238E27FC236}">
                    <a16:creationId xmlns:a16="http://schemas.microsoft.com/office/drawing/2014/main" id="{C5CAF38F-0311-FF44-974E-7B3A277A862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6" name="Rectangle 176">
              <a:extLst>
                <a:ext uri="{FF2B5EF4-FFF2-40B4-BE49-F238E27FC236}">
                  <a16:creationId xmlns:a16="http://schemas.microsoft.com/office/drawing/2014/main" id="{950C602D-D3E9-9D49-95E7-FEAA72A87184}"/>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Rectangle 177">
              <a:extLst>
                <a:ext uri="{FF2B5EF4-FFF2-40B4-BE49-F238E27FC236}">
                  <a16:creationId xmlns:a16="http://schemas.microsoft.com/office/drawing/2014/main" id="{08A4D495-7D7A-BC4E-B504-63349FFAAB6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8" name="Group 178">
              <a:extLst>
                <a:ext uri="{FF2B5EF4-FFF2-40B4-BE49-F238E27FC236}">
                  <a16:creationId xmlns:a16="http://schemas.microsoft.com/office/drawing/2014/main" id="{F305A5C0-33C8-774E-A415-F8DB3638929B}"/>
                </a:ext>
              </a:extLst>
            </p:cNvPr>
            <p:cNvGrpSpPr>
              <a:grpSpLocks/>
            </p:cNvGrpSpPr>
            <p:nvPr/>
          </p:nvGrpSpPr>
          <p:grpSpPr bwMode="auto">
            <a:xfrm>
              <a:off x="4735" y="1627"/>
              <a:ext cx="582" cy="151"/>
              <a:chOff x="614" y="2568"/>
              <a:chExt cx="725" cy="139"/>
            </a:xfrm>
          </p:grpSpPr>
          <p:sp>
            <p:nvSpPr>
              <p:cNvPr id="374" name="AutoShape 179">
                <a:extLst>
                  <a:ext uri="{FF2B5EF4-FFF2-40B4-BE49-F238E27FC236}">
                    <a16:creationId xmlns:a16="http://schemas.microsoft.com/office/drawing/2014/main" id="{1D60B3F0-C96C-CF4F-AE8E-9DFC4AC8DCD2}"/>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5" name="AutoShape 180">
                <a:extLst>
                  <a:ext uri="{FF2B5EF4-FFF2-40B4-BE49-F238E27FC236}">
                    <a16:creationId xmlns:a16="http://schemas.microsoft.com/office/drawing/2014/main" id="{59F17474-B1E9-5A4A-95BC-0FFA152A6A9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Freeform 181">
              <a:extLst>
                <a:ext uri="{FF2B5EF4-FFF2-40B4-BE49-F238E27FC236}">
                  <a16:creationId xmlns:a16="http://schemas.microsoft.com/office/drawing/2014/main" id="{4D4849DA-5BB5-194F-B347-D9C0FD3BCD1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0" name="Group 182">
              <a:extLst>
                <a:ext uri="{FF2B5EF4-FFF2-40B4-BE49-F238E27FC236}">
                  <a16:creationId xmlns:a16="http://schemas.microsoft.com/office/drawing/2014/main" id="{387B571D-6B5A-D54A-893E-26AE8531647F}"/>
                </a:ext>
              </a:extLst>
            </p:cNvPr>
            <p:cNvGrpSpPr>
              <a:grpSpLocks/>
            </p:cNvGrpSpPr>
            <p:nvPr/>
          </p:nvGrpSpPr>
          <p:grpSpPr bwMode="auto">
            <a:xfrm>
              <a:off x="4739" y="1327"/>
              <a:ext cx="582" cy="139"/>
              <a:chOff x="614" y="2568"/>
              <a:chExt cx="725" cy="139"/>
            </a:xfrm>
          </p:grpSpPr>
          <p:sp>
            <p:nvSpPr>
              <p:cNvPr id="372" name="AutoShape 183">
                <a:extLst>
                  <a:ext uri="{FF2B5EF4-FFF2-40B4-BE49-F238E27FC236}">
                    <a16:creationId xmlns:a16="http://schemas.microsoft.com/office/drawing/2014/main" id="{5B2C6A46-36B9-A645-9C38-687443126F0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AutoShape 184">
                <a:extLst>
                  <a:ext uri="{FF2B5EF4-FFF2-40B4-BE49-F238E27FC236}">
                    <a16:creationId xmlns:a16="http://schemas.microsoft.com/office/drawing/2014/main" id="{02DF9FD3-61E5-B44A-9E31-BCF57F47401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61" name="Rectangle 185">
              <a:extLst>
                <a:ext uri="{FF2B5EF4-FFF2-40B4-BE49-F238E27FC236}">
                  <a16:creationId xmlns:a16="http://schemas.microsoft.com/office/drawing/2014/main" id="{F669C71A-A324-3F42-B2FE-2FE5DA2A8DED}"/>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Freeform 186">
              <a:extLst>
                <a:ext uri="{FF2B5EF4-FFF2-40B4-BE49-F238E27FC236}">
                  <a16:creationId xmlns:a16="http://schemas.microsoft.com/office/drawing/2014/main" id="{1BE5E4D2-2391-A140-B438-A2BFAB94D30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Freeform 187">
              <a:extLst>
                <a:ext uri="{FF2B5EF4-FFF2-40B4-BE49-F238E27FC236}">
                  <a16:creationId xmlns:a16="http://schemas.microsoft.com/office/drawing/2014/main" id="{F61AA69B-2497-BB41-84E6-2379E99BE2CC}"/>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Oval 188">
              <a:extLst>
                <a:ext uri="{FF2B5EF4-FFF2-40B4-BE49-F238E27FC236}">
                  <a16:creationId xmlns:a16="http://schemas.microsoft.com/office/drawing/2014/main" id="{E5FC988D-0562-6D4B-B677-9976C97CCB3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Freeform 189">
              <a:extLst>
                <a:ext uri="{FF2B5EF4-FFF2-40B4-BE49-F238E27FC236}">
                  <a16:creationId xmlns:a16="http://schemas.microsoft.com/office/drawing/2014/main" id="{5F9AF67B-EB16-1940-9E54-CD01DD73DF6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6" name="AutoShape 190">
              <a:extLst>
                <a:ext uri="{FF2B5EF4-FFF2-40B4-BE49-F238E27FC236}">
                  <a16:creationId xmlns:a16="http://schemas.microsoft.com/office/drawing/2014/main" id="{425C5A13-F083-B641-AE96-394F4EC8B80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191">
              <a:extLst>
                <a:ext uri="{FF2B5EF4-FFF2-40B4-BE49-F238E27FC236}">
                  <a16:creationId xmlns:a16="http://schemas.microsoft.com/office/drawing/2014/main" id="{6A53B106-9919-0D42-AB27-C542B277A4D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Oval 192">
              <a:extLst>
                <a:ext uri="{FF2B5EF4-FFF2-40B4-BE49-F238E27FC236}">
                  <a16:creationId xmlns:a16="http://schemas.microsoft.com/office/drawing/2014/main" id="{20C525CE-1753-F641-9DA5-9A348D00FCC7}"/>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Oval 193">
              <a:extLst>
                <a:ext uri="{FF2B5EF4-FFF2-40B4-BE49-F238E27FC236}">
                  <a16:creationId xmlns:a16="http://schemas.microsoft.com/office/drawing/2014/main" id="{98E2DDA5-BB4C-C44C-94CB-E3E75C14A37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70" name="Oval 194">
              <a:extLst>
                <a:ext uri="{FF2B5EF4-FFF2-40B4-BE49-F238E27FC236}">
                  <a16:creationId xmlns:a16="http://schemas.microsoft.com/office/drawing/2014/main" id="{BE983F88-4E1D-8D4F-BAE7-B4FF6986BCA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1" name="Rectangle 195">
              <a:extLst>
                <a:ext uri="{FF2B5EF4-FFF2-40B4-BE49-F238E27FC236}">
                  <a16:creationId xmlns:a16="http://schemas.microsoft.com/office/drawing/2014/main" id="{6517F9BF-0412-704A-8CF4-5197BADDBEC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1" name="Line 57">
            <a:extLst>
              <a:ext uri="{FF2B5EF4-FFF2-40B4-BE49-F238E27FC236}">
                <a16:creationId xmlns:a16="http://schemas.microsoft.com/office/drawing/2014/main" id="{68763ED6-942C-0F41-AD7D-01D0E5880E9B}"/>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Line 57">
            <a:extLst>
              <a:ext uri="{FF2B5EF4-FFF2-40B4-BE49-F238E27FC236}">
                <a16:creationId xmlns:a16="http://schemas.microsoft.com/office/drawing/2014/main" id="{F860BD77-FEC3-1440-9C5F-412C1944CF71}"/>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Line 57">
            <a:extLst>
              <a:ext uri="{FF2B5EF4-FFF2-40B4-BE49-F238E27FC236}">
                <a16:creationId xmlns:a16="http://schemas.microsoft.com/office/drawing/2014/main" id="{27B00412-D610-DE4A-846E-7A4177E41EB4}"/>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4" name="Group 323">
            <a:extLst>
              <a:ext uri="{FF2B5EF4-FFF2-40B4-BE49-F238E27FC236}">
                <a16:creationId xmlns:a16="http://schemas.microsoft.com/office/drawing/2014/main" id="{E8361AD1-D10B-914D-B557-ED00BB81668B}"/>
              </a:ext>
            </a:extLst>
          </p:cNvPr>
          <p:cNvGrpSpPr/>
          <p:nvPr/>
        </p:nvGrpSpPr>
        <p:grpSpPr>
          <a:xfrm>
            <a:off x="2749090" y="3427413"/>
            <a:ext cx="2851610" cy="946150"/>
            <a:chOff x="2749090" y="3427413"/>
            <a:chExt cx="2851610" cy="946150"/>
          </a:xfrm>
        </p:grpSpPr>
        <p:sp>
          <p:nvSpPr>
            <p:cNvPr id="341" name="Text Box 68">
              <a:extLst>
                <a:ext uri="{FF2B5EF4-FFF2-40B4-BE49-F238E27FC236}">
                  <a16:creationId xmlns:a16="http://schemas.microsoft.com/office/drawing/2014/main" id="{3B9B04FF-F305-1B42-B32C-BD98A3457B82}"/>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2" name="Oval 217">
              <a:extLst>
                <a:ext uri="{FF2B5EF4-FFF2-40B4-BE49-F238E27FC236}">
                  <a16:creationId xmlns:a16="http://schemas.microsoft.com/office/drawing/2014/main" id="{EDF2431F-1AB1-4C49-A181-71EBA9C9AEE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229">
              <a:extLst>
                <a:ext uri="{FF2B5EF4-FFF2-40B4-BE49-F238E27FC236}">
                  <a16:creationId xmlns:a16="http://schemas.microsoft.com/office/drawing/2014/main" id="{B59B3A23-BDBB-ED4B-90A7-F3F3742615C8}"/>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4" name="Oval 232">
              <a:extLst>
                <a:ext uri="{FF2B5EF4-FFF2-40B4-BE49-F238E27FC236}">
                  <a16:creationId xmlns:a16="http://schemas.microsoft.com/office/drawing/2014/main" id="{A0D84490-063F-6249-A3C3-EBD662E3F907}"/>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5" name="Text Box 233">
              <a:extLst>
                <a:ext uri="{FF2B5EF4-FFF2-40B4-BE49-F238E27FC236}">
                  <a16:creationId xmlns:a16="http://schemas.microsoft.com/office/drawing/2014/main" id="{8B358585-163D-654F-995A-9C22E22B5CB1}"/>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6" name="Line 234">
              <a:extLst>
                <a:ext uri="{FF2B5EF4-FFF2-40B4-BE49-F238E27FC236}">
                  <a16:creationId xmlns:a16="http://schemas.microsoft.com/office/drawing/2014/main" id="{1E1EF6EB-75EA-3840-81BD-7EFEF385444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Line 235">
              <a:extLst>
                <a:ext uri="{FF2B5EF4-FFF2-40B4-BE49-F238E27FC236}">
                  <a16:creationId xmlns:a16="http://schemas.microsoft.com/office/drawing/2014/main" id="{B9666650-75BE-044C-8E55-D19782D17F0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25" name="Group 324">
            <a:extLst>
              <a:ext uri="{FF2B5EF4-FFF2-40B4-BE49-F238E27FC236}">
                <a16:creationId xmlns:a16="http://schemas.microsoft.com/office/drawing/2014/main" id="{E0A0DEBB-1942-DF47-BE8F-4DC1FAAF267D}"/>
              </a:ext>
            </a:extLst>
          </p:cNvPr>
          <p:cNvGrpSpPr/>
          <p:nvPr/>
        </p:nvGrpSpPr>
        <p:grpSpPr>
          <a:xfrm>
            <a:off x="2913490" y="5218953"/>
            <a:ext cx="1938730" cy="1300181"/>
            <a:chOff x="2913490" y="5218953"/>
            <a:chExt cx="1938730" cy="1300181"/>
          </a:xfrm>
        </p:grpSpPr>
        <p:sp>
          <p:nvSpPr>
            <p:cNvPr id="330" name="Text Box 32">
              <a:extLst>
                <a:ext uri="{FF2B5EF4-FFF2-40B4-BE49-F238E27FC236}">
                  <a16:creationId xmlns:a16="http://schemas.microsoft.com/office/drawing/2014/main" id="{2BE67432-4EDA-2144-971A-97E31C21CB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31" name="Line 77">
              <a:extLst>
                <a:ext uri="{FF2B5EF4-FFF2-40B4-BE49-F238E27FC236}">
                  <a16:creationId xmlns:a16="http://schemas.microsoft.com/office/drawing/2014/main" id="{0FD3A7D1-0F64-3E4F-9EFC-3E9B5C3CB4E5}"/>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2" name="Group 331">
              <a:extLst>
                <a:ext uri="{FF2B5EF4-FFF2-40B4-BE49-F238E27FC236}">
                  <a16:creationId xmlns:a16="http://schemas.microsoft.com/office/drawing/2014/main" id="{129E87F1-D0EC-544C-AAD3-67A4ADC56ED1}"/>
                </a:ext>
              </a:extLst>
            </p:cNvPr>
            <p:cNvGrpSpPr/>
            <p:nvPr/>
          </p:nvGrpSpPr>
          <p:grpSpPr>
            <a:xfrm>
              <a:off x="4030362" y="5218953"/>
              <a:ext cx="821858" cy="355937"/>
              <a:chOff x="6859123" y="5156933"/>
              <a:chExt cx="456701" cy="226548"/>
            </a:xfrm>
          </p:grpSpPr>
          <p:sp>
            <p:nvSpPr>
              <p:cNvPr id="333" name="Rectangle 332">
                <a:extLst>
                  <a:ext uri="{FF2B5EF4-FFF2-40B4-BE49-F238E27FC236}">
                    <a16:creationId xmlns:a16="http://schemas.microsoft.com/office/drawing/2014/main" id="{420EF065-0C5B-3C42-9309-A54EAD48FE4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4" name="Straight Connector 333">
                <a:extLst>
                  <a:ext uri="{FF2B5EF4-FFF2-40B4-BE49-F238E27FC236}">
                    <a16:creationId xmlns:a16="http://schemas.microsoft.com/office/drawing/2014/main" id="{E69DAA66-53B2-484A-8CE4-893106A81F7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0115558E-B280-5645-9FB4-A4EBF6BE1E2B}"/>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ED04A48-0229-FC4F-821B-EB6EAD1E0728}"/>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771E9A5B-C688-D540-9A52-AD683DD66EBA}"/>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ED4DD7E1-448A-8143-9791-173C9F59FF70}"/>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553CB64-B4A4-2C41-8D54-9660CE27A4FE}"/>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C11E0997-AC70-934E-899D-8D26941865C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26" name="Freeform 91">
            <a:extLst>
              <a:ext uri="{FF2B5EF4-FFF2-40B4-BE49-F238E27FC236}">
                <a16:creationId xmlns:a16="http://schemas.microsoft.com/office/drawing/2014/main" id="{2AB634B7-7E1A-2F49-BD94-F471CBAAAB5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7" name="Group 326">
            <a:extLst>
              <a:ext uri="{FF2B5EF4-FFF2-40B4-BE49-F238E27FC236}">
                <a16:creationId xmlns:a16="http://schemas.microsoft.com/office/drawing/2014/main" id="{E2437294-F0A6-B64F-9701-980D73E181E5}"/>
              </a:ext>
            </a:extLst>
          </p:cNvPr>
          <p:cNvGrpSpPr/>
          <p:nvPr/>
        </p:nvGrpSpPr>
        <p:grpSpPr>
          <a:xfrm>
            <a:off x="1586591" y="4743924"/>
            <a:ext cx="4913849" cy="1346072"/>
            <a:chOff x="5641439" y="2685215"/>
            <a:chExt cx="4000500" cy="1028700"/>
          </a:xfrm>
        </p:grpSpPr>
        <p:sp>
          <p:nvSpPr>
            <p:cNvPr id="328" name="Oval 73">
              <a:extLst>
                <a:ext uri="{FF2B5EF4-FFF2-40B4-BE49-F238E27FC236}">
                  <a16:creationId xmlns:a16="http://schemas.microsoft.com/office/drawing/2014/main" id="{A5E7C6D8-EF6B-FD4F-B4BF-AB9BD2FC0A39}"/>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9" name="Freeform 90">
              <a:extLst>
                <a:ext uri="{FF2B5EF4-FFF2-40B4-BE49-F238E27FC236}">
                  <a16:creationId xmlns:a16="http://schemas.microsoft.com/office/drawing/2014/main" id="{E290CF0B-A025-EA42-80CC-B9295A47390D}"/>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44" name="Group 443">
            <a:extLst>
              <a:ext uri="{FF2B5EF4-FFF2-40B4-BE49-F238E27FC236}">
                <a16:creationId xmlns:a16="http://schemas.microsoft.com/office/drawing/2014/main" id="{1EA2D756-F337-784D-91E9-D0329FAA029D}"/>
              </a:ext>
            </a:extLst>
          </p:cNvPr>
          <p:cNvGrpSpPr/>
          <p:nvPr/>
        </p:nvGrpSpPr>
        <p:grpSpPr>
          <a:xfrm>
            <a:off x="3289650" y="5336775"/>
            <a:ext cx="2124396" cy="604097"/>
            <a:chOff x="3289650" y="5336775"/>
            <a:chExt cx="2124396" cy="604097"/>
          </a:xfrm>
        </p:grpSpPr>
        <p:sp>
          <p:nvSpPr>
            <p:cNvPr id="445" name="TextBox 444">
              <a:extLst>
                <a:ext uri="{FF2B5EF4-FFF2-40B4-BE49-F238E27FC236}">
                  <a16:creationId xmlns:a16="http://schemas.microsoft.com/office/drawing/2014/main" id="{1CF86E91-20B2-AA40-ADE7-23C1A4B452F5}"/>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46" name="TextBox 445">
              <a:extLst>
                <a:ext uri="{FF2B5EF4-FFF2-40B4-BE49-F238E27FC236}">
                  <a16:creationId xmlns:a16="http://schemas.microsoft.com/office/drawing/2014/main" id="{4B4D0976-F981-B64D-A7D0-EC08D7AD5DE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30" name="Rectangle 234">
            <a:extLst>
              <a:ext uri="{FF2B5EF4-FFF2-40B4-BE49-F238E27FC236}">
                <a16:creationId xmlns:a16="http://schemas.microsoft.com/office/drawing/2014/main" id="{6E45144B-BF92-9A47-94FD-F52064FD06E8}"/>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Rectangle 235">
            <a:extLst>
              <a:ext uri="{FF2B5EF4-FFF2-40B4-BE49-F238E27FC236}">
                <a16:creationId xmlns:a16="http://schemas.microsoft.com/office/drawing/2014/main" id="{F4772420-2FB1-314B-A194-38B964C76259}"/>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Text Box 236">
            <a:extLst>
              <a:ext uri="{FF2B5EF4-FFF2-40B4-BE49-F238E27FC236}">
                <a16:creationId xmlns:a16="http://schemas.microsoft.com/office/drawing/2014/main" id="{11E59F0D-C317-314F-8F6B-B5D0BED054AD}"/>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3" name="Text Box 237">
            <a:extLst>
              <a:ext uri="{FF2B5EF4-FFF2-40B4-BE49-F238E27FC236}">
                <a16:creationId xmlns:a16="http://schemas.microsoft.com/office/drawing/2014/main" id="{EAD9B395-E752-6A49-A4A1-C7F6E1FAF489}"/>
              </a:ext>
            </a:extLst>
          </p:cNvPr>
          <p:cNvSpPr txBox="1">
            <a:spLocks noChangeArrowheads="1"/>
          </p:cNvSpPr>
          <p:nvPr/>
        </p:nvSpPr>
        <p:spPr bwMode="auto">
          <a:xfrm>
            <a:off x="3786188" y="4761119"/>
            <a:ext cx="16430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no buffer space!</a:t>
            </a:r>
          </a:p>
        </p:txBody>
      </p:sp>
      <p:sp>
        <p:nvSpPr>
          <p:cNvPr id="318" name="Rectangle 264">
            <a:extLst>
              <a:ext uri="{FF2B5EF4-FFF2-40B4-BE49-F238E27FC236}">
                <a16:creationId xmlns:a16="http://schemas.microsoft.com/office/drawing/2014/main" id="{D09A7464-92EB-C943-B1B0-D7DED6B7F590}"/>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lide Number Placeholder 2">
            <a:extLst>
              <a:ext uri="{FF2B5EF4-FFF2-40B4-BE49-F238E27FC236}">
                <a16:creationId xmlns:a16="http://schemas.microsoft.com/office/drawing/2014/main" id="{D2612AFA-2896-BE40-9DDD-29726BDC29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114</a:t>
            </a:fld>
            <a:endParaRPr lang="en-US" dirty="0"/>
          </a:p>
        </p:txBody>
      </p:sp>
    </p:spTree>
    <p:extLst>
      <p:ext uri="{BB962C8B-B14F-4D97-AF65-F5344CB8AC3E}">
        <p14:creationId xmlns:p14="http://schemas.microsoft.com/office/powerpoint/2010/main" val="745262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0"/>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1"/>
                                        </p:tgtEl>
                                        <p:attrNameLst>
                                          <p:attrName>style.visibility</p:attrName>
                                        </p:attrNameLst>
                                      </p:cBhvr>
                                      <p:to>
                                        <p:strVal val="visible"/>
                                      </p:to>
                                    </p:set>
                                    <p:animEffect transition="in" filter="dissolve">
                                      <p:cBhvr>
                                        <p:cTn id="14" dur="500"/>
                                        <p:tgtEl>
                                          <p:spTgt spid="231"/>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2"/>
                                        </p:tgtEl>
                                        <p:attrNameLst>
                                          <p:attrName>style.visibility</p:attrName>
                                        </p:attrNameLst>
                                      </p:cBhvr>
                                      <p:to>
                                        <p:strVal val="visible"/>
                                      </p:to>
                                    </p:set>
                                    <p:animEffect transition="in" filter="dissolve">
                                      <p:cBhvr>
                                        <p:cTn id="17" dur="500"/>
                                        <p:tgtEl>
                                          <p:spTgt spid="232"/>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328 0.17871 L 0.03451 0.24167 L 0.14323 0.24167 " pathEditMode="relative" rAng="0" ptsTypes="AAAAA">
                                      <p:cBhvr>
                                        <p:cTn id="20" dur="2000" fill="hold"/>
                                        <p:tgtEl>
                                          <p:spTgt spid="230"/>
                                        </p:tgtEl>
                                        <p:attrNameLst>
                                          <p:attrName>ppt_x</p:attrName>
                                          <p:attrName>ppt_y</p:attrName>
                                        </p:attrNameLst>
                                      </p:cBhvr>
                                      <p:rCtr x="7161" y="10301"/>
                                    </p:animMotion>
                                  </p:childTnLst>
                                </p:cTn>
                              </p:par>
                              <p:par>
                                <p:cTn id="21" presetID="9" presetClass="exit" presetSubtype="0" fill="hold" grpId="1" nodeType="withEffect">
                                  <p:stCondLst>
                                    <p:cond delay="0"/>
                                  </p:stCondLst>
                                  <p:childTnLst>
                                    <p:animEffect transition="out" filter="dissolve">
                                      <p:cBhvr>
                                        <p:cTn id="22" dur="500"/>
                                        <p:tgtEl>
                                          <p:spTgt spid="232"/>
                                        </p:tgtEl>
                                      </p:cBhvr>
                                    </p:animEffect>
                                    <p:set>
                                      <p:cBhvr>
                                        <p:cTn id="23" dur="1" fill="hold">
                                          <p:stCondLst>
                                            <p:cond delay="499"/>
                                          </p:stCondLst>
                                        </p:cTn>
                                        <p:tgtEl>
                                          <p:spTgt spid="232"/>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dissolve">
                                      <p:cBhvr>
                                        <p:cTn id="27" dur="500"/>
                                        <p:tgtEl>
                                          <p:spTgt spid="233"/>
                                        </p:tgtEl>
                                      </p:cBhvr>
                                    </p:animEffect>
                                  </p:childTnLst>
                                </p:cTn>
                              </p:par>
                            </p:childTnLst>
                          </p:cTn>
                        </p:par>
                        <p:par>
                          <p:cTn id="28" fill="hold">
                            <p:stCondLst>
                              <p:cond delay="5500"/>
                            </p:stCondLst>
                            <p:childTnLst>
                              <p:par>
                                <p:cTn id="29" presetID="9" presetClass="entr" presetSubtype="0"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dissolve">
                                      <p:cBhvr>
                                        <p:cTn id="31" dur="500"/>
                                        <p:tgtEl>
                                          <p:spTgt spid="160"/>
                                        </p:tgtEl>
                                      </p:cBhvr>
                                    </p:animEffect>
                                  </p:childTnLst>
                                </p:cTn>
                              </p:par>
                            </p:childTnLst>
                          </p:cTn>
                        </p:par>
                        <p:par>
                          <p:cTn id="32" fill="hold">
                            <p:stCondLst>
                              <p:cond delay="6000"/>
                            </p:stCondLst>
                            <p:childTnLst>
                              <p:par>
                                <p:cTn id="33" presetID="0" presetClass="path" presetSubtype="0" accel="50000" decel="50000" fill="hold" grpId="3" nodeType="afterEffect">
                                  <p:stCondLst>
                                    <p:cond delay="0"/>
                                  </p:stCondLst>
                                  <p:childTnLst>
                                    <p:animMotion origin="layout" path="M 0.14323 0.24167 L 0.14544 0.35116 " pathEditMode="relative" rAng="0" ptsTypes="AA">
                                      <p:cBhvr>
                                        <p:cTn id="34" dur="2000" fill="hold"/>
                                        <p:tgtEl>
                                          <p:spTgt spid="230"/>
                                        </p:tgtEl>
                                        <p:attrNameLst>
                                          <p:attrName>ppt_x</p:attrName>
                                          <p:attrName>ppt_y</p:attrName>
                                        </p:attrNameLst>
                                      </p:cBhvr>
                                      <p:rCtr x="104" y="5463"/>
                                    </p:animMotion>
                                  </p:childTnLst>
                                </p:cTn>
                              </p:par>
                              <p:par>
                                <p:cTn id="35" presetID="9" presetClass="exit" presetSubtype="0" fill="hold" grpId="1" nodeType="withEffect">
                                  <p:stCondLst>
                                    <p:cond delay="0"/>
                                  </p:stCondLst>
                                  <p:childTnLst>
                                    <p:animEffect transition="out" filter="dissolve">
                                      <p:cBhvr>
                                        <p:cTn id="36" dur="500"/>
                                        <p:tgtEl>
                                          <p:spTgt spid="233"/>
                                        </p:tgtEl>
                                      </p:cBhvr>
                                    </p:animEffect>
                                    <p:set>
                                      <p:cBhvr>
                                        <p:cTn id="37" dur="1" fill="hold">
                                          <p:stCondLst>
                                            <p:cond delay="499"/>
                                          </p:stCondLst>
                                        </p:cTn>
                                        <p:tgtEl>
                                          <p:spTgt spid="233"/>
                                        </p:tgtEl>
                                        <p:attrNameLst>
                                          <p:attrName>style.visibility</p:attrName>
                                        </p:attrNameLst>
                                      </p:cBhvr>
                                      <p:to>
                                        <p:strVal val="hidden"/>
                                      </p:to>
                                    </p:set>
                                  </p:childTnLst>
                                </p:cTn>
                              </p:par>
                            </p:childTnLst>
                          </p:cTn>
                        </p:par>
                        <p:par>
                          <p:cTn id="38" fill="hold">
                            <p:stCondLst>
                              <p:cond delay="8000"/>
                            </p:stCondLst>
                            <p:childTnLst>
                              <p:par>
                                <p:cTn id="39" presetID="9" presetClass="exit" presetSubtype="0" fill="hold" grpId="4" nodeType="afterEffect">
                                  <p:stCondLst>
                                    <p:cond delay="0"/>
                                  </p:stCondLst>
                                  <p:childTnLst>
                                    <p:animEffect transition="out" filter="dissolve">
                                      <p:cBhvr>
                                        <p:cTn id="40" dur="500"/>
                                        <p:tgtEl>
                                          <p:spTgt spid="230"/>
                                        </p:tgtEl>
                                      </p:cBhvr>
                                    </p:animEffect>
                                    <p:set>
                                      <p:cBhvr>
                                        <p:cTn id="41" dur="1" fill="hold">
                                          <p:stCondLst>
                                            <p:cond delay="499"/>
                                          </p:stCondLst>
                                        </p:cTn>
                                        <p:tgtEl>
                                          <p:spTgt spid="2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30" grpId="1" animBg="1"/>
      <p:bldP spid="230" grpId="2" animBg="1"/>
      <p:bldP spid="230" grpId="3" animBg="1"/>
      <p:bldP spid="230" grpId="4" animBg="1"/>
      <p:bldP spid="231" grpId="0" animBg="1"/>
      <p:bldP spid="232" grpId="0"/>
      <p:bldP spid="232" grpId="1"/>
      <p:bldP spid="233" grpId="0"/>
      <p:bldP spid="233" grpId="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 name="Freeform 3">
            <a:extLst>
              <a:ext uri="{FF2B5EF4-FFF2-40B4-BE49-F238E27FC236}">
                <a16:creationId xmlns:a16="http://schemas.microsoft.com/office/drawing/2014/main" id="{78DA0B54-F98B-BB46-88B3-CE41F122DE2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74" name="Group 473">
            <a:extLst>
              <a:ext uri="{FF2B5EF4-FFF2-40B4-BE49-F238E27FC236}">
                <a16:creationId xmlns:a16="http://schemas.microsoft.com/office/drawing/2014/main" id="{B7831227-C019-F54D-8486-90C2641B233E}"/>
              </a:ext>
            </a:extLst>
          </p:cNvPr>
          <p:cNvGrpSpPr/>
          <p:nvPr/>
        </p:nvGrpSpPr>
        <p:grpSpPr>
          <a:xfrm>
            <a:off x="6249435" y="5024056"/>
            <a:ext cx="720732" cy="1182930"/>
            <a:chOff x="10910965" y="2513124"/>
            <a:chExt cx="586768" cy="904023"/>
          </a:xfrm>
        </p:grpSpPr>
        <p:sp>
          <p:nvSpPr>
            <p:cNvPr id="475" name="Rectangle 474">
              <a:extLst>
                <a:ext uri="{FF2B5EF4-FFF2-40B4-BE49-F238E27FC236}">
                  <a16:creationId xmlns:a16="http://schemas.microsoft.com/office/drawing/2014/main" id="{1F86B744-C8BE-A248-B391-C1A1E47E0A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6" name="Straight Connector 475">
              <a:extLst>
                <a:ext uri="{FF2B5EF4-FFF2-40B4-BE49-F238E27FC236}">
                  <a16:creationId xmlns:a16="http://schemas.microsoft.com/office/drawing/2014/main" id="{900566A3-5320-FA4C-ABD1-930C515C0C89}"/>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3B54A25-2EFC-2B49-BB5B-BE990ACB6E1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A6538998-BDBF-DF4C-B2EC-77F281D72F0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968272CD-399F-264B-A633-827064A7E41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Freeform 9">
            <a:extLst>
              <a:ext uri="{FF2B5EF4-FFF2-40B4-BE49-F238E27FC236}">
                <a16:creationId xmlns:a16="http://schemas.microsoft.com/office/drawing/2014/main" id="{3605A7CD-486E-374E-857B-A5FED463149A}"/>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69">
            <a:extLst>
              <a:ext uri="{FF2B5EF4-FFF2-40B4-BE49-F238E27FC236}">
                <a16:creationId xmlns:a16="http://schemas.microsoft.com/office/drawing/2014/main" id="{6BAE210C-B315-BF49-9E14-832C803385C1}"/>
              </a:ext>
            </a:extLst>
          </p:cNvPr>
          <p:cNvGrpSpPr/>
          <p:nvPr/>
        </p:nvGrpSpPr>
        <p:grpSpPr>
          <a:xfrm>
            <a:off x="1278678" y="4683698"/>
            <a:ext cx="720732" cy="1182930"/>
            <a:chOff x="10910965" y="2513124"/>
            <a:chExt cx="586768" cy="904023"/>
          </a:xfrm>
        </p:grpSpPr>
        <p:sp>
          <p:nvSpPr>
            <p:cNvPr id="466" name="Rectangle 465">
              <a:extLst>
                <a:ext uri="{FF2B5EF4-FFF2-40B4-BE49-F238E27FC236}">
                  <a16:creationId xmlns:a16="http://schemas.microsoft.com/office/drawing/2014/main" id="{782DF269-B22E-124D-A8AB-1B45AC4017F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7" name="Straight Connector 466">
              <a:extLst>
                <a:ext uri="{FF2B5EF4-FFF2-40B4-BE49-F238E27FC236}">
                  <a16:creationId xmlns:a16="http://schemas.microsoft.com/office/drawing/2014/main" id="{A7812E96-3B07-D348-AB53-B122DAB4E6B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B399334-1A8E-134C-B4FC-1DADB2572F9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A8D4057-50A8-0C4E-B3DB-41EF5AA2941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303C7848-D36A-834E-9516-64CE78236ED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584477B2-231F-6342-BB1B-FEE6C59ECF52}"/>
              </a:ext>
            </a:extLst>
          </p:cNvPr>
          <p:cNvGrpSpPr/>
          <p:nvPr/>
        </p:nvGrpSpPr>
        <p:grpSpPr>
          <a:xfrm>
            <a:off x="2355044" y="3521091"/>
            <a:ext cx="720732" cy="1182930"/>
            <a:chOff x="10910965" y="2513124"/>
            <a:chExt cx="586768" cy="904023"/>
          </a:xfrm>
        </p:grpSpPr>
        <p:sp>
          <p:nvSpPr>
            <p:cNvPr id="461" name="Rectangle 460">
              <a:extLst>
                <a:ext uri="{FF2B5EF4-FFF2-40B4-BE49-F238E27FC236}">
                  <a16:creationId xmlns:a16="http://schemas.microsoft.com/office/drawing/2014/main" id="{6809513A-96B2-F747-B5DE-AE92732DF73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2" name="Straight Connector 461">
              <a:extLst>
                <a:ext uri="{FF2B5EF4-FFF2-40B4-BE49-F238E27FC236}">
                  <a16:creationId xmlns:a16="http://schemas.microsoft.com/office/drawing/2014/main" id="{12D921D5-B6BF-A24C-8002-5AB6451D58B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E7AFE4F-E85D-E74E-9028-EA5E47E1FC0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A7E6CF1A-5E38-FC4A-91EC-B6B52C3CCCC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7013E7D-279D-3441-A1FC-72573517FCA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 name="Freeform 6">
            <a:extLst>
              <a:ext uri="{FF2B5EF4-FFF2-40B4-BE49-F238E27FC236}">
                <a16:creationId xmlns:a16="http://schemas.microsoft.com/office/drawing/2014/main" id="{206261C0-C19D-5445-B1A1-7208FAA9D5C0}"/>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2D5D8D25-47D7-4247-93AC-740845C8F29F}"/>
              </a:ext>
            </a:extLst>
          </p:cNvPr>
          <p:cNvGrpSpPr/>
          <p:nvPr/>
        </p:nvGrpSpPr>
        <p:grpSpPr>
          <a:xfrm>
            <a:off x="6698918" y="3667889"/>
            <a:ext cx="720732" cy="1182930"/>
            <a:chOff x="10910965" y="2513124"/>
            <a:chExt cx="586768" cy="904023"/>
          </a:xfrm>
        </p:grpSpPr>
        <p:sp>
          <p:nvSpPr>
            <p:cNvPr id="456" name="Rectangle 455">
              <a:extLst>
                <a:ext uri="{FF2B5EF4-FFF2-40B4-BE49-F238E27FC236}">
                  <a16:creationId xmlns:a16="http://schemas.microsoft.com/office/drawing/2014/main" id="{23DA77B2-BEC2-8945-AF87-82BF78DFEBDC}"/>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7" name="Straight Connector 456">
              <a:extLst>
                <a:ext uri="{FF2B5EF4-FFF2-40B4-BE49-F238E27FC236}">
                  <a16:creationId xmlns:a16="http://schemas.microsoft.com/office/drawing/2014/main" id="{5E0EB13A-C315-4845-B3CA-9996078979F7}"/>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77FF2C2F-77E2-114D-A87A-BE0DC699808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215BACD8-AE1A-024C-8113-15D98354426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4A77BC0A-EA01-7445-AAE0-B8E8936A667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FFA35F8C-504E-E740-B268-F48CB484744A}"/>
              </a:ext>
            </a:extLst>
          </p:cNvPr>
          <p:cNvGrpSpPr/>
          <p:nvPr/>
        </p:nvGrpSpPr>
        <p:grpSpPr>
          <a:xfrm>
            <a:off x="3770696" y="5033645"/>
            <a:ext cx="1286871" cy="734927"/>
            <a:chOff x="7493876" y="2774731"/>
            <a:chExt cx="1481958" cy="894622"/>
          </a:xfrm>
        </p:grpSpPr>
        <p:sp>
          <p:nvSpPr>
            <p:cNvPr id="449" name="Freeform 448">
              <a:extLst>
                <a:ext uri="{FF2B5EF4-FFF2-40B4-BE49-F238E27FC236}">
                  <a16:creationId xmlns:a16="http://schemas.microsoft.com/office/drawing/2014/main" id="{0C5B982F-8D0D-5E4B-A5F4-51D4EACABD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0" name="Oval 449">
              <a:extLst>
                <a:ext uri="{FF2B5EF4-FFF2-40B4-BE49-F238E27FC236}">
                  <a16:creationId xmlns:a16="http://schemas.microsoft.com/office/drawing/2014/main" id="{486B86C4-CAB3-2943-9DDD-58492CC733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1" name="Group 450">
              <a:extLst>
                <a:ext uri="{FF2B5EF4-FFF2-40B4-BE49-F238E27FC236}">
                  <a16:creationId xmlns:a16="http://schemas.microsoft.com/office/drawing/2014/main" id="{2DD189E4-73DE-594A-9971-497300D8C426}"/>
                </a:ext>
              </a:extLst>
            </p:cNvPr>
            <p:cNvGrpSpPr/>
            <p:nvPr/>
          </p:nvGrpSpPr>
          <p:grpSpPr>
            <a:xfrm>
              <a:off x="7713663" y="2848339"/>
              <a:ext cx="1042107" cy="425543"/>
              <a:chOff x="7786941" y="2884917"/>
              <a:chExt cx="897649" cy="353919"/>
            </a:xfrm>
          </p:grpSpPr>
          <p:sp>
            <p:nvSpPr>
              <p:cNvPr id="452" name="Freeform 451">
                <a:extLst>
                  <a:ext uri="{FF2B5EF4-FFF2-40B4-BE49-F238E27FC236}">
                    <a16:creationId xmlns:a16="http://schemas.microsoft.com/office/drawing/2014/main" id="{E85CF2D0-3CFC-5E43-B858-03D42C9110A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EC9DAD17-F992-4F48-8267-9058E7CD27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710E015-BE76-AE4B-81F6-34C170D713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E6F85A0B-00CE-6D4F-A4FF-FFB7E1C2F7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4" name="Group 124">
            <a:extLst>
              <a:ext uri="{FF2B5EF4-FFF2-40B4-BE49-F238E27FC236}">
                <a16:creationId xmlns:a16="http://schemas.microsoft.com/office/drawing/2014/main" id="{9BF07229-A6A4-AD45-97F8-02F77949015D}"/>
              </a:ext>
            </a:extLst>
          </p:cNvPr>
          <p:cNvGrpSpPr>
            <a:grpSpLocks/>
          </p:cNvGrpSpPr>
          <p:nvPr/>
        </p:nvGrpSpPr>
        <p:grpSpPr bwMode="auto">
          <a:xfrm>
            <a:off x="1317421" y="3877120"/>
            <a:ext cx="645431" cy="569172"/>
            <a:chOff x="-44" y="1473"/>
            <a:chExt cx="981" cy="1105"/>
          </a:xfrm>
        </p:grpSpPr>
        <p:pic>
          <p:nvPicPr>
            <p:cNvPr id="447" name="Picture 125" descr="desktop_computer_stylized_medium">
              <a:extLst>
                <a:ext uri="{FF2B5EF4-FFF2-40B4-BE49-F238E27FC236}">
                  <a16:creationId xmlns:a16="http://schemas.microsoft.com/office/drawing/2014/main" id="{7307EF69-0AD9-7347-B5CF-13B9A3CE2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26">
              <a:extLst>
                <a:ext uri="{FF2B5EF4-FFF2-40B4-BE49-F238E27FC236}">
                  <a16:creationId xmlns:a16="http://schemas.microsoft.com/office/drawing/2014/main" id="{70150EB8-302C-104D-A225-CB59DD73AD6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6" name="Freeform 12">
            <a:extLst>
              <a:ext uri="{FF2B5EF4-FFF2-40B4-BE49-F238E27FC236}">
                <a16:creationId xmlns:a16="http://schemas.microsoft.com/office/drawing/2014/main" id="{0457B109-DCF7-7B48-990C-188E960DA7E2}"/>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Line 33">
            <a:extLst>
              <a:ext uri="{FF2B5EF4-FFF2-40B4-BE49-F238E27FC236}">
                <a16:creationId xmlns:a16="http://schemas.microsoft.com/office/drawing/2014/main" id="{378BB6D2-BFAA-E544-BB30-E3BAC64FEF3E}"/>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8" name="Text Box 42">
            <a:extLst>
              <a:ext uri="{FF2B5EF4-FFF2-40B4-BE49-F238E27FC236}">
                <a16:creationId xmlns:a16="http://schemas.microsoft.com/office/drawing/2014/main" id="{E22D8322-6AC1-024E-A7E0-7FB476A5F28E}"/>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39" name="Text Box 52">
            <a:extLst>
              <a:ext uri="{FF2B5EF4-FFF2-40B4-BE49-F238E27FC236}">
                <a16:creationId xmlns:a16="http://schemas.microsoft.com/office/drawing/2014/main" id="{C9BA4092-FFBC-344B-B0CD-5F77B5C37F21}"/>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40" name="Line 53">
            <a:extLst>
              <a:ext uri="{FF2B5EF4-FFF2-40B4-BE49-F238E27FC236}">
                <a16:creationId xmlns:a16="http://schemas.microsoft.com/office/drawing/2014/main" id="{D40AEB36-CE2F-6240-A4C3-F1CF224B9976}"/>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4">
            <a:extLst>
              <a:ext uri="{FF2B5EF4-FFF2-40B4-BE49-F238E27FC236}">
                <a16:creationId xmlns:a16="http://schemas.microsoft.com/office/drawing/2014/main" id="{495C95A8-89BF-AD47-9100-5231A4D8B0C2}"/>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Line 55">
            <a:extLst>
              <a:ext uri="{FF2B5EF4-FFF2-40B4-BE49-F238E27FC236}">
                <a16:creationId xmlns:a16="http://schemas.microsoft.com/office/drawing/2014/main" id="{120B847C-F27F-494F-8014-E8B621196DE4}"/>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57">
            <a:extLst>
              <a:ext uri="{FF2B5EF4-FFF2-40B4-BE49-F238E27FC236}">
                <a16:creationId xmlns:a16="http://schemas.microsoft.com/office/drawing/2014/main" id="{960F0352-E2A3-DE4C-9E29-AD02BDE1E66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5" name="Group 127">
            <a:extLst>
              <a:ext uri="{FF2B5EF4-FFF2-40B4-BE49-F238E27FC236}">
                <a16:creationId xmlns:a16="http://schemas.microsoft.com/office/drawing/2014/main" id="{3AD20F85-F9D5-B241-A4C0-83AA3C7AFA1C}"/>
              </a:ext>
            </a:extLst>
          </p:cNvPr>
          <p:cNvGrpSpPr>
            <a:grpSpLocks/>
          </p:cNvGrpSpPr>
          <p:nvPr/>
        </p:nvGrpSpPr>
        <p:grpSpPr bwMode="auto">
          <a:xfrm>
            <a:off x="7531958" y="4473878"/>
            <a:ext cx="284691" cy="577481"/>
            <a:chOff x="4140" y="429"/>
            <a:chExt cx="1425" cy="2396"/>
          </a:xfrm>
        </p:grpSpPr>
        <p:sp>
          <p:nvSpPr>
            <p:cNvPr id="409" name="Freeform 128">
              <a:extLst>
                <a:ext uri="{FF2B5EF4-FFF2-40B4-BE49-F238E27FC236}">
                  <a16:creationId xmlns:a16="http://schemas.microsoft.com/office/drawing/2014/main" id="{0B4C7EC1-ADAA-B244-8CDF-3FEFCFF9F2D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0" name="Rectangle 129">
              <a:extLst>
                <a:ext uri="{FF2B5EF4-FFF2-40B4-BE49-F238E27FC236}">
                  <a16:creationId xmlns:a16="http://schemas.microsoft.com/office/drawing/2014/main" id="{A0FF8C35-B0F8-A74B-9E6E-A21B68AFBDF1}"/>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Freeform 130">
              <a:extLst>
                <a:ext uri="{FF2B5EF4-FFF2-40B4-BE49-F238E27FC236}">
                  <a16:creationId xmlns:a16="http://schemas.microsoft.com/office/drawing/2014/main" id="{B8A6A9CE-AE19-9646-8506-8FABE239754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2" name="Freeform 131">
              <a:extLst>
                <a:ext uri="{FF2B5EF4-FFF2-40B4-BE49-F238E27FC236}">
                  <a16:creationId xmlns:a16="http://schemas.microsoft.com/office/drawing/2014/main" id="{920D5DF8-F10D-784B-A501-18ADE558747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3" name="Rectangle 132">
              <a:extLst>
                <a:ext uri="{FF2B5EF4-FFF2-40B4-BE49-F238E27FC236}">
                  <a16:creationId xmlns:a16="http://schemas.microsoft.com/office/drawing/2014/main" id="{158A36BE-3875-984B-860D-8A0FE0867C2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4" name="Group 133">
              <a:extLst>
                <a:ext uri="{FF2B5EF4-FFF2-40B4-BE49-F238E27FC236}">
                  <a16:creationId xmlns:a16="http://schemas.microsoft.com/office/drawing/2014/main" id="{E5497F18-12AE-964F-A3C6-A90B513556BE}"/>
                </a:ext>
              </a:extLst>
            </p:cNvPr>
            <p:cNvGrpSpPr>
              <a:grpSpLocks/>
            </p:cNvGrpSpPr>
            <p:nvPr/>
          </p:nvGrpSpPr>
          <p:grpSpPr bwMode="auto">
            <a:xfrm>
              <a:off x="4749" y="668"/>
              <a:ext cx="581" cy="145"/>
              <a:chOff x="614" y="2568"/>
              <a:chExt cx="725" cy="139"/>
            </a:xfrm>
          </p:grpSpPr>
          <p:sp>
            <p:nvSpPr>
              <p:cNvPr id="439" name="AutoShape 134">
                <a:extLst>
                  <a:ext uri="{FF2B5EF4-FFF2-40B4-BE49-F238E27FC236}">
                    <a16:creationId xmlns:a16="http://schemas.microsoft.com/office/drawing/2014/main" id="{44D06AC1-BE64-AD44-B78A-06EA0742660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135">
                <a:extLst>
                  <a:ext uri="{FF2B5EF4-FFF2-40B4-BE49-F238E27FC236}">
                    <a16:creationId xmlns:a16="http://schemas.microsoft.com/office/drawing/2014/main" id="{AB2F27B0-5EAD-DE4F-BB61-62C23D5FBC86}"/>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5" name="Rectangle 136">
              <a:extLst>
                <a:ext uri="{FF2B5EF4-FFF2-40B4-BE49-F238E27FC236}">
                  <a16:creationId xmlns:a16="http://schemas.microsoft.com/office/drawing/2014/main" id="{497EAA10-56C6-FF48-9B71-8DD4C9104F4D}"/>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6" name="Group 137">
              <a:extLst>
                <a:ext uri="{FF2B5EF4-FFF2-40B4-BE49-F238E27FC236}">
                  <a16:creationId xmlns:a16="http://schemas.microsoft.com/office/drawing/2014/main" id="{C3283769-C067-6D49-911F-DE095B9010DC}"/>
                </a:ext>
              </a:extLst>
            </p:cNvPr>
            <p:cNvGrpSpPr>
              <a:grpSpLocks/>
            </p:cNvGrpSpPr>
            <p:nvPr/>
          </p:nvGrpSpPr>
          <p:grpSpPr bwMode="auto">
            <a:xfrm>
              <a:off x="4747" y="994"/>
              <a:ext cx="581" cy="134"/>
              <a:chOff x="614" y="2568"/>
              <a:chExt cx="725" cy="139"/>
            </a:xfrm>
          </p:grpSpPr>
          <p:sp>
            <p:nvSpPr>
              <p:cNvPr id="437" name="AutoShape 138">
                <a:extLst>
                  <a:ext uri="{FF2B5EF4-FFF2-40B4-BE49-F238E27FC236}">
                    <a16:creationId xmlns:a16="http://schemas.microsoft.com/office/drawing/2014/main" id="{AB151B02-EE9D-8247-BD54-A32913D967B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AutoShape 139">
                <a:extLst>
                  <a:ext uri="{FF2B5EF4-FFF2-40B4-BE49-F238E27FC236}">
                    <a16:creationId xmlns:a16="http://schemas.microsoft.com/office/drawing/2014/main" id="{FEF7F223-DA6D-0843-95D8-3849E237504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7" name="Rectangle 140">
              <a:extLst>
                <a:ext uri="{FF2B5EF4-FFF2-40B4-BE49-F238E27FC236}">
                  <a16:creationId xmlns:a16="http://schemas.microsoft.com/office/drawing/2014/main" id="{7E6BEA62-9B73-F64A-AD66-03070B2683C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Rectangle 141">
              <a:extLst>
                <a:ext uri="{FF2B5EF4-FFF2-40B4-BE49-F238E27FC236}">
                  <a16:creationId xmlns:a16="http://schemas.microsoft.com/office/drawing/2014/main" id="{B703598A-F43E-8F44-AA55-32B934E36F72}"/>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9" name="Group 142">
              <a:extLst>
                <a:ext uri="{FF2B5EF4-FFF2-40B4-BE49-F238E27FC236}">
                  <a16:creationId xmlns:a16="http://schemas.microsoft.com/office/drawing/2014/main" id="{37E008B5-DF9F-4741-9481-59DB934698E8}"/>
                </a:ext>
              </a:extLst>
            </p:cNvPr>
            <p:cNvGrpSpPr>
              <a:grpSpLocks/>
            </p:cNvGrpSpPr>
            <p:nvPr/>
          </p:nvGrpSpPr>
          <p:grpSpPr bwMode="auto">
            <a:xfrm>
              <a:off x="4735" y="1627"/>
              <a:ext cx="582" cy="151"/>
              <a:chOff x="614" y="2568"/>
              <a:chExt cx="725" cy="139"/>
            </a:xfrm>
          </p:grpSpPr>
          <p:sp>
            <p:nvSpPr>
              <p:cNvPr id="435" name="AutoShape 143">
                <a:extLst>
                  <a:ext uri="{FF2B5EF4-FFF2-40B4-BE49-F238E27FC236}">
                    <a16:creationId xmlns:a16="http://schemas.microsoft.com/office/drawing/2014/main" id="{4DFCD725-D192-594A-9091-58E3EB174C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6" name="AutoShape 144">
                <a:extLst>
                  <a:ext uri="{FF2B5EF4-FFF2-40B4-BE49-F238E27FC236}">
                    <a16:creationId xmlns:a16="http://schemas.microsoft.com/office/drawing/2014/main" id="{E1E81217-E6F8-7E4C-83BD-39023D5FF17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0" name="Freeform 145">
              <a:extLst>
                <a:ext uri="{FF2B5EF4-FFF2-40B4-BE49-F238E27FC236}">
                  <a16:creationId xmlns:a16="http://schemas.microsoft.com/office/drawing/2014/main" id="{C9C21037-BEFA-DF45-969E-77E95675D29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21" name="Group 146">
              <a:extLst>
                <a:ext uri="{FF2B5EF4-FFF2-40B4-BE49-F238E27FC236}">
                  <a16:creationId xmlns:a16="http://schemas.microsoft.com/office/drawing/2014/main" id="{8C21E2FB-1E40-4E43-8A6F-A77D3B537718}"/>
                </a:ext>
              </a:extLst>
            </p:cNvPr>
            <p:cNvGrpSpPr>
              <a:grpSpLocks/>
            </p:cNvGrpSpPr>
            <p:nvPr/>
          </p:nvGrpSpPr>
          <p:grpSpPr bwMode="auto">
            <a:xfrm>
              <a:off x="4739" y="1327"/>
              <a:ext cx="582" cy="139"/>
              <a:chOff x="614" y="2568"/>
              <a:chExt cx="725" cy="139"/>
            </a:xfrm>
          </p:grpSpPr>
          <p:sp>
            <p:nvSpPr>
              <p:cNvPr id="433" name="AutoShape 147">
                <a:extLst>
                  <a:ext uri="{FF2B5EF4-FFF2-40B4-BE49-F238E27FC236}">
                    <a16:creationId xmlns:a16="http://schemas.microsoft.com/office/drawing/2014/main" id="{3FB07F3E-B384-BA42-B9DC-3F347F4454A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AutoShape 148">
                <a:extLst>
                  <a:ext uri="{FF2B5EF4-FFF2-40B4-BE49-F238E27FC236}">
                    <a16:creationId xmlns:a16="http://schemas.microsoft.com/office/drawing/2014/main" id="{53CFABFE-9ECC-654C-A26F-077B10C41C5B}"/>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2" name="Rectangle 149">
              <a:extLst>
                <a:ext uri="{FF2B5EF4-FFF2-40B4-BE49-F238E27FC236}">
                  <a16:creationId xmlns:a16="http://schemas.microsoft.com/office/drawing/2014/main" id="{2ADBFF81-E61D-BD42-A5DA-C6C72A45BA9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150">
              <a:extLst>
                <a:ext uri="{FF2B5EF4-FFF2-40B4-BE49-F238E27FC236}">
                  <a16:creationId xmlns:a16="http://schemas.microsoft.com/office/drawing/2014/main" id="{B801D18D-12AF-604B-826B-87612B4BE25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151">
              <a:extLst>
                <a:ext uri="{FF2B5EF4-FFF2-40B4-BE49-F238E27FC236}">
                  <a16:creationId xmlns:a16="http://schemas.microsoft.com/office/drawing/2014/main" id="{E0D76583-E225-D143-AD69-86F92601178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Oval 152">
              <a:extLst>
                <a:ext uri="{FF2B5EF4-FFF2-40B4-BE49-F238E27FC236}">
                  <a16:creationId xmlns:a16="http://schemas.microsoft.com/office/drawing/2014/main" id="{B87BD5BD-84ED-1A45-B304-E70CB33272B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Freeform 153">
              <a:extLst>
                <a:ext uri="{FF2B5EF4-FFF2-40B4-BE49-F238E27FC236}">
                  <a16:creationId xmlns:a16="http://schemas.microsoft.com/office/drawing/2014/main" id="{AC83A214-EE2C-7D46-A95B-93B9ECF9794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7" name="AutoShape 154">
              <a:extLst>
                <a:ext uri="{FF2B5EF4-FFF2-40B4-BE49-F238E27FC236}">
                  <a16:creationId xmlns:a16="http://schemas.microsoft.com/office/drawing/2014/main" id="{E7B0CC33-9743-9840-8876-CD696FD4644E}"/>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55">
              <a:extLst>
                <a:ext uri="{FF2B5EF4-FFF2-40B4-BE49-F238E27FC236}">
                  <a16:creationId xmlns:a16="http://schemas.microsoft.com/office/drawing/2014/main" id="{90FDCD67-DF9D-014D-94A7-D70073231139}"/>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Oval 156">
              <a:extLst>
                <a:ext uri="{FF2B5EF4-FFF2-40B4-BE49-F238E27FC236}">
                  <a16:creationId xmlns:a16="http://schemas.microsoft.com/office/drawing/2014/main" id="{B70C62CF-87D8-BD4F-8287-EAFAD6879C9C}"/>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Oval 157">
              <a:extLst>
                <a:ext uri="{FF2B5EF4-FFF2-40B4-BE49-F238E27FC236}">
                  <a16:creationId xmlns:a16="http://schemas.microsoft.com/office/drawing/2014/main" id="{9CB3EBC8-732C-2243-9992-39D2F18B4FAC}"/>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31" name="Oval 158">
              <a:extLst>
                <a:ext uri="{FF2B5EF4-FFF2-40B4-BE49-F238E27FC236}">
                  <a16:creationId xmlns:a16="http://schemas.microsoft.com/office/drawing/2014/main" id="{F6C1B254-B4D2-D447-9853-48F46447F66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Rectangle 159">
              <a:extLst>
                <a:ext uri="{FF2B5EF4-FFF2-40B4-BE49-F238E27FC236}">
                  <a16:creationId xmlns:a16="http://schemas.microsoft.com/office/drawing/2014/main" id="{0ACFD0C6-117A-4E4E-ABC4-5883C7B0EF1B}"/>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60">
            <a:extLst>
              <a:ext uri="{FF2B5EF4-FFF2-40B4-BE49-F238E27FC236}">
                <a16:creationId xmlns:a16="http://schemas.microsoft.com/office/drawing/2014/main" id="{C6CE532B-F6A8-1F45-B978-5D94FE3A17B7}"/>
              </a:ext>
            </a:extLst>
          </p:cNvPr>
          <p:cNvGrpSpPr>
            <a:grpSpLocks/>
          </p:cNvGrpSpPr>
          <p:nvPr/>
        </p:nvGrpSpPr>
        <p:grpSpPr bwMode="auto">
          <a:xfrm>
            <a:off x="585296" y="5655276"/>
            <a:ext cx="645431" cy="569172"/>
            <a:chOff x="-44" y="1473"/>
            <a:chExt cx="981" cy="1105"/>
          </a:xfrm>
        </p:grpSpPr>
        <p:pic>
          <p:nvPicPr>
            <p:cNvPr id="407" name="Picture 161" descr="desktop_computer_stylized_medium">
              <a:extLst>
                <a:ext uri="{FF2B5EF4-FFF2-40B4-BE49-F238E27FC236}">
                  <a16:creationId xmlns:a16="http://schemas.microsoft.com/office/drawing/2014/main" id="{3D454C67-648C-464C-9348-5D5073002B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 name="Freeform 162">
              <a:extLst>
                <a:ext uri="{FF2B5EF4-FFF2-40B4-BE49-F238E27FC236}">
                  <a16:creationId xmlns:a16="http://schemas.microsoft.com/office/drawing/2014/main" id="{AF9C0563-4685-1D4B-BCCD-35AFDE3FA6D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47" name="Group 163">
            <a:extLst>
              <a:ext uri="{FF2B5EF4-FFF2-40B4-BE49-F238E27FC236}">
                <a16:creationId xmlns:a16="http://schemas.microsoft.com/office/drawing/2014/main" id="{B6D845CD-0E90-2A48-9E39-CEAB78AAF9D3}"/>
              </a:ext>
            </a:extLst>
          </p:cNvPr>
          <p:cNvGrpSpPr>
            <a:grpSpLocks/>
          </p:cNvGrpSpPr>
          <p:nvPr/>
        </p:nvGrpSpPr>
        <p:grpSpPr bwMode="auto">
          <a:xfrm>
            <a:off x="7141970" y="5736859"/>
            <a:ext cx="284691" cy="577481"/>
            <a:chOff x="4140" y="429"/>
            <a:chExt cx="1425" cy="2396"/>
          </a:xfrm>
        </p:grpSpPr>
        <p:sp>
          <p:nvSpPr>
            <p:cNvPr id="375" name="Freeform 164">
              <a:extLst>
                <a:ext uri="{FF2B5EF4-FFF2-40B4-BE49-F238E27FC236}">
                  <a16:creationId xmlns:a16="http://schemas.microsoft.com/office/drawing/2014/main" id="{AC1944D9-AB2D-A840-B696-F06D81AC9C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6" name="Rectangle 165">
              <a:extLst>
                <a:ext uri="{FF2B5EF4-FFF2-40B4-BE49-F238E27FC236}">
                  <a16:creationId xmlns:a16="http://schemas.microsoft.com/office/drawing/2014/main" id="{FE3F2702-7FD8-D84F-B02B-60338FAC645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Freeform 166">
              <a:extLst>
                <a:ext uri="{FF2B5EF4-FFF2-40B4-BE49-F238E27FC236}">
                  <a16:creationId xmlns:a16="http://schemas.microsoft.com/office/drawing/2014/main" id="{AE3945C7-89B6-AE48-8EE1-FAE01D503FE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8" name="Freeform 167">
              <a:extLst>
                <a:ext uri="{FF2B5EF4-FFF2-40B4-BE49-F238E27FC236}">
                  <a16:creationId xmlns:a16="http://schemas.microsoft.com/office/drawing/2014/main" id="{8B262BBF-D0A1-384E-849C-4C274B7FE56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9" name="Rectangle 168">
              <a:extLst>
                <a:ext uri="{FF2B5EF4-FFF2-40B4-BE49-F238E27FC236}">
                  <a16:creationId xmlns:a16="http://schemas.microsoft.com/office/drawing/2014/main" id="{B21054BF-A0F7-5548-9EE7-4534695D12BF}"/>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0" name="Group 169">
              <a:extLst>
                <a:ext uri="{FF2B5EF4-FFF2-40B4-BE49-F238E27FC236}">
                  <a16:creationId xmlns:a16="http://schemas.microsoft.com/office/drawing/2014/main" id="{2C63B899-F37C-2843-B0E4-6A8FD67FEB3C}"/>
                </a:ext>
              </a:extLst>
            </p:cNvPr>
            <p:cNvGrpSpPr>
              <a:grpSpLocks/>
            </p:cNvGrpSpPr>
            <p:nvPr/>
          </p:nvGrpSpPr>
          <p:grpSpPr bwMode="auto">
            <a:xfrm>
              <a:off x="4749" y="668"/>
              <a:ext cx="581" cy="145"/>
              <a:chOff x="614" y="2568"/>
              <a:chExt cx="725" cy="139"/>
            </a:xfrm>
          </p:grpSpPr>
          <p:sp>
            <p:nvSpPr>
              <p:cNvPr id="405" name="AutoShape 170">
                <a:extLst>
                  <a:ext uri="{FF2B5EF4-FFF2-40B4-BE49-F238E27FC236}">
                    <a16:creationId xmlns:a16="http://schemas.microsoft.com/office/drawing/2014/main" id="{94C05A2E-6617-C343-8F01-95B4E8D0C0AD}"/>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171">
                <a:extLst>
                  <a:ext uri="{FF2B5EF4-FFF2-40B4-BE49-F238E27FC236}">
                    <a16:creationId xmlns:a16="http://schemas.microsoft.com/office/drawing/2014/main" id="{881D794E-FF34-414B-ABDF-C5EFE314129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1" name="Rectangle 172">
              <a:extLst>
                <a:ext uri="{FF2B5EF4-FFF2-40B4-BE49-F238E27FC236}">
                  <a16:creationId xmlns:a16="http://schemas.microsoft.com/office/drawing/2014/main" id="{1248FF3D-9E05-3A40-AB88-FD1C22C30F0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2" name="Group 173">
              <a:extLst>
                <a:ext uri="{FF2B5EF4-FFF2-40B4-BE49-F238E27FC236}">
                  <a16:creationId xmlns:a16="http://schemas.microsoft.com/office/drawing/2014/main" id="{AEA37B61-C679-BD4C-946C-0850A830FE28}"/>
                </a:ext>
              </a:extLst>
            </p:cNvPr>
            <p:cNvGrpSpPr>
              <a:grpSpLocks/>
            </p:cNvGrpSpPr>
            <p:nvPr/>
          </p:nvGrpSpPr>
          <p:grpSpPr bwMode="auto">
            <a:xfrm>
              <a:off x="4747" y="994"/>
              <a:ext cx="581" cy="134"/>
              <a:chOff x="614" y="2568"/>
              <a:chExt cx="725" cy="139"/>
            </a:xfrm>
          </p:grpSpPr>
          <p:sp>
            <p:nvSpPr>
              <p:cNvPr id="403" name="AutoShape 174">
                <a:extLst>
                  <a:ext uri="{FF2B5EF4-FFF2-40B4-BE49-F238E27FC236}">
                    <a16:creationId xmlns:a16="http://schemas.microsoft.com/office/drawing/2014/main" id="{E18E671A-3A85-AB40-A9A6-C1676123ED1A}"/>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AutoShape 175">
                <a:extLst>
                  <a:ext uri="{FF2B5EF4-FFF2-40B4-BE49-F238E27FC236}">
                    <a16:creationId xmlns:a16="http://schemas.microsoft.com/office/drawing/2014/main" id="{091465B3-523F-F74A-848E-134B2B03659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3" name="Rectangle 176">
              <a:extLst>
                <a:ext uri="{FF2B5EF4-FFF2-40B4-BE49-F238E27FC236}">
                  <a16:creationId xmlns:a16="http://schemas.microsoft.com/office/drawing/2014/main" id="{9F161249-61DD-1645-8787-2796E69D4525}"/>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Rectangle 177">
              <a:extLst>
                <a:ext uri="{FF2B5EF4-FFF2-40B4-BE49-F238E27FC236}">
                  <a16:creationId xmlns:a16="http://schemas.microsoft.com/office/drawing/2014/main" id="{AA505E39-11E3-4D49-96C3-80F10D41D46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5" name="Group 178">
              <a:extLst>
                <a:ext uri="{FF2B5EF4-FFF2-40B4-BE49-F238E27FC236}">
                  <a16:creationId xmlns:a16="http://schemas.microsoft.com/office/drawing/2014/main" id="{A3C57DB1-4919-604C-A319-3C717B76618C}"/>
                </a:ext>
              </a:extLst>
            </p:cNvPr>
            <p:cNvGrpSpPr>
              <a:grpSpLocks/>
            </p:cNvGrpSpPr>
            <p:nvPr/>
          </p:nvGrpSpPr>
          <p:grpSpPr bwMode="auto">
            <a:xfrm>
              <a:off x="4735" y="1627"/>
              <a:ext cx="582" cy="151"/>
              <a:chOff x="614" y="2568"/>
              <a:chExt cx="725" cy="139"/>
            </a:xfrm>
          </p:grpSpPr>
          <p:sp>
            <p:nvSpPr>
              <p:cNvPr id="401" name="AutoShape 179">
                <a:extLst>
                  <a:ext uri="{FF2B5EF4-FFF2-40B4-BE49-F238E27FC236}">
                    <a16:creationId xmlns:a16="http://schemas.microsoft.com/office/drawing/2014/main" id="{5E8B2822-F633-304D-B3EE-0E72DDC60D6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AutoShape 180">
                <a:extLst>
                  <a:ext uri="{FF2B5EF4-FFF2-40B4-BE49-F238E27FC236}">
                    <a16:creationId xmlns:a16="http://schemas.microsoft.com/office/drawing/2014/main" id="{05C20314-621B-134F-97EA-D4A0DDECDD4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6" name="Freeform 181">
              <a:extLst>
                <a:ext uri="{FF2B5EF4-FFF2-40B4-BE49-F238E27FC236}">
                  <a16:creationId xmlns:a16="http://schemas.microsoft.com/office/drawing/2014/main" id="{BD2DBEB0-3968-0649-BC9B-64EA7317E00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87" name="Group 182">
              <a:extLst>
                <a:ext uri="{FF2B5EF4-FFF2-40B4-BE49-F238E27FC236}">
                  <a16:creationId xmlns:a16="http://schemas.microsoft.com/office/drawing/2014/main" id="{BFC44DA6-F534-CD44-A919-BDA60B793836}"/>
                </a:ext>
              </a:extLst>
            </p:cNvPr>
            <p:cNvGrpSpPr>
              <a:grpSpLocks/>
            </p:cNvGrpSpPr>
            <p:nvPr/>
          </p:nvGrpSpPr>
          <p:grpSpPr bwMode="auto">
            <a:xfrm>
              <a:off x="4739" y="1327"/>
              <a:ext cx="582" cy="139"/>
              <a:chOff x="614" y="2568"/>
              <a:chExt cx="725" cy="139"/>
            </a:xfrm>
          </p:grpSpPr>
          <p:sp>
            <p:nvSpPr>
              <p:cNvPr id="399" name="AutoShape 183">
                <a:extLst>
                  <a:ext uri="{FF2B5EF4-FFF2-40B4-BE49-F238E27FC236}">
                    <a16:creationId xmlns:a16="http://schemas.microsoft.com/office/drawing/2014/main" id="{E60E8D05-3918-B747-A606-FC0E1386C154}"/>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184">
                <a:extLst>
                  <a:ext uri="{FF2B5EF4-FFF2-40B4-BE49-F238E27FC236}">
                    <a16:creationId xmlns:a16="http://schemas.microsoft.com/office/drawing/2014/main" id="{8735D17B-A685-3648-8255-F30DD55695A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85">
              <a:extLst>
                <a:ext uri="{FF2B5EF4-FFF2-40B4-BE49-F238E27FC236}">
                  <a16:creationId xmlns:a16="http://schemas.microsoft.com/office/drawing/2014/main" id="{B66C501C-7D5B-8E4B-B068-5CCE73A0405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9" name="Freeform 186">
              <a:extLst>
                <a:ext uri="{FF2B5EF4-FFF2-40B4-BE49-F238E27FC236}">
                  <a16:creationId xmlns:a16="http://schemas.microsoft.com/office/drawing/2014/main" id="{33C62712-7A81-4F41-B474-B9218B7AFA0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Freeform 187">
              <a:extLst>
                <a:ext uri="{FF2B5EF4-FFF2-40B4-BE49-F238E27FC236}">
                  <a16:creationId xmlns:a16="http://schemas.microsoft.com/office/drawing/2014/main" id="{E4B6BE7D-DBBB-B44D-A0F9-E40A81D7F43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1" name="Oval 188">
              <a:extLst>
                <a:ext uri="{FF2B5EF4-FFF2-40B4-BE49-F238E27FC236}">
                  <a16:creationId xmlns:a16="http://schemas.microsoft.com/office/drawing/2014/main" id="{6D17DB9A-DA87-3640-89B5-EA939BE73CE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Freeform 189">
              <a:extLst>
                <a:ext uri="{FF2B5EF4-FFF2-40B4-BE49-F238E27FC236}">
                  <a16:creationId xmlns:a16="http://schemas.microsoft.com/office/drawing/2014/main" id="{2DE874C4-BF52-8245-9555-CA025B392D7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3" name="AutoShape 190">
              <a:extLst>
                <a:ext uri="{FF2B5EF4-FFF2-40B4-BE49-F238E27FC236}">
                  <a16:creationId xmlns:a16="http://schemas.microsoft.com/office/drawing/2014/main" id="{D15AD96A-57FC-B240-8995-DEDB6B8C42C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91">
              <a:extLst>
                <a:ext uri="{FF2B5EF4-FFF2-40B4-BE49-F238E27FC236}">
                  <a16:creationId xmlns:a16="http://schemas.microsoft.com/office/drawing/2014/main" id="{9B662CF9-5E9F-EE42-826A-BA11CF39366A}"/>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Oval 192">
              <a:extLst>
                <a:ext uri="{FF2B5EF4-FFF2-40B4-BE49-F238E27FC236}">
                  <a16:creationId xmlns:a16="http://schemas.microsoft.com/office/drawing/2014/main" id="{F2A6059E-C073-154E-9CDE-85E284A9C1E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Oval 193">
              <a:extLst>
                <a:ext uri="{FF2B5EF4-FFF2-40B4-BE49-F238E27FC236}">
                  <a16:creationId xmlns:a16="http://schemas.microsoft.com/office/drawing/2014/main" id="{55ECAC8A-9EEB-3F47-B474-796C5779F66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97" name="Oval 194">
              <a:extLst>
                <a:ext uri="{FF2B5EF4-FFF2-40B4-BE49-F238E27FC236}">
                  <a16:creationId xmlns:a16="http://schemas.microsoft.com/office/drawing/2014/main" id="{F009E702-300F-2245-8184-904D723ECFB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Rectangle 195">
              <a:extLst>
                <a:ext uri="{FF2B5EF4-FFF2-40B4-BE49-F238E27FC236}">
                  <a16:creationId xmlns:a16="http://schemas.microsoft.com/office/drawing/2014/main" id="{E1220E42-05A2-224A-AF06-8BC122552018}"/>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8" name="Line 57">
            <a:extLst>
              <a:ext uri="{FF2B5EF4-FFF2-40B4-BE49-F238E27FC236}">
                <a16:creationId xmlns:a16="http://schemas.microsoft.com/office/drawing/2014/main" id="{BE19B1CA-E01A-2D4A-A501-25E01C74D0D9}"/>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Line 57">
            <a:extLst>
              <a:ext uri="{FF2B5EF4-FFF2-40B4-BE49-F238E27FC236}">
                <a16:creationId xmlns:a16="http://schemas.microsoft.com/office/drawing/2014/main" id="{CDD86028-5E0B-1E49-A327-7BF095EF01DB}"/>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0" name="Line 57">
            <a:extLst>
              <a:ext uri="{FF2B5EF4-FFF2-40B4-BE49-F238E27FC236}">
                <a16:creationId xmlns:a16="http://schemas.microsoft.com/office/drawing/2014/main" id="{456364AC-0294-B946-BA06-B02AD7C1481D}"/>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7AD5920F-E18F-2E4A-8BAE-ACFA2B9B05A4}"/>
              </a:ext>
            </a:extLst>
          </p:cNvPr>
          <p:cNvGrpSpPr/>
          <p:nvPr/>
        </p:nvGrpSpPr>
        <p:grpSpPr>
          <a:xfrm>
            <a:off x="2749090" y="3427413"/>
            <a:ext cx="2851610" cy="946150"/>
            <a:chOff x="2749090" y="3427413"/>
            <a:chExt cx="2851610" cy="946150"/>
          </a:xfrm>
        </p:grpSpPr>
        <p:sp>
          <p:nvSpPr>
            <p:cNvPr id="368" name="Text Box 68">
              <a:extLst>
                <a:ext uri="{FF2B5EF4-FFF2-40B4-BE49-F238E27FC236}">
                  <a16:creationId xmlns:a16="http://schemas.microsoft.com/office/drawing/2014/main" id="{859A744D-4964-E049-B851-169F4C802B9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9" name="Oval 217">
              <a:extLst>
                <a:ext uri="{FF2B5EF4-FFF2-40B4-BE49-F238E27FC236}">
                  <a16:creationId xmlns:a16="http://schemas.microsoft.com/office/drawing/2014/main" id="{46259149-BCE0-B941-AA71-927BC7C2EE1D}"/>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Line 229">
              <a:extLst>
                <a:ext uri="{FF2B5EF4-FFF2-40B4-BE49-F238E27FC236}">
                  <a16:creationId xmlns:a16="http://schemas.microsoft.com/office/drawing/2014/main" id="{9CBDE0F7-AD5A-7847-A00B-C9BE9408958B}"/>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Oval 232">
              <a:extLst>
                <a:ext uri="{FF2B5EF4-FFF2-40B4-BE49-F238E27FC236}">
                  <a16:creationId xmlns:a16="http://schemas.microsoft.com/office/drawing/2014/main" id="{50F84776-27DA-5E43-BACA-DB1E8848891B}"/>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2" name="Text Box 233">
              <a:extLst>
                <a:ext uri="{FF2B5EF4-FFF2-40B4-BE49-F238E27FC236}">
                  <a16:creationId xmlns:a16="http://schemas.microsoft.com/office/drawing/2014/main" id="{CD7720D4-A07A-DB4C-A9C9-DFD5FF905D56}"/>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73" name="Line 234">
              <a:extLst>
                <a:ext uri="{FF2B5EF4-FFF2-40B4-BE49-F238E27FC236}">
                  <a16:creationId xmlns:a16="http://schemas.microsoft.com/office/drawing/2014/main" id="{E5F71B29-0A2A-964A-BC39-E82168AE5BAA}"/>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Line 235">
              <a:extLst>
                <a:ext uri="{FF2B5EF4-FFF2-40B4-BE49-F238E27FC236}">
                  <a16:creationId xmlns:a16="http://schemas.microsoft.com/office/drawing/2014/main" id="{2CB87FE3-B426-7646-85C8-A92260133CC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2" name="Group 351">
            <a:extLst>
              <a:ext uri="{FF2B5EF4-FFF2-40B4-BE49-F238E27FC236}">
                <a16:creationId xmlns:a16="http://schemas.microsoft.com/office/drawing/2014/main" id="{F6D1D3E8-6407-F347-8471-50418E5DB3B6}"/>
              </a:ext>
            </a:extLst>
          </p:cNvPr>
          <p:cNvGrpSpPr/>
          <p:nvPr/>
        </p:nvGrpSpPr>
        <p:grpSpPr>
          <a:xfrm>
            <a:off x="2913490" y="5218953"/>
            <a:ext cx="1938730" cy="1300181"/>
            <a:chOff x="2913490" y="5218953"/>
            <a:chExt cx="1938730" cy="1300181"/>
          </a:xfrm>
        </p:grpSpPr>
        <p:sp>
          <p:nvSpPr>
            <p:cNvPr id="357" name="Text Box 32">
              <a:extLst>
                <a:ext uri="{FF2B5EF4-FFF2-40B4-BE49-F238E27FC236}">
                  <a16:creationId xmlns:a16="http://schemas.microsoft.com/office/drawing/2014/main" id="{1A4AA4F8-0231-2B46-803C-7155B2F0120F}"/>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8" name="Line 77">
              <a:extLst>
                <a:ext uri="{FF2B5EF4-FFF2-40B4-BE49-F238E27FC236}">
                  <a16:creationId xmlns:a16="http://schemas.microsoft.com/office/drawing/2014/main" id="{89EEFCE7-B693-DF47-A9C3-7974FB2172E2}"/>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9" name="Group 358">
              <a:extLst>
                <a:ext uri="{FF2B5EF4-FFF2-40B4-BE49-F238E27FC236}">
                  <a16:creationId xmlns:a16="http://schemas.microsoft.com/office/drawing/2014/main" id="{D0C09238-8174-BB4A-8E90-44FDE9970486}"/>
                </a:ext>
              </a:extLst>
            </p:cNvPr>
            <p:cNvGrpSpPr/>
            <p:nvPr/>
          </p:nvGrpSpPr>
          <p:grpSpPr>
            <a:xfrm>
              <a:off x="4030362" y="5218953"/>
              <a:ext cx="821858" cy="355937"/>
              <a:chOff x="6859123" y="5156933"/>
              <a:chExt cx="456701" cy="226548"/>
            </a:xfrm>
          </p:grpSpPr>
          <p:sp>
            <p:nvSpPr>
              <p:cNvPr id="360" name="Rectangle 359">
                <a:extLst>
                  <a:ext uri="{FF2B5EF4-FFF2-40B4-BE49-F238E27FC236}">
                    <a16:creationId xmlns:a16="http://schemas.microsoft.com/office/drawing/2014/main" id="{92A586BF-DE6F-8C4B-AE2F-F0967D2E372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1" name="Straight Connector 360">
                <a:extLst>
                  <a:ext uri="{FF2B5EF4-FFF2-40B4-BE49-F238E27FC236}">
                    <a16:creationId xmlns:a16="http://schemas.microsoft.com/office/drawing/2014/main" id="{0E592EE8-BB64-8D4B-9345-8DEFE71B26C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5F79093-B2D3-DA49-86C9-324E48C7FA3A}"/>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EE578935-8319-0640-AF1D-F33CFCCD6D7E}"/>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1A169DC6-020D-CF4C-944B-35A60B7E9A3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FE5D615-EDCC-3D44-B201-E215C2A51C1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F42D5131-B17F-3447-A42A-972810DE3D7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B1CCBEF8-F4EA-4348-968D-DFF086EA12A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53" name="Freeform 91">
            <a:extLst>
              <a:ext uri="{FF2B5EF4-FFF2-40B4-BE49-F238E27FC236}">
                <a16:creationId xmlns:a16="http://schemas.microsoft.com/office/drawing/2014/main" id="{74B53B18-9053-AB4D-AAB3-9A2A8C61C05F}"/>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4" name="Group 353">
            <a:extLst>
              <a:ext uri="{FF2B5EF4-FFF2-40B4-BE49-F238E27FC236}">
                <a16:creationId xmlns:a16="http://schemas.microsoft.com/office/drawing/2014/main" id="{FC27C661-ABA7-0F42-9E2F-25607CCF3F4D}"/>
              </a:ext>
            </a:extLst>
          </p:cNvPr>
          <p:cNvGrpSpPr/>
          <p:nvPr/>
        </p:nvGrpSpPr>
        <p:grpSpPr>
          <a:xfrm>
            <a:off x="1586591" y="4743924"/>
            <a:ext cx="4913849" cy="1346072"/>
            <a:chOff x="5641439" y="2685215"/>
            <a:chExt cx="4000500" cy="1028700"/>
          </a:xfrm>
        </p:grpSpPr>
        <p:sp>
          <p:nvSpPr>
            <p:cNvPr id="355" name="Oval 73">
              <a:extLst>
                <a:ext uri="{FF2B5EF4-FFF2-40B4-BE49-F238E27FC236}">
                  <a16:creationId xmlns:a16="http://schemas.microsoft.com/office/drawing/2014/main" id="{E72E301D-F1BA-6444-B895-0B1F0880352E}"/>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Freeform 90">
              <a:extLst>
                <a:ext uri="{FF2B5EF4-FFF2-40B4-BE49-F238E27FC236}">
                  <a16:creationId xmlns:a16="http://schemas.microsoft.com/office/drawing/2014/main" id="{13DADEF9-AF21-FF44-BE17-072235C1AE6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71" name="Group 470">
            <a:extLst>
              <a:ext uri="{FF2B5EF4-FFF2-40B4-BE49-F238E27FC236}">
                <a16:creationId xmlns:a16="http://schemas.microsoft.com/office/drawing/2014/main" id="{C0C36A94-589E-A54C-A4A3-B52075E06328}"/>
              </a:ext>
            </a:extLst>
          </p:cNvPr>
          <p:cNvGrpSpPr/>
          <p:nvPr/>
        </p:nvGrpSpPr>
        <p:grpSpPr>
          <a:xfrm>
            <a:off x="3289650" y="5336775"/>
            <a:ext cx="2124396" cy="604097"/>
            <a:chOff x="3289650" y="5336775"/>
            <a:chExt cx="2124396" cy="604097"/>
          </a:xfrm>
        </p:grpSpPr>
        <p:sp>
          <p:nvSpPr>
            <p:cNvPr id="472" name="TextBox 471">
              <a:extLst>
                <a:ext uri="{FF2B5EF4-FFF2-40B4-BE49-F238E27FC236}">
                  <a16:creationId xmlns:a16="http://schemas.microsoft.com/office/drawing/2014/main" id="{A9A4B8BA-23AF-5649-A3E6-D2BC9304C80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73" name="TextBox 472">
              <a:extLst>
                <a:ext uri="{FF2B5EF4-FFF2-40B4-BE49-F238E27FC236}">
                  <a16:creationId xmlns:a16="http://schemas.microsoft.com/office/drawing/2014/main" id="{1F06564D-8518-8D42-A177-6D185E9763E0}"/>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29" name="Rectangle 235">
            <a:extLst>
              <a:ext uri="{FF2B5EF4-FFF2-40B4-BE49-F238E27FC236}">
                <a16:creationId xmlns:a16="http://schemas.microsoft.com/office/drawing/2014/main" id="{3A9A156B-19A0-8342-AF04-25615D3C763E}"/>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236">
            <a:extLst>
              <a:ext uri="{FF2B5EF4-FFF2-40B4-BE49-F238E27FC236}">
                <a16:creationId xmlns:a16="http://schemas.microsoft.com/office/drawing/2014/main" id="{E294DDA8-9BC1-2C4F-AB17-AAF3914D97A7}"/>
              </a:ext>
            </a:extLst>
          </p:cNvPr>
          <p:cNvSpPr txBox="1">
            <a:spLocks noChangeArrowheads="1"/>
          </p:cNvSpPr>
          <p:nvPr/>
        </p:nvSpPr>
        <p:spPr bwMode="auto">
          <a:xfrm>
            <a:off x="3725863"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231" name="Rectangle 237">
            <a:extLst>
              <a:ext uri="{FF2B5EF4-FFF2-40B4-BE49-F238E27FC236}">
                <a16:creationId xmlns:a16="http://schemas.microsoft.com/office/drawing/2014/main" id="{360D339D-2CD2-AD42-920B-3E6688F7095A}"/>
              </a:ext>
            </a:extLst>
          </p:cNvPr>
          <p:cNvSpPr>
            <a:spLocks noChangeArrowheads="1"/>
          </p:cNvSpPr>
          <p:nvPr/>
        </p:nvSpPr>
        <p:spPr bwMode="auto">
          <a:xfrm>
            <a:off x="2381250" y="3844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2" name="Rectangle 264">
            <a:extLst>
              <a:ext uri="{FF2B5EF4-FFF2-40B4-BE49-F238E27FC236}">
                <a16:creationId xmlns:a16="http://schemas.microsoft.com/office/drawing/2014/main" id="{BB519C3C-C510-F944-9E31-54655082190E}"/>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1126E605-68BC-EB43-9DDC-7055194378DF}"/>
              </a:ext>
            </a:extLst>
          </p:cNvPr>
          <p:cNvGrpSpPr/>
          <p:nvPr/>
        </p:nvGrpSpPr>
        <p:grpSpPr>
          <a:xfrm>
            <a:off x="10039611" y="1993407"/>
            <a:ext cx="1866837" cy="1277498"/>
            <a:chOff x="10039611" y="1800903"/>
            <a:chExt cx="1866837" cy="1277498"/>
          </a:xfrm>
        </p:grpSpPr>
        <p:sp>
          <p:nvSpPr>
            <p:cNvPr id="174" name="Text Box 252">
              <a:extLst>
                <a:ext uri="{FF2B5EF4-FFF2-40B4-BE49-F238E27FC236}">
                  <a16:creationId xmlns:a16="http://schemas.microsoft.com/office/drawing/2014/main" id="{01A1C74C-CAF4-D343-928F-0A92D0818ABD}"/>
                </a:ext>
              </a:extLst>
            </p:cNvPr>
            <p:cNvSpPr txBox="1">
              <a:spLocks noChangeArrowheads="1"/>
            </p:cNvSpPr>
            <p:nvPr/>
          </p:nvSpPr>
          <p:spPr bwMode="auto">
            <a:xfrm>
              <a:off x="10188717" y="2099672"/>
              <a:ext cx="1717731" cy="9787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sending at R/2, some packets are needed retransmissions</a:t>
              </a:r>
            </a:p>
          </p:txBody>
        </p:sp>
        <p:sp>
          <p:nvSpPr>
            <p:cNvPr id="175" name="Line 253">
              <a:extLst>
                <a:ext uri="{FF2B5EF4-FFF2-40B4-BE49-F238E27FC236}">
                  <a16:creationId xmlns:a16="http://schemas.microsoft.com/office/drawing/2014/main" id="{08A19883-389A-0744-90AC-A2F43EE860AE}"/>
                </a:ext>
              </a:extLst>
            </p:cNvPr>
            <p:cNvSpPr>
              <a:spLocks noChangeShapeType="1"/>
            </p:cNvSpPr>
            <p:nvPr/>
          </p:nvSpPr>
          <p:spPr bwMode="auto">
            <a:xfrm flipH="1" flipV="1">
              <a:off x="10039611" y="1800903"/>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76" name="Group 175">
            <a:extLst>
              <a:ext uri="{FF2B5EF4-FFF2-40B4-BE49-F238E27FC236}">
                <a16:creationId xmlns:a16="http://schemas.microsoft.com/office/drawing/2014/main" id="{926AA148-B0D7-CC4E-9816-B84A671E16CE}"/>
              </a:ext>
            </a:extLst>
          </p:cNvPr>
          <p:cNvGrpSpPr/>
          <p:nvPr/>
        </p:nvGrpSpPr>
        <p:grpSpPr>
          <a:xfrm>
            <a:off x="7361453" y="1392684"/>
            <a:ext cx="3100386" cy="2791471"/>
            <a:chOff x="10662918" y="1488938"/>
            <a:chExt cx="3100386" cy="2791471"/>
          </a:xfrm>
        </p:grpSpPr>
        <p:sp>
          <p:nvSpPr>
            <p:cNvPr id="177" name="Freeform 245">
              <a:extLst>
                <a:ext uri="{FF2B5EF4-FFF2-40B4-BE49-F238E27FC236}">
                  <a16:creationId xmlns:a16="http://schemas.microsoft.com/office/drawing/2014/main" id="{F3B393A3-F432-5143-B5C5-92241ECA3889}"/>
                </a:ext>
              </a:extLst>
            </p:cNvPr>
            <p:cNvSpPr>
              <a:spLocks/>
            </p:cNvSpPr>
            <p:nvPr/>
          </p:nvSpPr>
          <p:spPr bwMode="auto">
            <a:xfrm>
              <a:off x="11260180" y="2035401"/>
              <a:ext cx="2024019" cy="1604948"/>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125" y="9688"/>
                    <a:pt x="7233" y="1532"/>
                  </a:cubicBezTo>
                  <a:cubicBezTo>
                    <a:pt x="7865" y="929"/>
                    <a:pt x="8381" y="338"/>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8" name="Group 246">
              <a:extLst>
                <a:ext uri="{FF2B5EF4-FFF2-40B4-BE49-F238E27FC236}">
                  <a16:creationId xmlns:a16="http://schemas.microsoft.com/office/drawing/2014/main" id="{AAE2772B-88A3-794C-B173-B78F63EB26A5}"/>
                </a:ext>
              </a:extLst>
            </p:cNvPr>
            <p:cNvGrpSpPr>
              <a:grpSpLocks/>
            </p:cNvGrpSpPr>
            <p:nvPr/>
          </p:nvGrpSpPr>
          <p:grpSpPr bwMode="auto">
            <a:xfrm>
              <a:off x="12077700" y="3606746"/>
              <a:ext cx="458788" cy="400051"/>
              <a:chOff x="3583" y="1761"/>
              <a:chExt cx="289" cy="252"/>
            </a:xfrm>
          </p:grpSpPr>
          <p:sp>
            <p:nvSpPr>
              <p:cNvPr id="192" name="Text Box 247">
                <a:extLst>
                  <a:ext uri="{FF2B5EF4-FFF2-40B4-BE49-F238E27FC236}">
                    <a16:creationId xmlns:a16="http://schemas.microsoft.com/office/drawing/2014/main" id="{0CD967AF-AE53-0141-B763-822463304CC6}"/>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193" name="Line 248">
                <a:extLst>
                  <a:ext uri="{FF2B5EF4-FFF2-40B4-BE49-F238E27FC236}">
                    <a16:creationId xmlns:a16="http://schemas.microsoft.com/office/drawing/2014/main" id="{8D1623B3-54DC-FF40-A9ED-596362BD7E2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79" name="Line 278">
              <a:extLst>
                <a:ext uri="{FF2B5EF4-FFF2-40B4-BE49-F238E27FC236}">
                  <a16:creationId xmlns:a16="http://schemas.microsoft.com/office/drawing/2014/main" id="{2DAB427C-45D4-6A41-80B1-CB2A86EFD9C8}"/>
                </a:ext>
              </a:extLst>
            </p:cNvPr>
            <p:cNvSpPr>
              <a:spLocks noChangeShapeType="1"/>
            </p:cNvSpPr>
            <p:nvPr/>
          </p:nvSpPr>
          <p:spPr bwMode="auto">
            <a:xfrm>
              <a:off x="11267134" y="14889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0" name="Line 280">
              <a:extLst>
                <a:ext uri="{FF2B5EF4-FFF2-40B4-BE49-F238E27FC236}">
                  <a16:creationId xmlns:a16="http://schemas.microsoft.com/office/drawing/2014/main" id="{76DB589D-7977-134C-A4C6-CBB66786BDAB}"/>
                </a:ext>
              </a:extLst>
            </p:cNvPr>
            <p:cNvSpPr>
              <a:spLocks noChangeShapeType="1"/>
            </p:cNvSpPr>
            <p:nvPr/>
          </p:nvSpPr>
          <p:spPr bwMode="auto">
            <a:xfrm>
              <a:off x="13274022" y="17252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1" name="Freeform 281">
              <a:extLst>
                <a:ext uri="{FF2B5EF4-FFF2-40B4-BE49-F238E27FC236}">
                  <a16:creationId xmlns:a16="http://schemas.microsoft.com/office/drawing/2014/main" id="{4582F97F-DEC6-1042-84F8-230A0E725038}"/>
                </a:ext>
              </a:extLst>
            </p:cNvPr>
            <p:cNvSpPr>
              <a:spLocks/>
            </p:cNvSpPr>
            <p:nvPr/>
          </p:nvSpPr>
          <p:spPr bwMode="auto">
            <a:xfrm>
              <a:off x="11255891" y="16661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Line 282">
              <a:extLst>
                <a:ext uri="{FF2B5EF4-FFF2-40B4-BE49-F238E27FC236}">
                  <a16:creationId xmlns:a16="http://schemas.microsoft.com/office/drawing/2014/main" id="{E27607A2-A55D-1E4E-A7DC-D02F627E8623}"/>
                </a:ext>
              </a:extLst>
            </p:cNvPr>
            <p:cNvSpPr>
              <a:spLocks noChangeShapeType="1"/>
            </p:cNvSpPr>
            <p:nvPr/>
          </p:nvSpPr>
          <p:spPr bwMode="auto">
            <a:xfrm>
              <a:off x="11120974" y="16661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3" name="Line 283">
              <a:extLst>
                <a:ext uri="{FF2B5EF4-FFF2-40B4-BE49-F238E27FC236}">
                  <a16:creationId xmlns:a16="http://schemas.microsoft.com/office/drawing/2014/main" id="{8DD37E8C-1915-D049-AB47-171918ED155D}"/>
                </a:ext>
              </a:extLst>
            </p:cNvPr>
            <p:cNvSpPr>
              <a:spLocks noChangeShapeType="1"/>
            </p:cNvSpPr>
            <p:nvPr/>
          </p:nvSpPr>
          <p:spPr bwMode="auto">
            <a:xfrm>
              <a:off x="13268401" y="36479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4" name="Text Box 284">
              <a:extLst>
                <a:ext uri="{FF2B5EF4-FFF2-40B4-BE49-F238E27FC236}">
                  <a16:creationId xmlns:a16="http://schemas.microsoft.com/office/drawing/2014/main" id="{373B57A0-6A99-7640-8562-A14FEDE2B5C1}"/>
                </a:ext>
              </a:extLst>
            </p:cNvPr>
            <p:cNvSpPr txBox="1">
              <a:spLocks noChangeArrowheads="1"/>
            </p:cNvSpPr>
            <p:nvPr/>
          </p:nvSpPr>
          <p:spPr bwMode="auto">
            <a:xfrm>
              <a:off x="10662918" y="14916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85" name="Text Box 286">
              <a:extLst>
                <a:ext uri="{FF2B5EF4-FFF2-40B4-BE49-F238E27FC236}">
                  <a16:creationId xmlns:a16="http://schemas.microsoft.com/office/drawing/2014/main" id="{A39B50BF-5EFF-0045-ADB3-B4F28E92E69B}"/>
                </a:ext>
              </a:extLst>
            </p:cNvPr>
            <p:cNvSpPr txBox="1">
              <a:spLocks noChangeArrowheads="1"/>
            </p:cNvSpPr>
            <p:nvPr/>
          </p:nvSpPr>
          <p:spPr bwMode="auto">
            <a:xfrm rot="16200000">
              <a:off x="10693131" y="16209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186" name="Line 288">
              <a:extLst>
                <a:ext uri="{FF2B5EF4-FFF2-40B4-BE49-F238E27FC236}">
                  <a16:creationId xmlns:a16="http://schemas.microsoft.com/office/drawing/2014/main" id="{55EB893A-4478-7D4E-A2A8-A5437DE0CEFB}"/>
                </a:ext>
              </a:extLst>
            </p:cNvPr>
            <p:cNvSpPr>
              <a:spLocks noChangeShapeType="1"/>
            </p:cNvSpPr>
            <p:nvPr/>
          </p:nvSpPr>
          <p:spPr bwMode="auto">
            <a:xfrm>
              <a:off x="11300864" y="1668859"/>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187" name="Straight Connector 186">
              <a:extLst>
                <a:ext uri="{FF2B5EF4-FFF2-40B4-BE49-F238E27FC236}">
                  <a16:creationId xmlns:a16="http://schemas.microsoft.com/office/drawing/2014/main" id="{0D3A43B7-67EB-8149-8177-63ACBDAC09D3}"/>
                </a:ext>
              </a:extLst>
            </p:cNvPr>
            <p:cNvCxnSpPr>
              <a:cxnSpLocks/>
            </p:cNvCxnSpPr>
            <p:nvPr/>
          </p:nvCxnSpPr>
          <p:spPr>
            <a:xfrm>
              <a:off x="11277601" y="36263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8C6ED6D6-A137-9B42-BF4F-C72EBCC66029}"/>
                </a:ext>
              </a:extLst>
            </p:cNvPr>
            <p:cNvSpPr txBox="1"/>
            <p:nvPr/>
          </p:nvSpPr>
          <p:spPr>
            <a:xfrm rot="16200000">
              <a:off x="10440763" y="27080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189" name="Oval 188">
              <a:extLst>
                <a:ext uri="{FF2B5EF4-FFF2-40B4-BE49-F238E27FC236}">
                  <a16:creationId xmlns:a16="http://schemas.microsoft.com/office/drawing/2014/main" id="{A51FB1CF-649B-CC49-BACE-97B8B3CDE942}"/>
                </a:ext>
              </a:extLst>
            </p:cNvPr>
            <p:cNvSpPr/>
            <p:nvPr/>
          </p:nvSpPr>
          <p:spPr>
            <a:xfrm>
              <a:off x="13195300" y="1625600"/>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0" name="Text Box 285">
              <a:extLst>
                <a:ext uri="{FF2B5EF4-FFF2-40B4-BE49-F238E27FC236}">
                  <a16:creationId xmlns:a16="http://schemas.microsoft.com/office/drawing/2014/main" id="{C633E812-6FC0-C24F-B90C-3885051F03C4}"/>
                </a:ext>
              </a:extLst>
            </p:cNvPr>
            <p:cNvSpPr txBox="1">
              <a:spLocks noChangeArrowheads="1"/>
            </p:cNvSpPr>
            <p:nvPr/>
          </p:nvSpPr>
          <p:spPr bwMode="auto">
            <a:xfrm>
              <a:off x="12948181" y="37648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91" name="Oval 190">
              <a:extLst>
                <a:ext uri="{FF2B5EF4-FFF2-40B4-BE49-F238E27FC236}">
                  <a16:creationId xmlns:a16="http://schemas.microsoft.com/office/drawing/2014/main" id="{DB7FD550-F812-2E40-88E3-303D39E6D2EA}"/>
                </a:ext>
              </a:extLst>
            </p:cNvPr>
            <p:cNvSpPr/>
            <p:nvPr/>
          </p:nvSpPr>
          <p:spPr>
            <a:xfrm>
              <a:off x="13213792" y="197868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4" name="Line 288">
              <a:extLst>
                <a:ext uri="{FF2B5EF4-FFF2-40B4-BE49-F238E27FC236}">
                  <a16:creationId xmlns:a16="http://schemas.microsoft.com/office/drawing/2014/main" id="{D53B1774-03D5-BD4B-9BCD-E50D15DB4A0C}"/>
                </a:ext>
              </a:extLst>
            </p:cNvPr>
            <p:cNvSpPr>
              <a:spLocks noChangeShapeType="1"/>
            </p:cNvSpPr>
            <p:nvPr/>
          </p:nvSpPr>
          <p:spPr bwMode="auto">
            <a:xfrm>
              <a:off x="11261558" y="2061890"/>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 name="Oval 9">
            <a:extLst>
              <a:ext uri="{FF2B5EF4-FFF2-40B4-BE49-F238E27FC236}">
                <a16:creationId xmlns:a16="http://schemas.microsoft.com/office/drawing/2014/main" id="{9628093C-FFB3-054E-B64A-1E3835241090}"/>
              </a:ext>
            </a:extLst>
          </p:cNvPr>
          <p:cNvSpPr/>
          <p:nvPr/>
        </p:nvSpPr>
        <p:spPr>
          <a:xfrm rot="19191287">
            <a:off x="7883091" y="2781701"/>
            <a:ext cx="1203158" cy="529390"/>
          </a:xfrm>
          <a:prstGeom prst="ellipse">
            <a:avLst/>
          </a:prstGeom>
          <a:noFill/>
          <a:ln w="25400">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 name="Oval 10">
            <a:extLst>
              <a:ext uri="{FF2B5EF4-FFF2-40B4-BE49-F238E27FC236}">
                <a16:creationId xmlns:a16="http://schemas.microsoft.com/office/drawing/2014/main" id="{1B6200A7-EAB4-A446-B925-6AAC42752BAA}"/>
              </a:ext>
            </a:extLst>
          </p:cNvPr>
          <p:cNvSpPr/>
          <p:nvPr/>
        </p:nvSpPr>
        <p:spPr>
          <a:xfrm>
            <a:off x="9577137" y="1414913"/>
            <a:ext cx="866274" cy="866274"/>
          </a:xfrm>
          <a:prstGeom prst="ellipse">
            <a:avLst/>
          </a:prstGeom>
          <a:noFill/>
          <a:ln w="28575">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9" name="Group 8">
            <a:extLst>
              <a:ext uri="{FF2B5EF4-FFF2-40B4-BE49-F238E27FC236}">
                <a16:creationId xmlns:a16="http://schemas.microsoft.com/office/drawing/2014/main" id="{D654E839-2366-974D-AA53-9D5D4AA79583}"/>
              </a:ext>
            </a:extLst>
          </p:cNvPr>
          <p:cNvGrpSpPr/>
          <p:nvPr/>
        </p:nvGrpSpPr>
        <p:grpSpPr>
          <a:xfrm>
            <a:off x="10048776" y="1568677"/>
            <a:ext cx="1915427" cy="480131"/>
            <a:chOff x="10048776" y="1376173"/>
            <a:chExt cx="1915427" cy="480131"/>
          </a:xfrm>
          <a:solidFill>
            <a:schemeClr val="bg1"/>
          </a:solidFill>
        </p:grpSpPr>
        <p:sp>
          <p:nvSpPr>
            <p:cNvPr id="7" name="Right Brace 6">
              <a:extLst>
                <a:ext uri="{FF2B5EF4-FFF2-40B4-BE49-F238E27FC236}">
                  <a16:creationId xmlns:a16="http://schemas.microsoft.com/office/drawing/2014/main" id="{0A993798-9407-6A45-8986-FB364E5661F1}"/>
                </a:ext>
              </a:extLst>
            </p:cNvPr>
            <p:cNvSpPr/>
            <p:nvPr/>
          </p:nvSpPr>
          <p:spPr>
            <a:xfrm>
              <a:off x="10048776" y="1414914"/>
              <a:ext cx="144379" cy="336885"/>
            </a:xfrm>
            <a:prstGeom prst="rightBrac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6" name="Text Box 252">
              <a:extLst>
                <a:ext uri="{FF2B5EF4-FFF2-40B4-BE49-F238E27FC236}">
                  <a16:creationId xmlns:a16="http://schemas.microsoft.com/office/drawing/2014/main" id="{90EEE6E2-B3F9-6740-9FCA-2CF9A84F8740}"/>
                </a:ext>
              </a:extLst>
            </p:cNvPr>
            <p:cNvSpPr txBox="1">
              <a:spLocks noChangeArrowheads="1"/>
            </p:cNvSpPr>
            <p:nvPr/>
          </p:nvSpPr>
          <p:spPr bwMode="auto">
            <a:xfrm>
              <a:off x="10148612" y="1376173"/>
              <a:ext cx="1815591" cy="480131"/>
            </a:xfrm>
            <a:prstGeom prst="rect">
              <a:avLst/>
            </a:prstGeom>
            <a:grp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retransmissions</a:t>
              </a:r>
            </a:p>
          </p:txBody>
        </p:sp>
      </p:grpSp>
      <p:sp>
        <p:nvSpPr>
          <p:cNvPr id="195" name="Slide Number Placeholder 2">
            <a:extLst>
              <a:ext uri="{FF2B5EF4-FFF2-40B4-BE49-F238E27FC236}">
                <a16:creationId xmlns:a16="http://schemas.microsoft.com/office/drawing/2014/main" id="{D20A324A-9052-8641-896E-6CAFE67008A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115</a:t>
            </a:fld>
            <a:endParaRPr lang="en-US" dirty="0"/>
          </a:p>
        </p:txBody>
      </p:sp>
    </p:spTree>
    <p:extLst>
      <p:ext uri="{BB962C8B-B14F-4D97-AF65-F5344CB8AC3E}">
        <p14:creationId xmlns:p14="http://schemas.microsoft.com/office/powerpoint/2010/main" val="849525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45833E-6 -2.22222E-6 L 0.02383 -2.22222E-6 L 0.02383 0.14584 L 0.08542 0.14584 L 0.05716 0.20625 L 0.16237 0.20625 " pathEditMode="relative" rAng="0" ptsTypes="AAAAAA">
                                      <p:cBhvr>
                                        <p:cTn id="6" dur="2000" fill="hold"/>
                                        <p:tgtEl>
                                          <p:spTgt spid="229"/>
                                        </p:tgtEl>
                                        <p:attrNameLst>
                                          <p:attrName>ppt_x</p:attrName>
                                          <p:attrName>ppt_y</p:attrName>
                                        </p:attrNameLst>
                                      </p:cBhvr>
                                      <p:rCtr x="8112" y="10301"/>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dissolve">
                                      <p:cBhvr>
                                        <p:cTn id="10" dur="500"/>
                                        <p:tgtEl>
                                          <p:spTgt spid="230"/>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0.16237 0.20625 L 0.19492 0.20648 " pathEditMode="relative" rAng="0" ptsTypes="AA">
                                      <p:cBhvr>
                                        <p:cTn id="13" dur="3000" fill="hold"/>
                                        <p:tgtEl>
                                          <p:spTgt spid="229"/>
                                        </p:tgtEl>
                                        <p:attrNameLst>
                                          <p:attrName>ppt_x</p:attrName>
                                          <p:attrName>ppt_y</p:attrName>
                                        </p:attrNameLst>
                                      </p:cBhvr>
                                      <p:rCtr x="1628" y="0"/>
                                    </p:animMotion>
                                  </p:childTnLst>
                                </p:cTn>
                              </p:par>
                            </p:childTnLst>
                          </p:cTn>
                        </p:par>
                        <p:par>
                          <p:cTn id="14" fill="hold">
                            <p:stCondLst>
                              <p:cond delay="5500"/>
                            </p:stCondLst>
                            <p:childTnLst>
                              <p:par>
                                <p:cTn id="15" presetID="9" presetClass="exit" presetSubtype="0" fill="hold" nodeType="afterEffect">
                                  <p:stCondLst>
                                    <p:cond delay="0"/>
                                  </p:stCondLst>
                                  <p:childTnLst>
                                    <p:animEffect transition="out" filter="dissolve">
                                      <p:cBhvr>
                                        <p:cTn id="16" dur="500"/>
                                        <p:tgtEl>
                                          <p:spTgt spid="230"/>
                                        </p:tgtEl>
                                      </p:cBhvr>
                                    </p:animEffect>
                                    <p:set>
                                      <p:cBhvr>
                                        <p:cTn id="17" dur="1" fill="hold">
                                          <p:stCondLst>
                                            <p:cond delay="499"/>
                                          </p:stCondLst>
                                        </p:cTn>
                                        <p:tgtEl>
                                          <p:spTgt spid="230"/>
                                        </p:tgtEl>
                                        <p:attrNameLst>
                                          <p:attrName>style.visibility</p:attrName>
                                        </p:attrNameLst>
                                      </p:cBhvr>
                                      <p:to>
                                        <p:strVal val="hidden"/>
                                      </p:to>
                                    </p:set>
                                  </p:childTnLst>
                                </p:cTn>
                              </p:par>
                            </p:childTnLst>
                          </p:cTn>
                        </p:par>
                        <p:par>
                          <p:cTn id="18" fill="hold">
                            <p:stCondLst>
                              <p:cond delay="6000"/>
                            </p:stCondLst>
                            <p:childTnLst>
                              <p:par>
                                <p:cTn id="19" presetID="0" presetClass="path" presetSubtype="0" accel="50000" decel="50000" fill="hold" grpId="2" nodeType="afterEffect">
                                  <p:stCondLst>
                                    <p:cond delay="0"/>
                                  </p:stCondLst>
                                  <p:childTnLst>
                                    <p:animMotion origin="layout" path="M 0.20625 0.20648 L 0.25221 0.20648 L 0.29661 0.11597 L 0.35755 0.12084 L 0.35755 -0.01111 " pathEditMode="relative" rAng="0" ptsTypes="AAAAA">
                                      <p:cBhvr>
                                        <p:cTn id="20" dur="2000" fill="hold"/>
                                        <p:tgtEl>
                                          <p:spTgt spid="229"/>
                                        </p:tgtEl>
                                        <p:attrNameLst>
                                          <p:attrName>ppt_x</p:attrName>
                                          <p:attrName>ppt_y</p:attrName>
                                        </p:attrNameLst>
                                      </p:cBhvr>
                                      <p:rCtr x="7565" y="-10880"/>
                                    </p:animMotion>
                                  </p:childTnLst>
                                </p:cTn>
                              </p:par>
                            </p:childTnLst>
                          </p:cTn>
                        </p:par>
                        <p:par>
                          <p:cTn id="21" fill="hold">
                            <p:stCondLst>
                              <p:cond delay="8000"/>
                            </p:stCondLst>
                            <p:childTnLst>
                              <p:par>
                                <p:cTn id="22" presetID="9" presetClass="exit" presetSubtype="0" fill="hold" grpId="3" nodeType="afterEffect">
                                  <p:stCondLst>
                                    <p:cond delay="0"/>
                                  </p:stCondLst>
                                  <p:childTnLst>
                                    <p:animEffect transition="out" filter="dissolve">
                                      <p:cBhvr>
                                        <p:cTn id="23" dur="500"/>
                                        <p:tgtEl>
                                          <p:spTgt spid="229"/>
                                        </p:tgtEl>
                                      </p:cBhvr>
                                    </p:animEffect>
                                    <p:set>
                                      <p:cBhvr>
                                        <p:cTn id="24" dur="1" fill="hold">
                                          <p:stCondLst>
                                            <p:cond delay="499"/>
                                          </p:stCondLst>
                                        </p:cTn>
                                        <p:tgtEl>
                                          <p:spTgt spid="22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1"/>
                                        </p:tgtEl>
                                      </p:cBhvr>
                                    </p:animEffect>
                                    <p:set>
                                      <p:cBhvr>
                                        <p:cTn id="27" dur="1" fill="hold">
                                          <p:stCondLst>
                                            <p:cond delay="499"/>
                                          </p:stCondLst>
                                        </p:cTn>
                                        <p:tgtEl>
                                          <p:spTgt spid="23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6"/>
                                        </p:tgtEl>
                                        <p:attrNameLst>
                                          <p:attrName>style.visibility</p:attrName>
                                        </p:attrNameLst>
                                      </p:cBhvr>
                                      <p:to>
                                        <p:strVal val="visible"/>
                                      </p:to>
                                    </p:set>
                                    <p:animEffect transition="in" filter="dissolve">
                                      <p:cBhvr>
                                        <p:cTn id="32" dur="500"/>
                                        <p:tgtEl>
                                          <p:spTgt spid="17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dissolv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par>
                                <p:cTn id="43" presetID="9" presetClass="exit" presetSubtype="0" fill="hold" grpId="1" nodeType="withEffect">
                                  <p:stCondLst>
                                    <p:cond delay="0"/>
                                  </p:stCondLst>
                                  <p:childTnLst>
                                    <p:animEffect transition="out" filter="dissolve">
                                      <p:cBhvr>
                                        <p:cTn id="44" dur="500"/>
                                        <p:tgtEl>
                                          <p:spTgt spid="10"/>
                                        </p:tgtEl>
                                      </p:cBhvr>
                                    </p:animEffect>
                                    <p:set>
                                      <p:cBhvr>
                                        <p:cTn id="45" dur="1" fill="hold">
                                          <p:stCondLst>
                                            <p:cond delay="499"/>
                                          </p:stCondLst>
                                        </p:cTn>
                                        <p:tgtEl>
                                          <p:spTgt spid="1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dissolve">
                                      <p:cBhvr>
                                        <p:cTn id="50" dur="500"/>
                                        <p:tgtEl>
                                          <p:spTgt spid="8"/>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dissolve">
                                      <p:cBhvr>
                                        <p:cTn id="5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9" grpId="2" animBg="1"/>
      <p:bldP spid="229" grpId="3" animBg="1"/>
      <p:bldP spid="230" grpId="0"/>
      <p:bldP spid="231" grpId="0" animBg="1"/>
      <p:bldP spid="10" grpId="0" animBg="1"/>
      <p:bldP spid="10" grpId="1" animBg="1"/>
      <p:bldP spid="11"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timeout</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sp>
        <p:nvSpPr>
          <p:cNvPr id="342" name="Rectangle 281">
            <a:extLst>
              <a:ext uri="{FF2B5EF4-FFF2-40B4-BE49-F238E27FC236}">
                <a16:creationId xmlns:a16="http://schemas.microsoft.com/office/drawing/2014/main" id="{3D39CBCD-019A-0349-BB68-948FE706EC0C}"/>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02227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04010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36145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116</a:t>
            </a:fld>
            <a:endParaRPr lang="en-US" dirty="0"/>
          </a:p>
        </p:txBody>
      </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“costs” of congestion: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work (retransmission) for given receiver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throughput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unneeded retransmissions: link carries multiple copies of a packet</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decreasing maximum achievable throughput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117</a:t>
            </a:fld>
            <a:endParaRPr lang="en-US" dirty="0"/>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four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multi-hop</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paths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timeout/retransmit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happens as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red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0"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increases, all arriving blue pkts at upper queue are dropped, blue throughput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g</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0</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finite shared output link buffers</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retransmitted data</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118</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another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cost” of congestion: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when packet dropped, any </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and buffering used for that packet was wasted!</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119</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insights</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120</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Group 176">
            <a:extLst>
              <a:ext uri="{FF2B5EF4-FFF2-40B4-BE49-F238E27FC236}">
                <a16:creationId xmlns:a16="http://schemas.microsoft.com/office/drawing/2014/main" id="{06DD7C50-58C4-B34F-A819-0EADD89C2A37}"/>
              </a:ext>
            </a:extLst>
          </p:cNvPr>
          <p:cNvGrpSpPr/>
          <p:nvPr/>
        </p:nvGrpSpPr>
        <p:grpSpPr>
          <a:xfrm>
            <a:off x="10476914" y="2368655"/>
            <a:ext cx="717868" cy="1154474"/>
            <a:chOff x="7664720" y="2795550"/>
            <a:chExt cx="717868" cy="1154474"/>
          </a:xfrm>
        </p:grpSpPr>
        <p:sp>
          <p:nvSpPr>
            <p:cNvPr id="178" name="Rectangle 177">
              <a:extLst>
                <a:ext uri="{FF2B5EF4-FFF2-40B4-BE49-F238E27FC236}">
                  <a16:creationId xmlns:a16="http://schemas.microsoft.com/office/drawing/2014/main" id="{F52B9B30-D973-4342-9353-3C55976BEB6A}"/>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79" name="Straight Connector 178">
              <a:extLst>
                <a:ext uri="{FF2B5EF4-FFF2-40B4-BE49-F238E27FC236}">
                  <a16:creationId xmlns:a16="http://schemas.microsoft.com/office/drawing/2014/main" id="{224EADA8-9231-C54D-B660-93136571FE3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B564AD7-6052-D74E-AFB8-443721B0BA8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C030439-89A7-D141-93A0-55E98A03659C}"/>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A29CBFF5-3970-894F-B8C7-846B6CF65EF2}"/>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2" name="Freeform 270">
            <a:extLst>
              <a:ext uri="{FF2B5EF4-FFF2-40B4-BE49-F238E27FC236}">
                <a16:creationId xmlns:a16="http://schemas.microsoft.com/office/drawing/2014/main" id="{CE7C7371-97B5-C346-A95F-94B2CF95CEF8}"/>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4" name="Group 354">
            <a:extLst>
              <a:ext uri="{FF2B5EF4-FFF2-40B4-BE49-F238E27FC236}">
                <a16:creationId xmlns:a16="http://schemas.microsoft.com/office/drawing/2014/main" id="{1BCC2894-BF9B-8F46-AA42-B55DC303E1A8}"/>
              </a:ext>
            </a:extLst>
          </p:cNvPr>
          <p:cNvGrpSpPr>
            <a:grpSpLocks/>
          </p:cNvGrpSpPr>
          <p:nvPr/>
        </p:nvGrpSpPr>
        <p:grpSpPr bwMode="auto">
          <a:xfrm>
            <a:off x="6405254" y="3243263"/>
            <a:ext cx="525462" cy="434975"/>
            <a:chOff x="-44" y="1473"/>
            <a:chExt cx="981" cy="1105"/>
          </a:xfrm>
        </p:grpSpPr>
        <p:pic>
          <p:nvPicPr>
            <p:cNvPr id="135" name="Picture 355" descr="desktop_computer_stylized_medium">
              <a:extLst>
                <a:ext uri="{FF2B5EF4-FFF2-40B4-BE49-F238E27FC236}">
                  <a16:creationId xmlns:a16="http://schemas.microsoft.com/office/drawing/2014/main" id="{3E99589F-1E40-7C43-B8AA-5029A4A263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356">
              <a:extLst>
                <a:ext uri="{FF2B5EF4-FFF2-40B4-BE49-F238E27FC236}">
                  <a16:creationId xmlns:a16="http://schemas.microsoft.com/office/drawing/2014/main" id="{B3DD6BB4-576F-9148-8D11-578565B588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37" name="Group 136">
            <a:extLst>
              <a:ext uri="{FF2B5EF4-FFF2-40B4-BE49-F238E27FC236}">
                <a16:creationId xmlns:a16="http://schemas.microsoft.com/office/drawing/2014/main" id="{147F56F3-1CFD-5745-9F94-FFAF782BC64A}"/>
              </a:ext>
            </a:extLst>
          </p:cNvPr>
          <p:cNvGrpSpPr/>
          <p:nvPr/>
        </p:nvGrpSpPr>
        <p:grpSpPr>
          <a:xfrm>
            <a:off x="7045286" y="2362077"/>
            <a:ext cx="717868" cy="1154474"/>
            <a:chOff x="7664720" y="2799688"/>
            <a:chExt cx="717868" cy="1154474"/>
          </a:xfrm>
        </p:grpSpPr>
        <p:sp>
          <p:nvSpPr>
            <p:cNvPr id="138" name="Rectangle 137">
              <a:extLst>
                <a:ext uri="{FF2B5EF4-FFF2-40B4-BE49-F238E27FC236}">
                  <a16:creationId xmlns:a16="http://schemas.microsoft.com/office/drawing/2014/main" id="{12A18A2C-071A-724E-ABAB-EE121ADBCB05}"/>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9" name="Straight Connector 138">
              <a:extLst>
                <a:ext uri="{FF2B5EF4-FFF2-40B4-BE49-F238E27FC236}">
                  <a16:creationId xmlns:a16="http://schemas.microsoft.com/office/drawing/2014/main" id="{5A246001-6FA7-F047-AECA-800C5A5F30CD}"/>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07FE2E-B4F8-E142-9856-65C553F4A8E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F241007-617C-9B47-BDCF-F85615C450A7}"/>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AB2A72B-F1C5-4049-8439-AABBF750CD86}"/>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884903" y="1939313"/>
            <a:ext cx="5562600" cy="2536434"/>
          </a:xfrm>
        </p:spPr>
        <p:txBody>
          <a:bodyPr>
            <a:normAutofit lnSpcReduction="10000"/>
          </a:bodyPr>
          <a:lstStyle/>
          <a:p>
            <a:pPr>
              <a:buFont typeface="Wingdings" charset="0"/>
              <a:buNone/>
              <a:defRPr/>
            </a:pPr>
            <a:r>
              <a:rPr lang="en-US" sz="3200" dirty="0">
                <a:solidFill>
                  <a:srgbClr val="C00000"/>
                </a:solidFill>
              </a:rPr>
              <a:t>E</a:t>
            </a:r>
            <a:r>
              <a:rPr lang="en-US" sz="3200" dirty="0">
                <a:solidFill>
                  <a:srgbClr val="C00000"/>
                </a:solidFill>
                <a:cs typeface="+mn-cs"/>
              </a:rPr>
              <a:t>nd-end congestion control:</a:t>
            </a:r>
          </a:p>
          <a:p>
            <a:pPr marL="466725" indent="-336550">
              <a:defRPr/>
            </a:pPr>
            <a:r>
              <a:rPr lang="en-US" sz="3200" dirty="0"/>
              <a:t>no explicit feedback from network</a:t>
            </a:r>
          </a:p>
          <a:p>
            <a:pPr marL="466725" indent="-336550">
              <a:defRPr/>
            </a:pPr>
            <a:r>
              <a:rPr lang="en-US" sz="3200" dirty="0"/>
              <a:t>congestion </a:t>
            </a:r>
            <a:r>
              <a:rPr lang="en-US" sz="3200" i="1" dirty="0">
                <a:solidFill>
                  <a:srgbClr val="C00000"/>
                </a:solidFill>
              </a:rPr>
              <a:t>inferred</a:t>
            </a:r>
            <a:r>
              <a:rPr lang="en-US" sz="3200" dirty="0"/>
              <a:t> from observed loss, delay</a:t>
            </a: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5" name="Freeform 2">
            <a:extLst>
              <a:ext uri="{FF2B5EF4-FFF2-40B4-BE49-F238E27FC236}">
                <a16:creationId xmlns:a16="http://schemas.microsoft.com/office/drawing/2014/main" id="{152A9AF6-236E-E947-A90D-95476DF178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6" name="Freeform 6">
            <a:extLst>
              <a:ext uri="{FF2B5EF4-FFF2-40B4-BE49-F238E27FC236}">
                <a16:creationId xmlns:a16="http://schemas.microsoft.com/office/drawing/2014/main" id="{57E9EEA9-F362-5541-9FCC-5483A233137E}"/>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7" name="Freeform 91">
            <a:extLst>
              <a:ext uri="{FF2B5EF4-FFF2-40B4-BE49-F238E27FC236}">
                <a16:creationId xmlns:a16="http://schemas.microsoft.com/office/drawing/2014/main" id="{E427D45F-306D-1B44-BF5E-891FCB01E246}"/>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8" name="Freeform 92">
            <a:extLst>
              <a:ext uri="{FF2B5EF4-FFF2-40B4-BE49-F238E27FC236}">
                <a16:creationId xmlns:a16="http://schemas.microsoft.com/office/drawing/2014/main" id="{F209776F-AA9D-E941-ADBB-CB44422BD081}"/>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9" name="Freeform 93">
            <a:extLst>
              <a:ext uri="{FF2B5EF4-FFF2-40B4-BE49-F238E27FC236}">
                <a16:creationId xmlns:a16="http://schemas.microsoft.com/office/drawing/2014/main" id="{8B9D5253-F5A6-2746-81DB-996216E1FB97}"/>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 name="Freeform 94">
            <a:extLst>
              <a:ext uri="{FF2B5EF4-FFF2-40B4-BE49-F238E27FC236}">
                <a16:creationId xmlns:a16="http://schemas.microsoft.com/office/drawing/2014/main" id="{61F0A20F-097C-EA42-809A-3298AB6693B1}"/>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 name="Freeform 95">
            <a:extLst>
              <a:ext uri="{FF2B5EF4-FFF2-40B4-BE49-F238E27FC236}">
                <a16:creationId xmlns:a16="http://schemas.microsoft.com/office/drawing/2014/main" id="{424EA790-DC83-AE41-B59F-CDBDBE0981CB}"/>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 name="Freeform 96">
            <a:extLst>
              <a:ext uri="{FF2B5EF4-FFF2-40B4-BE49-F238E27FC236}">
                <a16:creationId xmlns:a16="http://schemas.microsoft.com/office/drawing/2014/main" id="{72EB3BD6-9F21-2342-8AED-3E9F67894AD9}"/>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1" name="Group 70">
            <a:extLst>
              <a:ext uri="{FF2B5EF4-FFF2-40B4-BE49-F238E27FC236}">
                <a16:creationId xmlns:a16="http://schemas.microsoft.com/office/drawing/2014/main" id="{475DCF5F-4092-2C43-896B-19822B08E6B5}"/>
              </a:ext>
            </a:extLst>
          </p:cNvPr>
          <p:cNvGrpSpPr/>
          <p:nvPr/>
        </p:nvGrpSpPr>
        <p:grpSpPr>
          <a:xfrm>
            <a:off x="9719734" y="3946352"/>
            <a:ext cx="578032" cy="285706"/>
            <a:chOff x="7493876" y="2774731"/>
            <a:chExt cx="1481958" cy="894622"/>
          </a:xfrm>
        </p:grpSpPr>
        <p:sp>
          <p:nvSpPr>
            <p:cNvPr id="72" name="Freeform 71">
              <a:extLst>
                <a:ext uri="{FF2B5EF4-FFF2-40B4-BE49-F238E27FC236}">
                  <a16:creationId xmlns:a16="http://schemas.microsoft.com/office/drawing/2014/main" id="{318160F9-6FEC-9A43-8802-7C6CC98A3E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73" name="Oval 72">
              <a:extLst>
                <a:ext uri="{FF2B5EF4-FFF2-40B4-BE49-F238E27FC236}">
                  <a16:creationId xmlns:a16="http://schemas.microsoft.com/office/drawing/2014/main" id="{5375EF01-0290-9B47-8E36-E43DE1108F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74" name="Group 73">
              <a:extLst>
                <a:ext uri="{FF2B5EF4-FFF2-40B4-BE49-F238E27FC236}">
                  <a16:creationId xmlns:a16="http://schemas.microsoft.com/office/drawing/2014/main" id="{9B178D65-D230-EE4E-A397-C7BE84BE7B28}"/>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F6706B47-A3DA-2948-AE76-ECB82CD211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997E8A2-E352-944A-9B99-BDEBAA2024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C5522D15-A640-D544-8C5A-740AB15174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0A657C9E-78AA-054A-8253-7E707F297A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79" name="Group 78">
            <a:extLst>
              <a:ext uri="{FF2B5EF4-FFF2-40B4-BE49-F238E27FC236}">
                <a16:creationId xmlns:a16="http://schemas.microsoft.com/office/drawing/2014/main" id="{0703BE46-EF6B-8F4F-8103-DB506FA237F8}"/>
              </a:ext>
            </a:extLst>
          </p:cNvPr>
          <p:cNvGrpSpPr/>
          <p:nvPr/>
        </p:nvGrpSpPr>
        <p:grpSpPr>
          <a:xfrm>
            <a:off x="9351606" y="4600112"/>
            <a:ext cx="578032" cy="285706"/>
            <a:chOff x="7493876" y="2774731"/>
            <a:chExt cx="1481958" cy="894622"/>
          </a:xfrm>
        </p:grpSpPr>
        <p:sp>
          <p:nvSpPr>
            <p:cNvPr id="80" name="Freeform 79">
              <a:extLst>
                <a:ext uri="{FF2B5EF4-FFF2-40B4-BE49-F238E27FC236}">
                  <a16:creationId xmlns:a16="http://schemas.microsoft.com/office/drawing/2014/main" id="{C93DB37A-DC30-7049-A906-DE4299FCFE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1" name="Oval 80">
              <a:extLst>
                <a:ext uri="{FF2B5EF4-FFF2-40B4-BE49-F238E27FC236}">
                  <a16:creationId xmlns:a16="http://schemas.microsoft.com/office/drawing/2014/main" id="{4D540D06-51B9-D24C-A5F5-D49982A086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82" name="Group 81">
              <a:extLst>
                <a:ext uri="{FF2B5EF4-FFF2-40B4-BE49-F238E27FC236}">
                  <a16:creationId xmlns:a16="http://schemas.microsoft.com/office/drawing/2014/main" id="{50B97449-7EBF-F346-9FFA-F3CB1C97A6B6}"/>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1A098066-DD0C-0547-8ABC-8D18EA23F1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54B9AE5D-1C6E-8747-BA6A-CE53FF8E91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D4A0CA9E-BE5A-D743-94BD-A9A3807788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208F4AD6-8E7A-EC46-8054-65F2691235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7" name="Group 86">
            <a:extLst>
              <a:ext uri="{FF2B5EF4-FFF2-40B4-BE49-F238E27FC236}">
                <a16:creationId xmlns:a16="http://schemas.microsoft.com/office/drawing/2014/main" id="{2174B89A-A569-2044-B74A-55933EDB42EC}"/>
              </a:ext>
            </a:extLst>
          </p:cNvPr>
          <p:cNvGrpSpPr/>
          <p:nvPr/>
        </p:nvGrpSpPr>
        <p:grpSpPr>
          <a:xfrm>
            <a:off x="8195132" y="4551443"/>
            <a:ext cx="578032" cy="285706"/>
            <a:chOff x="7493876" y="2774731"/>
            <a:chExt cx="1481958" cy="894622"/>
          </a:xfrm>
        </p:grpSpPr>
        <p:sp>
          <p:nvSpPr>
            <p:cNvPr id="88" name="Freeform 87">
              <a:extLst>
                <a:ext uri="{FF2B5EF4-FFF2-40B4-BE49-F238E27FC236}">
                  <a16:creationId xmlns:a16="http://schemas.microsoft.com/office/drawing/2014/main" id="{5E0F2D6A-4975-2240-9DBA-9752CDABCD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9" name="Oval 88">
              <a:extLst>
                <a:ext uri="{FF2B5EF4-FFF2-40B4-BE49-F238E27FC236}">
                  <a16:creationId xmlns:a16="http://schemas.microsoft.com/office/drawing/2014/main" id="{7671BCEE-CA54-2A42-97FC-01FA73F51C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0" name="Group 89">
              <a:extLst>
                <a:ext uri="{FF2B5EF4-FFF2-40B4-BE49-F238E27FC236}">
                  <a16:creationId xmlns:a16="http://schemas.microsoft.com/office/drawing/2014/main" id="{BB74E383-7E77-2E4D-BBB3-C0CB1C080B5D}"/>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3C2C74B-BD87-0F41-9E97-2D6D70231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F9A726BB-74B1-444A-9200-225EE583E8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480EBF5E-6B8D-F547-BD3C-56A7E685D3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D8743C8-69EE-7C4B-AAD2-C758A3F1F9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95" name="Group 94">
            <a:extLst>
              <a:ext uri="{FF2B5EF4-FFF2-40B4-BE49-F238E27FC236}">
                <a16:creationId xmlns:a16="http://schemas.microsoft.com/office/drawing/2014/main" id="{5E3371FA-1B37-E043-BBA9-FBAEC0EF06BB}"/>
              </a:ext>
            </a:extLst>
          </p:cNvPr>
          <p:cNvGrpSpPr/>
          <p:nvPr/>
        </p:nvGrpSpPr>
        <p:grpSpPr>
          <a:xfrm>
            <a:off x="8800632" y="3636044"/>
            <a:ext cx="578032" cy="285706"/>
            <a:chOff x="7493876" y="2774731"/>
            <a:chExt cx="1481958" cy="894622"/>
          </a:xfrm>
        </p:grpSpPr>
        <p:sp>
          <p:nvSpPr>
            <p:cNvPr id="96" name="Freeform 95">
              <a:extLst>
                <a:ext uri="{FF2B5EF4-FFF2-40B4-BE49-F238E27FC236}">
                  <a16:creationId xmlns:a16="http://schemas.microsoft.com/office/drawing/2014/main" id="{D3C4E5C9-0C6C-FE44-8E48-3AEAB31232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97" name="Oval 96">
              <a:extLst>
                <a:ext uri="{FF2B5EF4-FFF2-40B4-BE49-F238E27FC236}">
                  <a16:creationId xmlns:a16="http://schemas.microsoft.com/office/drawing/2014/main" id="{00F2B9E3-1FE0-3341-9F1D-E60AC91CF4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8" name="Group 97">
              <a:extLst>
                <a:ext uri="{FF2B5EF4-FFF2-40B4-BE49-F238E27FC236}">
                  <a16:creationId xmlns:a16="http://schemas.microsoft.com/office/drawing/2014/main" id="{D9A4FE6E-757F-104A-A301-53D57A115B9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D1C4D832-AA7B-2F44-88F3-867F1C5C73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17B4F7C5-8F07-6444-9C56-5CCC6DAD80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A4D1016A-A633-4F47-AD16-9F5C4A1B4B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E90D1C0-25CA-D549-8BEC-F6FC08E9AF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03" name="Group 102">
            <a:extLst>
              <a:ext uri="{FF2B5EF4-FFF2-40B4-BE49-F238E27FC236}">
                <a16:creationId xmlns:a16="http://schemas.microsoft.com/office/drawing/2014/main" id="{5E0A555A-7D83-9C41-BC45-9CE34B97A2A0}"/>
              </a:ext>
            </a:extLst>
          </p:cNvPr>
          <p:cNvGrpSpPr/>
          <p:nvPr/>
        </p:nvGrpSpPr>
        <p:grpSpPr>
          <a:xfrm>
            <a:off x="8711293" y="4233883"/>
            <a:ext cx="578032" cy="285706"/>
            <a:chOff x="7493876" y="2774731"/>
            <a:chExt cx="1481958" cy="894622"/>
          </a:xfrm>
        </p:grpSpPr>
        <p:sp>
          <p:nvSpPr>
            <p:cNvPr id="104" name="Freeform 103">
              <a:extLst>
                <a:ext uri="{FF2B5EF4-FFF2-40B4-BE49-F238E27FC236}">
                  <a16:creationId xmlns:a16="http://schemas.microsoft.com/office/drawing/2014/main" id="{0CEF8A07-20B9-AE45-8F1F-7A43CAB1D7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5" name="Oval 104">
              <a:extLst>
                <a:ext uri="{FF2B5EF4-FFF2-40B4-BE49-F238E27FC236}">
                  <a16:creationId xmlns:a16="http://schemas.microsoft.com/office/drawing/2014/main" id="{EA79D59C-1529-9C45-BD77-6FFDD5DEAA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6" name="Group 105">
              <a:extLst>
                <a:ext uri="{FF2B5EF4-FFF2-40B4-BE49-F238E27FC236}">
                  <a16:creationId xmlns:a16="http://schemas.microsoft.com/office/drawing/2014/main" id="{E973AF34-BA3E-0A49-9E54-BD6B223BA524}"/>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C47C43C3-8FCB-5847-9007-9FF04DAF74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09F2051C-9B20-EE45-9CE2-4D3C79652D1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79216339-F1AE-4C4A-9C17-5BCC324EB3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161D2AE2-963A-F744-92D8-01315F7468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11" name="Group 110">
            <a:extLst>
              <a:ext uri="{FF2B5EF4-FFF2-40B4-BE49-F238E27FC236}">
                <a16:creationId xmlns:a16="http://schemas.microsoft.com/office/drawing/2014/main" id="{EFB94137-26B4-A84C-B882-BC754696ADF8}"/>
              </a:ext>
            </a:extLst>
          </p:cNvPr>
          <p:cNvGrpSpPr/>
          <p:nvPr/>
        </p:nvGrpSpPr>
        <p:grpSpPr>
          <a:xfrm>
            <a:off x="7764614" y="3944180"/>
            <a:ext cx="578032" cy="285706"/>
            <a:chOff x="7493876" y="2774731"/>
            <a:chExt cx="1481958" cy="894622"/>
          </a:xfrm>
        </p:grpSpPr>
        <p:sp>
          <p:nvSpPr>
            <p:cNvPr id="112" name="Freeform 111">
              <a:extLst>
                <a:ext uri="{FF2B5EF4-FFF2-40B4-BE49-F238E27FC236}">
                  <a16:creationId xmlns:a16="http://schemas.microsoft.com/office/drawing/2014/main" id="{56959650-8F47-BD44-967D-3B54247086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13" name="Oval 112">
              <a:extLst>
                <a:ext uri="{FF2B5EF4-FFF2-40B4-BE49-F238E27FC236}">
                  <a16:creationId xmlns:a16="http://schemas.microsoft.com/office/drawing/2014/main" id="{D4F846E9-5E5D-9246-A16E-A37E1F2DB7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14" name="Group 113">
              <a:extLst>
                <a:ext uri="{FF2B5EF4-FFF2-40B4-BE49-F238E27FC236}">
                  <a16:creationId xmlns:a16="http://schemas.microsoft.com/office/drawing/2014/main" id="{6C080F1D-CE13-8A4D-AE86-A9987401AEFE}"/>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C92B06F2-78EF-804D-8E0C-DCE71C44A5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C074DBD1-927C-2B4D-B10B-DD852445FB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BC9D84BC-889B-C849-9229-D2795054B3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9073BE05-706B-1446-BB36-AB53194859C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3" name="Group 2">
            <a:extLst>
              <a:ext uri="{FF2B5EF4-FFF2-40B4-BE49-F238E27FC236}">
                <a16:creationId xmlns:a16="http://schemas.microsoft.com/office/drawing/2014/main" id="{C584E5A3-CC37-804B-8E37-84F25E87BC63}"/>
              </a:ext>
            </a:extLst>
          </p:cNvPr>
          <p:cNvGrpSpPr/>
          <p:nvPr/>
        </p:nvGrpSpPr>
        <p:grpSpPr>
          <a:xfrm>
            <a:off x="8867832" y="4245561"/>
            <a:ext cx="456701" cy="226548"/>
            <a:chOff x="6859123" y="5156933"/>
            <a:chExt cx="456701" cy="226548"/>
          </a:xfrm>
        </p:grpSpPr>
        <p:sp>
          <p:nvSpPr>
            <p:cNvPr id="9" name="Rectangle 8">
              <a:extLst>
                <a:ext uri="{FF2B5EF4-FFF2-40B4-BE49-F238E27FC236}">
                  <a16:creationId xmlns:a16="http://schemas.microsoft.com/office/drawing/2014/main" id="{C093256C-E351-F04F-8F57-8CBAADAD32D9}"/>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1" name="Straight Connector 10">
              <a:extLst>
                <a:ext uri="{FF2B5EF4-FFF2-40B4-BE49-F238E27FC236}">
                  <a16:creationId xmlns:a16="http://schemas.microsoft.com/office/drawing/2014/main" id="{0C154E25-F682-744F-8785-AB5EDB9A5A5F}"/>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29C5F0A-310C-1443-A4BF-D9B6A1F9EDB9}"/>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B65FCB07-1990-1F40-B6A0-2DC9A68091B3}"/>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0B89AD6-5E3A-1642-BCCA-337C835BC035}"/>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5A1AE44-6AB7-1949-9184-889F736756EC}"/>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564862D-347A-7E41-8F9D-0ADF80768A2B}"/>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C855F5F-C9C2-4744-9B1E-696B4F0DB89C}"/>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D3DD9EA-3345-8345-9221-C06D0834BC89}"/>
              </a:ext>
            </a:extLst>
          </p:cNvPr>
          <p:cNvGrpSpPr/>
          <p:nvPr/>
        </p:nvGrpSpPr>
        <p:grpSpPr>
          <a:xfrm>
            <a:off x="7428575" y="2677315"/>
            <a:ext cx="3355719" cy="1705017"/>
            <a:chOff x="7428575" y="2677315"/>
            <a:chExt cx="3355719" cy="1705017"/>
          </a:xfrm>
        </p:grpSpPr>
        <p:sp>
          <p:nvSpPr>
            <p:cNvPr id="13" name="Freeform 12">
              <a:extLst>
                <a:ext uri="{FF2B5EF4-FFF2-40B4-BE49-F238E27FC236}">
                  <a16:creationId xmlns:a16="http://schemas.microsoft.com/office/drawing/2014/main" id="{F7906425-B196-CC44-BB40-5ACEF23B0A29}"/>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4689" name="Freeform 114688">
              <a:extLst>
                <a:ext uri="{FF2B5EF4-FFF2-40B4-BE49-F238E27FC236}">
                  <a16:creationId xmlns:a16="http://schemas.microsoft.com/office/drawing/2014/main" id="{F4B58868-99E6-0645-9773-CB66EC208FBD}"/>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431762DD-608F-AC4F-8D36-9BC825C14FB4}"/>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129" name="TextBox 128">
              <a:extLst>
                <a:ext uri="{FF2B5EF4-FFF2-40B4-BE49-F238E27FC236}">
                  <a16:creationId xmlns:a16="http://schemas.microsoft.com/office/drawing/2014/main" id="{38081CC2-E66E-0845-8CCA-2D10C6BE30EA}"/>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10" name="Group 9">
            <a:extLst>
              <a:ext uri="{FF2B5EF4-FFF2-40B4-BE49-F238E27FC236}">
                <a16:creationId xmlns:a16="http://schemas.microsoft.com/office/drawing/2014/main" id="{57CD35EA-0731-A641-906C-8974E60D529B}"/>
              </a:ext>
            </a:extLst>
          </p:cNvPr>
          <p:cNvGrpSpPr/>
          <p:nvPr/>
        </p:nvGrpSpPr>
        <p:grpSpPr>
          <a:xfrm>
            <a:off x="6799618" y="2691243"/>
            <a:ext cx="4657206" cy="1827509"/>
            <a:chOff x="6799618" y="2691243"/>
            <a:chExt cx="4657206" cy="1827509"/>
          </a:xfrm>
        </p:grpSpPr>
        <p:sp>
          <p:nvSpPr>
            <p:cNvPr id="124" name="Freeform 123">
              <a:extLst>
                <a:ext uri="{FF2B5EF4-FFF2-40B4-BE49-F238E27FC236}">
                  <a16:creationId xmlns:a16="http://schemas.microsoft.com/office/drawing/2014/main" id="{809FCE5A-94F2-AB43-A427-15DC48978945}"/>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0" name="TextBox 129">
              <a:extLst>
                <a:ext uri="{FF2B5EF4-FFF2-40B4-BE49-F238E27FC236}">
                  <a16:creationId xmlns:a16="http://schemas.microsoft.com/office/drawing/2014/main" id="{AC21E889-4F82-8649-829E-554EB51D7E5D}"/>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131" name="TextBox 130">
              <a:extLst>
                <a:ext uri="{FF2B5EF4-FFF2-40B4-BE49-F238E27FC236}">
                  <a16:creationId xmlns:a16="http://schemas.microsoft.com/office/drawing/2014/main" id="{4D544F8A-E5C9-4C42-B077-C996AF3E7BF7}"/>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176" name="Freeform 254">
            <a:extLst>
              <a:ext uri="{FF2B5EF4-FFF2-40B4-BE49-F238E27FC236}">
                <a16:creationId xmlns:a16="http://schemas.microsoft.com/office/drawing/2014/main" id="{098028B6-BF7C-6A40-A6E7-BD363548A403}"/>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4" name="Group 289">
            <a:extLst>
              <a:ext uri="{FF2B5EF4-FFF2-40B4-BE49-F238E27FC236}">
                <a16:creationId xmlns:a16="http://schemas.microsoft.com/office/drawing/2014/main" id="{36A89038-0233-574C-A16F-E12F82E32856}"/>
              </a:ext>
            </a:extLst>
          </p:cNvPr>
          <p:cNvGrpSpPr>
            <a:grpSpLocks/>
          </p:cNvGrpSpPr>
          <p:nvPr/>
        </p:nvGrpSpPr>
        <p:grpSpPr bwMode="auto">
          <a:xfrm>
            <a:off x="11355079" y="3260620"/>
            <a:ext cx="231775" cy="441325"/>
            <a:chOff x="4140" y="429"/>
            <a:chExt cx="1425" cy="2396"/>
          </a:xfrm>
        </p:grpSpPr>
        <p:sp>
          <p:nvSpPr>
            <p:cNvPr id="188" name="Freeform 290">
              <a:extLst>
                <a:ext uri="{FF2B5EF4-FFF2-40B4-BE49-F238E27FC236}">
                  <a16:creationId xmlns:a16="http://schemas.microsoft.com/office/drawing/2014/main" id="{9264264F-C8FF-E941-B8DB-F2A13E30F56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Rectangle 291">
              <a:extLst>
                <a:ext uri="{FF2B5EF4-FFF2-40B4-BE49-F238E27FC236}">
                  <a16:creationId xmlns:a16="http://schemas.microsoft.com/office/drawing/2014/main" id="{5580AF65-ED2C-7F4A-90B9-25AFA8C927C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Freeform 292">
              <a:extLst>
                <a:ext uri="{FF2B5EF4-FFF2-40B4-BE49-F238E27FC236}">
                  <a16:creationId xmlns:a16="http://schemas.microsoft.com/office/drawing/2014/main" id="{BC0C9A2A-A362-5D48-A13D-A730292A1B6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Freeform 293">
              <a:extLst>
                <a:ext uri="{FF2B5EF4-FFF2-40B4-BE49-F238E27FC236}">
                  <a16:creationId xmlns:a16="http://schemas.microsoft.com/office/drawing/2014/main" id="{741E5815-F201-3946-BA11-1961624585E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294">
              <a:extLst>
                <a:ext uri="{FF2B5EF4-FFF2-40B4-BE49-F238E27FC236}">
                  <a16:creationId xmlns:a16="http://schemas.microsoft.com/office/drawing/2014/main" id="{16834F46-BEA1-E54A-99D2-06A1D9E4EFA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95">
              <a:extLst>
                <a:ext uri="{FF2B5EF4-FFF2-40B4-BE49-F238E27FC236}">
                  <a16:creationId xmlns:a16="http://schemas.microsoft.com/office/drawing/2014/main" id="{EFE1DB65-55C6-A040-8489-E8E7A5072621}"/>
                </a:ext>
              </a:extLst>
            </p:cNvPr>
            <p:cNvGrpSpPr>
              <a:grpSpLocks/>
            </p:cNvGrpSpPr>
            <p:nvPr/>
          </p:nvGrpSpPr>
          <p:grpSpPr bwMode="auto">
            <a:xfrm>
              <a:off x="4749" y="668"/>
              <a:ext cx="581" cy="145"/>
              <a:chOff x="614" y="2568"/>
              <a:chExt cx="725" cy="139"/>
            </a:xfrm>
          </p:grpSpPr>
          <p:sp>
            <p:nvSpPr>
              <p:cNvPr id="233" name="AutoShape 296">
                <a:extLst>
                  <a:ext uri="{FF2B5EF4-FFF2-40B4-BE49-F238E27FC236}">
                    <a16:creationId xmlns:a16="http://schemas.microsoft.com/office/drawing/2014/main" id="{60C873E6-EA5F-E546-9871-6CD69A03054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4" name="AutoShape 297">
                <a:extLst>
                  <a:ext uri="{FF2B5EF4-FFF2-40B4-BE49-F238E27FC236}">
                    <a16:creationId xmlns:a16="http://schemas.microsoft.com/office/drawing/2014/main" id="{AE94AAEC-480B-8047-91E5-519724D0625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3" name="Rectangle 298">
              <a:extLst>
                <a:ext uri="{FF2B5EF4-FFF2-40B4-BE49-F238E27FC236}">
                  <a16:creationId xmlns:a16="http://schemas.microsoft.com/office/drawing/2014/main" id="{66AA352A-88C1-474E-8553-BFDBC71D6A7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299">
              <a:extLst>
                <a:ext uri="{FF2B5EF4-FFF2-40B4-BE49-F238E27FC236}">
                  <a16:creationId xmlns:a16="http://schemas.microsoft.com/office/drawing/2014/main" id="{063BD826-F329-CE4F-8A05-BAE407197A8D}"/>
                </a:ext>
              </a:extLst>
            </p:cNvPr>
            <p:cNvGrpSpPr>
              <a:grpSpLocks/>
            </p:cNvGrpSpPr>
            <p:nvPr/>
          </p:nvGrpSpPr>
          <p:grpSpPr bwMode="auto">
            <a:xfrm>
              <a:off x="4747" y="994"/>
              <a:ext cx="581" cy="134"/>
              <a:chOff x="614" y="2568"/>
              <a:chExt cx="725" cy="139"/>
            </a:xfrm>
          </p:grpSpPr>
          <p:sp>
            <p:nvSpPr>
              <p:cNvPr id="231" name="AutoShape 300">
                <a:extLst>
                  <a:ext uri="{FF2B5EF4-FFF2-40B4-BE49-F238E27FC236}">
                    <a16:creationId xmlns:a16="http://schemas.microsoft.com/office/drawing/2014/main" id="{502F9F8E-D733-304B-8917-5387C94462A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AutoShape 301">
                <a:extLst>
                  <a:ext uri="{FF2B5EF4-FFF2-40B4-BE49-F238E27FC236}">
                    <a16:creationId xmlns:a16="http://schemas.microsoft.com/office/drawing/2014/main" id="{8FA48F3E-A09B-9947-AC4E-53AB08CAC06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302">
              <a:extLst>
                <a:ext uri="{FF2B5EF4-FFF2-40B4-BE49-F238E27FC236}">
                  <a16:creationId xmlns:a16="http://schemas.microsoft.com/office/drawing/2014/main" id="{7E665F5D-879D-9E40-84B5-66D85E68A50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Rectangle 303">
              <a:extLst>
                <a:ext uri="{FF2B5EF4-FFF2-40B4-BE49-F238E27FC236}">
                  <a16:creationId xmlns:a16="http://schemas.microsoft.com/office/drawing/2014/main" id="{7647528B-9EF0-E54D-974E-7DFC94037620}"/>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304">
              <a:extLst>
                <a:ext uri="{FF2B5EF4-FFF2-40B4-BE49-F238E27FC236}">
                  <a16:creationId xmlns:a16="http://schemas.microsoft.com/office/drawing/2014/main" id="{467A70C4-7121-374D-AFDB-661BA82AC2A8}"/>
                </a:ext>
              </a:extLst>
            </p:cNvPr>
            <p:cNvGrpSpPr>
              <a:grpSpLocks/>
            </p:cNvGrpSpPr>
            <p:nvPr/>
          </p:nvGrpSpPr>
          <p:grpSpPr bwMode="auto">
            <a:xfrm>
              <a:off x="4735" y="1627"/>
              <a:ext cx="582" cy="151"/>
              <a:chOff x="614" y="2568"/>
              <a:chExt cx="725" cy="139"/>
            </a:xfrm>
          </p:grpSpPr>
          <p:sp>
            <p:nvSpPr>
              <p:cNvPr id="229" name="AutoShape 305">
                <a:extLst>
                  <a:ext uri="{FF2B5EF4-FFF2-40B4-BE49-F238E27FC236}">
                    <a16:creationId xmlns:a16="http://schemas.microsoft.com/office/drawing/2014/main" id="{C5AF588B-0651-0545-9142-FD07BC8763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306">
                <a:extLst>
                  <a:ext uri="{FF2B5EF4-FFF2-40B4-BE49-F238E27FC236}">
                    <a16:creationId xmlns:a16="http://schemas.microsoft.com/office/drawing/2014/main" id="{9BEB1652-4112-004D-B7AC-1F3734A3C0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8" name="Freeform 307">
              <a:extLst>
                <a:ext uri="{FF2B5EF4-FFF2-40B4-BE49-F238E27FC236}">
                  <a16:creationId xmlns:a16="http://schemas.microsoft.com/office/drawing/2014/main" id="{D7A79ECE-B70D-2548-A773-6DCE4F281A8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9" name="Group 308">
              <a:extLst>
                <a:ext uri="{FF2B5EF4-FFF2-40B4-BE49-F238E27FC236}">
                  <a16:creationId xmlns:a16="http://schemas.microsoft.com/office/drawing/2014/main" id="{1ECF4553-693A-DD4D-A0E2-8AA0E2504F64}"/>
                </a:ext>
              </a:extLst>
            </p:cNvPr>
            <p:cNvGrpSpPr>
              <a:grpSpLocks/>
            </p:cNvGrpSpPr>
            <p:nvPr/>
          </p:nvGrpSpPr>
          <p:grpSpPr bwMode="auto">
            <a:xfrm>
              <a:off x="4739" y="1327"/>
              <a:ext cx="582" cy="139"/>
              <a:chOff x="614" y="2568"/>
              <a:chExt cx="725" cy="139"/>
            </a:xfrm>
          </p:grpSpPr>
          <p:sp>
            <p:nvSpPr>
              <p:cNvPr id="227" name="AutoShape 309">
                <a:extLst>
                  <a:ext uri="{FF2B5EF4-FFF2-40B4-BE49-F238E27FC236}">
                    <a16:creationId xmlns:a16="http://schemas.microsoft.com/office/drawing/2014/main" id="{9C16F586-202A-6C49-BECE-8D7B0011EBA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310">
                <a:extLst>
                  <a:ext uri="{FF2B5EF4-FFF2-40B4-BE49-F238E27FC236}">
                    <a16:creationId xmlns:a16="http://schemas.microsoft.com/office/drawing/2014/main" id="{C758F7C7-9330-BE46-A86A-D42B5637C8E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Rectangle 311">
              <a:extLst>
                <a:ext uri="{FF2B5EF4-FFF2-40B4-BE49-F238E27FC236}">
                  <a16:creationId xmlns:a16="http://schemas.microsoft.com/office/drawing/2014/main" id="{533FE805-6D97-3D40-A722-65F7EC32A1D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Freeform 312">
              <a:extLst>
                <a:ext uri="{FF2B5EF4-FFF2-40B4-BE49-F238E27FC236}">
                  <a16:creationId xmlns:a16="http://schemas.microsoft.com/office/drawing/2014/main" id="{620834FD-6B76-EA4B-A18C-65A47D402B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Freeform 313">
              <a:extLst>
                <a:ext uri="{FF2B5EF4-FFF2-40B4-BE49-F238E27FC236}">
                  <a16:creationId xmlns:a16="http://schemas.microsoft.com/office/drawing/2014/main" id="{C5A12F9D-49AB-5145-AA15-D382AA5D35C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3" name="Oval 314">
              <a:extLst>
                <a:ext uri="{FF2B5EF4-FFF2-40B4-BE49-F238E27FC236}">
                  <a16:creationId xmlns:a16="http://schemas.microsoft.com/office/drawing/2014/main" id="{80DD1625-6CB9-AC4C-88B8-9DC831FCEE6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Freeform 315">
              <a:extLst>
                <a:ext uri="{FF2B5EF4-FFF2-40B4-BE49-F238E27FC236}">
                  <a16:creationId xmlns:a16="http://schemas.microsoft.com/office/drawing/2014/main" id="{A65F0511-3C28-C743-A21D-6264A21184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1" name="AutoShape 316">
              <a:extLst>
                <a:ext uri="{FF2B5EF4-FFF2-40B4-BE49-F238E27FC236}">
                  <a16:creationId xmlns:a16="http://schemas.microsoft.com/office/drawing/2014/main" id="{FADC981B-C983-6D40-AEA7-04B355ECAD3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AutoShape 317">
              <a:extLst>
                <a:ext uri="{FF2B5EF4-FFF2-40B4-BE49-F238E27FC236}">
                  <a16:creationId xmlns:a16="http://schemas.microsoft.com/office/drawing/2014/main" id="{708D79ED-DBE2-644C-B85E-DB3961F564FD}"/>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3" name="Oval 318">
              <a:extLst>
                <a:ext uri="{FF2B5EF4-FFF2-40B4-BE49-F238E27FC236}">
                  <a16:creationId xmlns:a16="http://schemas.microsoft.com/office/drawing/2014/main" id="{87AF5859-5E53-EE4C-954A-8D2D2B20071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Oval 319">
              <a:extLst>
                <a:ext uri="{FF2B5EF4-FFF2-40B4-BE49-F238E27FC236}">
                  <a16:creationId xmlns:a16="http://schemas.microsoft.com/office/drawing/2014/main" id="{43616DFE-DE4C-D94C-B77F-413A270CAAE8}"/>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5" name="Oval 320">
              <a:extLst>
                <a:ext uri="{FF2B5EF4-FFF2-40B4-BE49-F238E27FC236}">
                  <a16:creationId xmlns:a16="http://schemas.microsoft.com/office/drawing/2014/main" id="{63CB7C6A-7959-294B-919F-406DF43820E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Rectangle 321">
              <a:extLst>
                <a:ext uri="{FF2B5EF4-FFF2-40B4-BE49-F238E27FC236}">
                  <a16:creationId xmlns:a16="http://schemas.microsoft.com/office/drawing/2014/main" id="{3ED5D38A-C2F0-8444-B700-8ED29C8B7FB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Rectangle 3">
            <a:extLst>
              <a:ext uri="{FF2B5EF4-FFF2-40B4-BE49-F238E27FC236}">
                <a16:creationId xmlns:a16="http://schemas.microsoft.com/office/drawing/2014/main" id="{4AEA1865-8C28-134C-8B6C-07E3981D0325}"/>
              </a:ext>
            </a:extLst>
          </p:cNvPr>
          <p:cNvSpPr txBox="1">
            <a:spLocks noChangeArrowheads="1"/>
          </p:cNvSpPr>
          <p:nvPr/>
        </p:nvSpPr>
        <p:spPr>
          <a:xfrm>
            <a:off x="921800" y="4257398"/>
            <a:ext cx="5562600" cy="6322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marR="0" lvl="0" indent="-3365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approach taken by TCP</a:t>
            </a:r>
            <a:endParaRPr kumimoji="0" lang="en-US" sz="36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lide Number Placeholder 2">
            <a:extLst>
              <a:ext uri="{FF2B5EF4-FFF2-40B4-BE49-F238E27FC236}">
                <a16:creationId xmlns:a16="http://schemas.microsoft.com/office/drawing/2014/main" id="{80FEFCD4-E64A-AA4F-ACAB-74CB4ECDD2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121</a:t>
            </a:fld>
            <a:endParaRPr lang="en-US" dirty="0"/>
          </a:p>
        </p:txBody>
      </p:sp>
    </p:spTree>
    <p:extLst>
      <p:ext uri="{BB962C8B-B14F-4D97-AF65-F5344CB8AC3E}">
        <p14:creationId xmlns:p14="http://schemas.microsoft.com/office/powerpoint/2010/main" val="2749164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1000"/>
                                        <p:tgtEl>
                                          <p:spTgt spid="14"/>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dissolv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718945" y="5640403"/>
            <a:ext cx="5781368" cy="736333"/>
          </a:xfrm>
        </p:spPr>
        <p:txBody>
          <a:bodyPr>
            <a:normAutofit/>
          </a:bodyPr>
          <a:lstStyle/>
          <a:p>
            <a:pPr marL="407988" indent="-277813">
              <a:defRPr/>
            </a:pPr>
            <a:r>
              <a:rPr lang="en-US" sz="3000" dirty="0"/>
              <a:t>TCP ECN, ATM, DECbit protocols</a:t>
            </a:r>
            <a:endParaRPr lang="en-US" sz="3500" dirty="0">
              <a:cs typeface="+mn-cs"/>
            </a:endParaRP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28" name="Freeform 2">
            <a:extLst>
              <a:ext uri="{FF2B5EF4-FFF2-40B4-BE49-F238E27FC236}">
                <a16:creationId xmlns:a16="http://schemas.microsoft.com/office/drawing/2014/main" id="{366E9ABE-54D6-794A-BFDC-C271FA98FB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2" name="Freeform 6">
            <a:extLst>
              <a:ext uri="{FF2B5EF4-FFF2-40B4-BE49-F238E27FC236}">
                <a16:creationId xmlns:a16="http://schemas.microsoft.com/office/drawing/2014/main" id="{FFF13A6F-0F53-424B-A39A-76E877F099A6}"/>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4" name="Freeform 91">
            <a:extLst>
              <a:ext uri="{FF2B5EF4-FFF2-40B4-BE49-F238E27FC236}">
                <a16:creationId xmlns:a16="http://schemas.microsoft.com/office/drawing/2014/main" id="{0468E56B-A027-0D44-AEB8-704F79D68813}"/>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5" name="Freeform 92">
            <a:extLst>
              <a:ext uri="{FF2B5EF4-FFF2-40B4-BE49-F238E27FC236}">
                <a16:creationId xmlns:a16="http://schemas.microsoft.com/office/drawing/2014/main" id="{054FFAAB-E9BC-3E4C-8FB9-3EA2FFF0707B}"/>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6" name="Freeform 93">
            <a:extLst>
              <a:ext uri="{FF2B5EF4-FFF2-40B4-BE49-F238E27FC236}">
                <a16:creationId xmlns:a16="http://schemas.microsoft.com/office/drawing/2014/main" id="{1504AC5D-D6C1-D049-A591-6F0963B988CC}"/>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7" name="Freeform 94">
            <a:extLst>
              <a:ext uri="{FF2B5EF4-FFF2-40B4-BE49-F238E27FC236}">
                <a16:creationId xmlns:a16="http://schemas.microsoft.com/office/drawing/2014/main" id="{49EE5ACA-6705-2D4D-9A89-77A1C64919B5}"/>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8" name="Freeform 95">
            <a:extLst>
              <a:ext uri="{FF2B5EF4-FFF2-40B4-BE49-F238E27FC236}">
                <a16:creationId xmlns:a16="http://schemas.microsoft.com/office/drawing/2014/main" id="{C75D3801-AA9A-394F-B133-0C907B494EA8}"/>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9" name="Freeform 96">
            <a:extLst>
              <a:ext uri="{FF2B5EF4-FFF2-40B4-BE49-F238E27FC236}">
                <a16:creationId xmlns:a16="http://schemas.microsoft.com/office/drawing/2014/main" id="{22DFD150-DCC3-9C4E-B2A1-9978ADFC2D32}"/>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40" name="Group 139">
            <a:extLst>
              <a:ext uri="{FF2B5EF4-FFF2-40B4-BE49-F238E27FC236}">
                <a16:creationId xmlns:a16="http://schemas.microsoft.com/office/drawing/2014/main" id="{FE2A56FD-5BF2-8A47-B917-EC5BDAE7B6D9}"/>
              </a:ext>
            </a:extLst>
          </p:cNvPr>
          <p:cNvGrpSpPr/>
          <p:nvPr/>
        </p:nvGrpSpPr>
        <p:grpSpPr>
          <a:xfrm>
            <a:off x="9719734" y="3946352"/>
            <a:ext cx="578032" cy="285706"/>
            <a:chOff x="7493876" y="2774731"/>
            <a:chExt cx="1481958" cy="894622"/>
          </a:xfrm>
        </p:grpSpPr>
        <p:sp>
          <p:nvSpPr>
            <p:cNvPr id="295" name="Freeform 294">
              <a:extLst>
                <a:ext uri="{FF2B5EF4-FFF2-40B4-BE49-F238E27FC236}">
                  <a16:creationId xmlns:a16="http://schemas.microsoft.com/office/drawing/2014/main" id="{A22F5E6C-8071-584B-A45A-61580F1DF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96" name="Oval 295">
              <a:extLst>
                <a:ext uri="{FF2B5EF4-FFF2-40B4-BE49-F238E27FC236}">
                  <a16:creationId xmlns:a16="http://schemas.microsoft.com/office/drawing/2014/main" id="{19D9D590-1C6D-B940-8236-FB7A7C7C3E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7" name="Group 296">
              <a:extLst>
                <a:ext uri="{FF2B5EF4-FFF2-40B4-BE49-F238E27FC236}">
                  <a16:creationId xmlns:a16="http://schemas.microsoft.com/office/drawing/2014/main" id="{55AD85DE-1093-294C-A79D-C39AACCD04DE}"/>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74555870-3136-5F47-A50A-B9C84ADD9B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9" name="Freeform 298">
                <a:extLst>
                  <a:ext uri="{FF2B5EF4-FFF2-40B4-BE49-F238E27FC236}">
                    <a16:creationId xmlns:a16="http://schemas.microsoft.com/office/drawing/2014/main" id="{4C89C07A-54CC-1F4B-8662-219BDC6022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0" name="Freeform 299">
                <a:extLst>
                  <a:ext uri="{FF2B5EF4-FFF2-40B4-BE49-F238E27FC236}">
                    <a16:creationId xmlns:a16="http://schemas.microsoft.com/office/drawing/2014/main" id="{AD074A1D-33A9-FD4E-9502-6E1A7B8749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1" name="Freeform 300">
                <a:extLst>
                  <a:ext uri="{FF2B5EF4-FFF2-40B4-BE49-F238E27FC236}">
                    <a16:creationId xmlns:a16="http://schemas.microsoft.com/office/drawing/2014/main" id="{CCD24AC6-75BD-7240-ACA1-858F993F76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41" name="Group 140">
            <a:extLst>
              <a:ext uri="{FF2B5EF4-FFF2-40B4-BE49-F238E27FC236}">
                <a16:creationId xmlns:a16="http://schemas.microsoft.com/office/drawing/2014/main" id="{87D364BE-067C-ED48-9F93-CCBD43D1F1FD}"/>
              </a:ext>
            </a:extLst>
          </p:cNvPr>
          <p:cNvGrpSpPr/>
          <p:nvPr/>
        </p:nvGrpSpPr>
        <p:grpSpPr>
          <a:xfrm>
            <a:off x="9351606" y="4600112"/>
            <a:ext cx="578032" cy="285706"/>
            <a:chOff x="7493876" y="2774731"/>
            <a:chExt cx="1481958" cy="894622"/>
          </a:xfrm>
        </p:grpSpPr>
        <p:sp>
          <p:nvSpPr>
            <p:cNvPr id="288" name="Freeform 287">
              <a:extLst>
                <a:ext uri="{FF2B5EF4-FFF2-40B4-BE49-F238E27FC236}">
                  <a16:creationId xmlns:a16="http://schemas.microsoft.com/office/drawing/2014/main" id="{56103B33-85E9-6646-AD36-73F16468B3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9" name="Oval 288">
              <a:extLst>
                <a:ext uri="{FF2B5EF4-FFF2-40B4-BE49-F238E27FC236}">
                  <a16:creationId xmlns:a16="http://schemas.microsoft.com/office/drawing/2014/main" id="{A249CC8A-2DD9-A540-96D6-72B9DFE29F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0" name="Group 289">
              <a:extLst>
                <a:ext uri="{FF2B5EF4-FFF2-40B4-BE49-F238E27FC236}">
                  <a16:creationId xmlns:a16="http://schemas.microsoft.com/office/drawing/2014/main" id="{BB9841D9-85A4-6641-AFC4-673E96A51A94}"/>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1F8ACD1E-2A08-8148-97FE-2327BF094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2" name="Freeform 291">
                <a:extLst>
                  <a:ext uri="{FF2B5EF4-FFF2-40B4-BE49-F238E27FC236}">
                    <a16:creationId xmlns:a16="http://schemas.microsoft.com/office/drawing/2014/main" id="{4E9748D8-5A01-D746-848B-32926B95C5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3" name="Freeform 292">
                <a:extLst>
                  <a:ext uri="{FF2B5EF4-FFF2-40B4-BE49-F238E27FC236}">
                    <a16:creationId xmlns:a16="http://schemas.microsoft.com/office/drawing/2014/main" id="{FD69F9EC-EC8E-3148-A0CF-68ADE09160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4" name="Freeform 293">
                <a:extLst>
                  <a:ext uri="{FF2B5EF4-FFF2-40B4-BE49-F238E27FC236}">
                    <a16:creationId xmlns:a16="http://schemas.microsoft.com/office/drawing/2014/main" id="{0C246818-5046-3547-9748-C8A5F8D31A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5" name="Group 174">
            <a:extLst>
              <a:ext uri="{FF2B5EF4-FFF2-40B4-BE49-F238E27FC236}">
                <a16:creationId xmlns:a16="http://schemas.microsoft.com/office/drawing/2014/main" id="{4D4971E8-AD3B-214C-97F6-17EC02BCA29D}"/>
              </a:ext>
            </a:extLst>
          </p:cNvPr>
          <p:cNvGrpSpPr/>
          <p:nvPr/>
        </p:nvGrpSpPr>
        <p:grpSpPr>
          <a:xfrm>
            <a:off x="8195132" y="4551443"/>
            <a:ext cx="578032" cy="285706"/>
            <a:chOff x="7493876" y="2774731"/>
            <a:chExt cx="1481958" cy="894622"/>
          </a:xfrm>
        </p:grpSpPr>
        <p:sp>
          <p:nvSpPr>
            <p:cNvPr id="281" name="Freeform 280">
              <a:extLst>
                <a:ext uri="{FF2B5EF4-FFF2-40B4-BE49-F238E27FC236}">
                  <a16:creationId xmlns:a16="http://schemas.microsoft.com/office/drawing/2014/main" id="{9739AEF0-B1B8-F540-9C41-AE1C85694C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2" name="Oval 281">
              <a:extLst>
                <a:ext uri="{FF2B5EF4-FFF2-40B4-BE49-F238E27FC236}">
                  <a16:creationId xmlns:a16="http://schemas.microsoft.com/office/drawing/2014/main" id="{9A8C264F-EE1E-AE42-AD54-26038D64E2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83" name="Group 282">
              <a:extLst>
                <a:ext uri="{FF2B5EF4-FFF2-40B4-BE49-F238E27FC236}">
                  <a16:creationId xmlns:a16="http://schemas.microsoft.com/office/drawing/2014/main" id="{C4315C5D-BBB1-1548-A740-5E5B96BEB874}"/>
                </a:ext>
              </a:extLst>
            </p:cNvPr>
            <p:cNvGrpSpPr/>
            <p:nvPr/>
          </p:nvGrpSpPr>
          <p:grpSpPr>
            <a:xfrm>
              <a:off x="7713663" y="2848339"/>
              <a:ext cx="1042107" cy="425543"/>
              <a:chOff x="7786941" y="2884917"/>
              <a:chExt cx="897649" cy="353919"/>
            </a:xfrm>
          </p:grpSpPr>
          <p:sp>
            <p:nvSpPr>
              <p:cNvPr id="284" name="Freeform 283">
                <a:extLst>
                  <a:ext uri="{FF2B5EF4-FFF2-40B4-BE49-F238E27FC236}">
                    <a16:creationId xmlns:a16="http://schemas.microsoft.com/office/drawing/2014/main" id="{895B76F4-731F-1A42-B1DA-2147C72110E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5" name="Freeform 284">
                <a:extLst>
                  <a:ext uri="{FF2B5EF4-FFF2-40B4-BE49-F238E27FC236}">
                    <a16:creationId xmlns:a16="http://schemas.microsoft.com/office/drawing/2014/main" id="{0DD88259-DBF1-C849-9347-E21FCDE91C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6" name="Freeform 285">
                <a:extLst>
                  <a:ext uri="{FF2B5EF4-FFF2-40B4-BE49-F238E27FC236}">
                    <a16:creationId xmlns:a16="http://schemas.microsoft.com/office/drawing/2014/main" id="{7F83BAF8-E480-3243-8D32-1B36CF28B4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7" name="Freeform 286">
                <a:extLst>
                  <a:ext uri="{FF2B5EF4-FFF2-40B4-BE49-F238E27FC236}">
                    <a16:creationId xmlns:a16="http://schemas.microsoft.com/office/drawing/2014/main" id="{05F54ED9-26EA-304E-B1C7-6F58A4EB53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6" name="Group 175">
            <a:extLst>
              <a:ext uri="{FF2B5EF4-FFF2-40B4-BE49-F238E27FC236}">
                <a16:creationId xmlns:a16="http://schemas.microsoft.com/office/drawing/2014/main" id="{73201F79-4BE9-2E4A-9B0C-FB48F9222B08}"/>
              </a:ext>
            </a:extLst>
          </p:cNvPr>
          <p:cNvGrpSpPr/>
          <p:nvPr/>
        </p:nvGrpSpPr>
        <p:grpSpPr>
          <a:xfrm>
            <a:off x="8800632" y="3636044"/>
            <a:ext cx="578032" cy="285706"/>
            <a:chOff x="7493876" y="2774731"/>
            <a:chExt cx="1481958" cy="894622"/>
          </a:xfrm>
        </p:grpSpPr>
        <p:sp>
          <p:nvSpPr>
            <p:cNvPr id="274" name="Freeform 273">
              <a:extLst>
                <a:ext uri="{FF2B5EF4-FFF2-40B4-BE49-F238E27FC236}">
                  <a16:creationId xmlns:a16="http://schemas.microsoft.com/office/drawing/2014/main" id="{B69ED55D-3ADE-7541-A833-BAED4178F4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75" name="Oval 274">
              <a:extLst>
                <a:ext uri="{FF2B5EF4-FFF2-40B4-BE49-F238E27FC236}">
                  <a16:creationId xmlns:a16="http://schemas.microsoft.com/office/drawing/2014/main" id="{475EA0AA-3E1E-A848-A884-768A31DBCF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76" name="Group 275">
              <a:extLst>
                <a:ext uri="{FF2B5EF4-FFF2-40B4-BE49-F238E27FC236}">
                  <a16:creationId xmlns:a16="http://schemas.microsoft.com/office/drawing/2014/main" id="{33E36C01-9187-3C43-B7AF-0C810E75817D}"/>
                </a:ext>
              </a:extLst>
            </p:cNvPr>
            <p:cNvGrpSpPr/>
            <p:nvPr/>
          </p:nvGrpSpPr>
          <p:grpSpPr>
            <a:xfrm>
              <a:off x="7713663" y="2848339"/>
              <a:ext cx="1042107" cy="425543"/>
              <a:chOff x="7786941" y="2884917"/>
              <a:chExt cx="897649" cy="353919"/>
            </a:xfrm>
          </p:grpSpPr>
          <p:sp>
            <p:nvSpPr>
              <p:cNvPr id="277" name="Freeform 276">
                <a:extLst>
                  <a:ext uri="{FF2B5EF4-FFF2-40B4-BE49-F238E27FC236}">
                    <a16:creationId xmlns:a16="http://schemas.microsoft.com/office/drawing/2014/main" id="{7E1D2CF9-8553-254D-99D3-498E60EF92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8" name="Freeform 277">
                <a:extLst>
                  <a:ext uri="{FF2B5EF4-FFF2-40B4-BE49-F238E27FC236}">
                    <a16:creationId xmlns:a16="http://schemas.microsoft.com/office/drawing/2014/main" id="{10BB4142-3B92-B24F-AF76-70C8728A34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9" name="Freeform 278">
                <a:extLst>
                  <a:ext uri="{FF2B5EF4-FFF2-40B4-BE49-F238E27FC236}">
                    <a16:creationId xmlns:a16="http://schemas.microsoft.com/office/drawing/2014/main" id="{A8740BCE-7F97-7642-B163-168373E22B1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Freeform 279">
                <a:extLst>
                  <a:ext uri="{FF2B5EF4-FFF2-40B4-BE49-F238E27FC236}">
                    <a16:creationId xmlns:a16="http://schemas.microsoft.com/office/drawing/2014/main" id="{9B5C1122-8A18-FC4A-A85F-6F1A1A2BF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7" name="Group 176">
            <a:extLst>
              <a:ext uri="{FF2B5EF4-FFF2-40B4-BE49-F238E27FC236}">
                <a16:creationId xmlns:a16="http://schemas.microsoft.com/office/drawing/2014/main" id="{2CAF0E6F-60BF-1240-A259-C66B643E89AC}"/>
              </a:ext>
            </a:extLst>
          </p:cNvPr>
          <p:cNvGrpSpPr/>
          <p:nvPr/>
        </p:nvGrpSpPr>
        <p:grpSpPr>
          <a:xfrm>
            <a:off x="8711293" y="4233883"/>
            <a:ext cx="578032" cy="285706"/>
            <a:chOff x="7493876" y="2774731"/>
            <a:chExt cx="1481958" cy="894622"/>
          </a:xfrm>
        </p:grpSpPr>
        <p:sp>
          <p:nvSpPr>
            <p:cNvPr id="267" name="Freeform 266">
              <a:extLst>
                <a:ext uri="{FF2B5EF4-FFF2-40B4-BE49-F238E27FC236}">
                  <a16:creationId xmlns:a16="http://schemas.microsoft.com/office/drawing/2014/main" id="{4E5B85EA-9E84-A242-B1CC-71F987F7E5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8" name="Oval 267">
              <a:extLst>
                <a:ext uri="{FF2B5EF4-FFF2-40B4-BE49-F238E27FC236}">
                  <a16:creationId xmlns:a16="http://schemas.microsoft.com/office/drawing/2014/main" id="{C034AB19-CDAE-D044-BA78-A52EC726959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9" name="Group 268">
              <a:extLst>
                <a:ext uri="{FF2B5EF4-FFF2-40B4-BE49-F238E27FC236}">
                  <a16:creationId xmlns:a16="http://schemas.microsoft.com/office/drawing/2014/main" id="{9E108296-06B4-4949-A9AD-3C1FA5DCEA06}"/>
                </a:ext>
              </a:extLst>
            </p:cNvPr>
            <p:cNvGrpSpPr/>
            <p:nvPr/>
          </p:nvGrpSpPr>
          <p:grpSpPr>
            <a:xfrm>
              <a:off x="7713663" y="2848339"/>
              <a:ext cx="1042107" cy="425543"/>
              <a:chOff x="7786941" y="2884917"/>
              <a:chExt cx="897649" cy="353919"/>
            </a:xfrm>
          </p:grpSpPr>
          <p:sp>
            <p:nvSpPr>
              <p:cNvPr id="270" name="Freeform 269">
                <a:extLst>
                  <a:ext uri="{FF2B5EF4-FFF2-40B4-BE49-F238E27FC236}">
                    <a16:creationId xmlns:a16="http://schemas.microsoft.com/office/drawing/2014/main" id="{8530AB93-30E4-7A4B-88C4-61542A5A0A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1" name="Freeform 270">
                <a:extLst>
                  <a:ext uri="{FF2B5EF4-FFF2-40B4-BE49-F238E27FC236}">
                    <a16:creationId xmlns:a16="http://schemas.microsoft.com/office/drawing/2014/main" id="{D239BC1C-F100-2448-A44B-0B1C3E017E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2" name="Freeform 271">
                <a:extLst>
                  <a:ext uri="{FF2B5EF4-FFF2-40B4-BE49-F238E27FC236}">
                    <a16:creationId xmlns:a16="http://schemas.microsoft.com/office/drawing/2014/main" id="{7FCAA9D2-9640-064E-9D9B-F975C49ECB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3" name="Freeform 272">
                <a:extLst>
                  <a:ext uri="{FF2B5EF4-FFF2-40B4-BE49-F238E27FC236}">
                    <a16:creationId xmlns:a16="http://schemas.microsoft.com/office/drawing/2014/main" id="{645CEC1F-F8DD-F048-9976-7ECD558712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8" name="Group 177">
            <a:extLst>
              <a:ext uri="{FF2B5EF4-FFF2-40B4-BE49-F238E27FC236}">
                <a16:creationId xmlns:a16="http://schemas.microsoft.com/office/drawing/2014/main" id="{B80B3CBF-96BC-A640-867D-5DE8C38FCAA4}"/>
              </a:ext>
            </a:extLst>
          </p:cNvPr>
          <p:cNvGrpSpPr/>
          <p:nvPr/>
        </p:nvGrpSpPr>
        <p:grpSpPr>
          <a:xfrm>
            <a:off x="7764614" y="3944180"/>
            <a:ext cx="578032" cy="285706"/>
            <a:chOff x="7493876" y="2774731"/>
            <a:chExt cx="1481958" cy="894622"/>
          </a:xfrm>
        </p:grpSpPr>
        <p:sp>
          <p:nvSpPr>
            <p:cNvPr id="260" name="Freeform 259">
              <a:extLst>
                <a:ext uri="{FF2B5EF4-FFF2-40B4-BE49-F238E27FC236}">
                  <a16:creationId xmlns:a16="http://schemas.microsoft.com/office/drawing/2014/main" id="{E2DEA29E-E539-DD4A-8E78-F10B0CB91D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1" name="Oval 260">
              <a:extLst>
                <a:ext uri="{FF2B5EF4-FFF2-40B4-BE49-F238E27FC236}">
                  <a16:creationId xmlns:a16="http://schemas.microsoft.com/office/drawing/2014/main" id="{B75DAF39-296E-174B-9017-65859A66C61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2" name="Group 261">
              <a:extLst>
                <a:ext uri="{FF2B5EF4-FFF2-40B4-BE49-F238E27FC236}">
                  <a16:creationId xmlns:a16="http://schemas.microsoft.com/office/drawing/2014/main" id="{F88F2AE9-EF9D-9349-9FB8-E52CAD986B93}"/>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FB60E484-FF23-D44E-87D8-BB30525A1A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4" name="Freeform 263">
                <a:extLst>
                  <a:ext uri="{FF2B5EF4-FFF2-40B4-BE49-F238E27FC236}">
                    <a16:creationId xmlns:a16="http://schemas.microsoft.com/office/drawing/2014/main" id="{B0FF7CDC-AB3A-6C44-8273-6FEA8A00EF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5" name="Freeform 264">
                <a:extLst>
                  <a:ext uri="{FF2B5EF4-FFF2-40B4-BE49-F238E27FC236}">
                    <a16:creationId xmlns:a16="http://schemas.microsoft.com/office/drawing/2014/main" id="{D102FF9A-7D62-CC4B-8939-37FC1A1E61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6" name="Freeform 265">
                <a:extLst>
                  <a:ext uri="{FF2B5EF4-FFF2-40B4-BE49-F238E27FC236}">
                    <a16:creationId xmlns:a16="http://schemas.microsoft.com/office/drawing/2014/main" id="{928B49DE-7679-8C46-A671-A7856D8F84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79" name="Freeform 254">
            <a:extLst>
              <a:ext uri="{FF2B5EF4-FFF2-40B4-BE49-F238E27FC236}">
                <a16:creationId xmlns:a16="http://schemas.microsoft.com/office/drawing/2014/main" id="{4BD65FCE-B086-1C41-89A5-8DAF6BA0013D}"/>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0" name="Group 289">
            <a:extLst>
              <a:ext uri="{FF2B5EF4-FFF2-40B4-BE49-F238E27FC236}">
                <a16:creationId xmlns:a16="http://schemas.microsoft.com/office/drawing/2014/main" id="{282CC52C-6D00-A04B-884E-AF704D4FD9CC}"/>
              </a:ext>
            </a:extLst>
          </p:cNvPr>
          <p:cNvGrpSpPr>
            <a:grpSpLocks/>
          </p:cNvGrpSpPr>
          <p:nvPr/>
        </p:nvGrpSpPr>
        <p:grpSpPr bwMode="auto">
          <a:xfrm>
            <a:off x="11355079" y="3260620"/>
            <a:ext cx="231775" cy="441325"/>
            <a:chOff x="4140" y="429"/>
            <a:chExt cx="1425" cy="2396"/>
          </a:xfrm>
        </p:grpSpPr>
        <p:sp>
          <p:nvSpPr>
            <p:cNvPr id="228" name="Freeform 290">
              <a:extLst>
                <a:ext uri="{FF2B5EF4-FFF2-40B4-BE49-F238E27FC236}">
                  <a16:creationId xmlns:a16="http://schemas.microsoft.com/office/drawing/2014/main" id="{DD58842D-C583-744E-BFD5-323B2ED543E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Rectangle 291">
              <a:extLst>
                <a:ext uri="{FF2B5EF4-FFF2-40B4-BE49-F238E27FC236}">
                  <a16:creationId xmlns:a16="http://schemas.microsoft.com/office/drawing/2014/main" id="{7A587CA9-D508-B244-898D-908A8BD8F72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Freeform 292">
              <a:extLst>
                <a:ext uri="{FF2B5EF4-FFF2-40B4-BE49-F238E27FC236}">
                  <a16:creationId xmlns:a16="http://schemas.microsoft.com/office/drawing/2014/main" id="{15485B65-6A91-A741-B71C-C9054384FF1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Freeform 293">
              <a:extLst>
                <a:ext uri="{FF2B5EF4-FFF2-40B4-BE49-F238E27FC236}">
                  <a16:creationId xmlns:a16="http://schemas.microsoft.com/office/drawing/2014/main" id="{9FD462AB-E254-4B44-ACEE-57DF3FEA3E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2" name="Rectangle 294">
              <a:extLst>
                <a:ext uri="{FF2B5EF4-FFF2-40B4-BE49-F238E27FC236}">
                  <a16:creationId xmlns:a16="http://schemas.microsoft.com/office/drawing/2014/main" id="{8B02D026-F14D-2740-A4A5-53851F0B2463}"/>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95">
              <a:extLst>
                <a:ext uri="{FF2B5EF4-FFF2-40B4-BE49-F238E27FC236}">
                  <a16:creationId xmlns:a16="http://schemas.microsoft.com/office/drawing/2014/main" id="{B0C25286-A814-9143-B593-142AD05ACA72}"/>
                </a:ext>
              </a:extLst>
            </p:cNvPr>
            <p:cNvGrpSpPr>
              <a:grpSpLocks/>
            </p:cNvGrpSpPr>
            <p:nvPr/>
          </p:nvGrpSpPr>
          <p:grpSpPr bwMode="auto">
            <a:xfrm>
              <a:off x="4749" y="668"/>
              <a:ext cx="581" cy="145"/>
              <a:chOff x="614" y="2568"/>
              <a:chExt cx="725" cy="139"/>
            </a:xfrm>
          </p:grpSpPr>
          <p:sp>
            <p:nvSpPr>
              <p:cNvPr id="258" name="AutoShape 296">
                <a:extLst>
                  <a:ext uri="{FF2B5EF4-FFF2-40B4-BE49-F238E27FC236}">
                    <a16:creationId xmlns:a16="http://schemas.microsoft.com/office/drawing/2014/main" id="{2F585279-173F-3044-B252-4EED42C34D7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97">
                <a:extLst>
                  <a:ext uri="{FF2B5EF4-FFF2-40B4-BE49-F238E27FC236}">
                    <a16:creationId xmlns:a16="http://schemas.microsoft.com/office/drawing/2014/main" id="{C0B63C95-0F44-8E4E-AEF1-8EEACAC76CD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Rectangle 298">
              <a:extLst>
                <a:ext uri="{FF2B5EF4-FFF2-40B4-BE49-F238E27FC236}">
                  <a16:creationId xmlns:a16="http://schemas.microsoft.com/office/drawing/2014/main" id="{640C9C7A-DAFB-DB46-B834-AEAC566FA64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99">
              <a:extLst>
                <a:ext uri="{FF2B5EF4-FFF2-40B4-BE49-F238E27FC236}">
                  <a16:creationId xmlns:a16="http://schemas.microsoft.com/office/drawing/2014/main" id="{23F48019-DD1C-564E-B574-A8D1DB03F640}"/>
                </a:ext>
              </a:extLst>
            </p:cNvPr>
            <p:cNvGrpSpPr>
              <a:grpSpLocks/>
            </p:cNvGrpSpPr>
            <p:nvPr/>
          </p:nvGrpSpPr>
          <p:grpSpPr bwMode="auto">
            <a:xfrm>
              <a:off x="4747" y="994"/>
              <a:ext cx="581" cy="134"/>
              <a:chOff x="614" y="2568"/>
              <a:chExt cx="725" cy="139"/>
            </a:xfrm>
          </p:grpSpPr>
          <p:sp>
            <p:nvSpPr>
              <p:cNvPr id="256" name="AutoShape 300">
                <a:extLst>
                  <a:ext uri="{FF2B5EF4-FFF2-40B4-BE49-F238E27FC236}">
                    <a16:creationId xmlns:a16="http://schemas.microsoft.com/office/drawing/2014/main" id="{E4024405-5028-0C46-8622-FC0B3C82022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301">
                <a:extLst>
                  <a:ext uri="{FF2B5EF4-FFF2-40B4-BE49-F238E27FC236}">
                    <a16:creationId xmlns:a16="http://schemas.microsoft.com/office/drawing/2014/main" id="{A5F943AE-9009-0944-89F8-AA45045404E6}"/>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302">
              <a:extLst>
                <a:ext uri="{FF2B5EF4-FFF2-40B4-BE49-F238E27FC236}">
                  <a16:creationId xmlns:a16="http://schemas.microsoft.com/office/drawing/2014/main" id="{1D7CBC12-6E8F-5743-B297-791903B3F60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Rectangle 303">
              <a:extLst>
                <a:ext uri="{FF2B5EF4-FFF2-40B4-BE49-F238E27FC236}">
                  <a16:creationId xmlns:a16="http://schemas.microsoft.com/office/drawing/2014/main" id="{C3850711-AC6C-D149-8913-D8083044DE4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304">
              <a:extLst>
                <a:ext uri="{FF2B5EF4-FFF2-40B4-BE49-F238E27FC236}">
                  <a16:creationId xmlns:a16="http://schemas.microsoft.com/office/drawing/2014/main" id="{9D49FEB6-488F-2048-A11B-E06E76DBE7A4}"/>
                </a:ext>
              </a:extLst>
            </p:cNvPr>
            <p:cNvGrpSpPr>
              <a:grpSpLocks/>
            </p:cNvGrpSpPr>
            <p:nvPr/>
          </p:nvGrpSpPr>
          <p:grpSpPr bwMode="auto">
            <a:xfrm>
              <a:off x="4735" y="1627"/>
              <a:ext cx="582" cy="151"/>
              <a:chOff x="614" y="2568"/>
              <a:chExt cx="725" cy="139"/>
            </a:xfrm>
          </p:grpSpPr>
          <p:sp>
            <p:nvSpPr>
              <p:cNvPr id="254" name="AutoShape 305">
                <a:extLst>
                  <a:ext uri="{FF2B5EF4-FFF2-40B4-BE49-F238E27FC236}">
                    <a16:creationId xmlns:a16="http://schemas.microsoft.com/office/drawing/2014/main" id="{0B25DD4D-3C90-584F-8831-6C80F4C7A98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306">
                <a:extLst>
                  <a:ext uri="{FF2B5EF4-FFF2-40B4-BE49-F238E27FC236}">
                    <a16:creationId xmlns:a16="http://schemas.microsoft.com/office/drawing/2014/main" id="{B7F3D7FB-8973-D44C-AD5E-E00A87134B2B}"/>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Freeform 307">
              <a:extLst>
                <a:ext uri="{FF2B5EF4-FFF2-40B4-BE49-F238E27FC236}">
                  <a16:creationId xmlns:a16="http://schemas.microsoft.com/office/drawing/2014/main" id="{43DC40CF-325A-0047-882C-F0B88908FD2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0" name="Group 308">
              <a:extLst>
                <a:ext uri="{FF2B5EF4-FFF2-40B4-BE49-F238E27FC236}">
                  <a16:creationId xmlns:a16="http://schemas.microsoft.com/office/drawing/2014/main" id="{F5FBB7ED-0006-594A-8F05-82D90CE6725A}"/>
                </a:ext>
              </a:extLst>
            </p:cNvPr>
            <p:cNvGrpSpPr>
              <a:grpSpLocks/>
            </p:cNvGrpSpPr>
            <p:nvPr/>
          </p:nvGrpSpPr>
          <p:grpSpPr bwMode="auto">
            <a:xfrm>
              <a:off x="4739" y="1327"/>
              <a:ext cx="582" cy="139"/>
              <a:chOff x="614" y="2568"/>
              <a:chExt cx="725" cy="139"/>
            </a:xfrm>
          </p:grpSpPr>
          <p:sp>
            <p:nvSpPr>
              <p:cNvPr id="252" name="AutoShape 309">
                <a:extLst>
                  <a:ext uri="{FF2B5EF4-FFF2-40B4-BE49-F238E27FC236}">
                    <a16:creationId xmlns:a16="http://schemas.microsoft.com/office/drawing/2014/main" id="{1A4A3E68-C445-A84F-A76F-8ADDE253BD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AutoShape 310">
                <a:extLst>
                  <a:ext uri="{FF2B5EF4-FFF2-40B4-BE49-F238E27FC236}">
                    <a16:creationId xmlns:a16="http://schemas.microsoft.com/office/drawing/2014/main" id="{A0077764-7657-B447-9665-316638C75160}"/>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311">
              <a:extLst>
                <a:ext uri="{FF2B5EF4-FFF2-40B4-BE49-F238E27FC236}">
                  <a16:creationId xmlns:a16="http://schemas.microsoft.com/office/drawing/2014/main" id="{8B482C5C-EFF7-D349-8CCD-0F43172E89C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Freeform 312">
              <a:extLst>
                <a:ext uri="{FF2B5EF4-FFF2-40B4-BE49-F238E27FC236}">
                  <a16:creationId xmlns:a16="http://schemas.microsoft.com/office/drawing/2014/main" id="{4021586C-DA67-AA41-BA88-7AEAD6F261B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Freeform 313">
              <a:extLst>
                <a:ext uri="{FF2B5EF4-FFF2-40B4-BE49-F238E27FC236}">
                  <a16:creationId xmlns:a16="http://schemas.microsoft.com/office/drawing/2014/main" id="{3D9F60F4-9173-9246-8E1F-2C2859D17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Oval 314">
              <a:extLst>
                <a:ext uri="{FF2B5EF4-FFF2-40B4-BE49-F238E27FC236}">
                  <a16:creationId xmlns:a16="http://schemas.microsoft.com/office/drawing/2014/main" id="{8765AD34-763D-1F46-AA79-FB63EC3993FF}"/>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Freeform 315">
              <a:extLst>
                <a:ext uri="{FF2B5EF4-FFF2-40B4-BE49-F238E27FC236}">
                  <a16:creationId xmlns:a16="http://schemas.microsoft.com/office/drawing/2014/main" id="{E10BDF5D-EA0F-F042-BD9B-6E36BFF56F0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AutoShape 316">
              <a:extLst>
                <a:ext uri="{FF2B5EF4-FFF2-40B4-BE49-F238E27FC236}">
                  <a16:creationId xmlns:a16="http://schemas.microsoft.com/office/drawing/2014/main" id="{6C729113-6D55-C84E-BE58-123F8F0535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AutoShape 317">
              <a:extLst>
                <a:ext uri="{FF2B5EF4-FFF2-40B4-BE49-F238E27FC236}">
                  <a16:creationId xmlns:a16="http://schemas.microsoft.com/office/drawing/2014/main" id="{81EA52A6-99B7-3846-9B34-7CB52FA093B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Oval 318">
              <a:extLst>
                <a:ext uri="{FF2B5EF4-FFF2-40B4-BE49-F238E27FC236}">
                  <a16:creationId xmlns:a16="http://schemas.microsoft.com/office/drawing/2014/main" id="{D941D592-57DE-E849-8C9C-58F0B961526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Oval 319">
              <a:extLst>
                <a:ext uri="{FF2B5EF4-FFF2-40B4-BE49-F238E27FC236}">
                  <a16:creationId xmlns:a16="http://schemas.microsoft.com/office/drawing/2014/main" id="{BE056CB0-2EDD-6D4A-957A-3CCB3F3B3C6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0" name="Oval 320">
              <a:extLst>
                <a:ext uri="{FF2B5EF4-FFF2-40B4-BE49-F238E27FC236}">
                  <a16:creationId xmlns:a16="http://schemas.microsoft.com/office/drawing/2014/main" id="{0996AC45-D45C-6E49-8EA2-6B239FB493B4}"/>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321">
              <a:extLst>
                <a:ext uri="{FF2B5EF4-FFF2-40B4-BE49-F238E27FC236}">
                  <a16:creationId xmlns:a16="http://schemas.microsoft.com/office/drawing/2014/main" id="{4AD2A6FD-B1C1-2846-85C2-F6D452B32A9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1" name="Freeform 270">
            <a:extLst>
              <a:ext uri="{FF2B5EF4-FFF2-40B4-BE49-F238E27FC236}">
                <a16:creationId xmlns:a16="http://schemas.microsoft.com/office/drawing/2014/main" id="{327C52FA-DE4A-E94F-8911-ABEE881AA22F}"/>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2" name="Group 354">
            <a:extLst>
              <a:ext uri="{FF2B5EF4-FFF2-40B4-BE49-F238E27FC236}">
                <a16:creationId xmlns:a16="http://schemas.microsoft.com/office/drawing/2014/main" id="{249020EA-8359-DA4E-A6BD-01714A19478B}"/>
              </a:ext>
            </a:extLst>
          </p:cNvPr>
          <p:cNvGrpSpPr>
            <a:grpSpLocks/>
          </p:cNvGrpSpPr>
          <p:nvPr/>
        </p:nvGrpSpPr>
        <p:grpSpPr bwMode="auto">
          <a:xfrm>
            <a:off x="6405254" y="3243263"/>
            <a:ext cx="525462" cy="434975"/>
            <a:chOff x="-44" y="1473"/>
            <a:chExt cx="981" cy="1105"/>
          </a:xfrm>
        </p:grpSpPr>
        <p:pic>
          <p:nvPicPr>
            <p:cNvPr id="226" name="Picture 355" descr="desktop_computer_stylized_medium">
              <a:extLst>
                <a:ext uri="{FF2B5EF4-FFF2-40B4-BE49-F238E27FC236}">
                  <a16:creationId xmlns:a16="http://schemas.microsoft.com/office/drawing/2014/main" id="{F5E082B2-BADD-164A-983C-4F21EE854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356">
              <a:extLst>
                <a:ext uri="{FF2B5EF4-FFF2-40B4-BE49-F238E27FC236}">
                  <a16:creationId xmlns:a16="http://schemas.microsoft.com/office/drawing/2014/main" id="{079D48B4-8397-C148-BF34-3B142B76223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84" name="Group 183">
            <a:extLst>
              <a:ext uri="{FF2B5EF4-FFF2-40B4-BE49-F238E27FC236}">
                <a16:creationId xmlns:a16="http://schemas.microsoft.com/office/drawing/2014/main" id="{B24BA112-55AD-AC41-BD94-9D9DBD9F7E9A}"/>
              </a:ext>
            </a:extLst>
          </p:cNvPr>
          <p:cNvGrpSpPr/>
          <p:nvPr/>
        </p:nvGrpSpPr>
        <p:grpSpPr>
          <a:xfrm>
            <a:off x="7045286" y="2362077"/>
            <a:ext cx="717868" cy="1154474"/>
            <a:chOff x="7664720" y="2799688"/>
            <a:chExt cx="717868" cy="1154474"/>
          </a:xfrm>
        </p:grpSpPr>
        <p:sp>
          <p:nvSpPr>
            <p:cNvPr id="221" name="Rectangle 220">
              <a:extLst>
                <a:ext uri="{FF2B5EF4-FFF2-40B4-BE49-F238E27FC236}">
                  <a16:creationId xmlns:a16="http://schemas.microsoft.com/office/drawing/2014/main" id="{1D5C8C48-4AA2-D144-9071-4FC46876C0CD}"/>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22" name="Straight Connector 221">
              <a:extLst>
                <a:ext uri="{FF2B5EF4-FFF2-40B4-BE49-F238E27FC236}">
                  <a16:creationId xmlns:a16="http://schemas.microsoft.com/office/drawing/2014/main" id="{C9115613-D043-F746-9E95-BE91F6C8BCC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4476B4D-7B72-FD42-B168-C58F9397FB9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893A87B8-2634-E14A-80D8-9E6D65DFA444}"/>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4DDD5A1-E55B-8D44-8F53-EA448F2F5AB7}"/>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D946DB51-76AF-794B-896C-CE798C356CDC}"/>
              </a:ext>
            </a:extLst>
          </p:cNvPr>
          <p:cNvGrpSpPr/>
          <p:nvPr/>
        </p:nvGrpSpPr>
        <p:grpSpPr>
          <a:xfrm>
            <a:off x="10476914" y="2368655"/>
            <a:ext cx="717868" cy="1154474"/>
            <a:chOff x="7664720" y="2795550"/>
            <a:chExt cx="717868" cy="1154474"/>
          </a:xfrm>
        </p:grpSpPr>
        <p:sp>
          <p:nvSpPr>
            <p:cNvPr id="210" name="Rectangle 209">
              <a:extLst>
                <a:ext uri="{FF2B5EF4-FFF2-40B4-BE49-F238E27FC236}">
                  <a16:creationId xmlns:a16="http://schemas.microsoft.com/office/drawing/2014/main" id="{2945C805-FB4D-1F41-B9DC-8E71DE43D0DF}"/>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11" name="Straight Connector 210">
              <a:extLst>
                <a:ext uri="{FF2B5EF4-FFF2-40B4-BE49-F238E27FC236}">
                  <a16:creationId xmlns:a16="http://schemas.microsoft.com/office/drawing/2014/main" id="{5C0CB443-CBC2-9E45-9CB6-C744CDA9BFD1}"/>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04DF73C-F88C-FA4D-8328-09984DEA993E}"/>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977C676-85FB-0F40-8B20-289C82EC6C10}"/>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D0AB40D6-D3E3-F644-A0B4-C65086440100}"/>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D01A017-DD54-D843-8EFE-4E068B32A548}"/>
              </a:ext>
            </a:extLst>
          </p:cNvPr>
          <p:cNvGrpSpPr/>
          <p:nvPr/>
        </p:nvGrpSpPr>
        <p:grpSpPr>
          <a:xfrm>
            <a:off x="8867832" y="4245561"/>
            <a:ext cx="456701" cy="226548"/>
            <a:chOff x="6859123" y="5156933"/>
            <a:chExt cx="456701" cy="226548"/>
          </a:xfrm>
        </p:grpSpPr>
        <p:sp>
          <p:nvSpPr>
            <p:cNvPr id="202" name="Rectangle 201">
              <a:extLst>
                <a:ext uri="{FF2B5EF4-FFF2-40B4-BE49-F238E27FC236}">
                  <a16:creationId xmlns:a16="http://schemas.microsoft.com/office/drawing/2014/main" id="{A9C46B58-EB58-CD4B-901C-36557A6BBB8A}"/>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03" name="Straight Connector 202">
              <a:extLst>
                <a:ext uri="{FF2B5EF4-FFF2-40B4-BE49-F238E27FC236}">
                  <a16:creationId xmlns:a16="http://schemas.microsoft.com/office/drawing/2014/main" id="{F310AA80-E5E5-9D45-B059-DBF356B23652}"/>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2B504DA0-0830-A247-BFB2-5B08B92F485C}"/>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89AA1B6E-8009-4F41-B5BE-F62AE9B4630F}"/>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9984DBE-4678-3045-8619-E36B03BB624E}"/>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334E391C-886C-FD40-90C5-307C327A8D88}"/>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740E756-940A-C245-BFC2-46F263F13E78}"/>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3646C395-21B6-0B4A-B835-DCBA9C58427F}"/>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87911E2-4676-1041-AC82-896E82DBBF94}"/>
              </a:ext>
            </a:extLst>
          </p:cNvPr>
          <p:cNvGrpSpPr/>
          <p:nvPr/>
        </p:nvGrpSpPr>
        <p:grpSpPr>
          <a:xfrm>
            <a:off x="7552398" y="2762175"/>
            <a:ext cx="3061681" cy="1433307"/>
            <a:chOff x="7552398" y="2762175"/>
            <a:chExt cx="3061681" cy="1433307"/>
          </a:xfrm>
        </p:grpSpPr>
        <p:sp>
          <p:nvSpPr>
            <p:cNvPr id="306" name="Freeform 305">
              <a:extLst>
                <a:ext uri="{FF2B5EF4-FFF2-40B4-BE49-F238E27FC236}">
                  <a16:creationId xmlns:a16="http://schemas.microsoft.com/office/drawing/2014/main" id="{A047DABE-6D91-2B46-B457-9C4D910EAC34}"/>
                </a:ext>
              </a:extLst>
            </p:cNvPr>
            <p:cNvSpPr/>
            <p:nvPr/>
          </p:nvSpPr>
          <p:spPr>
            <a:xfrm flipH="1">
              <a:off x="9104671" y="2771139"/>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7" name="Freeform 306">
              <a:extLst>
                <a:ext uri="{FF2B5EF4-FFF2-40B4-BE49-F238E27FC236}">
                  <a16:creationId xmlns:a16="http://schemas.microsoft.com/office/drawing/2014/main" id="{268EAC65-5523-F449-A3E7-F1059BFF90A8}"/>
                </a:ext>
              </a:extLst>
            </p:cNvPr>
            <p:cNvSpPr/>
            <p:nvPr/>
          </p:nvSpPr>
          <p:spPr>
            <a:xfrm>
              <a:off x="7552398" y="2762175"/>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308" name="Group 307">
            <a:extLst>
              <a:ext uri="{FF2B5EF4-FFF2-40B4-BE49-F238E27FC236}">
                <a16:creationId xmlns:a16="http://schemas.microsoft.com/office/drawing/2014/main" id="{CDE6A3E2-3661-2F4D-A6C8-724B4A3D05ED}"/>
              </a:ext>
            </a:extLst>
          </p:cNvPr>
          <p:cNvGrpSpPr/>
          <p:nvPr/>
        </p:nvGrpSpPr>
        <p:grpSpPr>
          <a:xfrm>
            <a:off x="7428575" y="2677315"/>
            <a:ext cx="3355719" cy="1705017"/>
            <a:chOff x="7428575" y="2677315"/>
            <a:chExt cx="3355719" cy="1705017"/>
          </a:xfrm>
        </p:grpSpPr>
        <p:sp>
          <p:nvSpPr>
            <p:cNvPr id="309" name="Freeform 308">
              <a:extLst>
                <a:ext uri="{FF2B5EF4-FFF2-40B4-BE49-F238E27FC236}">
                  <a16:creationId xmlns:a16="http://schemas.microsoft.com/office/drawing/2014/main" id="{B47BEEA4-E4B8-A64E-885F-14003C8F5A1B}"/>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0" name="Freeform 309">
              <a:extLst>
                <a:ext uri="{FF2B5EF4-FFF2-40B4-BE49-F238E27FC236}">
                  <a16:creationId xmlns:a16="http://schemas.microsoft.com/office/drawing/2014/main" id="{304AE042-2E8A-D141-BC94-ED99460E627E}"/>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1" name="TextBox 310">
              <a:extLst>
                <a:ext uri="{FF2B5EF4-FFF2-40B4-BE49-F238E27FC236}">
                  <a16:creationId xmlns:a16="http://schemas.microsoft.com/office/drawing/2014/main" id="{272D3047-A7CC-1745-B040-00D1E25997AF}"/>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312" name="TextBox 311">
              <a:extLst>
                <a:ext uri="{FF2B5EF4-FFF2-40B4-BE49-F238E27FC236}">
                  <a16:creationId xmlns:a16="http://schemas.microsoft.com/office/drawing/2014/main" id="{BBCAFBB0-6D98-9742-AB87-26B3EE90BCAB}"/>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313" name="Group 312">
            <a:extLst>
              <a:ext uri="{FF2B5EF4-FFF2-40B4-BE49-F238E27FC236}">
                <a16:creationId xmlns:a16="http://schemas.microsoft.com/office/drawing/2014/main" id="{5DFB8599-7DDC-8447-ADE3-2DAD2C0402AB}"/>
              </a:ext>
            </a:extLst>
          </p:cNvPr>
          <p:cNvGrpSpPr/>
          <p:nvPr/>
        </p:nvGrpSpPr>
        <p:grpSpPr>
          <a:xfrm>
            <a:off x="6799618" y="2691243"/>
            <a:ext cx="4657206" cy="1827509"/>
            <a:chOff x="6799618" y="2691243"/>
            <a:chExt cx="4657206" cy="1827509"/>
          </a:xfrm>
        </p:grpSpPr>
        <p:sp>
          <p:nvSpPr>
            <p:cNvPr id="314" name="Freeform 313">
              <a:extLst>
                <a:ext uri="{FF2B5EF4-FFF2-40B4-BE49-F238E27FC236}">
                  <a16:creationId xmlns:a16="http://schemas.microsoft.com/office/drawing/2014/main" id="{67AC42C5-3F9E-0D4E-B80B-DB0208D256F0}"/>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5" name="TextBox 314">
              <a:extLst>
                <a:ext uri="{FF2B5EF4-FFF2-40B4-BE49-F238E27FC236}">
                  <a16:creationId xmlns:a16="http://schemas.microsoft.com/office/drawing/2014/main" id="{4B1BE921-31E4-C342-B3CD-DD49B4829966}"/>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316" name="TextBox 315">
              <a:extLst>
                <a:ext uri="{FF2B5EF4-FFF2-40B4-BE49-F238E27FC236}">
                  <a16:creationId xmlns:a16="http://schemas.microsoft.com/office/drawing/2014/main" id="{E8B4DCFA-3A87-864C-A054-ED417A34E19F}"/>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2" name="TextBox 1">
            <a:extLst>
              <a:ext uri="{FF2B5EF4-FFF2-40B4-BE49-F238E27FC236}">
                <a16:creationId xmlns:a16="http://schemas.microsoft.com/office/drawing/2014/main" id="{CFA18EA5-E5A9-6043-B7D4-AA1698F72E02}"/>
              </a:ext>
            </a:extLst>
          </p:cNvPr>
          <p:cNvSpPr txBox="1"/>
          <p:nvPr/>
        </p:nvSpPr>
        <p:spPr>
          <a:xfrm>
            <a:off x="8061221" y="2622756"/>
            <a:ext cx="209551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explicit congestion info</a:t>
            </a:r>
          </a:p>
        </p:txBody>
      </p:sp>
      <p:sp>
        <p:nvSpPr>
          <p:cNvPr id="133" name="Rectangle 3">
            <a:extLst>
              <a:ext uri="{FF2B5EF4-FFF2-40B4-BE49-F238E27FC236}">
                <a16:creationId xmlns:a16="http://schemas.microsoft.com/office/drawing/2014/main" id="{5D568CC7-EA67-7743-9944-2BC5136F529F}"/>
              </a:ext>
            </a:extLst>
          </p:cNvPr>
          <p:cNvSpPr txBox="1">
            <a:spLocks noChangeArrowheads="1"/>
          </p:cNvSpPr>
          <p:nvPr/>
        </p:nvSpPr>
        <p:spPr>
          <a:xfrm>
            <a:off x="698090" y="1818967"/>
            <a:ext cx="5781368" cy="38214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500" b="0" i="0" u="none" strike="noStrike" kern="1200" cap="none" spc="0" normalizeH="0" baseline="0" noProof="0" dirty="0">
                <a:ln>
                  <a:noFill/>
                </a:ln>
                <a:solidFill>
                  <a:srgbClr val="C00000"/>
                </a:solidFill>
                <a:effectLst/>
                <a:uLnTx/>
                <a:uFillTx/>
                <a:latin typeface="Calibri"/>
                <a:ea typeface="+mn-ea"/>
                <a:cs typeface="+mn-cs"/>
              </a:rPr>
              <a:t>Network-assisted congestion control:</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routers provide </a:t>
            </a:r>
            <a:r>
              <a:rPr kumimoji="0" lang="en-US" sz="3000" b="0" i="1" u="none" strike="noStrike" kern="1200" cap="none" spc="0" normalizeH="0" baseline="0" noProof="0" dirty="0">
                <a:ln>
                  <a:noFill/>
                </a:ln>
                <a:solidFill>
                  <a:srgbClr val="C00000"/>
                </a:solidFill>
                <a:effectLst/>
                <a:uLnTx/>
                <a:uFillTx/>
                <a:latin typeface="Calibri"/>
                <a:ea typeface="+mn-ea"/>
                <a:cs typeface="+mn-cs"/>
              </a:rPr>
              <a:t>direct</a:t>
            </a:r>
            <a:r>
              <a:rPr kumimoji="0" lang="en-US" sz="3000" b="0" i="0" u="none" strike="noStrike" kern="1200" cap="none" spc="0" normalizeH="0" baseline="0" noProof="0" dirty="0">
                <a:ln>
                  <a:noFill/>
                </a:ln>
                <a:solidFill>
                  <a:prstClr val="black"/>
                </a:solidFill>
                <a:effectLst/>
                <a:uLnTx/>
                <a:uFillTx/>
                <a:latin typeface="Calibri"/>
                <a:ea typeface="+mn-ea"/>
                <a:cs typeface="+mn-cs"/>
              </a:rPr>
              <a:t> feedback to sending/receiving hosts with flows passing through congested router</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may indicate congestion level or explicitly set sending rate</a:t>
            </a:r>
          </a:p>
        </p:txBody>
      </p:sp>
      <p:sp>
        <p:nvSpPr>
          <p:cNvPr id="142" name="Slide Number Placeholder 2">
            <a:extLst>
              <a:ext uri="{FF2B5EF4-FFF2-40B4-BE49-F238E27FC236}">
                <a16:creationId xmlns:a16="http://schemas.microsoft.com/office/drawing/2014/main" id="{2CD52159-2B0E-9F4A-977B-27EEC203D7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122</a:t>
            </a:fld>
            <a:endParaRPr lang="en-US" dirty="0"/>
          </a:p>
        </p:txBody>
      </p:sp>
    </p:spTree>
    <p:extLst>
      <p:ext uri="{BB962C8B-B14F-4D97-AF65-F5344CB8AC3E}">
        <p14:creationId xmlns:p14="http://schemas.microsoft.com/office/powerpoint/2010/main" val="382988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1000"/>
                                        <p:tgtEl>
                                          <p:spTgt spid="308"/>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313"/>
                                        </p:tgtEl>
                                        <p:attrNameLst>
                                          <p:attrName>style.visibility</p:attrName>
                                        </p:attrNameLst>
                                      </p:cBhvr>
                                      <p:to>
                                        <p:strVal val="visible"/>
                                      </p:to>
                                    </p:set>
                                    <p:animEffect transition="in" filter="wipe(right)">
                                      <p:cBhvr>
                                        <p:cTn id="11" dur="1000"/>
                                        <p:tgtEl>
                                          <p:spTgt spid="3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7289">
                                            <p:txEl>
                                              <p:pRg st="0" end="0"/>
                                            </p:txEl>
                                          </p:spTgt>
                                        </p:tgtEl>
                                        <p:attrNameLst>
                                          <p:attrName>style.visibility</p:attrName>
                                        </p:attrNameLst>
                                      </p:cBhvr>
                                      <p:to>
                                        <p:strVal val="visible"/>
                                      </p:to>
                                    </p:set>
                                    <p:animEffect transition="in" filter="dissolve">
                                      <p:cBhvr>
                                        <p:cTn id="25" dur="500"/>
                                        <p:tgtEl>
                                          <p:spTgt spid="9728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build="p"/>
      <p:bldP spid="2"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pPr>
            <a:r>
              <a:rPr lang="en-US" sz="3200" dirty="0"/>
              <a:t>TCP congestion control</a:t>
            </a:r>
          </a:p>
          <a:p>
            <a:pPr marL="403225" indent="-285750">
              <a:spcBef>
                <a:spcPts val="800"/>
              </a:spcBef>
            </a:pPr>
            <a:r>
              <a:rPr lang="en-US" sz="3200" dirty="0">
                <a:solidFill>
                  <a:schemeClr val="bg1">
                    <a:lumMod val="75000"/>
                  </a:schemeClr>
                </a:solidFill>
              </a:rPr>
              <a:t>Evolution of transport-layer functionality</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123</a:t>
            </a:fld>
            <a:endParaRPr lang="en-US" dirty="0"/>
          </a:p>
        </p:txBody>
      </p:sp>
      <p:pic>
        <p:nvPicPr>
          <p:cNvPr id="6" name="Picture 5">
            <a:extLst>
              <a:ext uri="{FF2B5EF4-FFF2-40B4-BE49-F238E27FC236}">
                <a16:creationId xmlns:a16="http://schemas.microsoft.com/office/drawing/2014/main" id="{853F12A5-E6F0-8F46-A507-3CB3CDD11A7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dirty="0"/>
              <a:t>TCP congestion control: AIMD</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168400"/>
            <a:ext cx="102743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approach: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senders can</a:t>
            </a:r>
            <a:r>
              <a:rPr kumimoji="0" lang="en-US" sz="2800" b="0" i="1"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increase sending rate until packet loss (congestion) occurs, then decrease sending rate on loss event</a:t>
            </a: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141" name="Text Box 13">
            <a:extLst>
              <a:ext uri="{FF2B5EF4-FFF2-40B4-BE49-F238E27FC236}">
                <a16:creationId xmlns:a16="http://schemas.microsoft.com/office/drawing/2014/main" id="{2FD36304-869C-CE42-8550-F12B5FFE2394}"/>
              </a:ext>
            </a:extLst>
          </p:cNvPr>
          <p:cNvSpPr txBox="1">
            <a:spLocks noChangeArrowheads="1"/>
          </p:cNvSpPr>
          <p:nvPr/>
        </p:nvSpPr>
        <p:spPr bwMode="auto">
          <a:xfrm>
            <a:off x="8688708" y="4380805"/>
            <a:ext cx="2769156" cy="150810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AIMD</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sawtooth</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behavior: </a:t>
            </a:r>
            <a:r>
              <a:rPr kumimoji="0" lang="en-US" sz="28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probing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bandwidth</a:t>
            </a:r>
          </a:p>
        </p:txBody>
      </p:sp>
      <p:sp>
        <p:nvSpPr>
          <p:cNvPr id="35" name="Rectangle 11">
            <a:extLst>
              <a:ext uri="{FF2B5EF4-FFF2-40B4-BE49-F238E27FC236}">
                <a16:creationId xmlns:a16="http://schemas.microsoft.com/office/drawing/2014/main" id="{F39215FA-39B5-484D-8395-F0F1A1C5D622}"/>
              </a:ext>
            </a:extLst>
          </p:cNvPr>
          <p:cNvSpPr>
            <a:spLocks noChangeArrowheads="1"/>
          </p:cNvSpPr>
          <p:nvPr/>
        </p:nvSpPr>
        <p:spPr bwMode="auto">
          <a:xfrm>
            <a:off x="4717339" y="3774454"/>
            <a:ext cx="685800" cy="3048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 name="Line 19">
            <a:extLst>
              <a:ext uri="{FF2B5EF4-FFF2-40B4-BE49-F238E27FC236}">
                <a16:creationId xmlns:a16="http://schemas.microsoft.com/office/drawing/2014/main" id="{D3F6ABF2-92A9-2C40-8D08-91E54606260B}"/>
              </a:ext>
            </a:extLst>
          </p:cNvPr>
          <p:cNvSpPr>
            <a:spLocks noChangeShapeType="1"/>
          </p:cNvSpPr>
          <p:nvPr/>
        </p:nvSpPr>
        <p:spPr bwMode="auto">
          <a:xfrm flipV="1">
            <a:off x="3898189" y="5196854"/>
            <a:ext cx="169863" cy="16986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 name="Line 20">
            <a:extLst>
              <a:ext uri="{FF2B5EF4-FFF2-40B4-BE49-F238E27FC236}">
                <a16:creationId xmlns:a16="http://schemas.microsoft.com/office/drawing/2014/main" id="{38434DE2-13CB-044F-991F-ED186F200404}"/>
              </a:ext>
            </a:extLst>
          </p:cNvPr>
          <p:cNvSpPr>
            <a:spLocks noChangeShapeType="1"/>
          </p:cNvSpPr>
          <p:nvPr/>
        </p:nvSpPr>
        <p:spPr bwMode="auto">
          <a:xfrm>
            <a:off x="4079164" y="5185741"/>
            <a:ext cx="0" cy="64293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8" name="Line 21">
            <a:extLst>
              <a:ext uri="{FF2B5EF4-FFF2-40B4-BE49-F238E27FC236}">
                <a16:creationId xmlns:a16="http://schemas.microsoft.com/office/drawing/2014/main" id="{1937BB13-75B0-4947-8F7E-C69526352422}"/>
              </a:ext>
            </a:extLst>
          </p:cNvPr>
          <p:cNvSpPr>
            <a:spLocks noChangeShapeType="1"/>
          </p:cNvSpPr>
          <p:nvPr/>
        </p:nvSpPr>
        <p:spPr bwMode="auto">
          <a:xfrm flipV="1">
            <a:off x="4068052" y="4869829"/>
            <a:ext cx="982662"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9" name="Line 22">
            <a:extLst>
              <a:ext uri="{FF2B5EF4-FFF2-40B4-BE49-F238E27FC236}">
                <a16:creationId xmlns:a16="http://schemas.microsoft.com/office/drawing/2014/main" id="{D3110501-FE57-9545-B9AC-7B103AF98E40}"/>
              </a:ext>
            </a:extLst>
          </p:cNvPr>
          <p:cNvSpPr>
            <a:spLocks noChangeShapeType="1"/>
          </p:cNvSpPr>
          <p:nvPr/>
        </p:nvSpPr>
        <p:spPr bwMode="auto">
          <a:xfrm>
            <a:off x="5039602" y="4871416"/>
            <a:ext cx="0" cy="80168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1" name="Line 23">
            <a:extLst>
              <a:ext uri="{FF2B5EF4-FFF2-40B4-BE49-F238E27FC236}">
                <a16:creationId xmlns:a16="http://schemas.microsoft.com/office/drawing/2014/main" id="{AAAA55BA-D404-204C-AECA-45F566AECF40}"/>
              </a:ext>
            </a:extLst>
          </p:cNvPr>
          <p:cNvSpPr>
            <a:spLocks noChangeShapeType="1"/>
          </p:cNvSpPr>
          <p:nvPr/>
        </p:nvSpPr>
        <p:spPr bwMode="auto">
          <a:xfrm flipV="1">
            <a:off x="5031664" y="5168279"/>
            <a:ext cx="525463" cy="5238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3" name="Line 24">
            <a:extLst>
              <a:ext uri="{FF2B5EF4-FFF2-40B4-BE49-F238E27FC236}">
                <a16:creationId xmlns:a16="http://schemas.microsoft.com/office/drawing/2014/main" id="{43AEBE7F-F2BB-5943-A7EA-ACC4591C9E55}"/>
              </a:ext>
            </a:extLst>
          </p:cNvPr>
          <p:cNvSpPr>
            <a:spLocks noChangeShapeType="1"/>
          </p:cNvSpPr>
          <p:nvPr/>
        </p:nvSpPr>
        <p:spPr bwMode="auto">
          <a:xfrm>
            <a:off x="5557127" y="5163516"/>
            <a:ext cx="0" cy="6889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6F7F0A4B-818C-8448-8543-A37DAD19EABE}"/>
              </a:ext>
            </a:extLst>
          </p:cNvPr>
          <p:cNvSpPr>
            <a:spLocks noChangeShapeType="1"/>
          </p:cNvSpPr>
          <p:nvPr/>
        </p:nvSpPr>
        <p:spPr bwMode="auto">
          <a:xfrm flipV="1">
            <a:off x="5568240" y="4849191"/>
            <a:ext cx="969963"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5" name="Line 26">
            <a:extLst>
              <a:ext uri="{FF2B5EF4-FFF2-40B4-BE49-F238E27FC236}">
                <a16:creationId xmlns:a16="http://schemas.microsoft.com/office/drawing/2014/main" id="{19538173-60A5-BC46-A9E4-749776021102}"/>
              </a:ext>
            </a:extLst>
          </p:cNvPr>
          <p:cNvSpPr>
            <a:spLocks noChangeShapeType="1"/>
          </p:cNvSpPr>
          <p:nvPr/>
        </p:nvSpPr>
        <p:spPr bwMode="auto">
          <a:xfrm>
            <a:off x="6533440" y="4849191"/>
            <a:ext cx="11113" cy="83502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6" name="Line 29">
            <a:extLst>
              <a:ext uri="{FF2B5EF4-FFF2-40B4-BE49-F238E27FC236}">
                <a16:creationId xmlns:a16="http://schemas.microsoft.com/office/drawing/2014/main" id="{30FAE305-421D-C042-8E51-7C7D81EEF5FE}"/>
              </a:ext>
            </a:extLst>
          </p:cNvPr>
          <p:cNvSpPr>
            <a:spLocks noChangeShapeType="1"/>
          </p:cNvSpPr>
          <p:nvPr/>
        </p:nvSpPr>
        <p:spPr bwMode="auto">
          <a:xfrm flipV="1">
            <a:off x="6538202" y="5012704"/>
            <a:ext cx="666750" cy="666750"/>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7" name="Line 30">
            <a:extLst>
              <a:ext uri="{FF2B5EF4-FFF2-40B4-BE49-F238E27FC236}">
                <a16:creationId xmlns:a16="http://schemas.microsoft.com/office/drawing/2014/main" id="{031213C2-BAEE-5346-905B-3F89E1716013}"/>
              </a:ext>
            </a:extLst>
          </p:cNvPr>
          <p:cNvSpPr>
            <a:spLocks noChangeShapeType="1"/>
          </p:cNvSpPr>
          <p:nvPr/>
        </p:nvSpPr>
        <p:spPr bwMode="auto">
          <a:xfrm>
            <a:off x="7204952" y="4998416"/>
            <a:ext cx="0" cy="7477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8" name="Line 31">
            <a:extLst>
              <a:ext uri="{FF2B5EF4-FFF2-40B4-BE49-F238E27FC236}">
                <a16:creationId xmlns:a16="http://schemas.microsoft.com/office/drawing/2014/main" id="{AEA390E0-709D-FA45-91DE-52C0460D608A}"/>
              </a:ext>
            </a:extLst>
          </p:cNvPr>
          <p:cNvSpPr>
            <a:spLocks noChangeShapeType="1"/>
          </p:cNvSpPr>
          <p:nvPr/>
        </p:nvSpPr>
        <p:spPr bwMode="auto">
          <a:xfrm flipV="1">
            <a:off x="7195427" y="4746004"/>
            <a:ext cx="876300" cy="10144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53" name="Group 52">
            <a:extLst>
              <a:ext uri="{FF2B5EF4-FFF2-40B4-BE49-F238E27FC236}">
                <a16:creationId xmlns:a16="http://schemas.microsoft.com/office/drawing/2014/main" id="{82C492E2-E058-BD40-8FFC-FCED8F0093C0}"/>
              </a:ext>
            </a:extLst>
          </p:cNvPr>
          <p:cNvGrpSpPr/>
          <p:nvPr/>
        </p:nvGrpSpPr>
        <p:grpSpPr>
          <a:xfrm>
            <a:off x="3439503" y="4254500"/>
            <a:ext cx="4602061" cy="2566366"/>
            <a:chOff x="4099903" y="3937000"/>
            <a:chExt cx="4602061" cy="2566366"/>
          </a:xfrm>
        </p:grpSpPr>
        <p:sp>
          <p:nvSpPr>
            <p:cNvPr id="54" name="Text Box 12">
              <a:extLst>
                <a:ext uri="{FF2B5EF4-FFF2-40B4-BE49-F238E27FC236}">
                  <a16:creationId xmlns:a16="http://schemas.microsoft.com/office/drawing/2014/main" id="{18CC901F-184A-1147-B991-15E650618DC6}"/>
                </a:ext>
              </a:extLst>
            </p:cNvPr>
            <p:cNvSpPr txBox="1">
              <a:spLocks noChangeArrowheads="1"/>
            </p:cNvSpPr>
            <p:nvPr/>
          </p:nvSpPr>
          <p:spPr bwMode="auto">
            <a:xfrm rot="16200000">
              <a:off x="3117142" y="4919761"/>
              <a:ext cx="2273300" cy="307777"/>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TCP sender  Sending rate</a:t>
              </a:r>
            </a:p>
          </p:txBody>
        </p:sp>
        <p:sp>
          <p:nvSpPr>
            <p:cNvPr id="55" name="Line 17">
              <a:extLst>
                <a:ext uri="{FF2B5EF4-FFF2-40B4-BE49-F238E27FC236}">
                  <a16:creationId xmlns:a16="http://schemas.microsoft.com/office/drawing/2014/main" id="{EF2F6AD0-B3EF-0B4C-88EA-BCCC113FD5FC}"/>
                </a:ext>
              </a:extLst>
            </p:cNvPr>
            <p:cNvSpPr>
              <a:spLocks noChangeShapeType="1"/>
            </p:cNvSpPr>
            <p:nvPr/>
          </p:nvSpPr>
          <p:spPr bwMode="auto">
            <a:xfrm>
              <a:off x="4558589" y="6176341"/>
              <a:ext cx="414337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6" name="Line 18">
              <a:extLst>
                <a:ext uri="{FF2B5EF4-FFF2-40B4-BE49-F238E27FC236}">
                  <a16:creationId xmlns:a16="http://schemas.microsoft.com/office/drawing/2014/main" id="{11B2DFEF-102F-D74F-9B47-304A5DF4E68F}"/>
                </a:ext>
              </a:extLst>
            </p:cNvPr>
            <p:cNvSpPr>
              <a:spLocks noChangeShapeType="1"/>
            </p:cNvSpPr>
            <p:nvPr/>
          </p:nvSpPr>
          <p:spPr bwMode="auto">
            <a:xfrm>
              <a:off x="4546600" y="4203700"/>
              <a:ext cx="877" cy="1974229"/>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Text Box 40">
              <a:extLst>
                <a:ext uri="{FF2B5EF4-FFF2-40B4-BE49-F238E27FC236}">
                  <a16:creationId xmlns:a16="http://schemas.microsoft.com/office/drawing/2014/main" id="{27E5BB5F-DA02-D949-9477-C50B724C7125}"/>
                </a:ext>
              </a:extLst>
            </p:cNvPr>
            <p:cNvSpPr txBox="1">
              <a:spLocks noChangeArrowheads="1"/>
            </p:cNvSpPr>
            <p:nvPr/>
          </p:nvSpPr>
          <p:spPr bwMode="auto">
            <a:xfrm>
              <a:off x="6125452" y="6166816"/>
              <a:ext cx="5762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time</a:t>
              </a:r>
            </a:p>
          </p:txBody>
        </p:sp>
      </p:grpSp>
      <p:grpSp>
        <p:nvGrpSpPr>
          <p:cNvPr id="9" name="Group 8">
            <a:extLst>
              <a:ext uri="{FF2B5EF4-FFF2-40B4-BE49-F238E27FC236}">
                <a16:creationId xmlns:a16="http://schemas.microsoft.com/office/drawing/2014/main" id="{CE38AC8E-A4ED-7042-8221-EEFB417FF7BA}"/>
              </a:ext>
            </a:extLst>
          </p:cNvPr>
          <p:cNvGrpSpPr/>
          <p:nvPr/>
        </p:nvGrpSpPr>
        <p:grpSpPr>
          <a:xfrm>
            <a:off x="965200" y="2146300"/>
            <a:ext cx="5054600" cy="1905000"/>
            <a:chOff x="0" y="4533900"/>
            <a:chExt cx="4762500" cy="1905000"/>
          </a:xfrm>
        </p:grpSpPr>
        <p:sp>
          <p:nvSpPr>
            <p:cNvPr id="3" name="Rectangle 2">
              <a:extLst>
                <a:ext uri="{FF2B5EF4-FFF2-40B4-BE49-F238E27FC236}">
                  <a16:creationId xmlns:a16="http://schemas.microsoft.com/office/drawing/2014/main" id="{EA9A0FF2-0607-BD44-8404-E086F64972BE}"/>
                </a:ext>
              </a:extLst>
            </p:cNvPr>
            <p:cNvSpPr/>
            <p:nvPr/>
          </p:nvSpPr>
          <p:spPr>
            <a:xfrm>
              <a:off x="406846" y="4737100"/>
              <a:ext cx="4334880" cy="1435100"/>
            </a:xfrm>
            <a:prstGeom prst="rect">
              <a:avLst/>
            </a:prstGeom>
            <a:solidFill>
              <a:schemeClr val="bg1"/>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0" name="Rectangle 8">
              <a:extLst>
                <a:ext uri="{FF2B5EF4-FFF2-40B4-BE49-F238E27FC236}">
                  <a16:creationId xmlns:a16="http://schemas.microsoft.com/office/drawing/2014/main" id="{83C5ED77-5FA7-AC4C-AB2A-245D62DB4EB6}"/>
                </a:ext>
              </a:extLst>
            </p:cNvPr>
            <p:cNvSpPr>
              <a:spLocks noChangeArrowheads="1"/>
            </p:cNvSpPr>
            <p:nvPr/>
          </p:nvSpPr>
          <p:spPr bwMode="auto">
            <a:xfrm>
              <a:off x="0" y="4991100"/>
              <a:ext cx="47625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a:ea typeface="ＭＳ Ｐゴシック" charset="0"/>
                  <a:cs typeface="+mn-cs"/>
                </a:rPr>
                <a:t>increase sending rate </a:t>
              </a:r>
              <a:r>
                <a:rPr kumimoji="0" lang="en-US" sz="2600" b="0" i="0" u="none" strike="noStrike" kern="1200" cap="none" spc="0" normalizeH="0" baseline="0" noProof="0" dirty="0">
                  <a:ln>
                    <a:noFill/>
                  </a:ln>
                  <a:solidFill>
                    <a:prstClr val="black"/>
                  </a:solidFill>
                  <a:effectLst/>
                  <a:uLnTx/>
                  <a:uFillTx/>
                  <a:latin typeface="Gill Sans MT" charset="0"/>
                  <a:ea typeface="ＭＳ Ｐゴシック" charset="0"/>
                  <a:cs typeface="+mn-cs"/>
                </a:rPr>
                <a:t>by </a:t>
              </a: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 maximum segment size every RTT until loss detected</a:t>
              </a:r>
              <a:endParaRPr kumimoji="0" lang="en-US" sz="26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6" name="Rectangle 8">
              <a:extLst>
                <a:ext uri="{FF2B5EF4-FFF2-40B4-BE49-F238E27FC236}">
                  <a16:creationId xmlns:a16="http://schemas.microsoft.com/office/drawing/2014/main" id="{91ECB6E6-4418-7243-B13D-E7E4DAE72D34}"/>
                </a:ext>
              </a:extLst>
            </p:cNvPr>
            <p:cNvSpPr>
              <a:spLocks noChangeArrowheads="1"/>
            </p:cNvSpPr>
            <p:nvPr/>
          </p:nvSpPr>
          <p:spPr bwMode="auto">
            <a:xfrm>
              <a:off x="508000" y="4533900"/>
              <a:ext cx="26670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dditive </a:t>
              </a: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I</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ncrease</a:t>
              </a:r>
              <a:endParaRPr kumimoji="0" lang="en-US" sz="2800" b="0" i="0" u="none" strike="noStrike" kern="1200" cap="none" spc="0" normalizeH="0" baseline="0" noProof="0" dirty="0">
                <a:ln>
                  <a:noFill/>
                </a:ln>
                <a:solidFill>
                  <a:srgbClr val="00B050"/>
                </a:solidFill>
                <a:effectLst/>
                <a:uLnTx/>
                <a:uFillTx/>
                <a:latin typeface="Gill Sans MT" charset="0"/>
                <a:ea typeface="ＭＳ Ｐゴシック" charset="0"/>
                <a:cs typeface="+mn-cs"/>
              </a:endParaRPr>
            </a:p>
          </p:txBody>
        </p:sp>
      </p:grpSp>
      <p:grpSp>
        <p:nvGrpSpPr>
          <p:cNvPr id="63" name="Group 62">
            <a:extLst>
              <a:ext uri="{FF2B5EF4-FFF2-40B4-BE49-F238E27FC236}">
                <a16:creationId xmlns:a16="http://schemas.microsoft.com/office/drawing/2014/main" id="{29F4C833-80E3-E14A-98F5-D02EBF4C0AC6}"/>
              </a:ext>
            </a:extLst>
          </p:cNvPr>
          <p:cNvGrpSpPr/>
          <p:nvPr/>
        </p:nvGrpSpPr>
        <p:grpSpPr>
          <a:xfrm>
            <a:off x="6007100" y="2197100"/>
            <a:ext cx="4749800" cy="1422400"/>
            <a:chOff x="38100" y="4533900"/>
            <a:chExt cx="4749800" cy="1422400"/>
          </a:xfrm>
        </p:grpSpPr>
        <p:sp>
          <p:nvSpPr>
            <p:cNvPr id="64" name="Rectangle 63">
              <a:extLst>
                <a:ext uri="{FF2B5EF4-FFF2-40B4-BE49-F238E27FC236}">
                  <a16:creationId xmlns:a16="http://schemas.microsoft.com/office/drawing/2014/main" id="{7ED9889A-D576-6948-99EB-B6AAAAF94FF1}"/>
                </a:ext>
              </a:extLst>
            </p:cNvPr>
            <p:cNvSpPr/>
            <p:nvPr/>
          </p:nvSpPr>
          <p:spPr>
            <a:xfrm>
              <a:off x="342900" y="4686300"/>
              <a:ext cx="4267200" cy="1270000"/>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Rectangle 8">
              <a:extLst>
                <a:ext uri="{FF2B5EF4-FFF2-40B4-BE49-F238E27FC236}">
                  <a16:creationId xmlns:a16="http://schemas.microsoft.com/office/drawing/2014/main" id="{12492D08-6387-3C44-BE8F-DFB7A535E296}"/>
                </a:ext>
              </a:extLst>
            </p:cNvPr>
            <p:cNvSpPr>
              <a:spLocks noChangeArrowheads="1"/>
            </p:cNvSpPr>
            <p:nvPr/>
          </p:nvSpPr>
          <p:spPr bwMode="auto">
            <a:xfrm>
              <a:off x="38100" y="4991100"/>
              <a:ext cx="4749800"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sending rate in half at each loss event</a:t>
              </a:r>
              <a:endParaRPr kumimoji="0" lang="en-US" sz="2600" b="0" i="1" u="none" strike="noStrike" kern="1200" cap="none" spc="0" normalizeH="0" baseline="0" noProof="0" dirty="0">
                <a:ln>
                  <a:noFill/>
                </a:ln>
                <a:solidFill>
                  <a:prstClr val="black"/>
                </a:solidFill>
                <a:effectLst/>
                <a:uLnTx/>
                <a:uFillTx/>
                <a:latin typeface="Calibri"/>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6" name="Rectangle 8">
              <a:extLst>
                <a:ext uri="{FF2B5EF4-FFF2-40B4-BE49-F238E27FC236}">
                  <a16:creationId xmlns:a16="http://schemas.microsoft.com/office/drawing/2014/main" id="{4FA342B4-82DA-FE44-A283-F18BBA2F6E1B}"/>
                </a:ext>
              </a:extLst>
            </p:cNvPr>
            <p:cNvSpPr>
              <a:spLocks noChangeArrowheads="1"/>
            </p:cNvSpPr>
            <p:nvPr/>
          </p:nvSpPr>
          <p:spPr bwMode="auto">
            <a:xfrm>
              <a:off x="508000" y="4533900"/>
              <a:ext cx="37465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ultiplicative </a:t>
              </a: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D</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ecrease</a:t>
              </a:r>
              <a:endParaRPr kumimoji="0" lang="en-US" sz="2800" b="0" i="0" u="none" strike="noStrike" kern="1200" cap="none" spc="0" normalizeH="0" baseline="0" noProof="0" dirty="0">
                <a:ln>
                  <a:noFill/>
                </a:ln>
                <a:solidFill>
                  <a:srgbClr val="C00000"/>
                </a:solidFill>
                <a:effectLst/>
                <a:uLnTx/>
                <a:uFillTx/>
                <a:latin typeface="Gill Sans MT" charset="0"/>
                <a:ea typeface="ＭＳ Ｐゴシック" charset="0"/>
                <a:cs typeface="+mn-cs"/>
              </a:endParaRPr>
            </a:p>
          </p:txBody>
        </p:sp>
      </p:grpSp>
      <p:grpSp>
        <p:nvGrpSpPr>
          <p:cNvPr id="33" name="Group 32">
            <a:extLst>
              <a:ext uri="{FF2B5EF4-FFF2-40B4-BE49-F238E27FC236}">
                <a16:creationId xmlns:a16="http://schemas.microsoft.com/office/drawing/2014/main" id="{08B9E571-5EFE-DF45-ABEE-F217088B731C}"/>
              </a:ext>
            </a:extLst>
          </p:cNvPr>
          <p:cNvGrpSpPr/>
          <p:nvPr/>
        </p:nvGrpSpPr>
        <p:grpSpPr>
          <a:xfrm>
            <a:off x="3952943" y="3784600"/>
            <a:ext cx="3599234" cy="1591283"/>
            <a:chOff x="3965643" y="3797300"/>
            <a:chExt cx="3599234" cy="1591283"/>
          </a:xfrm>
        </p:grpSpPr>
        <p:grpSp>
          <p:nvGrpSpPr>
            <p:cNvPr id="32" name="Group 31">
              <a:extLst>
                <a:ext uri="{FF2B5EF4-FFF2-40B4-BE49-F238E27FC236}">
                  <a16:creationId xmlns:a16="http://schemas.microsoft.com/office/drawing/2014/main" id="{B98081F5-35B5-A849-A6DC-D92ECEF0752A}"/>
                </a:ext>
              </a:extLst>
            </p:cNvPr>
            <p:cNvGrpSpPr/>
            <p:nvPr/>
          </p:nvGrpSpPr>
          <p:grpSpPr>
            <a:xfrm>
              <a:off x="3965643" y="4159386"/>
              <a:ext cx="3599234" cy="1229197"/>
              <a:chOff x="3965643" y="4159386"/>
              <a:chExt cx="3599234" cy="1229197"/>
            </a:xfrm>
          </p:grpSpPr>
          <p:cxnSp>
            <p:nvCxnSpPr>
              <p:cNvPr id="11" name="Straight Arrow Connector 10">
                <a:extLst>
                  <a:ext uri="{FF2B5EF4-FFF2-40B4-BE49-F238E27FC236}">
                    <a16:creationId xmlns:a16="http://schemas.microsoft.com/office/drawing/2014/main" id="{01079667-0DAA-D94E-A312-DB3C9977FD14}"/>
                  </a:ext>
                </a:extLst>
              </p:cNvPr>
              <p:cNvCxnSpPr>
                <a:cxnSpLocks/>
              </p:cNvCxnSpPr>
              <p:nvPr/>
            </p:nvCxnSpPr>
            <p:spPr>
              <a:xfrm>
                <a:off x="3972128" y="4163438"/>
                <a:ext cx="0" cy="10562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E4E7717F-1A0D-FF4E-812D-3FD618E53878}"/>
                  </a:ext>
                </a:extLst>
              </p:cNvPr>
              <p:cNvCxnSpPr>
                <a:cxnSpLocks/>
              </p:cNvCxnSpPr>
              <p:nvPr/>
            </p:nvCxnSpPr>
            <p:spPr>
              <a:xfrm>
                <a:off x="4480128" y="4163438"/>
                <a:ext cx="0" cy="12213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4D125F63-AD27-6B45-AE19-4ABD9BFAAB03}"/>
                  </a:ext>
                </a:extLst>
              </p:cNvPr>
              <p:cNvCxnSpPr>
                <a:cxnSpLocks/>
              </p:cNvCxnSpPr>
              <p:nvPr/>
            </p:nvCxnSpPr>
            <p:spPr>
              <a:xfrm>
                <a:off x="5295630" y="4163438"/>
                <a:ext cx="0" cy="1225145"/>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72EFC86-C803-E843-B374-808FCECBC349}"/>
                  </a:ext>
                </a:extLst>
              </p:cNvPr>
              <p:cNvCxnSpPr>
                <a:cxnSpLocks/>
              </p:cNvCxnSpPr>
              <p:nvPr/>
            </p:nvCxnSpPr>
            <p:spPr>
              <a:xfrm>
                <a:off x="5964941" y="4171542"/>
                <a:ext cx="0" cy="1204339"/>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19D5D13-5D07-4C47-B49B-8AC41BCDCFBB}"/>
                  </a:ext>
                </a:extLst>
              </p:cNvPr>
              <p:cNvCxnSpPr>
                <a:cxnSpLocks/>
              </p:cNvCxnSpPr>
              <p:nvPr/>
            </p:nvCxnSpPr>
            <p:spPr>
              <a:xfrm>
                <a:off x="6794500" y="4165056"/>
                <a:ext cx="0" cy="11938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49C30FB-E09A-8645-AF59-0F93ED23D5ED}"/>
                  </a:ext>
                </a:extLst>
              </p:cNvPr>
              <p:cNvCxnSpPr>
                <a:cxnSpLocks/>
              </p:cNvCxnSpPr>
              <p:nvPr/>
            </p:nvCxnSpPr>
            <p:spPr>
              <a:xfrm>
                <a:off x="7559743" y="4159386"/>
                <a:ext cx="0" cy="110652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CE80244-8AE8-9244-8BD7-F7A494EF70AA}"/>
                  </a:ext>
                </a:extLst>
              </p:cNvPr>
              <p:cNvCxnSpPr>
                <a:cxnSpLocks/>
              </p:cNvCxnSpPr>
              <p:nvPr/>
            </p:nvCxnSpPr>
            <p:spPr>
              <a:xfrm>
                <a:off x="3965643" y="4162357"/>
                <a:ext cx="3599234"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31" name="Straight Arrow Connector 30">
              <a:extLst>
                <a:ext uri="{FF2B5EF4-FFF2-40B4-BE49-F238E27FC236}">
                  <a16:creationId xmlns:a16="http://schemas.microsoft.com/office/drawing/2014/main" id="{CA3311EB-6DA1-BE40-8300-E0A7E76CCC9C}"/>
                </a:ext>
              </a:extLst>
            </p:cNvPr>
            <p:cNvCxnSpPr/>
            <p:nvPr/>
          </p:nvCxnSpPr>
          <p:spPr>
            <a:xfrm>
              <a:off x="5651500" y="3797300"/>
              <a:ext cx="0" cy="3810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6745885-D0C9-5C4A-8189-6C1C08532D61}"/>
              </a:ext>
            </a:extLst>
          </p:cNvPr>
          <p:cNvGrpSpPr/>
          <p:nvPr/>
        </p:nvGrpSpPr>
        <p:grpSpPr>
          <a:xfrm>
            <a:off x="4108450" y="3622675"/>
            <a:ext cx="3819526" cy="1695450"/>
            <a:chOff x="4108450" y="3622675"/>
            <a:chExt cx="3819526" cy="1695450"/>
          </a:xfrm>
        </p:grpSpPr>
        <p:grpSp>
          <p:nvGrpSpPr>
            <p:cNvPr id="85" name="Group 84">
              <a:extLst>
                <a:ext uri="{FF2B5EF4-FFF2-40B4-BE49-F238E27FC236}">
                  <a16:creationId xmlns:a16="http://schemas.microsoft.com/office/drawing/2014/main" id="{CE8174FE-3375-6647-833E-1BBA1779B8E0}"/>
                </a:ext>
              </a:extLst>
            </p:cNvPr>
            <p:cNvGrpSpPr/>
            <p:nvPr/>
          </p:nvGrpSpPr>
          <p:grpSpPr>
            <a:xfrm>
              <a:off x="4108450" y="3975100"/>
              <a:ext cx="3819526" cy="1343025"/>
              <a:chOff x="4108450" y="3975100"/>
              <a:chExt cx="3819526" cy="1343025"/>
            </a:xfrm>
          </p:grpSpPr>
          <p:cxnSp>
            <p:nvCxnSpPr>
              <p:cNvPr id="61" name="Straight Arrow Connector 60">
                <a:extLst>
                  <a:ext uri="{FF2B5EF4-FFF2-40B4-BE49-F238E27FC236}">
                    <a16:creationId xmlns:a16="http://schemas.microsoft.com/office/drawing/2014/main" id="{D9182BCB-9C63-4F4E-9BFE-C6ED53E7206A}"/>
                  </a:ext>
                </a:extLst>
              </p:cNvPr>
              <p:cNvCxnSpPr>
                <a:cxnSpLocks/>
              </p:cNvCxnSpPr>
              <p:nvPr/>
            </p:nvCxnSpPr>
            <p:spPr>
              <a:xfrm flipH="1">
                <a:off x="7245350" y="3981450"/>
                <a:ext cx="679450" cy="125412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3A530988-F896-F240-A4FD-4D4D80C11F42}"/>
                  </a:ext>
                </a:extLst>
              </p:cNvPr>
              <p:cNvCxnSpPr>
                <a:cxnSpLocks/>
              </p:cNvCxnSpPr>
              <p:nvPr/>
            </p:nvCxnSpPr>
            <p:spPr>
              <a:xfrm flipH="1">
                <a:off x="4108450" y="3975100"/>
                <a:ext cx="3816350" cy="133985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6D2A9933-F916-0E46-A509-25FD8F001806}"/>
                  </a:ext>
                </a:extLst>
              </p:cNvPr>
              <p:cNvCxnSpPr>
                <a:cxnSpLocks/>
              </p:cNvCxnSpPr>
              <p:nvPr/>
            </p:nvCxnSpPr>
            <p:spPr>
              <a:xfrm flipH="1">
                <a:off x="5070475" y="3978275"/>
                <a:ext cx="2854325" cy="129857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BDE4AE1E-DD47-A648-8E75-B628D3E56B38}"/>
                  </a:ext>
                </a:extLst>
              </p:cNvPr>
              <p:cNvCxnSpPr>
                <a:cxnSpLocks/>
              </p:cNvCxnSpPr>
              <p:nvPr/>
            </p:nvCxnSpPr>
            <p:spPr>
              <a:xfrm flipH="1">
                <a:off x="5607050" y="3984625"/>
                <a:ext cx="2320926" cy="13335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2C801921-8F99-4345-AADF-C79B5379ABCC}"/>
                  </a:ext>
                </a:extLst>
              </p:cNvPr>
              <p:cNvCxnSpPr>
                <a:cxnSpLocks/>
              </p:cNvCxnSpPr>
              <p:nvPr/>
            </p:nvCxnSpPr>
            <p:spPr>
              <a:xfrm flipH="1">
                <a:off x="6565900" y="3984625"/>
                <a:ext cx="1358900" cy="11938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7" name="Straight Connector 86">
              <a:extLst>
                <a:ext uri="{FF2B5EF4-FFF2-40B4-BE49-F238E27FC236}">
                  <a16:creationId xmlns:a16="http://schemas.microsoft.com/office/drawing/2014/main" id="{E7A7E738-8F7C-B641-98A4-26125EAB1AA9}"/>
                </a:ext>
              </a:extLst>
            </p:cNvPr>
            <p:cNvCxnSpPr/>
            <p:nvPr/>
          </p:nvCxnSpPr>
          <p:spPr>
            <a:xfrm flipV="1">
              <a:off x="7921625" y="3622675"/>
              <a:ext cx="0" cy="35877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9" name="Slide Number Placeholder 2">
            <a:extLst>
              <a:ext uri="{FF2B5EF4-FFF2-40B4-BE49-F238E27FC236}">
                <a16:creationId xmlns:a16="http://schemas.microsoft.com/office/drawing/2014/main" id="{F67FBF66-1006-C849-9ABA-320AB4C17D7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124</a:t>
            </a:fld>
            <a:endParaRPr lang="en-US" dirty="0"/>
          </a:p>
        </p:txBody>
      </p:sp>
    </p:spTree>
    <p:extLst>
      <p:ext uri="{BB962C8B-B14F-4D97-AF65-F5344CB8AC3E}">
        <p14:creationId xmlns:p14="http://schemas.microsoft.com/office/powerpoint/2010/main" val="938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up)">
                                      <p:cBhvr>
                                        <p:cTn id="16" dur="500"/>
                                        <p:tgtEl>
                                          <p:spTgt spid="3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wipe(left)">
                                      <p:cBhvr>
                                        <p:cTn id="20" dur="500"/>
                                        <p:tgtEl>
                                          <p:spTgt spid="38"/>
                                        </p:tgtEl>
                                      </p:cBhvr>
                                    </p:animEffect>
                                  </p:childTnLst>
                                </p:cTn>
                              </p:par>
                            </p:childTnLst>
                          </p:cTn>
                        </p:par>
                        <p:par>
                          <p:cTn id="21" fill="hold">
                            <p:stCondLst>
                              <p:cond delay="1500"/>
                            </p:stCondLst>
                            <p:childTnLst>
                              <p:par>
                                <p:cTn id="22" presetID="22" presetClass="entr" presetSubtype="1"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wipe(up)">
                                      <p:cBhvr>
                                        <p:cTn id="24" dur="500"/>
                                        <p:tgtEl>
                                          <p:spTgt spid="39"/>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par>
                          <p:cTn id="29" fill="hold">
                            <p:stCondLst>
                              <p:cond delay="2500"/>
                            </p:stCondLst>
                            <p:childTnLst>
                              <p:par>
                                <p:cTn id="30" presetID="22" presetClass="entr" presetSubtype="1"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down)">
                                      <p:cBhvr>
                                        <p:cTn id="36" dur="500"/>
                                        <p:tgtEl>
                                          <p:spTgt spid="44"/>
                                        </p:tgtEl>
                                      </p:cBhvr>
                                    </p:animEffect>
                                  </p:childTnLst>
                                </p:cTn>
                              </p:par>
                            </p:childTnLst>
                          </p:cTn>
                        </p:par>
                        <p:par>
                          <p:cTn id="37" fill="hold">
                            <p:stCondLst>
                              <p:cond delay="3500"/>
                            </p:stCondLst>
                            <p:childTnLst>
                              <p:par>
                                <p:cTn id="38" presetID="22" presetClass="entr" presetSubtype="1"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Effect transition="in" filter="wipe(up)">
                                      <p:cBhvr>
                                        <p:cTn id="40" dur="500"/>
                                        <p:tgtEl>
                                          <p:spTgt spid="45"/>
                                        </p:tgtEl>
                                      </p:cBhvr>
                                    </p:animEffect>
                                  </p:childTnLst>
                                </p:cTn>
                              </p:par>
                            </p:childTnLst>
                          </p:cTn>
                        </p:par>
                        <p:par>
                          <p:cTn id="41" fill="hold">
                            <p:stCondLst>
                              <p:cond delay="4000"/>
                            </p:stCondLst>
                            <p:childTnLst>
                              <p:par>
                                <p:cTn id="42" presetID="22" presetClass="entr" presetSubtype="4" fill="hold" grpId="0"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4500"/>
                            </p:stCondLst>
                            <p:childTnLst>
                              <p:par>
                                <p:cTn id="46" presetID="22" presetClass="entr" presetSubtype="1" fill="hold" grpId="0"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up)">
                                      <p:cBhvr>
                                        <p:cTn id="48" dur="500"/>
                                        <p:tgtEl>
                                          <p:spTgt spid="47"/>
                                        </p:tgtEl>
                                      </p:cBhvr>
                                    </p:animEffect>
                                  </p:childTnLst>
                                </p:cTn>
                              </p:par>
                            </p:childTnLst>
                          </p:cTn>
                        </p:par>
                        <p:par>
                          <p:cTn id="49" fill="hold">
                            <p:stCondLst>
                              <p:cond delay="5000"/>
                            </p:stCondLst>
                            <p:childTnLst>
                              <p:par>
                                <p:cTn id="50" presetID="2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down)">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dissolve">
                                      <p:cBhvr>
                                        <p:cTn id="57" dur="500"/>
                                        <p:tgtEl>
                                          <p:spTgt spid="9"/>
                                        </p:tgtEl>
                                      </p:cBhvr>
                                    </p:animEffect>
                                  </p:childTnLst>
                                </p:cTn>
                              </p:par>
                            </p:childTnLst>
                          </p:cTn>
                        </p:par>
                        <p:par>
                          <p:cTn id="58" fill="hold">
                            <p:stCondLst>
                              <p:cond delay="500"/>
                            </p:stCondLst>
                            <p:childTnLst>
                              <p:par>
                                <p:cTn id="59" presetID="22" presetClass="entr" presetSubtype="1" fill="hold" nodeType="afterEffect">
                                  <p:stCondLst>
                                    <p:cond delay="1000"/>
                                  </p:stCondLst>
                                  <p:childTnLst>
                                    <p:set>
                                      <p:cBhvr>
                                        <p:cTn id="60" dur="1" fill="hold">
                                          <p:stCondLst>
                                            <p:cond delay="0"/>
                                          </p:stCondLst>
                                        </p:cTn>
                                        <p:tgtEl>
                                          <p:spTgt spid="33"/>
                                        </p:tgtEl>
                                        <p:attrNameLst>
                                          <p:attrName>style.visibility</p:attrName>
                                        </p:attrNameLst>
                                      </p:cBhvr>
                                      <p:to>
                                        <p:strVal val="visible"/>
                                      </p:to>
                                    </p:set>
                                    <p:animEffect transition="in" filter="wipe(up)">
                                      <p:cBhvr>
                                        <p:cTn id="61" dur="500"/>
                                        <p:tgtEl>
                                          <p:spTgt spid="33"/>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dissolve">
                                      <p:cBhvr>
                                        <p:cTn id="66" dur="500"/>
                                        <p:tgtEl>
                                          <p:spTgt spid="63"/>
                                        </p:tgtEl>
                                      </p:cBhvr>
                                    </p:animEffect>
                                  </p:childTnLst>
                                </p:cTn>
                              </p:par>
                              <p:par>
                                <p:cTn id="67" presetID="9" presetClass="exit" presetSubtype="0" fill="hold" nodeType="withEffect">
                                  <p:stCondLst>
                                    <p:cond delay="0"/>
                                  </p:stCondLst>
                                  <p:childTnLst>
                                    <p:animEffect transition="out" filter="dissolve">
                                      <p:cBhvr>
                                        <p:cTn id="68" dur="500"/>
                                        <p:tgtEl>
                                          <p:spTgt spid="33"/>
                                        </p:tgtEl>
                                      </p:cBhvr>
                                    </p:animEffect>
                                    <p:set>
                                      <p:cBhvr>
                                        <p:cTn id="69" dur="1" fill="hold">
                                          <p:stCondLst>
                                            <p:cond delay="499"/>
                                          </p:stCondLst>
                                        </p:cTn>
                                        <p:tgtEl>
                                          <p:spTgt spid="3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nodeType="afterEffect">
                                  <p:stCondLst>
                                    <p:cond delay="1000"/>
                                  </p:stCondLst>
                                  <p:childTnLst>
                                    <p:set>
                                      <p:cBhvr>
                                        <p:cTn id="72" dur="1" fill="hold">
                                          <p:stCondLst>
                                            <p:cond delay="0"/>
                                          </p:stCondLst>
                                        </p:cTn>
                                        <p:tgtEl>
                                          <p:spTgt spid="88"/>
                                        </p:tgtEl>
                                        <p:attrNameLst>
                                          <p:attrName>style.visibility</p:attrName>
                                        </p:attrNameLst>
                                      </p:cBhvr>
                                      <p:to>
                                        <p:strVal val="visible"/>
                                      </p:to>
                                    </p:set>
                                    <p:animEffect transition="in" filter="wipe(up)">
                                      <p:cBhvr>
                                        <p:cTn id="73" dur="500"/>
                                        <p:tgtEl>
                                          <p:spTgt spid="8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141"/>
                                        </p:tgtEl>
                                        <p:attrNameLst>
                                          <p:attrName>style.visibility</p:attrName>
                                        </p:attrNameLst>
                                      </p:cBhvr>
                                      <p:to>
                                        <p:strVal val="visible"/>
                                      </p:to>
                                    </p:set>
                                    <p:animEffect transition="in" filter="dissolve">
                                      <p:cBhvr>
                                        <p:cTn id="78" dur="500"/>
                                        <p:tgtEl>
                                          <p:spTgt spid="141"/>
                                        </p:tgtEl>
                                      </p:cBhvr>
                                    </p:animEffect>
                                  </p:childTnLst>
                                </p:cTn>
                              </p:par>
                              <p:par>
                                <p:cTn id="79" presetID="9" presetClass="exit" presetSubtype="0" fill="hold" nodeType="withEffect">
                                  <p:stCondLst>
                                    <p:cond delay="0"/>
                                  </p:stCondLst>
                                  <p:childTnLst>
                                    <p:animEffect transition="out" filter="dissolve">
                                      <p:cBhvr>
                                        <p:cTn id="80" dur="500"/>
                                        <p:tgtEl>
                                          <p:spTgt spid="88"/>
                                        </p:tgtEl>
                                      </p:cBhvr>
                                    </p:animEffect>
                                    <p:set>
                                      <p:cBhvr>
                                        <p:cTn id="81" dur="1" fill="hold">
                                          <p:stCondLst>
                                            <p:cond delay="499"/>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P spid="36" grpId="0" animBg="1"/>
      <p:bldP spid="37" grpId="0" animBg="1"/>
      <p:bldP spid="38" grpId="0" animBg="1"/>
      <p:bldP spid="39" grpId="0" animBg="1"/>
      <p:bldP spid="41" grpId="0" animBg="1"/>
      <p:bldP spid="43" grpId="0" animBg="1"/>
      <p:bldP spid="44" grpId="0" animBg="1"/>
      <p:bldP spid="45" grpId="0" animBg="1"/>
      <p:bldP spid="46" grpId="0" animBg="1"/>
      <p:bldP spid="47" grpId="0" animBg="1"/>
      <p:bldP spid="48"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b="0" dirty="0"/>
              <a:t>TCP AIMD: more</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36144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Multiplicative decrease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detail:  sending rate is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in half on loss detected by triple duplicate ACK (TCP Reno)</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to 1 MSS (maximum segment size) when loss detected by timeout (TCP Tahoe)</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9" name="Rectangle 8">
            <a:extLst>
              <a:ext uri="{FF2B5EF4-FFF2-40B4-BE49-F238E27FC236}">
                <a16:creationId xmlns:a16="http://schemas.microsoft.com/office/drawing/2014/main" id="{FEB15F8D-408A-A649-8405-2EA6EA738400}"/>
              </a:ext>
            </a:extLst>
          </p:cNvPr>
          <p:cNvSpPr>
            <a:spLocks noChangeArrowheads="1"/>
          </p:cNvSpPr>
          <p:nvPr/>
        </p:nvSpPr>
        <p:spPr bwMode="auto">
          <a:xfrm>
            <a:off x="861060" y="336296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Why</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AIMD – a distributed, asynchronous algorithm – has been shown to:</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optimize congested flow rates network wide!</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have desirable stability properties</a:t>
            </a:r>
          </a:p>
          <a:p>
            <a:pPr marL="10160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5" name="Slide Number Placeholder 2">
            <a:extLst>
              <a:ext uri="{FF2B5EF4-FFF2-40B4-BE49-F238E27FC236}">
                <a16:creationId xmlns:a16="http://schemas.microsoft.com/office/drawing/2014/main" id="{1DCE9A74-28EC-4B49-833C-3052DE20980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125</a:t>
            </a:fld>
            <a:endParaRPr lang="en-US" dirty="0"/>
          </a:p>
        </p:txBody>
      </p:sp>
    </p:spTree>
    <p:extLst>
      <p:ext uri="{BB962C8B-B14F-4D97-AF65-F5344CB8AC3E}">
        <p14:creationId xmlns:p14="http://schemas.microsoft.com/office/powerpoint/2010/main" val="213091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59443"/>
            <a:ext cx="11393310" cy="894622"/>
          </a:xfrm>
        </p:spPr>
        <p:txBody>
          <a:bodyPr>
            <a:normAutofit/>
          </a:bodyPr>
          <a:lstStyle/>
          <a:p>
            <a:r>
              <a:rPr lang="en-US" sz="4800" dirty="0"/>
              <a:t>TCP congestion control: details</a:t>
            </a:r>
            <a:endParaRPr lang="en-US" sz="4400" b="0" dirty="0"/>
          </a:p>
        </p:txBody>
      </p:sp>
      <p:grpSp>
        <p:nvGrpSpPr>
          <p:cNvPr id="6" name="Group 5">
            <a:extLst>
              <a:ext uri="{FF2B5EF4-FFF2-40B4-BE49-F238E27FC236}">
                <a16:creationId xmlns:a16="http://schemas.microsoft.com/office/drawing/2014/main" id="{E52FB642-7743-D04C-959D-0819117703FA}"/>
              </a:ext>
            </a:extLst>
          </p:cNvPr>
          <p:cNvGrpSpPr/>
          <p:nvPr/>
        </p:nvGrpSpPr>
        <p:grpSpPr>
          <a:xfrm>
            <a:off x="1116489" y="4838128"/>
            <a:ext cx="10034111" cy="1695450"/>
            <a:chOff x="1116489" y="4838128"/>
            <a:chExt cx="10034111" cy="1695450"/>
          </a:xfrm>
        </p:grpSpPr>
        <p:sp>
          <p:nvSpPr>
            <p:cNvPr id="17" name="Rectangle 16">
              <a:extLst>
                <a:ext uri="{FF2B5EF4-FFF2-40B4-BE49-F238E27FC236}">
                  <a16:creationId xmlns:a16="http://schemas.microsoft.com/office/drawing/2014/main" id="{0C3AD1E1-01ED-504A-8B9E-72DE11AF70D1}"/>
                </a:ext>
              </a:extLst>
            </p:cNvPr>
            <p:cNvSpPr/>
            <p:nvPr/>
          </p:nvSpPr>
          <p:spPr>
            <a:xfrm>
              <a:off x="5989208" y="4895568"/>
              <a:ext cx="5161392" cy="3651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Rectangle 3">
              <a:extLst>
                <a:ext uri="{FF2B5EF4-FFF2-40B4-BE49-F238E27FC236}">
                  <a16:creationId xmlns:a16="http://schemas.microsoft.com/office/drawing/2014/main" id="{A0DE5D89-38AB-C14E-891D-428C6A0ADF69}"/>
                </a:ext>
              </a:extLst>
            </p:cNvPr>
            <p:cNvSpPr txBox="1">
              <a:spLocks noChangeArrowheads="1"/>
            </p:cNvSpPr>
            <p:nvPr/>
          </p:nvSpPr>
          <p:spPr bwMode="auto">
            <a:xfrm>
              <a:off x="1116489" y="4838128"/>
              <a:ext cx="9628822" cy="1695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sender limits transmission:</a:t>
              </a:r>
            </a:p>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is dynamically adjusted in response to observed network congestion (implementing TCP congestion control)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6" name="Group 15">
              <a:extLst>
                <a:ext uri="{FF2B5EF4-FFF2-40B4-BE49-F238E27FC236}">
                  <a16:creationId xmlns:a16="http://schemas.microsoft.com/office/drawing/2014/main" id="{33A34342-F85F-A641-8C18-F113159FACD0}"/>
                </a:ext>
              </a:extLst>
            </p:cNvPr>
            <p:cNvGrpSpPr/>
            <p:nvPr/>
          </p:nvGrpSpPr>
          <p:grpSpPr>
            <a:xfrm>
              <a:off x="6040008" y="4887177"/>
              <a:ext cx="4888123" cy="397144"/>
              <a:chOff x="5614194" y="4809655"/>
              <a:chExt cx="4888123" cy="397144"/>
            </a:xfrm>
          </p:grpSpPr>
          <p:sp>
            <p:nvSpPr>
              <p:cNvPr id="181" name="Text Box 71">
                <a:extLst>
                  <a:ext uri="{FF2B5EF4-FFF2-40B4-BE49-F238E27FC236}">
                    <a16:creationId xmlns:a16="http://schemas.microsoft.com/office/drawing/2014/main" id="{77C08B5B-9AE1-D240-830E-26ECD6D1665B}"/>
                  </a:ext>
                </a:extLst>
              </p:cNvPr>
              <p:cNvSpPr txBox="1">
                <a:spLocks noChangeArrowheads="1"/>
              </p:cNvSpPr>
              <p:nvPr/>
            </p:nvSpPr>
            <p:spPr bwMode="auto">
              <a:xfrm>
                <a:off x="5614194" y="4868630"/>
                <a:ext cx="4395788" cy="3381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25425" indent="-22542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25425" marR="0" lvl="0" indent="-225425"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LastByteSent- LastByteAcked</a:t>
                </a: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5" name="Group 14">
                <a:extLst>
                  <a:ext uri="{FF2B5EF4-FFF2-40B4-BE49-F238E27FC236}">
                    <a16:creationId xmlns:a16="http://schemas.microsoft.com/office/drawing/2014/main" id="{FED586FE-6CBA-AA48-85C7-A1A11BDABF7D}"/>
                  </a:ext>
                </a:extLst>
              </p:cNvPr>
              <p:cNvGrpSpPr/>
              <p:nvPr/>
            </p:nvGrpSpPr>
            <p:grpSpPr>
              <a:xfrm>
                <a:off x="9416467" y="4809655"/>
                <a:ext cx="1085850" cy="366713"/>
                <a:chOff x="7709188" y="4768381"/>
                <a:chExt cx="1085850" cy="366713"/>
              </a:xfrm>
            </p:grpSpPr>
            <p:grpSp>
              <p:nvGrpSpPr>
                <p:cNvPr id="182" name="Group 74">
                  <a:extLst>
                    <a:ext uri="{FF2B5EF4-FFF2-40B4-BE49-F238E27FC236}">
                      <a16:creationId xmlns:a16="http://schemas.microsoft.com/office/drawing/2014/main" id="{059D1AF2-00E8-024F-B782-BBF97100FEB7}"/>
                    </a:ext>
                  </a:extLst>
                </p:cNvPr>
                <p:cNvGrpSpPr>
                  <a:grpSpLocks/>
                </p:cNvGrpSpPr>
                <p:nvPr/>
              </p:nvGrpSpPr>
              <p:grpSpPr bwMode="auto">
                <a:xfrm>
                  <a:off x="7709188" y="4789019"/>
                  <a:ext cx="350837" cy="336550"/>
                  <a:chOff x="2059" y="2097"/>
                  <a:chExt cx="221" cy="212"/>
                </a:xfrm>
              </p:grpSpPr>
              <p:sp>
                <p:nvSpPr>
                  <p:cNvPr id="183" name="Text Box 72">
                    <a:extLst>
                      <a:ext uri="{FF2B5EF4-FFF2-40B4-BE49-F238E27FC236}">
                        <a16:creationId xmlns:a16="http://schemas.microsoft.com/office/drawing/2014/main" id="{50EA1644-3183-7A41-97FA-03AEA0F526B2}"/>
                      </a:ext>
                    </a:extLst>
                  </p:cNvPr>
                  <p:cNvSpPr txBox="1">
                    <a:spLocks noChangeArrowheads="1"/>
                  </p:cNvSpPr>
                  <p:nvPr/>
                </p:nvSpPr>
                <p:spPr bwMode="auto">
                  <a:xfrm>
                    <a:off x="2059" y="2097"/>
                    <a:ext cx="22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Tahoma" charset="0"/>
                        <a:ea typeface="ＭＳ Ｐゴシック" charset="0"/>
                        <a:cs typeface="+mn-cs"/>
                      </a:rPr>
                      <a:t>&lt;</a:t>
                    </a:r>
                  </a:p>
                </p:txBody>
              </p:sp>
              <p:sp>
                <p:nvSpPr>
                  <p:cNvPr id="184" name="Line 73">
                    <a:extLst>
                      <a:ext uri="{FF2B5EF4-FFF2-40B4-BE49-F238E27FC236}">
                        <a16:creationId xmlns:a16="http://schemas.microsoft.com/office/drawing/2014/main" id="{B966005D-C4C4-C547-86E3-65FDA3A33E10}"/>
                      </a:ext>
                    </a:extLst>
                  </p:cNvPr>
                  <p:cNvSpPr>
                    <a:spLocks noChangeShapeType="1"/>
                  </p:cNvSpPr>
                  <p:nvPr/>
                </p:nvSpPr>
                <p:spPr bwMode="auto">
                  <a:xfrm>
                    <a:off x="2133" y="2269"/>
                    <a:ext cx="8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5" name="Text Box 75">
                  <a:extLst>
                    <a:ext uri="{FF2B5EF4-FFF2-40B4-BE49-F238E27FC236}">
                      <a16:creationId xmlns:a16="http://schemas.microsoft.com/office/drawing/2014/main" id="{4F80A37A-B578-A447-95BD-D5D7AC31E664}"/>
                    </a:ext>
                  </a:extLst>
                </p:cNvPr>
                <p:cNvSpPr txBox="1">
                  <a:spLocks noChangeArrowheads="1"/>
                </p:cNvSpPr>
                <p:nvPr/>
              </p:nvSpPr>
              <p:spPr bwMode="auto">
                <a:xfrm>
                  <a:off x="8064788" y="4768381"/>
                  <a:ext cx="730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p>
              </p:txBody>
            </p:sp>
          </p:grpSp>
        </p:grpSp>
      </p:grpSp>
      <p:sp>
        <p:nvSpPr>
          <p:cNvPr id="165" name="Rectangle 47">
            <a:extLst>
              <a:ext uri="{FF2B5EF4-FFF2-40B4-BE49-F238E27FC236}">
                <a16:creationId xmlns:a16="http://schemas.microsoft.com/office/drawing/2014/main" id="{DE6B816E-28FD-F042-BAC6-6005321F7326}"/>
              </a:ext>
            </a:extLst>
          </p:cNvPr>
          <p:cNvSpPr>
            <a:spLocks noChangeArrowheads="1"/>
          </p:cNvSpPr>
          <p:nvPr/>
        </p:nvSpPr>
        <p:spPr bwMode="auto">
          <a:xfrm>
            <a:off x="1314221" y="2927773"/>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1" name="Group 10">
            <a:extLst>
              <a:ext uri="{FF2B5EF4-FFF2-40B4-BE49-F238E27FC236}">
                <a16:creationId xmlns:a16="http://schemas.microsoft.com/office/drawing/2014/main" id="{C2EB66EB-894C-A043-A360-C60A865F68A4}"/>
              </a:ext>
            </a:extLst>
          </p:cNvPr>
          <p:cNvGrpSpPr/>
          <p:nvPr/>
        </p:nvGrpSpPr>
        <p:grpSpPr>
          <a:xfrm>
            <a:off x="1289051" y="2849038"/>
            <a:ext cx="1267801" cy="861704"/>
            <a:chOff x="1289051" y="2849038"/>
            <a:chExt cx="1267801" cy="861704"/>
          </a:xfrm>
        </p:grpSpPr>
        <p:sp>
          <p:nvSpPr>
            <p:cNvPr id="168" name="Freeform 53">
              <a:extLst>
                <a:ext uri="{FF2B5EF4-FFF2-40B4-BE49-F238E27FC236}">
                  <a16:creationId xmlns:a16="http://schemas.microsoft.com/office/drawing/2014/main" id="{E3EEFD92-7050-9249-80C1-240C22D52535}"/>
                </a:ext>
              </a:extLst>
            </p:cNvPr>
            <p:cNvSpPr>
              <a:spLocks/>
            </p:cNvSpPr>
            <p:nvPr/>
          </p:nvSpPr>
          <p:spPr bwMode="auto">
            <a:xfrm>
              <a:off x="2369283" y="2849038"/>
              <a:ext cx="187569" cy="464732"/>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57">
              <a:extLst>
                <a:ext uri="{FF2B5EF4-FFF2-40B4-BE49-F238E27FC236}">
                  <a16:creationId xmlns:a16="http://schemas.microsoft.com/office/drawing/2014/main" id="{4DCFBA68-55DB-2E45-83BC-59D80627D5D3}"/>
                </a:ext>
              </a:extLst>
            </p:cNvPr>
            <p:cNvSpPr txBox="1">
              <a:spLocks noChangeArrowheads="1"/>
            </p:cNvSpPr>
            <p:nvPr/>
          </p:nvSpPr>
          <p:spPr bwMode="auto">
            <a:xfrm>
              <a:off x="1289051" y="3119811"/>
              <a:ext cx="986168"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ACKed</a:t>
              </a:r>
            </a:p>
          </p:txBody>
        </p:sp>
      </p:grpSp>
      <p:grpSp>
        <p:nvGrpSpPr>
          <p:cNvPr id="13" name="Group 12">
            <a:extLst>
              <a:ext uri="{FF2B5EF4-FFF2-40B4-BE49-F238E27FC236}">
                <a16:creationId xmlns:a16="http://schemas.microsoft.com/office/drawing/2014/main" id="{A8C3752B-025F-E94F-8654-13F54E9C670F}"/>
              </a:ext>
            </a:extLst>
          </p:cNvPr>
          <p:cNvGrpSpPr/>
          <p:nvPr/>
        </p:nvGrpSpPr>
        <p:grpSpPr>
          <a:xfrm>
            <a:off x="3824084" y="2948877"/>
            <a:ext cx="1759290" cy="1283237"/>
            <a:chOff x="3824084" y="2948877"/>
            <a:chExt cx="1759290" cy="1283237"/>
          </a:xfrm>
        </p:grpSpPr>
        <p:sp>
          <p:nvSpPr>
            <p:cNvPr id="172" name="Text Box 59">
              <a:extLst>
                <a:ext uri="{FF2B5EF4-FFF2-40B4-BE49-F238E27FC236}">
                  <a16:creationId xmlns:a16="http://schemas.microsoft.com/office/drawing/2014/main" id="{44BFDC0C-7E1F-194B-B1D5-936A1056896B}"/>
                </a:ext>
              </a:extLst>
            </p:cNvPr>
            <p:cNvSpPr txBox="1">
              <a:spLocks noChangeArrowheads="1"/>
            </p:cNvSpPr>
            <p:nvPr/>
          </p:nvSpPr>
          <p:spPr bwMode="auto">
            <a:xfrm>
              <a:off x="3979525" y="3890482"/>
              <a:ext cx="1603849" cy="3416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 sent</a:t>
              </a:r>
            </a:p>
          </p:txBody>
        </p:sp>
        <p:sp>
          <p:nvSpPr>
            <p:cNvPr id="180" name="Freeform 69">
              <a:extLst>
                <a:ext uri="{FF2B5EF4-FFF2-40B4-BE49-F238E27FC236}">
                  <a16:creationId xmlns:a16="http://schemas.microsoft.com/office/drawing/2014/main" id="{33A90F9A-C7CE-C44A-B81F-BFED1356069E}"/>
                </a:ext>
              </a:extLst>
            </p:cNvPr>
            <p:cNvSpPr>
              <a:spLocks/>
            </p:cNvSpPr>
            <p:nvPr/>
          </p:nvSpPr>
          <p:spPr bwMode="auto">
            <a:xfrm flipH="1">
              <a:off x="3824084" y="2948877"/>
              <a:ext cx="190240" cy="1102896"/>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42CF5997-36CB-D147-BC28-3AEB4C853BEA}"/>
              </a:ext>
            </a:extLst>
          </p:cNvPr>
          <p:cNvGrpSpPr/>
          <p:nvPr/>
        </p:nvGrpSpPr>
        <p:grpSpPr>
          <a:xfrm>
            <a:off x="1289051" y="1292332"/>
            <a:ext cx="4641849" cy="1497173"/>
            <a:chOff x="1289051" y="1292332"/>
            <a:chExt cx="4641849" cy="1497173"/>
          </a:xfrm>
        </p:grpSpPr>
        <p:sp>
          <p:nvSpPr>
            <p:cNvPr id="104" name="Rectangle 12">
              <a:extLst>
                <a:ext uri="{FF2B5EF4-FFF2-40B4-BE49-F238E27FC236}">
                  <a16:creationId xmlns:a16="http://schemas.microsoft.com/office/drawing/2014/main" id="{04993FEE-920A-A241-8D22-76E5FD7EE6A9}"/>
                </a:ext>
              </a:extLst>
            </p:cNvPr>
            <p:cNvSpPr>
              <a:spLocks noChangeArrowheads="1"/>
            </p:cNvSpPr>
            <p:nvPr/>
          </p:nvSpPr>
          <p:spPr bwMode="auto">
            <a:xfrm>
              <a:off x="1370854" y="2034797"/>
              <a:ext cx="86000" cy="752789"/>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5" name="Rectangle 13">
              <a:extLst>
                <a:ext uri="{FF2B5EF4-FFF2-40B4-BE49-F238E27FC236}">
                  <a16:creationId xmlns:a16="http://schemas.microsoft.com/office/drawing/2014/main" id="{18E83275-ACB2-EC4C-B6DC-CBDA17C3A868}"/>
                </a:ext>
              </a:extLst>
            </p:cNvPr>
            <p:cNvSpPr>
              <a:spLocks noChangeArrowheads="1"/>
            </p:cNvSpPr>
            <p:nvPr/>
          </p:nvSpPr>
          <p:spPr bwMode="auto">
            <a:xfrm>
              <a:off x="1498805" y="2036716"/>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6" name="Rectangle 14">
              <a:extLst>
                <a:ext uri="{FF2B5EF4-FFF2-40B4-BE49-F238E27FC236}">
                  <a16:creationId xmlns:a16="http://schemas.microsoft.com/office/drawing/2014/main" id="{DAC860B7-5379-0C49-8B6D-4F42EEEC890F}"/>
                </a:ext>
              </a:extLst>
            </p:cNvPr>
            <p:cNvSpPr>
              <a:spLocks noChangeArrowheads="1"/>
            </p:cNvSpPr>
            <p:nvPr/>
          </p:nvSpPr>
          <p:spPr bwMode="auto">
            <a:xfrm>
              <a:off x="1628852"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7" name="Rectangle 15">
              <a:extLst>
                <a:ext uri="{FF2B5EF4-FFF2-40B4-BE49-F238E27FC236}">
                  <a16:creationId xmlns:a16="http://schemas.microsoft.com/office/drawing/2014/main" id="{850E3686-28F1-ED45-BCA0-8626CD94C24A}"/>
                </a:ext>
              </a:extLst>
            </p:cNvPr>
            <p:cNvSpPr>
              <a:spLocks noChangeArrowheads="1"/>
            </p:cNvSpPr>
            <p:nvPr/>
          </p:nvSpPr>
          <p:spPr bwMode="auto">
            <a:xfrm>
              <a:off x="1756801"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8" name="Rectangle 16">
              <a:extLst>
                <a:ext uri="{FF2B5EF4-FFF2-40B4-BE49-F238E27FC236}">
                  <a16:creationId xmlns:a16="http://schemas.microsoft.com/office/drawing/2014/main" id="{2B67993F-458E-AA4F-8BDA-DD554E74E999}"/>
                </a:ext>
              </a:extLst>
            </p:cNvPr>
            <p:cNvSpPr>
              <a:spLocks noChangeArrowheads="1"/>
            </p:cNvSpPr>
            <p:nvPr/>
          </p:nvSpPr>
          <p:spPr bwMode="auto">
            <a:xfrm>
              <a:off x="1882653"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9" name="Rectangle 17">
              <a:extLst>
                <a:ext uri="{FF2B5EF4-FFF2-40B4-BE49-F238E27FC236}">
                  <a16:creationId xmlns:a16="http://schemas.microsoft.com/office/drawing/2014/main" id="{0FAD288D-252F-5745-BF73-6A260AA674C3}"/>
                </a:ext>
              </a:extLst>
            </p:cNvPr>
            <p:cNvSpPr>
              <a:spLocks noChangeArrowheads="1"/>
            </p:cNvSpPr>
            <p:nvPr/>
          </p:nvSpPr>
          <p:spPr bwMode="auto">
            <a:xfrm>
              <a:off x="2010604"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0" name="Rectangle 18">
              <a:extLst>
                <a:ext uri="{FF2B5EF4-FFF2-40B4-BE49-F238E27FC236}">
                  <a16:creationId xmlns:a16="http://schemas.microsoft.com/office/drawing/2014/main" id="{F50804B5-A9B0-B741-A2CB-DC3CFBF3864F}"/>
                </a:ext>
              </a:extLst>
            </p:cNvPr>
            <p:cNvSpPr>
              <a:spLocks noChangeArrowheads="1"/>
            </p:cNvSpPr>
            <p:nvPr/>
          </p:nvSpPr>
          <p:spPr bwMode="auto">
            <a:xfrm>
              <a:off x="2132261"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1" name="Rectangle 19">
              <a:extLst>
                <a:ext uri="{FF2B5EF4-FFF2-40B4-BE49-F238E27FC236}">
                  <a16:creationId xmlns:a16="http://schemas.microsoft.com/office/drawing/2014/main" id="{E9319E92-5123-8943-BEB7-081DA31ABF1D}"/>
                </a:ext>
              </a:extLst>
            </p:cNvPr>
            <p:cNvSpPr>
              <a:spLocks noChangeArrowheads="1"/>
            </p:cNvSpPr>
            <p:nvPr/>
          </p:nvSpPr>
          <p:spPr bwMode="auto">
            <a:xfrm>
              <a:off x="2258113"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Rectangle 20">
              <a:extLst>
                <a:ext uri="{FF2B5EF4-FFF2-40B4-BE49-F238E27FC236}">
                  <a16:creationId xmlns:a16="http://schemas.microsoft.com/office/drawing/2014/main" id="{C56329EF-B8DA-E848-8471-F7AB6A81A0AD}"/>
                </a:ext>
              </a:extLst>
            </p:cNvPr>
            <p:cNvSpPr>
              <a:spLocks noChangeArrowheads="1"/>
            </p:cNvSpPr>
            <p:nvPr/>
          </p:nvSpPr>
          <p:spPr bwMode="auto">
            <a:xfrm>
              <a:off x="2383965"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3" name="Rectangle 21">
              <a:extLst>
                <a:ext uri="{FF2B5EF4-FFF2-40B4-BE49-F238E27FC236}">
                  <a16:creationId xmlns:a16="http://schemas.microsoft.com/office/drawing/2014/main" id="{B6EA82BD-4235-744C-8CC2-3D0E84463334}"/>
                </a:ext>
              </a:extLst>
            </p:cNvPr>
            <p:cNvSpPr>
              <a:spLocks noChangeArrowheads="1"/>
            </p:cNvSpPr>
            <p:nvPr/>
          </p:nvSpPr>
          <p:spPr bwMode="auto">
            <a:xfrm>
              <a:off x="2524500"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4" name="Rectangle 22">
              <a:extLst>
                <a:ext uri="{FF2B5EF4-FFF2-40B4-BE49-F238E27FC236}">
                  <a16:creationId xmlns:a16="http://schemas.microsoft.com/office/drawing/2014/main" id="{3AB484C5-F544-AD4F-AC56-F33B38DBB98F}"/>
                </a:ext>
              </a:extLst>
            </p:cNvPr>
            <p:cNvSpPr>
              <a:spLocks noChangeArrowheads="1"/>
            </p:cNvSpPr>
            <p:nvPr/>
          </p:nvSpPr>
          <p:spPr bwMode="auto">
            <a:xfrm>
              <a:off x="2654547" y="2036716"/>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5" name="Rectangle 23">
              <a:extLst>
                <a:ext uri="{FF2B5EF4-FFF2-40B4-BE49-F238E27FC236}">
                  <a16:creationId xmlns:a16="http://schemas.microsoft.com/office/drawing/2014/main" id="{1DD6947E-4A84-9D4E-B2FC-3A5E7F6D1E34}"/>
                </a:ext>
              </a:extLst>
            </p:cNvPr>
            <p:cNvSpPr>
              <a:spLocks noChangeArrowheads="1"/>
            </p:cNvSpPr>
            <p:nvPr/>
          </p:nvSpPr>
          <p:spPr bwMode="auto">
            <a:xfrm>
              <a:off x="2782498"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Rectangle 24">
              <a:extLst>
                <a:ext uri="{FF2B5EF4-FFF2-40B4-BE49-F238E27FC236}">
                  <a16:creationId xmlns:a16="http://schemas.microsoft.com/office/drawing/2014/main" id="{2A55A81B-B032-0840-A48D-1D5352A231AA}"/>
                </a:ext>
              </a:extLst>
            </p:cNvPr>
            <p:cNvSpPr>
              <a:spLocks noChangeArrowheads="1"/>
            </p:cNvSpPr>
            <p:nvPr/>
          </p:nvSpPr>
          <p:spPr bwMode="auto">
            <a:xfrm>
              <a:off x="2910447"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25">
              <a:extLst>
                <a:ext uri="{FF2B5EF4-FFF2-40B4-BE49-F238E27FC236}">
                  <a16:creationId xmlns:a16="http://schemas.microsoft.com/office/drawing/2014/main" id="{EBC4122E-0CCF-1548-9A66-7DCD08E748CD}"/>
                </a:ext>
              </a:extLst>
            </p:cNvPr>
            <p:cNvSpPr>
              <a:spLocks noChangeArrowheads="1"/>
            </p:cNvSpPr>
            <p:nvPr/>
          </p:nvSpPr>
          <p:spPr bwMode="auto">
            <a:xfrm>
              <a:off x="303839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26">
              <a:extLst>
                <a:ext uri="{FF2B5EF4-FFF2-40B4-BE49-F238E27FC236}">
                  <a16:creationId xmlns:a16="http://schemas.microsoft.com/office/drawing/2014/main" id="{DB7235A0-624C-DB45-8BCC-3CE6B91647F3}"/>
                </a:ext>
              </a:extLst>
            </p:cNvPr>
            <p:cNvSpPr>
              <a:spLocks noChangeArrowheads="1"/>
            </p:cNvSpPr>
            <p:nvPr/>
          </p:nvSpPr>
          <p:spPr bwMode="auto">
            <a:xfrm>
              <a:off x="316424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27">
              <a:extLst>
                <a:ext uri="{FF2B5EF4-FFF2-40B4-BE49-F238E27FC236}">
                  <a16:creationId xmlns:a16="http://schemas.microsoft.com/office/drawing/2014/main" id="{345917A5-9719-BB4F-9C0B-ACD89A8BB0F4}"/>
                </a:ext>
              </a:extLst>
            </p:cNvPr>
            <p:cNvSpPr>
              <a:spLocks noChangeArrowheads="1"/>
            </p:cNvSpPr>
            <p:nvPr/>
          </p:nvSpPr>
          <p:spPr bwMode="auto">
            <a:xfrm>
              <a:off x="328590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Rectangle 28">
              <a:extLst>
                <a:ext uri="{FF2B5EF4-FFF2-40B4-BE49-F238E27FC236}">
                  <a16:creationId xmlns:a16="http://schemas.microsoft.com/office/drawing/2014/main" id="{4C1474B9-991E-6847-8B01-DE0C95138525}"/>
                </a:ext>
              </a:extLst>
            </p:cNvPr>
            <p:cNvSpPr>
              <a:spLocks noChangeArrowheads="1"/>
            </p:cNvSpPr>
            <p:nvPr/>
          </p:nvSpPr>
          <p:spPr bwMode="auto">
            <a:xfrm>
              <a:off x="341175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Rectangle 29">
              <a:extLst>
                <a:ext uri="{FF2B5EF4-FFF2-40B4-BE49-F238E27FC236}">
                  <a16:creationId xmlns:a16="http://schemas.microsoft.com/office/drawing/2014/main" id="{1FEE069D-BAD8-8A43-9829-68BF4DBC5019}"/>
                </a:ext>
              </a:extLst>
            </p:cNvPr>
            <p:cNvSpPr>
              <a:spLocks noChangeArrowheads="1"/>
            </p:cNvSpPr>
            <p:nvPr/>
          </p:nvSpPr>
          <p:spPr bwMode="auto">
            <a:xfrm>
              <a:off x="3539708"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30">
              <a:extLst>
                <a:ext uri="{FF2B5EF4-FFF2-40B4-BE49-F238E27FC236}">
                  <a16:creationId xmlns:a16="http://schemas.microsoft.com/office/drawing/2014/main" id="{F6A54E32-B859-A84C-B9EB-275C556CD8B7}"/>
                </a:ext>
              </a:extLst>
            </p:cNvPr>
            <p:cNvSpPr>
              <a:spLocks noChangeArrowheads="1"/>
            </p:cNvSpPr>
            <p:nvPr/>
          </p:nvSpPr>
          <p:spPr bwMode="auto">
            <a:xfrm>
              <a:off x="3657170"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31">
              <a:extLst>
                <a:ext uri="{FF2B5EF4-FFF2-40B4-BE49-F238E27FC236}">
                  <a16:creationId xmlns:a16="http://schemas.microsoft.com/office/drawing/2014/main" id="{F693AF70-5D12-874C-A1FE-39895AB51D68}"/>
                </a:ext>
              </a:extLst>
            </p:cNvPr>
            <p:cNvSpPr>
              <a:spLocks noChangeArrowheads="1"/>
            </p:cNvSpPr>
            <p:nvPr/>
          </p:nvSpPr>
          <p:spPr bwMode="auto">
            <a:xfrm>
              <a:off x="3783022"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32">
              <a:extLst>
                <a:ext uri="{FF2B5EF4-FFF2-40B4-BE49-F238E27FC236}">
                  <a16:creationId xmlns:a16="http://schemas.microsoft.com/office/drawing/2014/main" id="{8AF2AC6B-DBDA-9B44-8499-2FA57D21931E}"/>
                </a:ext>
              </a:extLst>
            </p:cNvPr>
            <p:cNvSpPr>
              <a:spLocks noChangeArrowheads="1"/>
            </p:cNvSpPr>
            <p:nvPr/>
          </p:nvSpPr>
          <p:spPr bwMode="auto">
            <a:xfrm>
              <a:off x="3906778"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Rectangle 33">
              <a:extLst>
                <a:ext uri="{FF2B5EF4-FFF2-40B4-BE49-F238E27FC236}">
                  <a16:creationId xmlns:a16="http://schemas.microsoft.com/office/drawing/2014/main" id="{3C5EC589-0EEE-AA43-956D-7E1A6B8E7BEA}"/>
                </a:ext>
              </a:extLst>
            </p:cNvPr>
            <p:cNvSpPr>
              <a:spLocks noChangeArrowheads="1"/>
            </p:cNvSpPr>
            <p:nvPr/>
          </p:nvSpPr>
          <p:spPr bwMode="auto">
            <a:xfrm>
              <a:off x="4028435"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34">
              <a:extLst>
                <a:ext uri="{FF2B5EF4-FFF2-40B4-BE49-F238E27FC236}">
                  <a16:creationId xmlns:a16="http://schemas.microsoft.com/office/drawing/2014/main" id="{00489FD8-0BA0-844E-AA41-BDE801D2E271}"/>
                </a:ext>
              </a:extLst>
            </p:cNvPr>
            <p:cNvSpPr>
              <a:spLocks noChangeArrowheads="1"/>
            </p:cNvSpPr>
            <p:nvPr/>
          </p:nvSpPr>
          <p:spPr bwMode="auto">
            <a:xfrm>
              <a:off x="4156384"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Rectangle 35">
              <a:extLst>
                <a:ext uri="{FF2B5EF4-FFF2-40B4-BE49-F238E27FC236}">
                  <a16:creationId xmlns:a16="http://schemas.microsoft.com/office/drawing/2014/main" id="{7CDE0EFB-7CC4-304D-AD89-8FC08C1FBD45}"/>
                </a:ext>
              </a:extLst>
            </p:cNvPr>
            <p:cNvSpPr>
              <a:spLocks noChangeArrowheads="1"/>
            </p:cNvSpPr>
            <p:nvPr/>
          </p:nvSpPr>
          <p:spPr bwMode="auto">
            <a:xfrm>
              <a:off x="4282236"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Rectangle 36">
              <a:extLst>
                <a:ext uri="{FF2B5EF4-FFF2-40B4-BE49-F238E27FC236}">
                  <a16:creationId xmlns:a16="http://schemas.microsoft.com/office/drawing/2014/main" id="{6EECC216-B56D-D043-93ED-F50164EF4E4A}"/>
                </a:ext>
              </a:extLst>
            </p:cNvPr>
            <p:cNvSpPr>
              <a:spLocks noChangeArrowheads="1"/>
            </p:cNvSpPr>
            <p:nvPr/>
          </p:nvSpPr>
          <p:spPr bwMode="auto">
            <a:xfrm>
              <a:off x="4399698"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Rectangle 37">
              <a:extLst>
                <a:ext uri="{FF2B5EF4-FFF2-40B4-BE49-F238E27FC236}">
                  <a16:creationId xmlns:a16="http://schemas.microsoft.com/office/drawing/2014/main" id="{2DDF4004-027D-3448-8C19-8E608E21464E}"/>
                </a:ext>
              </a:extLst>
            </p:cNvPr>
            <p:cNvSpPr>
              <a:spLocks noChangeArrowheads="1"/>
            </p:cNvSpPr>
            <p:nvPr/>
          </p:nvSpPr>
          <p:spPr bwMode="auto">
            <a:xfrm>
              <a:off x="4525550"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38">
              <a:extLst>
                <a:ext uri="{FF2B5EF4-FFF2-40B4-BE49-F238E27FC236}">
                  <a16:creationId xmlns:a16="http://schemas.microsoft.com/office/drawing/2014/main" id="{66B062CA-DE3B-DE43-ABC0-B0129B267927}"/>
                </a:ext>
              </a:extLst>
            </p:cNvPr>
            <p:cNvSpPr>
              <a:spLocks noChangeArrowheads="1"/>
            </p:cNvSpPr>
            <p:nvPr/>
          </p:nvSpPr>
          <p:spPr bwMode="auto">
            <a:xfrm>
              <a:off x="4653501"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Rectangle 39">
              <a:extLst>
                <a:ext uri="{FF2B5EF4-FFF2-40B4-BE49-F238E27FC236}">
                  <a16:creationId xmlns:a16="http://schemas.microsoft.com/office/drawing/2014/main" id="{B8FF22AA-6251-9B4A-8B71-33B1C663B36C}"/>
                </a:ext>
              </a:extLst>
            </p:cNvPr>
            <p:cNvSpPr>
              <a:spLocks noChangeArrowheads="1"/>
            </p:cNvSpPr>
            <p:nvPr/>
          </p:nvSpPr>
          <p:spPr bwMode="auto">
            <a:xfrm>
              <a:off x="4781450" y="2036716"/>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0">
              <a:extLst>
                <a:ext uri="{FF2B5EF4-FFF2-40B4-BE49-F238E27FC236}">
                  <a16:creationId xmlns:a16="http://schemas.microsoft.com/office/drawing/2014/main" id="{FAB9104E-A760-C644-B315-33CD7DEB1CB4}"/>
                </a:ext>
              </a:extLst>
            </p:cNvPr>
            <p:cNvSpPr>
              <a:spLocks noChangeArrowheads="1"/>
            </p:cNvSpPr>
            <p:nvPr/>
          </p:nvSpPr>
          <p:spPr bwMode="auto">
            <a:xfrm>
              <a:off x="49094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Rectangle 41">
              <a:extLst>
                <a:ext uri="{FF2B5EF4-FFF2-40B4-BE49-F238E27FC236}">
                  <a16:creationId xmlns:a16="http://schemas.microsoft.com/office/drawing/2014/main" id="{84289F99-D270-C140-AA7A-F6C4AFA078ED}"/>
                </a:ext>
              </a:extLst>
            </p:cNvPr>
            <p:cNvSpPr>
              <a:spLocks noChangeArrowheads="1"/>
            </p:cNvSpPr>
            <p:nvPr/>
          </p:nvSpPr>
          <p:spPr bwMode="auto">
            <a:xfrm>
              <a:off x="5039448"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Rectangle 42">
              <a:extLst>
                <a:ext uri="{FF2B5EF4-FFF2-40B4-BE49-F238E27FC236}">
                  <a16:creationId xmlns:a16="http://schemas.microsoft.com/office/drawing/2014/main" id="{CDFBFB7B-6E55-9045-8777-DB8B3B13C3C3}"/>
                </a:ext>
              </a:extLst>
            </p:cNvPr>
            <p:cNvSpPr>
              <a:spLocks noChangeArrowheads="1"/>
            </p:cNvSpPr>
            <p:nvPr/>
          </p:nvSpPr>
          <p:spPr bwMode="auto">
            <a:xfrm>
              <a:off x="51653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43">
              <a:extLst>
                <a:ext uri="{FF2B5EF4-FFF2-40B4-BE49-F238E27FC236}">
                  <a16:creationId xmlns:a16="http://schemas.microsoft.com/office/drawing/2014/main" id="{AD3CDD9F-C7EC-964D-A02B-C8B9C75CCDA9}"/>
                </a:ext>
              </a:extLst>
            </p:cNvPr>
            <p:cNvSpPr>
              <a:spLocks noChangeArrowheads="1"/>
            </p:cNvSpPr>
            <p:nvPr/>
          </p:nvSpPr>
          <p:spPr bwMode="auto">
            <a:xfrm>
              <a:off x="5291152"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Rectangle 44">
              <a:extLst>
                <a:ext uri="{FF2B5EF4-FFF2-40B4-BE49-F238E27FC236}">
                  <a16:creationId xmlns:a16="http://schemas.microsoft.com/office/drawing/2014/main" id="{A68B931F-B222-6643-B4DE-15E3E8354B18}"/>
                </a:ext>
              </a:extLst>
            </p:cNvPr>
            <p:cNvSpPr>
              <a:spLocks noChangeArrowheads="1"/>
            </p:cNvSpPr>
            <p:nvPr/>
          </p:nvSpPr>
          <p:spPr bwMode="auto">
            <a:xfrm>
              <a:off x="5412809"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Rectangle 45">
              <a:extLst>
                <a:ext uri="{FF2B5EF4-FFF2-40B4-BE49-F238E27FC236}">
                  <a16:creationId xmlns:a16="http://schemas.microsoft.com/office/drawing/2014/main" id="{7D3A9CBD-AC18-2744-9564-5C628A27F631}"/>
                </a:ext>
              </a:extLst>
            </p:cNvPr>
            <p:cNvSpPr>
              <a:spLocks noChangeArrowheads="1"/>
            </p:cNvSpPr>
            <p:nvPr/>
          </p:nvSpPr>
          <p:spPr bwMode="auto">
            <a:xfrm>
              <a:off x="5540759" y="2034797"/>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46">
              <a:extLst>
                <a:ext uri="{FF2B5EF4-FFF2-40B4-BE49-F238E27FC236}">
                  <a16:creationId xmlns:a16="http://schemas.microsoft.com/office/drawing/2014/main" id="{7BD5CB89-7651-AC4B-B6A7-CB76771F9558}"/>
                </a:ext>
              </a:extLst>
            </p:cNvPr>
            <p:cNvSpPr>
              <a:spLocks noChangeArrowheads="1"/>
            </p:cNvSpPr>
            <p:nvPr/>
          </p:nvSpPr>
          <p:spPr bwMode="auto">
            <a:xfrm>
              <a:off x="5666611" y="2034797"/>
              <a:ext cx="86000" cy="752789"/>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48">
              <a:extLst>
                <a:ext uri="{FF2B5EF4-FFF2-40B4-BE49-F238E27FC236}">
                  <a16:creationId xmlns:a16="http://schemas.microsoft.com/office/drawing/2014/main" id="{22B83E8B-5347-B046-AB4A-F500B639B452}"/>
                </a:ext>
              </a:extLst>
            </p:cNvPr>
            <p:cNvSpPr>
              <a:spLocks noChangeArrowheads="1"/>
            </p:cNvSpPr>
            <p:nvPr/>
          </p:nvSpPr>
          <p:spPr bwMode="auto">
            <a:xfrm>
              <a:off x="1427488" y="1902290"/>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61">
              <a:extLst>
                <a:ext uri="{FF2B5EF4-FFF2-40B4-BE49-F238E27FC236}">
                  <a16:creationId xmlns:a16="http://schemas.microsoft.com/office/drawing/2014/main" id="{EC2166A2-B157-124D-AD95-CDDC7B2DDCB8}"/>
                </a:ext>
              </a:extLst>
            </p:cNvPr>
            <p:cNvSpPr txBox="1">
              <a:spLocks noChangeArrowheads="1"/>
            </p:cNvSpPr>
            <p:nvPr/>
          </p:nvSpPr>
          <p:spPr bwMode="auto">
            <a:xfrm>
              <a:off x="3220882" y="1648799"/>
              <a:ext cx="805454" cy="3437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endParaRPr kumimoji="0" lang="en-US" sz="1400" b="1" i="1"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74" name="Group 62">
              <a:extLst>
                <a:ext uri="{FF2B5EF4-FFF2-40B4-BE49-F238E27FC236}">
                  <a16:creationId xmlns:a16="http://schemas.microsoft.com/office/drawing/2014/main" id="{A2ECB346-2348-1D42-A5A0-3073BBFAF723}"/>
                </a:ext>
              </a:extLst>
            </p:cNvPr>
            <p:cNvGrpSpPr>
              <a:grpSpLocks/>
            </p:cNvGrpSpPr>
            <p:nvPr/>
          </p:nvGrpSpPr>
          <p:grpSpPr bwMode="auto">
            <a:xfrm>
              <a:off x="4022141" y="1750580"/>
              <a:ext cx="591506" cy="142108"/>
              <a:chOff x="4250" y="1692"/>
              <a:chExt cx="374" cy="86"/>
            </a:xfrm>
          </p:grpSpPr>
          <p:sp>
            <p:nvSpPr>
              <p:cNvPr id="175" name="Line 63">
                <a:extLst>
                  <a:ext uri="{FF2B5EF4-FFF2-40B4-BE49-F238E27FC236}">
                    <a16:creationId xmlns:a16="http://schemas.microsoft.com/office/drawing/2014/main" id="{D8AB4372-6622-194F-8B2C-95E11AB4BDB8}"/>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Line 64">
                <a:extLst>
                  <a:ext uri="{FF2B5EF4-FFF2-40B4-BE49-F238E27FC236}">
                    <a16:creationId xmlns:a16="http://schemas.microsoft.com/office/drawing/2014/main" id="{90113FC4-9E6C-1344-9A19-D18BED38D2E9}"/>
                  </a:ext>
                </a:extLst>
              </p:cNvPr>
              <p:cNvSpPr>
                <a:spLocks noChangeShapeType="1"/>
              </p:cNvSpPr>
              <p:nvPr/>
            </p:nvSpPr>
            <p:spPr bwMode="auto">
              <a:xfrm>
                <a:off x="4621"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7" name="Group 65">
              <a:extLst>
                <a:ext uri="{FF2B5EF4-FFF2-40B4-BE49-F238E27FC236}">
                  <a16:creationId xmlns:a16="http://schemas.microsoft.com/office/drawing/2014/main" id="{DA340DC1-A02D-8B4C-B20C-F58E960E37E4}"/>
                </a:ext>
              </a:extLst>
            </p:cNvPr>
            <p:cNvGrpSpPr>
              <a:grpSpLocks/>
            </p:cNvGrpSpPr>
            <p:nvPr/>
          </p:nvGrpSpPr>
          <p:grpSpPr bwMode="auto">
            <a:xfrm rot="10800000">
              <a:off x="2650352" y="1773625"/>
              <a:ext cx="616676" cy="149790"/>
              <a:chOff x="4250" y="1692"/>
              <a:chExt cx="374" cy="86"/>
            </a:xfrm>
          </p:grpSpPr>
          <p:sp>
            <p:nvSpPr>
              <p:cNvPr id="178" name="Line 66">
                <a:extLst>
                  <a:ext uri="{FF2B5EF4-FFF2-40B4-BE49-F238E27FC236}">
                    <a16:creationId xmlns:a16="http://schemas.microsoft.com/office/drawing/2014/main" id="{996A9ACA-B6A9-274C-AF8C-6FDF8BEA33F2}"/>
                  </a:ext>
                </a:extLst>
              </p:cNvPr>
              <p:cNvSpPr>
                <a:spLocks noChangeShapeType="1"/>
              </p:cNvSpPr>
              <p:nvPr/>
            </p:nvSpPr>
            <p:spPr bwMode="auto">
              <a:xfrm>
                <a:off x="4260" y="1746"/>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Line 67">
                <a:extLst>
                  <a:ext uri="{FF2B5EF4-FFF2-40B4-BE49-F238E27FC236}">
                    <a16:creationId xmlns:a16="http://schemas.microsoft.com/office/drawing/2014/main" id="{1CAF8AD6-4F2D-AF41-B54A-FA702FB44D10}"/>
                  </a:ext>
                </a:extLst>
              </p:cNvPr>
              <p:cNvSpPr>
                <a:spLocks noChangeShapeType="1"/>
              </p:cNvSpPr>
              <p:nvPr/>
            </p:nvSpPr>
            <p:spPr bwMode="auto">
              <a:xfrm>
                <a:off x="4632" y="1700"/>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Text Box 78">
              <a:extLst>
                <a:ext uri="{FF2B5EF4-FFF2-40B4-BE49-F238E27FC236}">
                  <a16:creationId xmlns:a16="http://schemas.microsoft.com/office/drawing/2014/main" id="{084366A9-52AF-9848-912D-70AD364BF8CE}"/>
                </a:ext>
              </a:extLst>
            </p:cNvPr>
            <p:cNvSpPr txBox="1">
              <a:spLocks noChangeArrowheads="1"/>
            </p:cNvSpPr>
            <p:nvPr/>
          </p:nvSpPr>
          <p:spPr bwMode="auto">
            <a:xfrm>
              <a:off x="1289051" y="1292332"/>
              <a:ext cx="3220754" cy="3693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sender sequence number space </a:t>
              </a:r>
            </a:p>
          </p:txBody>
        </p:sp>
      </p:grpSp>
      <p:sp>
        <p:nvSpPr>
          <p:cNvPr id="198" name="Line 51">
            <a:extLst>
              <a:ext uri="{FF2B5EF4-FFF2-40B4-BE49-F238E27FC236}">
                <a16:creationId xmlns:a16="http://schemas.microsoft.com/office/drawing/2014/main" id="{E6E4B0C6-1414-3D4F-93A5-CCA3CEEBB668}"/>
              </a:ext>
            </a:extLst>
          </p:cNvPr>
          <p:cNvSpPr>
            <a:spLocks noChangeShapeType="1"/>
          </p:cNvSpPr>
          <p:nvPr/>
        </p:nvSpPr>
        <p:spPr bwMode="auto">
          <a:xfrm>
            <a:off x="3908860" y="2875555"/>
            <a:ext cx="700041"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 name="Group 13">
            <a:extLst>
              <a:ext uri="{FF2B5EF4-FFF2-40B4-BE49-F238E27FC236}">
                <a16:creationId xmlns:a16="http://schemas.microsoft.com/office/drawing/2014/main" id="{BF77D345-5DCD-C84A-8957-E4F03648FFCF}"/>
              </a:ext>
            </a:extLst>
          </p:cNvPr>
          <p:cNvGrpSpPr/>
          <p:nvPr/>
        </p:nvGrpSpPr>
        <p:grpSpPr>
          <a:xfrm>
            <a:off x="4204169" y="2959619"/>
            <a:ext cx="1759165" cy="950582"/>
            <a:chOff x="4204169" y="2959619"/>
            <a:chExt cx="1759165" cy="950582"/>
          </a:xfrm>
        </p:grpSpPr>
        <p:sp>
          <p:nvSpPr>
            <p:cNvPr id="199" name="Freeform 69">
              <a:extLst>
                <a:ext uri="{FF2B5EF4-FFF2-40B4-BE49-F238E27FC236}">
                  <a16:creationId xmlns:a16="http://schemas.microsoft.com/office/drawing/2014/main" id="{59B379E2-D8BE-6243-B6FF-8D00B68FA2FC}"/>
                </a:ext>
              </a:extLst>
            </p:cNvPr>
            <p:cNvSpPr>
              <a:spLocks/>
            </p:cNvSpPr>
            <p:nvPr/>
          </p:nvSpPr>
          <p:spPr bwMode="auto">
            <a:xfrm flipH="1">
              <a:off x="4204169" y="2959619"/>
              <a:ext cx="190240" cy="549834"/>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0" name="Text Box 59">
              <a:extLst>
                <a:ext uri="{FF2B5EF4-FFF2-40B4-BE49-F238E27FC236}">
                  <a16:creationId xmlns:a16="http://schemas.microsoft.com/office/drawing/2014/main" id="{D18ACC8C-E30F-2B43-A012-02A119CFD507}"/>
                </a:ext>
              </a:extLst>
            </p:cNvPr>
            <p:cNvSpPr txBox="1">
              <a:spLocks noChangeArrowheads="1"/>
            </p:cNvSpPr>
            <p:nvPr/>
          </p:nvSpPr>
          <p:spPr bwMode="auto">
            <a:xfrm>
              <a:off x="4359485" y="3319270"/>
              <a:ext cx="1603849"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available but not used</a:t>
              </a:r>
            </a:p>
          </p:txBody>
        </p:sp>
      </p:grpSp>
      <p:grpSp>
        <p:nvGrpSpPr>
          <p:cNvPr id="22" name="Group 21">
            <a:extLst>
              <a:ext uri="{FF2B5EF4-FFF2-40B4-BE49-F238E27FC236}">
                <a16:creationId xmlns:a16="http://schemas.microsoft.com/office/drawing/2014/main" id="{9DAB0D8A-F035-A446-BFCD-CB14C1FE358B}"/>
              </a:ext>
            </a:extLst>
          </p:cNvPr>
          <p:cNvGrpSpPr/>
          <p:nvPr/>
        </p:nvGrpSpPr>
        <p:grpSpPr>
          <a:xfrm>
            <a:off x="7180262" y="1455737"/>
            <a:ext cx="4592627" cy="2538364"/>
            <a:chOff x="7180262" y="1455737"/>
            <a:chExt cx="4592627" cy="2538364"/>
          </a:xfrm>
        </p:grpSpPr>
        <p:sp>
          <p:nvSpPr>
            <p:cNvPr id="103" name="Rectangle 4">
              <a:extLst>
                <a:ext uri="{FF2B5EF4-FFF2-40B4-BE49-F238E27FC236}">
                  <a16:creationId xmlns:a16="http://schemas.microsoft.com/office/drawing/2014/main" id="{3906FFA2-1D5C-7540-9050-9ADF12840292}"/>
                </a:ext>
              </a:extLst>
            </p:cNvPr>
            <p:cNvSpPr txBox="1">
              <a:spLocks noChangeArrowheads="1"/>
            </p:cNvSpPr>
            <p:nvPr/>
          </p:nvSpPr>
          <p:spPr bwMode="auto">
            <a:xfrm>
              <a:off x="7180262" y="1455737"/>
              <a:ext cx="4592627" cy="24479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sending behavior: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roughly:</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send </a:t>
              </a: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bytes, wait RTT for ACKS, then send more bytes</a:t>
              </a:r>
            </a:p>
          </p:txBody>
        </p:sp>
        <p:grpSp>
          <p:nvGrpSpPr>
            <p:cNvPr id="20" name="Group 19">
              <a:extLst>
                <a:ext uri="{FF2B5EF4-FFF2-40B4-BE49-F238E27FC236}">
                  <a16:creationId xmlns:a16="http://schemas.microsoft.com/office/drawing/2014/main" id="{57FB518A-5432-5D44-890D-C8AC56EDFDD2}"/>
                </a:ext>
              </a:extLst>
            </p:cNvPr>
            <p:cNvGrpSpPr/>
            <p:nvPr/>
          </p:nvGrpSpPr>
          <p:grpSpPr>
            <a:xfrm>
              <a:off x="7513131" y="3110983"/>
              <a:ext cx="3751561" cy="883118"/>
              <a:chOff x="6839655" y="3035314"/>
              <a:chExt cx="3751561" cy="883118"/>
            </a:xfrm>
          </p:grpSpPr>
          <p:sp>
            <p:nvSpPr>
              <p:cNvPr id="19" name="Rectangle 18">
                <a:extLst>
                  <a:ext uri="{FF2B5EF4-FFF2-40B4-BE49-F238E27FC236}">
                    <a16:creationId xmlns:a16="http://schemas.microsoft.com/office/drawing/2014/main" id="{C803E68F-787C-134C-96B7-EA9979048F4F}"/>
                  </a:ext>
                </a:extLst>
              </p:cNvPr>
              <p:cNvSpPr/>
              <p:nvPr/>
            </p:nvSpPr>
            <p:spPr>
              <a:xfrm>
                <a:off x="6839655" y="3035314"/>
                <a:ext cx="3751561" cy="883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C32ED096-06AB-7A4D-A7B5-17961E51AD24}"/>
                  </a:ext>
                </a:extLst>
              </p:cNvPr>
              <p:cNvGrpSpPr/>
              <p:nvPr/>
            </p:nvGrpSpPr>
            <p:grpSpPr>
              <a:xfrm>
                <a:off x="6869571" y="3107218"/>
                <a:ext cx="3634909" cy="811214"/>
                <a:chOff x="6694950" y="3614743"/>
                <a:chExt cx="3634909" cy="811214"/>
              </a:xfrm>
            </p:grpSpPr>
            <p:sp>
              <p:nvSpPr>
                <p:cNvPr id="188" name="Text Box 79">
                  <a:extLst>
                    <a:ext uri="{FF2B5EF4-FFF2-40B4-BE49-F238E27FC236}">
                      <a16:creationId xmlns:a16="http://schemas.microsoft.com/office/drawing/2014/main" id="{15B5BFBD-DF38-5B40-87E5-F81F37DAA736}"/>
                    </a:ext>
                  </a:extLst>
                </p:cNvPr>
                <p:cNvSpPr txBox="1">
                  <a:spLocks noChangeArrowheads="1"/>
                </p:cNvSpPr>
                <p:nvPr/>
              </p:nvSpPr>
              <p:spPr bwMode="auto">
                <a:xfrm>
                  <a:off x="6694950" y="3723809"/>
                  <a:ext cx="139063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rate</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9" name="Group 82">
                  <a:extLst>
                    <a:ext uri="{FF2B5EF4-FFF2-40B4-BE49-F238E27FC236}">
                      <a16:creationId xmlns:a16="http://schemas.microsoft.com/office/drawing/2014/main" id="{0CAF5E9A-5B2C-B84F-AC89-1EFE7DC4B6AF}"/>
                    </a:ext>
                  </a:extLst>
                </p:cNvPr>
                <p:cNvGrpSpPr>
                  <a:grpSpLocks/>
                </p:cNvGrpSpPr>
                <p:nvPr/>
              </p:nvGrpSpPr>
              <p:grpSpPr bwMode="auto">
                <a:xfrm>
                  <a:off x="7748588" y="3776663"/>
                  <a:ext cx="931863" cy="441325"/>
                  <a:chOff x="4214" y="2517"/>
                  <a:chExt cx="587" cy="278"/>
                </a:xfrm>
              </p:grpSpPr>
              <p:sp>
                <p:nvSpPr>
                  <p:cNvPr id="190" name="Text Box 80">
                    <a:extLst>
                      <a:ext uri="{FF2B5EF4-FFF2-40B4-BE49-F238E27FC236}">
                        <a16:creationId xmlns:a16="http://schemas.microsoft.com/office/drawing/2014/main" id="{36C86FAE-252E-5441-8D9C-64BC30C08F21}"/>
                      </a:ext>
                    </a:extLst>
                  </p:cNvPr>
                  <p:cNvSpPr txBox="1">
                    <a:spLocks noChangeArrowheads="1"/>
                  </p:cNvSpPr>
                  <p:nvPr/>
                </p:nvSpPr>
                <p:spPr bwMode="auto">
                  <a:xfrm>
                    <a:off x="4216" y="2517"/>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sp>
                <p:nvSpPr>
                  <p:cNvPr id="191" name="Text Box 81">
                    <a:extLst>
                      <a:ext uri="{FF2B5EF4-FFF2-40B4-BE49-F238E27FC236}">
                        <a16:creationId xmlns:a16="http://schemas.microsoft.com/office/drawing/2014/main" id="{CFDD21D8-7DD6-9E4E-82CD-89F60D95E895}"/>
                      </a:ext>
                    </a:extLst>
                  </p:cNvPr>
                  <p:cNvSpPr txBox="1">
                    <a:spLocks noChangeArrowheads="1"/>
                  </p:cNvSpPr>
                  <p:nvPr/>
                </p:nvSpPr>
                <p:spPr bwMode="auto">
                  <a:xfrm>
                    <a:off x="4214" y="2564"/>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grpSp>
            <p:grpSp>
              <p:nvGrpSpPr>
                <p:cNvPr id="192" name="Group 86">
                  <a:extLst>
                    <a:ext uri="{FF2B5EF4-FFF2-40B4-BE49-F238E27FC236}">
                      <a16:creationId xmlns:a16="http://schemas.microsoft.com/office/drawing/2014/main" id="{A6A8A6BC-4690-FD46-A7A2-F81368063A97}"/>
                    </a:ext>
                  </a:extLst>
                </p:cNvPr>
                <p:cNvGrpSpPr>
                  <a:grpSpLocks/>
                </p:cNvGrpSpPr>
                <p:nvPr/>
              </p:nvGrpSpPr>
              <p:grpSpPr bwMode="auto">
                <a:xfrm>
                  <a:off x="8320082" y="3614743"/>
                  <a:ext cx="922336" cy="811214"/>
                  <a:chOff x="4335" y="2509"/>
                  <a:chExt cx="581" cy="511"/>
                </a:xfrm>
              </p:grpSpPr>
              <p:sp>
                <p:nvSpPr>
                  <p:cNvPr id="193" name="Text Box 83">
                    <a:extLst>
                      <a:ext uri="{FF2B5EF4-FFF2-40B4-BE49-F238E27FC236}">
                        <a16:creationId xmlns:a16="http://schemas.microsoft.com/office/drawing/2014/main" id="{2EABE0BC-E93A-7840-BC78-8917BD66E877}"/>
                      </a:ext>
                    </a:extLst>
                  </p:cNvPr>
                  <p:cNvSpPr txBox="1">
                    <a:spLocks noChangeArrowheads="1"/>
                  </p:cNvSpPr>
                  <p:nvPr/>
                </p:nvSpPr>
                <p:spPr bwMode="auto">
                  <a:xfrm>
                    <a:off x="4335" y="2509"/>
                    <a:ext cx="58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p>
                </p:txBody>
              </p:sp>
              <p:sp>
                <p:nvSpPr>
                  <p:cNvPr id="194" name="Text Box 84">
                    <a:extLst>
                      <a:ext uri="{FF2B5EF4-FFF2-40B4-BE49-F238E27FC236}">
                        <a16:creationId xmlns:a16="http://schemas.microsoft.com/office/drawing/2014/main" id="{FC380433-330D-4342-82B3-E71BEB72AF06}"/>
                      </a:ext>
                    </a:extLst>
                  </p:cNvPr>
                  <p:cNvSpPr txBox="1">
                    <a:spLocks noChangeArrowheads="1"/>
                  </p:cNvSpPr>
                  <p:nvPr/>
                </p:nvSpPr>
                <p:spPr bwMode="auto">
                  <a:xfrm>
                    <a:off x="4398" y="2729"/>
                    <a:ext cx="46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rPr>
                      <a:t>RTT</a:t>
                    </a:r>
                  </a:p>
                </p:txBody>
              </p:sp>
              <p:sp>
                <p:nvSpPr>
                  <p:cNvPr id="195" name="Line 85">
                    <a:extLst>
                      <a:ext uri="{FF2B5EF4-FFF2-40B4-BE49-F238E27FC236}">
                        <a16:creationId xmlns:a16="http://schemas.microsoft.com/office/drawing/2014/main" id="{1B9F9DB8-E2FB-AE45-88BA-CC221F1D6597}"/>
                      </a:ext>
                    </a:extLst>
                  </p:cNvPr>
                  <p:cNvSpPr>
                    <a:spLocks noChangeShapeType="1"/>
                  </p:cNvSpPr>
                  <p:nvPr/>
                </p:nvSpPr>
                <p:spPr bwMode="auto">
                  <a:xfrm>
                    <a:off x="4430" y="2763"/>
                    <a:ext cx="384"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6" name="Text Box 87">
                  <a:extLst>
                    <a:ext uri="{FF2B5EF4-FFF2-40B4-BE49-F238E27FC236}">
                      <a16:creationId xmlns:a16="http://schemas.microsoft.com/office/drawing/2014/main" id="{2A51BBA4-2F14-2F4F-A04D-EFFFF36AF41D}"/>
                    </a:ext>
                  </a:extLst>
                </p:cNvPr>
                <p:cNvSpPr txBox="1">
                  <a:spLocks noChangeArrowheads="1"/>
                </p:cNvSpPr>
                <p:nvPr/>
              </p:nvSpPr>
              <p:spPr bwMode="auto">
                <a:xfrm>
                  <a:off x="9141713" y="3823464"/>
                  <a:ext cx="1188146"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bytes/sec</a:t>
                  </a:r>
                </a:p>
              </p:txBody>
            </p:sp>
          </p:grpSp>
        </p:grpSp>
      </p:grpSp>
      <p:grpSp>
        <p:nvGrpSpPr>
          <p:cNvPr id="21" name="Group 20">
            <a:extLst>
              <a:ext uri="{FF2B5EF4-FFF2-40B4-BE49-F238E27FC236}">
                <a16:creationId xmlns:a16="http://schemas.microsoft.com/office/drawing/2014/main" id="{0B0449D2-8107-EC4E-BA6E-0B53574C5B7E}"/>
              </a:ext>
            </a:extLst>
          </p:cNvPr>
          <p:cNvGrpSpPr/>
          <p:nvPr/>
        </p:nvGrpSpPr>
        <p:grpSpPr>
          <a:xfrm>
            <a:off x="2327097" y="2874002"/>
            <a:ext cx="1660913" cy="1379180"/>
            <a:chOff x="2327097" y="2874002"/>
            <a:chExt cx="1660913" cy="1379180"/>
          </a:xfrm>
        </p:grpSpPr>
        <p:sp>
          <p:nvSpPr>
            <p:cNvPr id="171" name="Text Box 58">
              <a:extLst>
                <a:ext uri="{FF2B5EF4-FFF2-40B4-BE49-F238E27FC236}">
                  <a16:creationId xmlns:a16="http://schemas.microsoft.com/office/drawing/2014/main" id="{245049EB-D632-CE4C-A587-BA819860D407}"/>
                </a:ext>
              </a:extLst>
            </p:cNvPr>
            <p:cNvSpPr txBox="1">
              <a:spLocks noChangeArrowheads="1"/>
            </p:cNvSpPr>
            <p:nvPr/>
          </p:nvSpPr>
          <p:spPr bwMode="auto">
            <a:xfrm>
              <a:off x="2327097" y="3412952"/>
              <a:ext cx="1660913"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sent, but not-yet ACKed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in-flight”)</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036A4AF-C412-6643-BB9E-A6741086FD03}"/>
                </a:ext>
              </a:extLst>
            </p:cNvPr>
            <p:cNvGrpSpPr/>
            <p:nvPr/>
          </p:nvGrpSpPr>
          <p:grpSpPr>
            <a:xfrm>
              <a:off x="2644060" y="2874002"/>
              <a:ext cx="1201888" cy="658131"/>
              <a:chOff x="2644060" y="2874003"/>
              <a:chExt cx="1201888" cy="635450"/>
            </a:xfrm>
          </p:grpSpPr>
          <p:sp>
            <p:nvSpPr>
              <p:cNvPr id="167" name="Line 51">
                <a:extLst>
                  <a:ext uri="{FF2B5EF4-FFF2-40B4-BE49-F238E27FC236}">
                    <a16:creationId xmlns:a16="http://schemas.microsoft.com/office/drawing/2014/main" id="{82259C8B-8E68-3B45-95EF-6297D889F723}"/>
                  </a:ext>
                </a:extLst>
              </p:cNvPr>
              <p:cNvSpPr>
                <a:spLocks noChangeShapeType="1"/>
              </p:cNvSpPr>
              <p:nvPr/>
            </p:nvSpPr>
            <p:spPr bwMode="auto">
              <a:xfrm>
                <a:off x="2644060" y="2874003"/>
                <a:ext cx="12018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8" name="Straight Connector 7">
                <a:extLst>
                  <a:ext uri="{FF2B5EF4-FFF2-40B4-BE49-F238E27FC236}">
                    <a16:creationId xmlns:a16="http://schemas.microsoft.com/office/drawing/2014/main" id="{9E977076-799D-1F4B-B884-156CBD02FF8A}"/>
                  </a:ext>
                </a:extLst>
              </p:cNvPr>
              <p:cNvCxnSpPr>
                <a:cxnSpLocks/>
              </p:cNvCxnSpPr>
              <p:nvPr/>
            </p:nvCxnSpPr>
            <p:spPr>
              <a:xfrm>
                <a:off x="2850877" y="2898008"/>
                <a:ext cx="0" cy="61144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88" name="Slide Number Placeholder 2">
            <a:extLst>
              <a:ext uri="{FF2B5EF4-FFF2-40B4-BE49-F238E27FC236}">
                <a16:creationId xmlns:a16="http://schemas.microsoft.com/office/drawing/2014/main" id="{F3E09B12-4970-4049-B7E9-4060B63F1FB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126</a:t>
            </a:fld>
            <a:endParaRPr lang="en-US" dirty="0"/>
          </a:p>
        </p:txBody>
      </p:sp>
    </p:spTree>
    <p:extLst>
      <p:ext uri="{BB962C8B-B14F-4D97-AF65-F5344CB8AC3E}">
        <p14:creationId xmlns:p14="http://schemas.microsoft.com/office/powerpoint/2010/main" val="236382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dissolv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dissolve">
                                      <p:cBhvr>
                                        <p:cTn id="25" dur="500"/>
                                        <p:tgtEl>
                                          <p:spTgt spid="19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dissolv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9719"/>
            <a:ext cx="11393310" cy="894622"/>
          </a:xfrm>
        </p:spPr>
        <p:txBody>
          <a:bodyPr>
            <a:normAutofit/>
          </a:bodyPr>
          <a:lstStyle/>
          <a:p>
            <a:r>
              <a:rPr lang="en-US" sz="4800" dirty="0"/>
              <a:t>TCP slow start </a:t>
            </a:r>
            <a:endParaRPr lang="en-US" sz="4400" b="0" dirty="0"/>
          </a:p>
        </p:txBody>
      </p:sp>
      <p:sp>
        <p:nvSpPr>
          <p:cNvPr id="88" name="Rectangle 3">
            <a:extLst>
              <a:ext uri="{FF2B5EF4-FFF2-40B4-BE49-F238E27FC236}">
                <a16:creationId xmlns:a16="http://schemas.microsoft.com/office/drawing/2014/main" id="{8A57114D-913B-0446-AF23-3E8C1F4B81CA}"/>
              </a:ext>
            </a:extLst>
          </p:cNvPr>
          <p:cNvSpPr txBox="1">
            <a:spLocks noChangeArrowheads="1"/>
          </p:cNvSpPr>
          <p:nvPr/>
        </p:nvSpPr>
        <p:spPr>
          <a:xfrm>
            <a:off x="1143000" y="1384299"/>
            <a:ext cx="5118100" cy="52142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connection begins, increase rate exponentially until first loss event: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 1 MSS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double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every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done by incrementing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 every ACK received</a:t>
            </a:r>
          </a:p>
        </p:txBody>
      </p:sp>
      <p:sp>
        <p:nvSpPr>
          <p:cNvPr id="224" name="Line 6">
            <a:extLst>
              <a:ext uri="{FF2B5EF4-FFF2-40B4-BE49-F238E27FC236}">
                <a16:creationId xmlns:a16="http://schemas.microsoft.com/office/drawing/2014/main" id="{6A528287-EE91-2148-8BF9-9042AB1CFB64}"/>
              </a:ext>
            </a:extLst>
          </p:cNvPr>
          <p:cNvSpPr>
            <a:spLocks noChangeShapeType="1"/>
          </p:cNvSpPr>
          <p:nvPr/>
        </p:nvSpPr>
        <p:spPr bwMode="auto">
          <a:xfrm>
            <a:off x="7585075" y="230659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Text Box 8">
            <a:extLst>
              <a:ext uri="{FF2B5EF4-FFF2-40B4-BE49-F238E27FC236}">
                <a16:creationId xmlns:a16="http://schemas.microsoft.com/office/drawing/2014/main" id="{BF8683E2-9BD1-4641-8269-1F97FE166C40}"/>
              </a:ext>
            </a:extLst>
          </p:cNvPr>
          <p:cNvSpPr txBox="1">
            <a:spLocks noChangeArrowheads="1"/>
          </p:cNvSpPr>
          <p:nvPr/>
        </p:nvSpPr>
        <p:spPr bwMode="auto">
          <a:xfrm>
            <a:off x="7181850" y="1168352"/>
            <a:ext cx="869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A</a:t>
            </a:r>
          </a:p>
        </p:txBody>
      </p:sp>
      <p:sp>
        <p:nvSpPr>
          <p:cNvPr id="226" name="Text Box 9">
            <a:extLst>
              <a:ext uri="{FF2B5EF4-FFF2-40B4-BE49-F238E27FC236}">
                <a16:creationId xmlns:a16="http://schemas.microsoft.com/office/drawing/2014/main" id="{C49CE5EE-9C21-9E4F-B95D-B87D2E6CA9D2}"/>
              </a:ext>
            </a:extLst>
          </p:cNvPr>
          <p:cNvSpPr txBox="1">
            <a:spLocks noChangeArrowheads="1"/>
          </p:cNvSpPr>
          <p:nvPr/>
        </p:nvSpPr>
        <p:spPr bwMode="auto">
          <a:xfrm rot="408567">
            <a:off x="8591550" y="2273252"/>
            <a:ext cx="1208088"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one segment</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28" name="Text Box 12">
            <a:extLst>
              <a:ext uri="{FF2B5EF4-FFF2-40B4-BE49-F238E27FC236}">
                <a16:creationId xmlns:a16="http://schemas.microsoft.com/office/drawing/2014/main" id="{51858FD0-9B85-8441-9B12-8875189F665C}"/>
              </a:ext>
            </a:extLst>
          </p:cNvPr>
          <p:cNvSpPr txBox="1">
            <a:spLocks noChangeArrowheads="1"/>
          </p:cNvSpPr>
          <p:nvPr/>
        </p:nvSpPr>
        <p:spPr bwMode="auto">
          <a:xfrm>
            <a:off x="9618663" y="1154065"/>
            <a:ext cx="8699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B</a:t>
            </a:r>
          </a:p>
        </p:txBody>
      </p:sp>
      <p:sp>
        <p:nvSpPr>
          <p:cNvPr id="229" name="Line 13">
            <a:extLst>
              <a:ext uri="{FF2B5EF4-FFF2-40B4-BE49-F238E27FC236}">
                <a16:creationId xmlns:a16="http://schemas.microsoft.com/office/drawing/2014/main" id="{A18AC8EC-DBD1-E34E-B3EA-D3876A530333}"/>
              </a:ext>
            </a:extLst>
          </p:cNvPr>
          <p:cNvSpPr>
            <a:spLocks noChangeShapeType="1"/>
          </p:cNvSpPr>
          <p:nvPr/>
        </p:nvSpPr>
        <p:spPr bwMode="auto">
          <a:xfrm>
            <a:off x="7580313" y="21208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Line 14">
            <a:extLst>
              <a:ext uri="{FF2B5EF4-FFF2-40B4-BE49-F238E27FC236}">
                <a16:creationId xmlns:a16="http://schemas.microsoft.com/office/drawing/2014/main" id="{77B3310E-1B60-414E-9423-328982307B1D}"/>
              </a:ext>
            </a:extLst>
          </p:cNvPr>
          <p:cNvSpPr>
            <a:spLocks noChangeShapeType="1"/>
          </p:cNvSpPr>
          <p:nvPr/>
        </p:nvSpPr>
        <p:spPr bwMode="auto">
          <a:xfrm>
            <a:off x="10094913" y="21589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E69B56F2-B7D2-5247-8C5B-11CDFE50D6C7}"/>
              </a:ext>
            </a:extLst>
          </p:cNvPr>
          <p:cNvGrpSpPr/>
          <p:nvPr/>
        </p:nvGrpSpPr>
        <p:grpSpPr>
          <a:xfrm>
            <a:off x="7254875" y="2270077"/>
            <a:ext cx="304800" cy="830263"/>
            <a:chOff x="7254875" y="2270077"/>
            <a:chExt cx="304800" cy="830263"/>
          </a:xfrm>
        </p:grpSpPr>
        <p:sp>
          <p:nvSpPr>
            <p:cNvPr id="227" name="Text Box 10">
              <a:extLst>
                <a:ext uri="{FF2B5EF4-FFF2-40B4-BE49-F238E27FC236}">
                  <a16:creationId xmlns:a16="http://schemas.microsoft.com/office/drawing/2014/main" id="{A25707E3-FE96-074A-AE26-F8222C4C395A}"/>
                </a:ext>
              </a:extLst>
            </p:cNvPr>
            <p:cNvSpPr txBox="1">
              <a:spLocks noChangeArrowheads="1"/>
            </p:cNvSpPr>
            <p:nvPr/>
          </p:nvSpPr>
          <p:spPr bwMode="auto">
            <a:xfrm rot="-5400000">
              <a:off x="7142956" y="2510584"/>
              <a:ext cx="5286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15">
              <a:extLst>
                <a:ext uri="{FF2B5EF4-FFF2-40B4-BE49-F238E27FC236}">
                  <a16:creationId xmlns:a16="http://schemas.microsoft.com/office/drawing/2014/main" id="{1BE79FAE-9CDC-7B45-A6C0-E89FC9FC2363}"/>
                </a:ext>
              </a:extLst>
            </p:cNvPr>
            <p:cNvSpPr>
              <a:spLocks noChangeShapeType="1"/>
            </p:cNvSpPr>
            <p:nvPr/>
          </p:nvSpPr>
          <p:spPr bwMode="auto">
            <a:xfrm flipH="1" flipV="1">
              <a:off x="7399338" y="2270077"/>
              <a:ext cx="4762" cy="2190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Line 16">
              <a:extLst>
                <a:ext uri="{FF2B5EF4-FFF2-40B4-BE49-F238E27FC236}">
                  <a16:creationId xmlns:a16="http://schemas.microsoft.com/office/drawing/2014/main" id="{59A77926-4B5A-AC4A-B560-0B735D6BC784}"/>
                </a:ext>
              </a:extLst>
            </p:cNvPr>
            <p:cNvSpPr>
              <a:spLocks noChangeShapeType="1"/>
            </p:cNvSpPr>
            <p:nvPr/>
          </p:nvSpPr>
          <p:spPr bwMode="auto">
            <a:xfrm>
              <a:off x="7408863" y="2876502"/>
              <a:ext cx="4762" cy="22383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3" name="Line 17">
            <a:extLst>
              <a:ext uri="{FF2B5EF4-FFF2-40B4-BE49-F238E27FC236}">
                <a16:creationId xmlns:a16="http://schemas.microsoft.com/office/drawing/2014/main" id="{6F1B852B-55C3-8747-96CA-AA2F2AB5E525}"/>
              </a:ext>
            </a:extLst>
          </p:cNvPr>
          <p:cNvSpPr>
            <a:spLocks noChangeShapeType="1"/>
          </p:cNvSpPr>
          <p:nvPr/>
        </p:nvSpPr>
        <p:spPr bwMode="auto">
          <a:xfrm flipV="1">
            <a:off x="7561263" y="2711402"/>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4" name="Group 18">
            <a:extLst>
              <a:ext uri="{FF2B5EF4-FFF2-40B4-BE49-F238E27FC236}">
                <a16:creationId xmlns:a16="http://schemas.microsoft.com/office/drawing/2014/main" id="{065B59AF-8C8D-9041-B965-0C2B0A5F8CEF}"/>
              </a:ext>
            </a:extLst>
          </p:cNvPr>
          <p:cNvGrpSpPr>
            <a:grpSpLocks/>
          </p:cNvGrpSpPr>
          <p:nvPr/>
        </p:nvGrpSpPr>
        <p:grpSpPr bwMode="auto">
          <a:xfrm>
            <a:off x="9809163" y="5453015"/>
            <a:ext cx="615950" cy="366712"/>
            <a:chOff x="3317" y="3527"/>
            <a:chExt cx="388" cy="231"/>
          </a:xfrm>
        </p:grpSpPr>
        <p:sp>
          <p:nvSpPr>
            <p:cNvPr id="235" name="Rectangle 19">
              <a:extLst>
                <a:ext uri="{FF2B5EF4-FFF2-40B4-BE49-F238E27FC236}">
                  <a16:creationId xmlns:a16="http://schemas.microsoft.com/office/drawing/2014/main" id="{87C76A64-BE9B-B84D-B23B-73554D8DC2C9}"/>
                </a:ext>
              </a:extLst>
            </p:cNvPr>
            <p:cNvSpPr>
              <a:spLocks noChangeArrowheads="1"/>
            </p:cNvSpPr>
            <p:nvPr/>
          </p:nvSpPr>
          <p:spPr bwMode="auto">
            <a:xfrm>
              <a:off x="3342" y="3576"/>
              <a:ext cx="324" cy="15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Text Box 20">
              <a:extLst>
                <a:ext uri="{FF2B5EF4-FFF2-40B4-BE49-F238E27FC236}">
                  <a16:creationId xmlns:a16="http://schemas.microsoft.com/office/drawing/2014/main" id="{0453126D-C0BC-5F4F-8DBD-30CD1FA8A1CD}"/>
                </a:ext>
              </a:extLst>
            </p:cNvPr>
            <p:cNvSpPr txBox="1">
              <a:spLocks noChangeArrowheads="1"/>
            </p:cNvSpPr>
            <p:nvPr/>
          </p:nvSpPr>
          <p:spPr bwMode="auto">
            <a:xfrm>
              <a:off x="3317" y="3527"/>
              <a:ext cx="388" cy="2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time</a:t>
              </a:r>
              <a:endPar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 name="Group 4">
            <a:extLst>
              <a:ext uri="{FF2B5EF4-FFF2-40B4-BE49-F238E27FC236}">
                <a16:creationId xmlns:a16="http://schemas.microsoft.com/office/drawing/2014/main" id="{4100408E-3418-754E-97D5-873085045522}"/>
              </a:ext>
            </a:extLst>
          </p:cNvPr>
          <p:cNvGrpSpPr/>
          <p:nvPr/>
        </p:nvGrpSpPr>
        <p:grpSpPr>
          <a:xfrm>
            <a:off x="7585075" y="3087640"/>
            <a:ext cx="2509838" cy="438150"/>
            <a:chOff x="7585075" y="3087640"/>
            <a:chExt cx="2509838" cy="438150"/>
          </a:xfrm>
        </p:grpSpPr>
        <p:sp>
          <p:nvSpPr>
            <p:cNvPr id="237" name="Line 21">
              <a:extLst>
                <a:ext uri="{FF2B5EF4-FFF2-40B4-BE49-F238E27FC236}">
                  <a16:creationId xmlns:a16="http://schemas.microsoft.com/office/drawing/2014/main" id="{9884C69B-71B1-0942-8DD7-4BADAC4C58CF}"/>
                </a:ext>
              </a:extLst>
            </p:cNvPr>
            <p:cNvSpPr>
              <a:spLocks noChangeShapeType="1"/>
            </p:cNvSpPr>
            <p:nvPr/>
          </p:nvSpPr>
          <p:spPr bwMode="auto">
            <a:xfrm>
              <a:off x="7589838" y="308764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22">
              <a:extLst>
                <a:ext uri="{FF2B5EF4-FFF2-40B4-BE49-F238E27FC236}">
                  <a16:creationId xmlns:a16="http://schemas.microsoft.com/office/drawing/2014/main" id="{51BC13AD-02C4-1049-8BE5-DF4431F8416C}"/>
                </a:ext>
              </a:extLst>
            </p:cNvPr>
            <p:cNvSpPr>
              <a:spLocks noChangeShapeType="1"/>
            </p:cNvSpPr>
            <p:nvPr/>
          </p:nvSpPr>
          <p:spPr bwMode="auto">
            <a:xfrm>
              <a:off x="7585075" y="3173365"/>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C604703D-5DBE-F940-8D53-F844A095856D}"/>
              </a:ext>
            </a:extLst>
          </p:cNvPr>
          <p:cNvGrpSpPr/>
          <p:nvPr/>
        </p:nvGrpSpPr>
        <p:grpSpPr>
          <a:xfrm>
            <a:off x="7558088" y="3697240"/>
            <a:ext cx="2555875" cy="612775"/>
            <a:chOff x="7558088" y="3697240"/>
            <a:chExt cx="2555875" cy="612775"/>
          </a:xfrm>
        </p:grpSpPr>
        <p:sp>
          <p:nvSpPr>
            <p:cNvPr id="239" name="Line 23">
              <a:extLst>
                <a:ext uri="{FF2B5EF4-FFF2-40B4-BE49-F238E27FC236}">
                  <a16:creationId xmlns:a16="http://schemas.microsoft.com/office/drawing/2014/main" id="{4B52376E-4BCD-9A4A-845B-15A59AA4FC46}"/>
                </a:ext>
              </a:extLst>
            </p:cNvPr>
            <p:cNvSpPr>
              <a:spLocks noChangeShapeType="1"/>
            </p:cNvSpPr>
            <p:nvPr/>
          </p:nvSpPr>
          <p:spPr bwMode="auto">
            <a:xfrm flipV="1">
              <a:off x="7585075" y="3697240"/>
              <a:ext cx="2528888" cy="36195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24">
              <a:extLst>
                <a:ext uri="{FF2B5EF4-FFF2-40B4-BE49-F238E27FC236}">
                  <a16:creationId xmlns:a16="http://schemas.microsoft.com/office/drawing/2014/main" id="{645C0ACA-0EDA-5E4A-9046-377D9678C0E7}"/>
                </a:ext>
              </a:extLst>
            </p:cNvPr>
            <p:cNvSpPr>
              <a:spLocks noChangeShapeType="1"/>
            </p:cNvSpPr>
            <p:nvPr/>
          </p:nvSpPr>
          <p:spPr bwMode="auto">
            <a:xfrm flipV="1">
              <a:off x="7558088" y="3957590"/>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5">
            <a:extLst>
              <a:ext uri="{FF2B5EF4-FFF2-40B4-BE49-F238E27FC236}">
                <a16:creationId xmlns:a16="http://schemas.microsoft.com/office/drawing/2014/main" id="{01076F6F-B790-D24D-9445-FAC03A5C45E4}"/>
              </a:ext>
            </a:extLst>
          </p:cNvPr>
          <p:cNvSpPr txBox="1">
            <a:spLocks noChangeArrowheads="1"/>
          </p:cNvSpPr>
          <p:nvPr/>
        </p:nvSpPr>
        <p:spPr bwMode="auto">
          <a:xfrm rot="408567">
            <a:off x="8589963" y="3059065"/>
            <a:ext cx="12779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two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42" name="Text Box 26">
            <a:extLst>
              <a:ext uri="{FF2B5EF4-FFF2-40B4-BE49-F238E27FC236}">
                <a16:creationId xmlns:a16="http://schemas.microsoft.com/office/drawing/2014/main" id="{1B8C0342-7E57-2343-86AD-47B5AB1AA675}"/>
              </a:ext>
            </a:extLst>
          </p:cNvPr>
          <p:cNvSpPr txBox="1">
            <a:spLocks noChangeArrowheads="1"/>
          </p:cNvSpPr>
          <p:nvPr/>
        </p:nvSpPr>
        <p:spPr bwMode="auto">
          <a:xfrm rot="408567">
            <a:off x="8682038" y="4073477"/>
            <a:ext cx="1306512"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four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nvGrpSpPr>
          <p:cNvPr id="243" name="Group 27">
            <a:extLst>
              <a:ext uri="{FF2B5EF4-FFF2-40B4-BE49-F238E27FC236}">
                <a16:creationId xmlns:a16="http://schemas.microsoft.com/office/drawing/2014/main" id="{B634F089-4244-B04A-8749-7ACF0E0264A8}"/>
              </a:ext>
            </a:extLst>
          </p:cNvPr>
          <p:cNvGrpSpPr>
            <a:grpSpLocks/>
          </p:cNvGrpSpPr>
          <p:nvPr/>
        </p:nvGrpSpPr>
        <p:grpSpPr bwMode="auto">
          <a:xfrm>
            <a:off x="7580316" y="4092527"/>
            <a:ext cx="2519363" cy="652463"/>
            <a:chOff x="3954" y="2214"/>
            <a:chExt cx="1587" cy="411"/>
          </a:xfrm>
        </p:grpSpPr>
        <p:sp>
          <p:nvSpPr>
            <p:cNvPr id="244" name="Line 28">
              <a:extLst>
                <a:ext uri="{FF2B5EF4-FFF2-40B4-BE49-F238E27FC236}">
                  <a16:creationId xmlns:a16="http://schemas.microsoft.com/office/drawing/2014/main" id="{6F92F39D-0B5B-8944-8B48-2B288C8AA12C}"/>
                </a:ext>
              </a:extLst>
            </p:cNvPr>
            <p:cNvSpPr>
              <a:spLocks noChangeShapeType="1"/>
            </p:cNvSpPr>
            <p:nvPr/>
          </p:nvSpPr>
          <p:spPr bwMode="auto">
            <a:xfrm>
              <a:off x="3963" y="221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Line 29">
              <a:extLst>
                <a:ext uri="{FF2B5EF4-FFF2-40B4-BE49-F238E27FC236}">
                  <a16:creationId xmlns:a16="http://schemas.microsoft.com/office/drawing/2014/main" id="{C48577E5-7DD4-034F-9CF0-3D303E956AEB}"/>
                </a:ext>
              </a:extLst>
            </p:cNvPr>
            <p:cNvSpPr>
              <a:spLocks noChangeShapeType="1"/>
            </p:cNvSpPr>
            <p:nvPr/>
          </p:nvSpPr>
          <p:spPr bwMode="auto">
            <a:xfrm>
              <a:off x="3954" y="227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Line 30">
              <a:extLst>
                <a:ext uri="{FF2B5EF4-FFF2-40B4-BE49-F238E27FC236}">
                  <a16:creationId xmlns:a16="http://schemas.microsoft.com/office/drawing/2014/main" id="{B96B9B7F-8E30-7743-AEDD-727B51D6B27C}"/>
                </a:ext>
              </a:extLst>
            </p:cNvPr>
            <p:cNvSpPr>
              <a:spLocks noChangeShapeType="1"/>
            </p:cNvSpPr>
            <p:nvPr/>
          </p:nvSpPr>
          <p:spPr bwMode="auto">
            <a:xfrm>
              <a:off x="3963" y="2340"/>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Line 31">
              <a:extLst>
                <a:ext uri="{FF2B5EF4-FFF2-40B4-BE49-F238E27FC236}">
                  <a16:creationId xmlns:a16="http://schemas.microsoft.com/office/drawing/2014/main" id="{B83505EC-39A5-D64D-8E5C-39A07A090F7F}"/>
                </a:ext>
              </a:extLst>
            </p:cNvPr>
            <p:cNvSpPr>
              <a:spLocks noChangeShapeType="1"/>
            </p:cNvSpPr>
            <p:nvPr/>
          </p:nvSpPr>
          <p:spPr bwMode="auto">
            <a:xfrm>
              <a:off x="3957" y="2403"/>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8" name="Group 32">
            <a:extLst>
              <a:ext uri="{FF2B5EF4-FFF2-40B4-BE49-F238E27FC236}">
                <a16:creationId xmlns:a16="http://schemas.microsoft.com/office/drawing/2014/main" id="{00C5C000-11E9-BE42-9849-B1B7B9E99FE0}"/>
              </a:ext>
            </a:extLst>
          </p:cNvPr>
          <p:cNvGrpSpPr>
            <a:grpSpLocks/>
          </p:cNvGrpSpPr>
          <p:nvPr/>
        </p:nvGrpSpPr>
        <p:grpSpPr bwMode="auto">
          <a:xfrm flipV="1">
            <a:off x="7866063" y="4473527"/>
            <a:ext cx="2228850" cy="604838"/>
            <a:chOff x="3954" y="2214"/>
            <a:chExt cx="1587" cy="411"/>
          </a:xfrm>
        </p:grpSpPr>
        <p:sp>
          <p:nvSpPr>
            <p:cNvPr id="249" name="Line 33">
              <a:extLst>
                <a:ext uri="{FF2B5EF4-FFF2-40B4-BE49-F238E27FC236}">
                  <a16:creationId xmlns:a16="http://schemas.microsoft.com/office/drawing/2014/main" id="{4332886D-58A3-5C48-9DD4-0435A9D316B6}"/>
                </a:ext>
              </a:extLst>
            </p:cNvPr>
            <p:cNvSpPr>
              <a:spLocks noChangeShapeType="1"/>
            </p:cNvSpPr>
            <p:nvPr/>
          </p:nvSpPr>
          <p:spPr bwMode="auto">
            <a:xfrm>
              <a:off x="3963" y="2214"/>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Line 34">
              <a:extLst>
                <a:ext uri="{FF2B5EF4-FFF2-40B4-BE49-F238E27FC236}">
                  <a16:creationId xmlns:a16="http://schemas.microsoft.com/office/drawing/2014/main" id="{C0026D13-F3ED-354E-AB62-DED685C67E13}"/>
                </a:ext>
              </a:extLst>
            </p:cNvPr>
            <p:cNvSpPr>
              <a:spLocks noChangeShapeType="1"/>
            </p:cNvSpPr>
            <p:nvPr/>
          </p:nvSpPr>
          <p:spPr bwMode="auto">
            <a:xfrm>
              <a:off x="3954" y="2274"/>
              <a:ext cx="1578" cy="22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Line 35">
              <a:extLst>
                <a:ext uri="{FF2B5EF4-FFF2-40B4-BE49-F238E27FC236}">
                  <a16:creationId xmlns:a16="http://schemas.microsoft.com/office/drawing/2014/main" id="{36EDBC83-2FCD-4D49-9A45-B0773BAEE370}"/>
                </a:ext>
              </a:extLst>
            </p:cNvPr>
            <p:cNvSpPr>
              <a:spLocks noChangeShapeType="1"/>
            </p:cNvSpPr>
            <p:nvPr/>
          </p:nvSpPr>
          <p:spPr bwMode="auto">
            <a:xfrm>
              <a:off x="3963" y="2340"/>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Line 36">
              <a:extLst>
                <a:ext uri="{FF2B5EF4-FFF2-40B4-BE49-F238E27FC236}">
                  <a16:creationId xmlns:a16="http://schemas.microsoft.com/office/drawing/2014/main" id="{8BA1B8D7-7D1E-2947-8988-7C4595578CA6}"/>
                </a:ext>
              </a:extLst>
            </p:cNvPr>
            <p:cNvSpPr>
              <a:spLocks noChangeShapeType="1"/>
            </p:cNvSpPr>
            <p:nvPr/>
          </p:nvSpPr>
          <p:spPr bwMode="auto">
            <a:xfrm>
              <a:off x="3957" y="2403"/>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3" name="Group 43">
            <a:extLst>
              <a:ext uri="{FF2B5EF4-FFF2-40B4-BE49-F238E27FC236}">
                <a16:creationId xmlns:a16="http://schemas.microsoft.com/office/drawing/2014/main" id="{D0982D30-E871-F344-B80E-157861960777}"/>
              </a:ext>
            </a:extLst>
          </p:cNvPr>
          <p:cNvGrpSpPr>
            <a:grpSpLocks/>
          </p:cNvGrpSpPr>
          <p:nvPr/>
        </p:nvGrpSpPr>
        <p:grpSpPr bwMode="auto">
          <a:xfrm>
            <a:off x="7142163" y="1492202"/>
            <a:ext cx="654050" cy="601663"/>
            <a:chOff x="-44" y="1473"/>
            <a:chExt cx="981" cy="1105"/>
          </a:xfrm>
        </p:grpSpPr>
        <p:pic>
          <p:nvPicPr>
            <p:cNvPr id="254" name="Picture 44" descr="desktop_computer_stylized_medium">
              <a:extLst>
                <a:ext uri="{FF2B5EF4-FFF2-40B4-BE49-F238E27FC236}">
                  <a16:creationId xmlns:a16="http://schemas.microsoft.com/office/drawing/2014/main" id="{0C5F9445-24EE-C948-8E49-3FEF71FC59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45">
              <a:extLst>
                <a:ext uri="{FF2B5EF4-FFF2-40B4-BE49-F238E27FC236}">
                  <a16:creationId xmlns:a16="http://schemas.microsoft.com/office/drawing/2014/main" id="{568D3F7F-13C8-1742-BB47-FC4C8107BA4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6" name="Group 46">
            <a:extLst>
              <a:ext uri="{FF2B5EF4-FFF2-40B4-BE49-F238E27FC236}">
                <a16:creationId xmlns:a16="http://schemas.microsoft.com/office/drawing/2014/main" id="{514EF769-BED4-DE47-BE55-0913ABFB155D}"/>
              </a:ext>
            </a:extLst>
          </p:cNvPr>
          <p:cNvGrpSpPr>
            <a:grpSpLocks/>
          </p:cNvGrpSpPr>
          <p:nvPr/>
        </p:nvGrpSpPr>
        <p:grpSpPr bwMode="auto">
          <a:xfrm>
            <a:off x="9877425" y="1506490"/>
            <a:ext cx="382588" cy="547687"/>
            <a:chOff x="4140" y="429"/>
            <a:chExt cx="1425" cy="2396"/>
          </a:xfrm>
        </p:grpSpPr>
        <p:sp>
          <p:nvSpPr>
            <p:cNvPr id="257" name="Freeform 47">
              <a:extLst>
                <a:ext uri="{FF2B5EF4-FFF2-40B4-BE49-F238E27FC236}">
                  <a16:creationId xmlns:a16="http://schemas.microsoft.com/office/drawing/2014/main" id="{9A7FEAB4-C4F3-E042-96AB-2FC0D99EA40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Rectangle 48">
              <a:extLst>
                <a:ext uri="{FF2B5EF4-FFF2-40B4-BE49-F238E27FC236}">
                  <a16:creationId xmlns:a16="http://schemas.microsoft.com/office/drawing/2014/main" id="{0E59C13E-BE84-BA48-8D46-C29C0270384D}"/>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Freeform 49">
              <a:extLst>
                <a:ext uri="{FF2B5EF4-FFF2-40B4-BE49-F238E27FC236}">
                  <a16:creationId xmlns:a16="http://schemas.microsoft.com/office/drawing/2014/main" id="{CF502E49-4DFE-2340-8749-43933F8387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0" name="Freeform 50">
              <a:extLst>
                <a:ext uri="{FF2B5EF4-FFF2-40B4-BE49-F238E27FC236}">
                  <a16:creationId xmlns:a16="http://schemas.microsoft.com/office/drawing/2014/main" id="{C8ED811D-DAEF-B141-A80E-204FE9D1919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1" name="Rectangle 51">
              <a:extLst>
                <a:ext uri="{FF2B5EF4-FFF2-40B4-BE49-F238E27FC236}">
                  <a16:creationId xmlns:a16="http://schemas.microsoft.com/office/drawing/2014/main" id="{E540E7B8-30E6-B846-823A-6925D9600320}"/>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2" name="Group 52">
              <a:extLst>
                <a:ext uri="{FF2B5EF4-FFF2-40B4-BE49-F238E27FC236}">
                  <a16:creationId xmlns:a16="http://schemas.microsoft.com/office/drawing/2014/main" id="{DE3F2659-D2D6-6C4C-9DF4-EEDFBE720D96}"/>
                </a:ext>
              </a:extLst>
            </p:cNvPr>
            <p:cNvGrpSpPr>
              <a:grpSpLocks/>
            </p:cNvGrpSpPr>
            <p:nvPr/>
          </p:nvGrpSpPr>
          <p:grpSpPr bwMode="auto">
            <a:xfrm>
              <a:off x="4749" y="668"/>
              <a:ext cx="581" cy="145"/>
              <a:chOff x="614" y="2568"/>
              <a:chExt cx="725" cy="139"/>
            </a:xfrm>
          </p:grpSpPr>
          <p:sp>
            <p:nvSpPr>
              <p:cNvPr id="287" name="AutoShape 53">
                <a:extLst>
                  <a:ext uri="{FF2B5EF4-FFF2-40B4-BE49-F238E27FC236}">
                    <a16:creationId xmlns:a16="http://schemas.microsoft.com/office/drawing/2014/main" id="{0ABA0FE6-EF08-7D42-838B-AEB8F187397A}"/>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AutoShape 54">
                <a:extLst>
                  <a:ext uri="{FF2B5EF4-FFF2-40B4-BE49-F238E27FC236}">
                    <a16:creationId xmlns:a16="http://schemas.microsoft.com/office/drawing/2014/main" id="{AD5B052B-FFFB-424E-B4B9-AC7809F4BBB1}"/>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3" name="Rectangle 55">
              <a:extLst>
                <a:ext uri="{FF2B5EF4-FFF2-40B4-BE49-F238E27FC236}">
                  <a16:creationId xmlns:a16="http://schemas.microsoft.com/office/drawing/2014/main" id="{E9301038-767E-E14B-8FDB-B55EE9CA10CE}"/>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4" name="Group 56">
              <a:extLst>
                <a:ext uri="{FF2B5EF4-FFF2-40B4-BE49-F238E27FC236}">
                  <a16:creationId xmlns:a16="http://schemas.microsoft.com/office/drawing/2014/main" id="{2654E7B8-586D-8C4D-A5CD-CC6977E9551F}"/>
                </a:ext>
              </a:extLst>
            </p:cNvPr>
            <p:cNvGrpSpPr>
              <a:grpSpLocks/>
            </p:cNvGrpSpPr>
            <p:nvPr/>
          </p:nvGrpSpPr>
          <p:grpSpPr bwMode="auto">
            <a:xfrm>
              <a:off x="4747" y="994"/>
              <a:ext cx="581" cy="134"/>
              <a:chOff x="614" y="2568"/>
              <a:chExt cx="725" cy="139"/>
            </a:xfrm>
          </p:grpSpPr>
          <p:sp>
            <p:nvSpPr>
              <p:cNvPr id="285" name="AutoShape 57">
                <a:extLst>
                  <a:ext uri="{FF2B5EF4-FFF2-40B4-BE49-F238E27FC236}">
                    <a16:creationId xmlns:a16="http://schemas.microsoft.com/office/drawing/2014/main" id="{4E195FC5-FC94-1542-9BBD-0BDFF1D5CB13}"/>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AutoShape 58">
                <a:extLst>
                  <a:ext uri="{FF2B5EF4-FFF2-40B4-BE49-F238E27FC236}">
                    <a16:creationId xmlns:a16="http://schemas.microsoft.com/office/drawing/2014/main" id="{7E2D9C3B-E255-964C-9508-E66C9FF597CE}"/>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5" name="Rectangle 59">
              <a:extLst>
                <a:ext uri="{FF2B5EF4-FFF2-40B4-BE49-F238E27FC236}">
                  <a16:creationId xmlns:a16="http://schemas.microsoft.com/office/drawing/2014/main" id="{0D35C755-AFBC-C143-94D5-E34C8F255668}"/>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60">
              <a:extLst>
                <a:ext uri="{FF2B5EF4-FFF2-40B4-BE49-F238E27FC236}">
                  <a16:creationId xmlns:a16="http://schemas.microsoft.com/office/drawing/2014/main" id="{8990E763-A8F8-E645-8A01-F6B16D853137}"/>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7" name="Group 61">
              <a:extLst>
                <a:ext uri="{FF2B5EF4-FFF2-40B4-BE49-F238E27FC236}">
                  <a16:creationId xmlns:a16="http://schemas.microsoft.com/office/drawing/2014/main" id="{6F65B17F-5946-9A47-9972-2B907C05984E}"/>
                </a:ext>
              </a:extLst>
            </p:cNvPr>
            <p:cNvGrpSpPr>
              <a:grpSpLocks/>
            </p:cNvGrpSpPr>
            <p:nvPr/>
          </p:nvGrpSpPr>
          <p:grpSpPr bwMode="auto">
            <a:xfrm>
              <a:off x="4735" y="1627"/>
              <a:ext cx="582" cy="151"/>
              <a:chOff x="614" y="2568"/>
              <a:chExt cx="725" cy="139"/>
            </a:xfrm>
          </p:grpSpPr>
          <p:sp>
            <p:nvSpPr>
              <p:cNvPr id="283" name="AutoShape 62">
                <a:extLst>
                  <a:ext uri="{FF2B5EF4-FFF2-40B4-BE49-F238E27FC236}">
                    <a16:creationId xmlns:a16="http://schemas.microsoft.com/office/drawing/2014/main" id="{F08D8399-0C1A-1847-A17B-5B4FDBE7FAAE}"/>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AutoShape 63">
                <a:extLst>
                  <a:ext uri="{FF2B5EF4-FFF2-40B4-BE49-F238E27FC236}">
                    <a16:creationId xmlns:a16="http://schemas.microsoft.com/office/drawing/2014/main" id="{99FEA9D9-F58C-C34F-AA76-A96DFE0CE70A}"/>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8" name="Freeform 64">
              <a:extLst>
                <a:ext uri="{FF2B5EF4-FFF2-40B4-BE49-F238E27FC236}">
                  <a16:creationId xmlns:a16="http://schemas.microsoft.com/office/drawing/2014/main" id="{76F83DEB-6CB2-5740-875B-1B89844BE26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9" name="Group 65">
              <a:extLst>
                <a:ext uri="{FF2B5EF4-FFF2-40B4-BE49-F238E27FC236}">
                  <a16:creationId xmlns:a16="http://schemas.microsoft.com/office/drawing/2014/main" id="{7398C74D-4650-204D-91E2-CBB3BD641926}"/>
                </a:ext>
              </a:extLst>
            </p:cNvPr>
            <p:cNvGrpSpPr>
              <a:grpSpLocks/>
            </p:cNvGrpSpPr>
            <p:nvPr/>
          </p:nvGrpSpPr>
          <p:grpSpPr bwMode="auto">
            <a:xfrm>
              <a:off x="4739" y="1327"/>
              <a:ext cx="582" cy="139"/>
              <a:chOff x="614" y="2568"/>
              <a:chExt cx="725" cy="139"/>
            </a:xfrm>
          </p:grpSpPr>
          <p:sp>
            <p:nvSpPr>
              <p:cNvPr id="281" name="AutoShape 66">
                <a:extLst>
                  <a:ext uri="{FF2B5EF4-FFF2-40B4-BE49-F238E27FC236}">
                    <a16:creationId xmlns:a16="http://schemas.microsoft.com/office/drawing/2014/main" id="{039023CA-977C-5946-9E46-D41AFAF2B198}"/>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AutoShape 67">
                <a:extLst>
                  <a:ext uri="{FF2B5EF4-FFF2-40B4-BE49-F238E27FC236}">
                    <a16:creationId xmlns:a16="http://schemas.microsoft.com/office/drawing/2014/main" id="{A95F4972-A071-D241-8DB3-965104C3EDEE}"/>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70" name="Rectangle 68">
              <a:extLst>
                <a:ext uri="{FF2B5EF4-FFF2-40B4-BE49-F238E27FC236}">
                  <a16:creationId xmlns:a16="http://schemas.microsoft.com/office/drawing/2014/main" id="{87EA3775-452B-1C4A-BCB4-1F82D746EBF2}"/>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Freeform 69">
              <a:extLst>
                <a:ext uri="{FF2B5EF4-FFF2-40B4-BE49-F238E27FC236}">
                  <a16:creationId xmlns:a16="http://schemas.microsoft.com/office/drawing/2014/main" id="{45913A8B-722F-4340-A919-72B4EE032AF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Freeform 70">
              <a:extLst>
                <a:ext uri="{FF2B5EF4-FFF2-40B4-BE49-F238E27FC236}">
                  <a16:creationId xmlns:a16="http://schemas.microsoft.com/office/drawing/2014/main" id="{2676EFF8-49E0-8440-A1AD-B54B20D4F45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Oval 71">
              <a:extLst>
                <a:ext uri="{FF2B5EF4-FFF2-40B4-BE49-F238E27FC236}">
                  <a16:creationId xmlns:a16="http://schemas.microsoft.com/office/drawing/2014/main" id="{1F85A707-5AE3-F64D-94EF-B9C82DB6D43A}"/>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Freeform 72">
              <a:extLst>
                <a:ext uri="{FF2B5EF4-FFF2-40B4-BE49-F238E27FC236}">
                  <a16:creationId xmlns:a16="http://schemas.microsoft.com/office/drawing/2014/main" id="{CAAAAF2D-30B7-D84B-BF96-1507DDCB2A1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AutoShape 73">
              <a:extLst>
                <a:ext uri="{FF2B5EF4-FFF2-40B4-BE49-F238E27FC236}">
                  <a16:creationId xmlns:a16="http://schemas.microsoft.com/office/drawing/2014/main" id="{BA3EE2C3-2176-8A45-B380-5804587A3840}"/>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74">
              <a:extLst>
                <a:ext uri="{FF2B5EF4-FFF2-40B4-BE49-F238E27FC236}">
                  <a16:creationId xmlns:a16="http://schemas.microsoft.com/office/drawing/2014/main" id="{08D47FAF-BF1B-1F44-985D-760303B47B3A}"/>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Oval 75">
              <a:extLst>
                <a:ext uri="{FF2B5EF4-FFF2-40B4-BE49-F238E27FC236}">
                  <a16:creationId xmlns:a16="http://schemas.microsoft.com/office/drawing/2014/main" id="{AF962D89-4DC3-CB40-AD48-4E975B0F2900}"/>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Oval 76">
              <a:extLst>
                <a:ext uri="{FF2B5EF4-FFF2-40B4-BE49-F238E27FC236}">
                  <a16:creationId xmlns:a16="http://schemas.microsoft.com/office/drawing/2014/main" id="{BA8014D1-6702-5849-87C3-1AE05DDF6085}"/>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9" name="Oval 77">
              <a:extLst>
                <a:ext uri="{FF2B5EF4-FFF2-40B4-BE49-F238E27FC236}">
                  <a16:creationId xmlns:a16="http://schemas.microsoft.com/office/drawing/2014/main" id="{3083C069-59B7-F047-91ED-17672B32B7F3}"/>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8">
              <a:extLst>
                <a:ext uri="{FF2B5EF4-FFF2-40B4-BE49-F238E27FC236}">
                  <a16:creationId xmlns:a16="http://schemas.microsoft.com/office/drawing/2014/main" id="{A0E616B9-1439-8B49-B42F-245B61F69E59}"/>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3" name="Rectangle 3">
            <a:extLst>
              <a:ext uri="{FF2B5EF4-FFF2-40B4-BE49-F238E27FC236}">
                <a16:creationId xmlns:a16="http://schemas.microsoft.com/office/drawing/2014/main" id="{E8DFB3C6-E718-DE4A-87C1-CF7178F7C295}"/>
              </a:ext>
            </a:extLst>
          </p:cNvPr>
          <p:cNvSpPr txBox="1">
            <a:spLocks noChangeArrowheads="1"/>
          </p:cNvSpPr>
          <p:nvPr/>
        </p:nvSpPr>
        <p:spPr>
          <a:xfrm>
            <a:off x="1168400" y="4597399"/>
            <a:ext cx="5118100" cy="190500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summary: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initial rate is slow, but ramps up exponentially fast</a:t>
            </a:r>
          </a:p>
        </p:txBody>
      </p:sp>
      <p:sp>
        <p:nvSpPr>
          <p:cNvPr id="74" name="Slide Number Placeholder 2">
            <a:extLst>
              <a:ext uri="{FF2B5EF4-FFF2-40B4-BE49-F238E27FC236}">
                <a16:creationId xmlns:a16="http://schemas.microsoft.com/office/drawing/2014/main" id="{E6BF77EC-AB9F-944C-99D2-21B2DB400DB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127</a:t>
            </a:fld>
            <a:endParaRPr lang="en-US" dirty="0"/>
          </a:p>
        </p:txBody>
      </p:sp>
    </p:spTree>
    <p:extLst>
      <p:ext uri="{BB962C8B-B14F-4D97-AF65-F5344CB8AC3E}">
        <p14:creationId xmlns:p14="http://schemas.microsoft.com/office/powerpoint/2010/main" val="3185277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left)">
                                      <p:cBhvr>
                                        <p:cTn id="7" dur="500"/>
                                        <p:tgtEl>
                                          <p:spTgt spid="22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dissolve">
                                      <p:cBhvr>
                                        <p:cTn id="10" dur="500"/>
                                        <p:tgtEl>
                                          <p:spTgt spid="226"/>
                                        </p:tgtEl>
                                      </p:cBhvr>
                                    </p:animEffect>
                                  </p:childTnLst>
                                </p:cTn>
                              </p:par>
                            </p:childTnLst>
                          </p:cTn>
                        </p:par>
                        <p:par>
                          <p:cTn id="11" fill="hold">
                            <p:stCondLst>
                              <p:cond delay="500"/>
                            </p:stCondLst>
                            <p:childTnLst>
                              <p:par>
                                <p:cTn id="12" presetID="22" presetClass="entr" presetSubtype="2" fill="hold" grpId="0" nodeType="after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right)">
                                      <p:cBhvr>
                                        <p:cTn id="14" dur="500"/>
                                        <p:tgtEl>
                                          <p:spTgt spid="233"/>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1"/>
                                        </p:tgtEl>
                                        <p:attrNameLst>
                                          <p:attrName>style.visibility</p:attrName>
                                        </p:attrNameLst>
                                      </p:cBhvr>
                                      <p:to>
                                        <p:strVal val="visible"/>
                                      </p:to>
                                    </p:set>
                                    <p:animEffect transition="in" filter="dissolve">
                                      <p:cBhvr>
                                        <p:cTn id="26" dur="500"/>
                                        <p:tgtEl>
                                          <p:spTgt spid="241"/>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right)">
                                      <p:cBhvr>
                                        <p:cTn id="30" dur="500"/>
                                        <p:tgtEl>
                                          <p:spTgt spid="6"/>
                                        </p:tgtEl>
                                      </p:cBhvr>
                                    </p:animEffect>
                                  </p:childTnLst>
                                </p:cTn>
                              </p:par>
                            </p:childTnLst>
                          </p:cTn>
                        </p:par>
                        <p:par>
                          <p:cTn id="31" fill="hold">
                            <p:stCondLst>
                              <p:cond delay="1000"/>
                            </p:stCondLst>
                            <p:childTnLst>
                              <p:par>
                                <p:cTn id="32" presetID="22" presetClass="entr" presetSubtype="8" fill="hold" nodeType="afterEffect">
                                  <p:stCondLst>
                                    <p:cond delay="0"/>
                                  </p:stCondLst>
                                  <p:childTnLst>
                                    <p:set>
                                      <p:cBhvr>
                                        <p:cTn id="33" dur="1" fill="hold">
                                          <p:stCondLst>
                                            <p:cond delay="0"/>
                                          </p:stCondLst>
                                        </p:cTn>
                                        <p:tgtEl>
                                          <p:spTgt spid="243"/>
                                        </p:tgtEl>
                                        <p:attrNameLst>
                                          <p:attrName>style.visibility</p:attrName>
                                        </p:attrNameLst>
                                      </p:cBhvr>
                                      <p:to>
                                        <p:strVal val="visible"/>
                                      </p:to>
                                    </p:set>
                                    <p:animEffect transition="in" filter="wipe(left)">
                                      <p:cBhvr>
                                        <p:cTn id="34" dur="500"/>
                                        <p:tgtEl>
                                          <p:spTgt spid="243"/>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visible"/>
                                      </p:to>
                                    </p:set>
                                    <p:animEffect transition="in" filter="dissolve">
                                      <p:cBhvr>
                                        <p:cTn id="37" dur="500"/>
                                        <p:tgtEl>
                                          <p:spTgt spid="242"/>
                                        </p:tgtEl>
                                      </p:cBhvr>
                                    </p:animEffect>
                                  </p:childTnLst>
                                </p:cTn>
                              </p:par>
                            </p:childTnLst>
                          </p:cTn>
                        </p:par>
                        <p:par>
                          <p:cTn id="38" fill="hold">
                            <p:stCondLst>
                              <p:cond delay="1500"/>
                            </p:stCondLst>
                            <p:childTnLst>
                              <p:par>
                                <p:cTn id="39" presetID="22" presetClass="entr" presetSubtype="2" fill="hold" nodeType="afterEffect">
                                  <p:stCondLst>
                                    <p:cond delay="0"/>
                                  </p:stCondLst>
                                  <p:childTnLst>
                                    <p:set>
                                      <p:cBhvr>
                                        <p:cTn id="40" dur="1" fill="hold">
                                          <p:stCondLst>
                                            <p:cond delay="0"/>
                                          </p:stCondLst>
                                        </p:cTn>
                                        <p:tgtEl>
                                          <p:spTgt spid="248"/>
                                        </p:tgtEl>
                                        <p:attrNameLst>
                                          <p:attrName>style.visibility</p:attrName>
                                        </p:attrNameLst>
                                      </p:cBhvr>
                                      <p:to>
                                        <p:strVal val="visible"/>
                                      </p:to>
                                    </p:set>
                                    <p:animEffect transition="in" filter="wipe(right)">
                                      <p:cBhvr>
                                        <p:cTn id="41" dur="500"/>
                                        <p:tgtEl>
                                          <p:spTgt spid="248"/>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73"/>
                                        </p:tgtEl>
                                        <p:attrNameLst>
                                          <p:attrName>style.visibility</p:attrName>
                                        </p:attrNameLst>
                                      </p:cBhvr>
                                      <p:to>
                                        <p:strVal val="visible"/>
                                      </p:to>
                                    </p:set>
                                    <p:animEffect transition="in" filter="dissolve">
                                      <p:cBhvr>
                                        <p:cTn id="4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6" grpId="0"/>
      <p:bldP spid="233" grpId="0" animBg="1"/>
      <p:bldP spid="241" grpId="0"/>
      <p:bldP spid="242" grpId="0"/>
      <p:bldP spid="73"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46743"/>
            <a:ext cx="11393310" cy="894622"/>
          </a:xfrm>
        </p:spPr>
        <p:txBody>
          <a:bodyPr>
            <a:normAutofit/>
          </a:bodyPr>
          <a:lstStyle/>
          <a:p>
            <a:r>
              <a:rPr lang="en-US" sz="4800" dirty="0"/>
              <a:t>TCP: from slow start to congestion avoidance</a:t>
            </a:r>
            <a:endParaRPr lang="en-US" sz="4400" b="0" dirty="0"/>
          </a:p>
        </p:txBody>
      </p:sp>
      <p:sp>
        <p:nvSpPr>
          <p:cNvPr id="76" name="Rectangle 3">
            <a:extLst>
              <a:ext uri="{FF2B5EF4-FFF2-40B4-BE49-F238E27FC236}">
                <a16:creationId xmlns:a16="http://schemas.microsoft.com/office/drawing/2014/main" id="{2C9AD9FD-A93B-FF4D-B019-6827A14601C2}"/>
              </a:ext>
            </a:extLst>
          </p:cNvPr>
          <p:cNvSpPr txBox="1">
            <a:spLocks noChangeArrowheads="1"/>
          </p:cNvSpPr>
          <p:nvPr/>
        </p:nvSpPr>
        <p:spPr>
          <a:xfrm>
            <a:off x="952500" y="1382665"/>
            <a:ext cx="5054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should the exponential increase switch to linear?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gets to 1/2 of its value before timeout.</a:t>
            </a:r>
          </a:p>
        </p:txBody>
      </p:sp>
      <p:sp>
        <p:nvSpPr>
          <p:cNvPr id="77" name="Rectangle 4">
            <a:extLst>
              <a:ext uri="{FF2B5EF4-FFF2-40B4-BE49-F238E27FC236}">
                <a16:creationId xmlns:a16="http://schemas.microsoft.com/office/drawing/2014/main" id="{38B71F69-39D9-954A-BA33-6A5861B7704D}"/>
              </a:ext>
            </a:extLst>
          </p:cNvPr>
          <p:cNvSpPr txBox="1">
            <a:spLocks noChangeArrowheads="1"/>
          </p:cNvSpPr>
          <p:nvPr/>
        </p:nvSpPr>
        <p:spPr>
          <a:xfrm>
            <a:off x="952500" y="3528965"/>
            <a:ext cx="4927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variable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loss event,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set to 1/2 of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just before loss event</a:t>
            </a:r>
          </a:p>
        </p:txBody>
      </p:sp>
      <p:pic>
        <p:nvPicPr>
          <p:cNvPr id="79" name="Picture 7">
            <a:extLst>
              <a:ext uri="{FF2B5EF4-FFF2-40B4-BE49-F238E27FC236}">
                <a16:creationId xmlns:a16="http://schemas.microsoft.com/office/drawing/2014/main" id="{E19775EA-E95E-BD43-909F-67A89A00EF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1387" y="1889345"/>
            <a:ext cx="5536882" cy="31575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80" name="TextBox 1">
            <a:extLst>
              <a:ext uri="{FF2B5EF4-FFF2-40B4-BE49-F238E27FC236}">
                <a16:creationId xmlns:a16="http://schemas.microsoft.com/office/drawing/2014/main" id="{E6044695-E347-A24B-9CB7-78BC77131884}"/>
              </a:ext>
            </a:extLst>
          </p:cNvPr>
          <p:cNvSpPr txBox="1">
            <a:spLocks noChangeArrowheads="1"/>
          </p:cNvSpPr>
          <p:nvPr/>
        </p:nvSpPr>
        <p:spPr bwMode="auto">
          <a:xfrm>
            <a:off x="1143000" y="6135312"/>
            <a:ext cx="9756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7" name="Rectangle 6">
            <a:extLst>
              <a:ext uri="{FF2B5EF4-FFF2-40B4-BE49-F238E27FC236}">
                <a16:creationId xmlns:a16="http://schemas.microsoft.com/office/drawing/2014/main" id="{7E5A3F5F-F42B-F04E-BB6A-D57835C29067}"/>
              </a:ext>
            </a:extLst>
          </p:cNvPr>
          <p:cNvSpPr/>
          <p:nvPr/>
        </p:nvSpPr>
        <p:spPr>
          <a:xfrm>
            <a:off x="7851775" y="3825875"/>
            <a:ext cx="850900" cy="20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9BEA2FA-AD20-B940-ADBA-D9DD40684573}"/>
              </a:ext>
            </a:extLst>
          </p:cNvPr>
          <p:cNvSpPr/>
          <p:nvPr/>
        </p:nvSpPr>
        <p:spPr>
          <a:xfrm>
            <a:off x="7677150" y="3924300"/>
            <a:ext cx="8509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8" name="Picture 7">
            <a:extLst>
              <a:ext uri="{FF2B5EF4-FFF2-40B4-BE49-F238E27FC236}">
                <a16:creationId xmlns:a16="http://schemas.microsoft.com/office/drawing/2014/main" id="{D72B7EED-D8C9-284D-9A93-58D1D9D479F7}"/>
              </a:ext>
            </a:extLst>
          </p:cNvPr>
          <p:cNvPicPr>
            <a:picLocks noChangeAspect="1"/>
          </p:cNvPicPr>
          <p:nvPr/>
        </p:nvPicPr>
        <p:blipFill>
          <a:blip r:embed="rId4"/>
          <a:stretch>
            <a:fillRect/>
          </a:stretch>
        </p:blipFill>
        <p:spPr>
          <a:xfrm>
            <a:off x="10020300" y="3804496"/>
            <a:ext cx="1003300" cy="234103"/>
          </a:xfrm>
          <a:prstGeom prst="rect">
            <a:avLst/>
          </a:prstGeom>
        </p:spPr>
      </p:pic>
      <p:sp>
        <p:nvSpPr>
          <p:cNvPr id="4" name="Rectangle 3">
            <a:extLst>
              <a:ext uri="{FF2B5EF4-FFF2-40B4-BE49-F238E27FC236}">
                <a16:creationId xmlns:a16="http://schemas.microsoft.com/office/drawing/2014/main" id="{F9E33F83-60EE-F54A-B838-917BE2E70995}"/>
              </a:ext>
            </a:extLst>
          </p:cNvPr>
          <p:cNvSpPr/>
          <p:nvPr/>
        </p:nvSpPr>
        <p:spPr>
          <a:xfrm>
            <a:off x="9194800" y="1892300"/>
            <a:ext cx="2133600" cy="2489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7A184EDA-6A29-2941-A0A9-C122E26F942B}"/>
              </a:ext>
            </a:extLst>
          </p:cNvPr>
          <p:cNvSpPr txBox="1"/>
          <p:nvPr/>
        </p:nvSpPr>
        <p:spPr>
          <a:xfrm>
            <a:off x="9067800" y="2197100"/>
            <a:ext cx="3113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X</a:t>
            </a:r>
          </a:p>
        </p:txBody>
      </p:sp>
      <p:sp>
        <p:nvSpPr>
          <p:cNvPr id="13" name="Slide Number Placeholder 2">
            <a:extLst>
              <a:ext uri="{FF2B5EF4-FFF2-40B4-BE49-F238E27FC236}">
                <a16:creationId xmlns:a16="http://schemas.microsoft.com/office/drawing/2014/main" id="{632F645E-415D-7B49-B6B8-127E8033C5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128</a:t>
            </a:fld>
            <a:endParaRPr lang="en-US" dirty="0"/>
          </a:p>
        </p:txBody>
      </p:sp>
    </p:spTree>
    <p:extLst>
      <p:ext uri="{BB962C8B-B14F-4D97-AF65-F5344CB8AC3E}">
        <p14:creationId xmlns:p14="http://schemas.microsoft.com/office/powerpoint/2010/main" val="2721094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dissolve">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dissolve">
                                      <p:cBhvr>
                                        <p:cTn id="1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0" grpId="0"/>
      <p:bldP spid="4"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32962"/>
            <a:ext cx="11393310" cy="894622"/>
          </a:xfrm>
        </p:spPr>
        <p:txBody>
          <a:bodyPr>
            <a:normAutofit/>
          </a:bodyPr>
          <a:lstStyle/>
          <a:p>
            <a:r>
              <a:rPr lang="en-US" sz="4800" dirty="0"/>
              <a:t>Summary: TCP congestion control</a:t>
            </a:r>
            <a:endParaRPr lang="en-US" sz="4400" b="0" dirty="0"/>
          </a:p>
        </p:txBody>
      </p:sp>
      <p:grpSp>
        <p:nvGrpSpPr>
          <p:cNvPr id="120" name="Group 240">
            <a:extLst>
              <a:ext uri="{FF2B5EF4-FFF2-40B4-BE49-F238E27FC236}">
                <a16:creationId xmlns:a16="http://schemas.microsoft.com/office/drawing/2014/main" id="{B8318BC0-AA34-2B4C-984C-EDCF98015A80}"/>
              </a:ext>
            </a:extLst>
          </p:cNvPr>
          <p:cNvGrpSpPr>
            <a:grpSpLocks/>
          </p:cNvGrpSpPr>
          <p:nvPr/>
        </p:nvGrpSpPr>
        <p:grpSpPr bwMode="auto">
          <a:xfrm>
            <a:off x="5041900" y="2967944"/>
            <a:ext cx="2133600" cy="814388"/>
            <a:chOff x="2168" y="1727"/>
            <a:chExt cx="1344" cy="513"/>
          </a:xfrm>
        </p:grpSpPr>
        <p:grpSp>
          <p:nvGrpSpPr>
            <p:cNvPr id="121" name="Group 171">
              <a:extLst>
                <a:ext uri="{FF2B5EF4-FFF2-40B4-BE49-F238E27FC236}">
                  <a16:creationId xmlns:a16="http://schemas.microsoft.com/office/drawing/2014/main" id="{D4CA30E0-0C2B-AE49-9354-140DEA72FEEE}"/>
                </a:ext>
              </a:extLst>
            </p:cNvPr>
            <p:cNvGrpSpPr>
              <a:grpSpLocks/>
            </p:cNvGrpSpPr>
            <p:nvPr/>
          </p:nvGrpSpPr>
          <p:grpSpPr bwMode="auto">
            <a:xfrm>
              <a:off x="2280" y="1727"/>
              <a:ext cx="1118" cy="513"/>
              <a:chOff x="2280" y="1727"/>
              <a:chExt cx="1118" cy="513"/>
            </a:xfrm>
          </p:grpSpPr>
          <p:sp>
            <p:nvSpPr>
              <p:cNvPr id="123" name="Text Box 172">
                <a:extLst>
                  <a:ext uri="{FF2B5EF4-FFF2-40B4-BE49-F238E27FC236}">
                    <a16:creationId xmlns:a16="http://schemas.microsoft.com/office/drawing/2014/main" id="{FF8E7E11-C655-8C41-BFE2-A6DA1E48685D}"/>
                  </a:ext>
                </a:extLst>
              </p:cNvPr>
              <p:cNvSpPr txBox="1">
                <a:spLocks noChangeArrowheads="1"/>
              </p:cNvSpPr>
              <p:nvPr/>
            </p:nvSpPr>
            <p:spPr bwMode="auto">
              <a:xfrm>
                <a:off x="2640" y="1727"/>
                <a:ext cx="377"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24" name="Text Box 173">
                <a:extLst>
                  <a:ext uri="{FF2B5EF4-FFF2-40B4-BE49-F238E27FC236}">
                    <a16:creationId xmlns:a16="http://schemas.microsoft.com/office/drawing/2014/main" id="{781154BA-9409-094D-BBC4-EE21CE699661}"/>
                  </a:ext>
                </a:extLst>
              </p:cNvPr>
              <p:cNvSpPr txBox="1">
                <a:spLocks noChangeArrowheads="1"/>
              </p:cNvSpPr>
              <p:nvPr/>
            </p:nvSpPr>
            <p:spPr bwMode="auto">
              <a:xfrm>
                <a:off x="2280" y="1838"/>
                <a:ext cx="1118" cy="4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25" name="Line 174">
                <a:extLst>
                  <a:ext uri="{FF2B5EF4-FFF2-40B4-BE49-F238E27FC236}">
                    <a16:creationId xmlns:a16="http://schemas.microsoft.com/office/drawing/2014/main" id="{23E8607A-0151-5141-A774-0AAB4333ECA7}"/>
                  </a:ext>
                </a:extLst>
              </p:cNvPr>
              <p:cNvSpPr>
                <a:spLocks noChangeShapeType="1"/>
              </p:cNvSpPr>
              <p:nvPr/>
            </p:nvSpPr>
            <p:spPr bwMode="auto">
              <a:xfrm>
                <a:off x="2491" y="1857"/>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Line 175">
              <a:extLst>
                <a:ext uri="{FF2B5EF4-FFF2-40B4-BE49-F238E27FC236}">
                  <a16:creationId xmlns:a16="http://schemas.microsoft.com/office/drawing/2014/main" id="{480EB5CD-B8F2-AD46-B2D4-50FE6302F915}"/>
                </a:ext>
              </a:extLst>
            </p:cNvPr>
            <p:cNvSpPr>
              <a:spLocks noChangeShapeType="1"/>
            </p:cNvSpPr>
            <p:nvPr/>
          </p:nvSpPr>
          <p:spPr bwMode="auto">
            <a:xfrm flipH="1">
              <a:off x="2168" y="1734"/>
              <a:ext cx="1344"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6" name="Group 239">
            <a:extLst>
              <a:ext uri="{FF2B5EF4-FFF2-40B4-BE49-F238E27FC236}">
                <a16:creationId xmlns:a16="http://schemas.microsoft.com/office/drawing/2014/main" id="{BEAEB11D-18E7-8047-A552-B728B0628FCC}"/>
              </a:ext>
            </a:extLst>
          </p:cNvPr>
          <p:cNvGrpSpPr>
            <a:grpSpLocks/>
          </p:cNvGrpSpPr>
          <p:nvPr/>
        </p:nvGrpSpPr>
        <p:grpSpPr bwMode="auto">
          <a:xfrm>
            <a:off x="5072063" y="2491694"/>
            <a:ext cx="2133600" cy="398463"/>
            <a:chOff x="2187" y="1427"/>
            <a:chExt cx="1344" cy="251"/>
          </a:xfrm>
        </p:grpSpPr>
        <p:sp>
          <p:nvSpPr>
            <p:cNvPr id="127" name="Line 176">
              <a:extLst>
                <a:ext uri="{FF2B5EF4-FFF2-40B4-BE49-F238E27FC236}">
                  <a16:creationId xmlns:a16="http://schemas.microsoft.com/office/drawing/2014/main" id="{D84A4978-7B73-A04D-B0FB-C9ECAA3BFBCF}"/>
                </a:ext>
              </a:extLst>
            </p:cNvPr>
            <p:cNvSpPr>
              <a:spLocks noChangeShapeType="1"/>
            </p:cNvSpPr>
            <p:nvPr/>
          </p:nvSpPr>
          <p:spPr bwMode="auto">
            <a:xfrm flipH="1">
              <a:off x="2187" y="1673"/>
              <a:ext cx="1344" cy="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Text Box 181">
              <a:extLst>
                <a:ext uri="{FF2B5EF4-FFF2-40B4-BE49-F238E27FC236}">
                  <a16:creationId xmlns:a16="http://schemas.microsoft.com/office/drawing/2014/main" id="{67AF987A-C53D-534B-8C98-26557C3B4EEF}"/>
                </a:ext>
              </a:extLst>
            </p:cNvPr>
            <p:cNvSpPr txBox="1">
              <a:spLocks noChangeArrowheads="1"/>
            </p:cNvSpPr>
            <p:nvPr/>
          </p:nvSpPr>
          <p:spPr bwMode="auto">
            <a:xfrm>
              <a:off x="2740" y="1543"/>
              <a:ext cx="171" cy="13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Symbol" charset="0"/>
                  <a:ea typeface="ＭＳ Ｐゴシック" charset="0"/>
                  <a:cs typeface="+mn-cs"/>
                </a:rPr>
                <a:t>L</a:t>
              </a:r>
              <a:endParaRPr kumimoji="0" lang="en-US" sz="1200" b="0" i="0" u="none" strike="noStrike" kern="0" cap="none" spc="0" normalizeH="0" baseline="0" noProof="0" dirty="0">
                <a:ln>
                  <a:noFill/>
                </a:ln>
                <a:solidFill>
                  <a:srgbClr val="000000"/>
                </a:solidFill>
                <a:effectLst/>
                <a:uLnTx/>
                <a:uFillTx/>
                <a:latin typeface="Symbol" charset="0"/>
                <a:ea typeface="ＭＳ Ｐゴシック" charset="0"/>
                <a:cs typeface="+mn-cs"/>
              </a:endParaRPr>
            </a:p>
          </p:txBody>
        </p:sp>
        <p:sp>
          <p:nvSpPr>
            <p:cNvPr id="129" name="Line 182">
              <a:extLst>
                <a:ext uri="{FF2B5EF4-FFF2-40B4-BE49-F238E27FC236}">
                  <a16:creationId xmlns:a16="http://schemas.microsoft.com/office/drawing/2014/main" id="{0957FCBB-06D0-8E4D-B983-2F2597BDE03A}"/>
                </a:ext>
              </a:extLst>
            </p:cNvPr>
            <p:cNvSpPr>
              <a:spLocks noChangeShapeType="1"/>
            </p:cNvSpPr>
            <p:nvPr/>
          </p:nvSpPr>
          <p:spPr bwMode="auto">
            <a:xfrm>
              <a:off x="2572" y="15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0" name="Group 183">
              <a:extLst>
                <a:ext uri="{FF2B5EF4-FFF2-40B4-BE49-F238E27FC236}">
                  <a16:creationId xmlns:a16="http://schemas.microsoft.com/office/drawing/2014/main" id="{2A6AF175-C9C0-F044-9ECF-011972294E6E}"/>
                </a:ext>
              </a:extLst>
            </p:cNvPr>
            <p:cNvGrpSpPr>
              <a:grpSpLocks/>
            </p:cNvGrpSpPr>
            <p:nvPr/>
          </p:nvGrpSpPr>
          <p:grpSpPr bwMode="auto">
            <a:xfrm>
              <a:off x="2486" y="1427"/>
              <a:ext cx="694" cy="154"/>
              <a:chOff x="2458" y="1450"/>
              <a:chExt cx="694" cy="154"/>
            </a:xfrm>
          </p:grpSpPr>
          <p:sp>
            <p:nvSpPr>
              <p:cNvPr id="131" name="Text Box 184">
                <a:extLst>
                  <a:ext uri="{FF2B5EF4-FFF2-40B4-BE49-F238E27FC236}">
                    <a16:creationId xmlns:a16="http://schemas.microsoft.com/office/drawing/2014/main" id="{69E43EDF-5B05-364C-B439-379F8E8E5464}"/>
                  </a:ext>
                </a:extLst>
              </p:cNvPr>
              <p:cNvSpPr txBox="1">
                <a:spLocks noChangeArrowheads="1"/>
              </p:cNvSpPr>
              <p:nvPr/>
            </p:nvSpPr>
            <p:spPr bwMode="auto">
              <a:xfrm>
                <a:off x="2458" y="1450"/>
                <a:ext cx="69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&gt; ssthresh</a:t>
                </a:r>
              </a:p>
            </p:txBody>
          </p:sp>
          <p:sp>
            <p:nvSpPr>
              <p:cNvPr id="132" name="Line 185">
                <a:extLst>
                  <a:ext uri="{FF2B5EF4-FFF2-40B4-BE49-F238E27FC236}">
                    <a16:creationId xmlns:a16="http://schemas.microsoft.com/office/drawing/2014/main" id="{A2D5E496-DCFA-5A4E-A6E2-D2DB456893C6}"/>
                  </a:ext>
                </a:extLst>
              </p:cNvPr>
              <p:cNvSpPr>
                <a:spLocks noChangeShapeType="1"/>
              </p:cNvSpPr>
              <p:nvPr/>
            </p:nvSpPr>
            <p:spPr bwMode="auto">
              <a:xfrm>
                <a:off x="2724" y="1557"/>
                <a:ext cx="4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33" name="Group 242">
            <a:extLst>
              <a:ext uri="{FF2B5EF4-FFF2-40B4-BE49-F238E27FC236}">
                <a16:creationId xmlns:a16="http://schemas.microsoft.com/office/drawing/2014/main" id="{47D1413D-A42B-8C4D-87CC-5C4E42849EFF}"/>
              </a:ext>
            </a:extLst>
          </p:cNvPr>
          <p:cNvGrpSpPr>
            <a:grpSpLocks/>
          </p:cNvGrpSpPr>
          <p:nvPr/>
        </p:nvGrpSpPr>
        <p:grpSpPr bwMode="auto">
          <a:xfrm>
            <a:off x="7118352" y="1429657"/>
            <a:ext cx="2782888" cy="2398713"/>
            <a:chOff x="3476" y="786"/>
            <a:chExt cx="1753" cy="1511"/>
          </a:xfrm>
        </p:grpSpPr>
        <p:grpSp>
          <p:nvGrpSpPr>
            <p:cNvPr id="134" name="Group 164">
              <a:extLst>
                <a:ext uri="{FF2B5EF4-FFF2-40B4-BE49-F238E27FC236}">
                  <a16:creationId xmlns:a16="http://schemas.microsoft.com/office/drawing/2014/main" id="{13A111CF-BAAF-8E4B-AD25-85FAC5339083}"/>
                </a:ext>
              </a:extLst>
            </p:cNvPr>
            <p:cNvGrpSpPr>
              <a:grpSpLocks/>
            </p:cNvGrpSpPr>
            <p:nvPr/>
          </p:nvGrpSpPr>
          <p:grpSpPr bwMode="auto">
            <a:xfrm>
              <a:off x="3602" y="1330"/>
              <a:ext cx="820" cy="754"/>
              <a:chOff x="2293" y="2021"/>
              <a:chExt cx="820" cy="754"/>
            </a:xfrm>
          </p:grpSpPr>
          <p:sp>
            <p:nvSpPr>
              <p:cNvPr id="146" name="Oval 165">
                <a:extLst>
                  <a:ext uri="{FF2B5EF4-FFF2-40B4-BE49-F238E27FC236}">
                    <a16:creationId xmlns:a16="http://schemas.microsoft.com/office/drawing/2014/main" id="{7F0D89BB-B178-8C49-9E72-934506A1B7F6}"/>
                  </a:ext>
                </a:extLst>
              </p:cNvPr>
              <p:cNvSpPr>
                <a:spLocks noChangeArrowheads="1"/>
              </p:cNvSpPr>
              <p:nvPr/>
            </p:nvSpPr>
            <p:spPr bwMode="auto">
              <a:xfrm>
                <a:off x="2293" y="2021"/>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66">
                <a:extLst>
                  <a:ext uri="{FF2B5EF4-FFF2-40B4-BE49-F238E27FC236}">
                    <a16:creationId xmlns:a16="http://schemas.microsoft.com/office/drawing/2014/main" id="{F3628968-0539-164C-B861-FF5A02A982C1}"/>
                  </a:ext>
                </a:extLst>
              </p:cNvPr>
              <p:cNvSpPr txBox="1">
                <a:spLocks noChangeArrowheads="1"/>
              </p:cNvSpPr>
              <p:nvPr/>
            </p:nvSpPr>
            <p:spPr bwMode="auto">
              <a:xfrm>
                <a:off x="2294" y="2191"/>
                <a:ext cx="819" cy="5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congestion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avoidance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35" name="Group 190">
              <a:extLst>
                <a:ext uri="{FF2B5EF4-FFF2-40B4-BE49-F238E27FC236}">
                  <a16:creationId xmlns:a16="http://schemas.microsoft.com/office/drawing/2014/main" id="{412FAE5F-D426-1A41-B7BF-9EE3E24BCCB0}"/>
                </a:ext>
              </a:extLst>
            </p:cNvPr>
            <p:cNvGrpSpPr>
              <a:grpSpLocks/>
            </p:cNvGrpSpPr>
            <p:nvPr/>
          </p:nvGrpSpPr>
          <p:grpSpPr bwMode="auto">
            <a:xfrm>
              <a:off x="3476" y="786"/>
              <a:ext cx="1496" cy="575"/>
              <a:chOff x="3499" y="904"/>
              <a:chExt cx="1496" cy="575"/>
            </a:xfrm>
          </p:grpSpPr>
          <p:sp>
            <p:nvSpPr>
              <p:cNvPr id="142" name="Text Box 191">
                <a:extLst>
                  <a:ext uri="{FF2B5EF4-FFF2-40B4-BE49-F238E27FC236}">
                    <a16:creationId xmlns:a16="http://schemas.microsoft.com/office/drawing/2014/main" id="{44318C88-BEF5-7146-AE72-3458C7D49FA3}"/>
                  </a:ext>
                </a:extLst>
              </p:cNvPr>
              <p:cNvSpPr txBox="1">
                <a:spLocks noChangeArrowheads="1"/>
              </p:cNvSpPr>
              <p:nvPr/>
            </p:nvSpPr>
            <p:spPr bwMode="auto">
              <a:xfrm>
                <a:off x="3499" y="103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    (MSS/cwnd)</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192">
                <a:extLst>
                  <a:ext uri="{FF2B5EF4-FFF2-40B4-BE49-F238E27FC236}">
                    <a16:creationId xmlns:a16="http://schemas.microsoft.com/office/drawing/2014/main" id="{EC5DE775-BD59-2247-B940-402844468A0E}"/>
                  </a:ext>
                </a:extLst>
              </p:cNvPr>
              <p:cNvSpPr>
                <a:spLocks noChangeShapeType="1"/>
              </p:cNvSpPr>
              <p:nvPr/>
            </p:nvSpPr>
            <p:spPr bwMode="auto">
              <a:xfrm>
                <a:off x="3976" y="10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Text Box 193">
                <a:extLst>
                  <a:ext uri="{FF2B5EF4-FFF2-40B4-BE49-F238E27FC236}">
                    <a16:creationId xmlns:a16="http://schemas.microsoft.com/office/drawing/2014/main" id="{1953AC16-16E8-A640-AE22-73DEDE1D319F}"/>
                  </a:ext>
                </a:extLst>
              </p:cNvPr>
              <p:cNvSpPr txBox="1">
                <a:spLocks noChangeArrowheads="1"/>
              </p:cNvSpPr>
              <p:nvPr/>
            </p:nvSpPr>
            <p:spPr bwMode="auto">
              <a:xfrm>
                <a:off x="3974" y="915"/>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sp>
            <p:nvSpPr>
              <p:cNvPr id="145" name="Text Box 194">
                <a:extLst>
                  <a:ext uri="{FF2B5EF4-FFF2-40B4-BE49-F238E27FC236}">
                    <a16:creationId xmlns:a16="http://schemas.microsoft.com/office/drawing/2014/main" id="{6D1C4C5E-4778-AF4F-812A-CF7A44F21F90}"/>
                  </a:ext>
                </a:extLst>
              </p:cNvPr>
              <p:cNvSpPr txBox="1">
                <a:spLocks noChangeArrowheads="1"/>
              </p:cNvSpPr>
              <p:nvPr/>
            </p:nvSpPr>
            <p:spPr bwMode="auto">
              <a:xfrm>
                <a:off x="4311" y="904"/>
                <a:ext cx="173"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Times New Roman" charset="0"/>
                    <a:ea typeface="ＭＳ Ｐゴシック" charset="0"/>
                    <a:cs typeface="+mn-cs"/>
                  </a:rPr>
                  <a:t>.</a:t>
                </a:r>
              </a:p>
            </p:txBody>
          </p:sp>
        </p:grpSp>
        <p:sp>
          <p:nvSpPr>
            <p:cNvPr id="136" name="Freeform 195">
              <a:extLst>
                <a:ext uri="{FF2B5EF4-FFF2-40B4-BE49-F238E27FC236}">
                  <a16:creationId xmlns:a16="http://schemas.microsoft.com/office/drawing/2014/main" id="{4555525A-5282-E944-A402-41F5363AC763}"/>
                </a:ext>
              </a:extLst>
            </p:cNvPr>
            <p:cNvSpPr>
              <a:spLocks/>
            </p:cNvSpPr>
            <p:nvPr/>
          </p:nvSpPr>
          <p:spPr bwMode="auto">
            <a:xfrm rot="9705213">
              <a:off x="4212" y="1145"/>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7" name="Group 196">
              <a:extLst>
                <a:ext uri="{FF2B5EF4-FFF2-40B4-BE49-F238E27FC236}">
                  <a16:creationId xmlns:a16="http://schemas.microsoft.com/office/drawing/2014/main" id="{9CDBEBEA-0E7D-9247-8F24-8B50DDA32181}"/>
                </a:ext>
              </a:extLst>
            </p:cNvPr>
            <p:cNvGrpSpPr>
              <a:grpSpLocks/>
            </p:cNvGrpSpPr>
            <p:nvPr/>
          </p:nvGrpSpPr>
          <p:grpSpPr bwMode="auto">
            <a:xfrm>
              <a:off x="4489" y="1909"/>
              <a:ext cx="740" cy="388"/>
              <a:chOff x="4254" y="2922"/>
              <a:chExt cx="740" cy="388"/>
            </a:xfrm>
          </p:grpSpPr>
          <p:sp>
            <p:nvSpPr>
              <p:cNvPr id="139" name="Text Box 197">
                <a:extLst>
                  <a:ext uri="{FF2B5EF4-FFF2-40B4-BE49-F238E27FC236}">
                    <a16:creationId xmlns:a16="http://schemas.microsoft.com/office/drawing/2014/main" id="{F06A41AE-1F53-A747-A3E3-199BBEDFE50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0" name="Line 198">
                <a:extLst>
                  <a:ext uri="{FF2B5EF4-FFF2-40B4-BE49-F238E27FC236}">
                    <a16:creationId xmlns:a16="http://schemas.microsoft.com/office/drawing/2014/main" id="{115AC45A-332B-D742-9EEC-EB81F6D52D7E}"/>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1" name="Text Box 199">
                <a:extLst>
                  <a:ext uri="{FF2B5EF4-FFF2-40B4-BE49-F238E27FC236}">
                    <a16:creationId xmlns:a16="http://schemas.microsoft.com/office/drawing/2014/main" id="{6DB70069-D3EA-8747-8535-1CB6F40D1A8C}"/>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38" name="Freeform 200">
              <a:extLst>
                <a:ext uri="{FF2B5EF4-FFF2-40B4-BE49-F238E27FC236}">
                  <a16:creationId xmlns:a16="http://schemas.microsoft.com/office/drawing/2014/main" id="{0667830A-5A65-8243-809F-9599C40170E1}"/>
                </a:ext>
              </a:extLst>
            </p:cNvPr>
            <p:cNvSpPr>
              <a:spLocks/>
            </p:cNvSpPr>
            <p:nvPr/>
          </p:nvSpPr>
          <p:spPr bwMode="auto">
            <a:xfrm rot="-7516021">
              <a:off x="4290" y="1673"/>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8" name="Group 245">
            <a:extLst>
              <a:ext uri="{FF2B5EF4-FFF2-40B4-BE49-F238E27FC236}">
                <a16:creationId xmlns:a16="http://schemas.microsoft.com/office/drawing/2014/main" id="{A4501140-CDDA-3942-AE4A-E53AAAF4E371}"/>
              </a:ext>
            </a:extLst>
          </p:cNvPr>
          <p:cNvGrpSpPr>
            <a:grpSpLocks/>
          </p:cNvGrpSpPr>
          <p:nvPr/>
        </p:nvGrpSpPr>
        <p:grpSpPr bwMode="auto">
          <a:xfrm>
            <a:off x="5629276" y="4880882"/>
            <a:ext cx="3417888" cy="1758950"/>
            <a:chOff x="2538" y="2960"/>
            <a:chExt cx="2153" cy="1108"/>
          </a:xfrm>
        </p:grpSpPr>
        <p:grpSp>
          <p:nvGrpSpPr>
            <p:cNvPr id="149" name="Group 167">
              <a:extLst>
                <a:ext uri="{FF2B5EF4-FFF2-40B4-BE49-F238E27FC236}">
                  <a16:creationId xmlns:a16="http://schemas.microsoft.com/office/drawing/2014/main" id="{46D8A9BF-D4B3-C644-AE85-4535FBE08039}"/>
                </a:ext>
              </a:extLst>
            </p:cNvPr>
            <p:cNvGrpSpPr>
              <a:grpSpLocks/>
            </p:cNvGrpSpPr>
            <p:nvPr/>
          </p:nvGrpSpPr>
          <p:grpSpPr bwMode="auto">
            <a:xfrm>
              <a:off x="2538" y="2960"/>
              <a:ext cx="800" cy="767"/>
              <a:chOff x="2454" y="3045"/>
              <a:chExt cx="800" cy="767"/>
            </a:xfrm>
          </p:grpSpPr>
          <p:sp>
            <p:nvSpPr>
              <p:cNvPr id="155" name="Oval 168">
                <a:extLst>
                  <a:ext uri="{FF2B5EF4-FFF2-40B4-BE49-F238E27FC236}">
                    <a16:creationId xmlns:a16="http://schemas.microsoft.com/office/drawing/2014/main" id="{273F9850-79CE-154A-9851-2B7886F3C1C7}"/>
                  </a:ext>
                </a:extLst>
              </p:cNvPr>
              <p:cNvSpPr>
                <a:spLocks noChangeArrowheads="1"/>
              </p:cNvSpPr>
              <p:nvPr/>
            </p:nvSpPr>
            <p:spPr bwMode="auto">
              <a:xfrm>
                <a:off x="2454" y="3045"/>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169">
                <a:extLst>
                  <a:ext uri="{FF2B5EF4-FFF2-40B4-BE49-F238E27FC236}">
                    <a16:creationId xmlns:a16="http://schemas.microsoft.com/office/drawing/2014/main" id="{65FE5AF3-8597-FF4E-9C17-4817547D4F5B}"/>
                  </a:ext>
                </a:extLst>
              </p:cNvPr>
              <p:cNvSpPr txBox="1">
                <a:spLocks noChangeArrowheads="1"/>
              </p:cNvSpPr>
              <p:nvPr/>
            </p:nvSpPr>
            <p:spPr bwMode="auto">
              <a:xfrm>
                <a:off x="2794" y="3212"/>
                <a:ext cx="161"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7" name="Text Box 170">
                <a:extLst>
                  <a:ext uri="{FF2B5EF4-FFF2-40B4-BE49-F238E27FC236}">
                    <a16:creationId xmlns:a16="http://schemas.microsoft.com/office/drawing/2014/main" id="{8568651A-5DCC-2242-83C4-76AC890933BB}"/>
                  </a:ext>
                </a:extLst>
              </p:cNvPr>
              <p:cNvSpPr txBox="1">
                <a:spLocks noChangeArrowheads="1"/>
              </p:cNvSpPr>
              <p:nvPr/>
            </p:nvSpPr>
            <p:spPr bwMode="auto">
              <a:xfrm>
                <a:off x="2466" y="3172"/>
                <a:ext cx="780" cy="6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fast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recovery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50" name="Freeform 220">
              <a:extLst>
                <a:ext uri="{FF2B5EF4-FFF2-40B4-BE49-F238E27FC236}">
                  <a16:creationId xmlns:a16="http://schemas.microsoft.com/office/drawing/2014/main" id="{F8DEF746-89F6-DD47-9435-3FA8C98BF657}"/>
                </a:ext>
              </a:extLst>
            </p:cNvPr>
            <p:cNvSpPr>
              <a:spLocks/>
            </p:cNvSpPr>
            <p:nvPr/>
          </p:nvSpPr>
          <p:spPr bwMode="auto">
            <a:xfrm>
              <a:off x="2775" y="3708"/>
              <a:ext cx="384" cy="161"/>
            </a:xfrm>
            <a:custGeom>
              <a:avLst/>
              <a:gdLst>
                <a:gd name="T0" fmla="*/ 317 w 384"/>
                <a:gd name="T1" fmla="*/ 0 h 161"/>
                <a:gd name="T2" fmla="*/ 189 w 384"/>
                <a:gd name="T3" fmla="*/ 155 h 161"/>
                <a:gd name="T4" fmla="*/ 59 w 384"/>
                <a:gd name="T5" fmla="*/ 13 h 161"/>
                <a:gd name="T6" fmla="*/ 0 60000 65536"/>
                <a:gd name="T7" fmla="*/ 0 60000 65536"/>
                <a:gd name="T8" fmla="*/ 0 60000 65536"/>
              </a:gdLst>
              <a:ahLst/>
              <a:cxnLst>
                <a:cxn ang="T6">
                  <a:pos x="T0" y="T1"/>
                </a:cxn>
                <a:cxn ang="T7">
                  <a:pos x="T2" y="T3"/>
                </a:cxn>
                <a:cxn ang="T8">
                  <a:pos x="T4" y="T5"/>
                </a:cxn>
              </a:cxnLst>
              <a:rect l="0" t="0" r="r" b="b"/>
              <a:pathLst>
                <a:path w="384" h="161">
                  <a:moveTo>
                    <a:pt x="317" y="0"/>
                  </a:moveTo>
                  <a:cubicBezTo>
                    <a:pt x="384" y="42"/>
                    <a:pt x="378" y="149"/>
                    <a:pt x="189" y="155"/>
                  </a:cubicBezTo>
                  <a:cubicBezTo>
                    <a:pt x="0" y="161"/>
                    <a:pt x="3" y="87"/>
                    <a:pt x="59" y="13"/>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1" name="Group 221">
              <a:extLst>
                <a:ext uri="{FF2B5EF4-FFF2-40B4-BE49-F238E27FC236}">
                  <a16:creationId xmlns:a16="http://schemas.microsoft.com/office/drawing/2014/main" id="{08A0BDC4-47ED-4A4B-B585-919226219BA9}"/>
                </a:ext>
              </a:extLst>
            </p:cNvPr>
            <p:cNvGrpSpPr>
              <a:grpSpLocks/>
            </p:cNvGrpSpPr>
            <p:nvPr/>
          </p:nvGrpSpPr>
          <p:grpSpPr bwMode="auto">
            <a:xfrm>
              <a:off x="3191" y="3592"/>
              <a:ext cx="1500" cy="476"/>
              <a:chOff x="3542" y="3496"/>
              <a:chExt cx="1500" cy="476"/>
            </a:xfrm>
          </p:grpSpPr>
          <p:sp>
            <p:nvSpPr>
              <p:cNvPr id="152" name="Text Box 222">
                <a:extLst>
                  <a:ext uri="{FF2B5EF4-FFF2-40B4-BE49-F238E27FC236}">
                    <a16:creationId xmlns:a16="http://schemas.microsoft.com/office/drawing/2014/main" id="{762B1387-82BE-254E-BE6D-368525568202}"/>
                  </a:ext>
                </a:extLst>
              </p:cNvPr>
              <p:cNvSpPr txBox="1">
                <a:spLocks noChangeArrowheads="1"/>
              </p:cNvSpPr>
              <p:nvPr/>
            </p:nvSpPr>
            <p:spPr bwMode="auto">
              <a:xfrm>
                <a:off x="3546" y="3632"/>
                <a:ext cx="1496" cy="3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53" name="Line 223">
                <a:extLst>
                  <a:ext uri="{FF2B5EF4-FFF2-40B4-BE49-F238E27FC236}">
                    <a16:creationId xmlns:a16="http://schemas.microsoft.com/office/drawing/2014/main" id="{7058B91F-5545-B546-B726-F5E1D8BF2C19}"/>
                  </a:ext>
                </a:extLst>
              </p:cNvPr>
              <p:cNvSpPr>
                <a:spLocks noChangeShapeType="1"/>
              </p:cNvSpPr>
              <p:nvPr/>
            </p:nvSpPr>
            <p:spPr bwMode="auto">
              <a:xfrm>
                <a:off x="3600" y="364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Text Box 224">
                <a:extLst>
                  <a:ext uri="{FF2B5EF4-FFF2-40B4-BE49-F238E27FC236}">
                    <a16:creationId xmlns:a16="http://schemas.microsoft.com/office/drawing/2014/main" id="{873E83D9-4BDC-D54A-8707-136424BDB746}"/>
                  </a:ext>
                </a:extLst>
              </p:cNvPr>
              <p:cNvSpPr txBox="1">
                <a:spLocks noChangeArrowheads="1"/>
              </p:cNvSpPr>
              <p:nvPr/>
            </p:nvSpPr>
            <p:spPr bwMode="auto">
              <a:xfrm>
                <a:off x="3542" y="3496"/>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grpSp>
      <p:grpSp>
        <p:nvGrpSpPr>
          <p:cNvPr id="158" name="Group 246">
            <a:extLst>
              <a:ext uri="{FF2B5EF4-FFF2-40B4-BE49-F238E27FC236}">
                <a16:creationId xmlns:a16="http://schemas.microsoft.com/office/drawing/2014/main" id="{B8412DA9-2D8B-1C4F-98FE-2059BE8959A7}"/>
              </a:ext>
            </a:extLst>
          </p:cNvPr>
          <p:cNvGrpSpPr>
            <a:grpSpLocks/>
          </p:cNvGrpSpPr>
          <p:nvPr/>
        </p:nvGrpSpPr>
        <p:grpSpPr bwMode="auto">
          <a:xfrm>
            <a:off x="2427288" y="3561671"/>
            <a:ext cx="3935413" cy="1974851"/>
            <a:chOff x="521" y="2129"/>
            <a:chExt cx="2479" cy="1244"/>
          </a:xfrm>
        </p:grpSpPr>
        <p:grpSp>
          <p:nvGrpSpPr>
            <p:cNvPr id="159" name="Group 212">
              <a:extLst>
                <a:ext uri="{FF2B5EF4-FFF2-40B4-BE49-F238E27FC236}">
                  <a16:creationId xmlns:a16="http://schemas.microsoft.com/office/drawing/2014/main" id="{27BF6FD0-68C2-FB4E-A15D-7CB02F36F01F}"/>
                </a:ext>
              </a:extLst>
            </p:cNvPr>
            <p:cNvGrpSpPr>
              <a:grpSpLocks/>
            </p:cNvGrpSpPr>
            <p:nvPr/>
          </p:nvGrpSpPr>
          <p:grpSpPr bwMode="auto">
            <a:xfrm>
              <a:off x="521" y="2818"/>
              <a:ext cx="1205" cy="555"/>
              <a:chOff x="380" y="2768"/>
              <a:chExt cx="1205" cy="555"/>
            </a:xfrm>
          </p:grpSpPr>
          <p:sp>
            <p:nvSpPr>
              <p:cNvPr id="166" name="Text Box 213">
                <a:extLst>
                  <a:ext uri="{FF2B5EF4-FFF2-40B4-BE49-F238E27FC236}">
                    <a16:creationId xmlns:a16="http://schemas.microsoft.com/office/drawing/2014/main" id="{835AEF52-2056-D649-96F2-661A3FFF1842}"/>
                  </a:ext>
                </a:extLst>
              </p:cNvPr>
              <p:cNvSpPr txBox="1">
                <a:spLocks noChangeArrowheads="1"/>
              </p:cNvSpPr>
              <p:nvPr/>
            </p:nvSpPr>
            <p:spPr bwMode="auto">
              <a:xfrm>
                <a:off x="380" y="2912"/>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67" name="Line 214">
                <a:extLst>
                  <a:ext uri="{FF2B5EF4-FFF2-40B4-BE49-F238E27FC236}">
                    <a16:creationId xmlns:a16="http://schemas.microsoft.com/office/drawing/2014/main" id="{B74A6245-A319-3040-A4FD-51070B302938}"/>
                  </a:ext>
                </a:extLst>
              </p:cNvPr>
              <p:cNvSpPr>
                <a:spLocks noChangeShapeType="1"/>
              </p:cNvSpPr>
              <p:nvPr/>
            </p:nvSpPr>
            <p:spPr bwMode="auto">
              <a:xfrm>
                <a:off x="925" y="2913"/>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8" name="Text Box 215">
                <a:extLst>
                  <a:ext uri="{FF2B5EF4-FFF2-40B4-BE49-F238E27FC236}">
                    <a16:creationId xmlns:a16="http://schemas.microsoft.com/office/drawing/2014/main" id="{92605A3F-01AC-204D-8ED2-AD8024A64FEF}"/>
                  </a:ext>
                </a:extLst>
              </p:cNvPr>
              <p:cNvSpPr txBox="1">
                <a:spLocks noChangeArrowheads="1"/>
              </p:cNvSpPr>
              <p:nvPr/>
            </p:nvSpPr>
            <p:spPr bwMode="auto">
              <a:xfrm>
                <a:off x="751" y="2768"/>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grpSp>
          <p:nvGrpSpPr>
            <p:cNvPr id="160" name="Group 216">
              <a:extLst>
                <a:ext uri="{FF2B5EF4-FFF2-40B4-BE49-F238E27FC236}">
                  <a16:creationId xmlns:a16="http://schemas.microsoft.com/office/drawing/2014/main" id="{88759198-6D7D-C744-9B7A-D82AAED1D6D1}"/>
                </a:ext>
              </a:extLst>
            </p:cNvPr>
            <p:cNvGrpSpPr>
              <a:grpSpLocks/>
            </p:cNvGrpSpPr>
            <p:nvPr/>
          </p:nvGrpSpPr>
          <p:grpSpPr bwMode="auto">
            <a:xfrm>
              <a:off x="1813" y="2454"/>
              <a:ext cx="1187" cy="550"/>
              <a:chOff x="419" y="2872"/>
              <a:chExt cx="1187" cy="550"/>
            </a:xfrm>
          </p:grpSpPr>
          <p:sp>
            <p:nvSpPr>
              <p:cNvPr id="163" name="Text Box 217">
                <a:extLst>
                  <a:ext uri="{FF2B5EF4-FFF2-40B4-BE49-F238E27FC236}">
                    <a16:creationId xmlns:a16="http://schemas.microsoft.com/office/drawing/2014/main" id="{D4ECB2B0-F2B3-8C4C-BF69-C3CF649CE91F}"/>
                  </a:ext>
                </a:extLst>
              </p:cNvPr>
              <p:cNvSpPr txBox="1">
                <a:spLocks noChangeArrowheads="1"/>
              </p:cNvSpPr>
              <p:nvPr/>
            </p:nvSpPr>
            <p:spPr bwMode="auto">
              <a:xfrm>
                <a:off x="439" y="2872"/>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64" name="Text Box 218">
                <a:extLst>
                  <a:ext uri="{FF2B5EF4-FFF2-40B4-BE49-F238E27FC236}">
                    <a16:creationId xmlns:a16="http://schemas.microsoft.com/office/drawing/2014/main" id="{2E4D69CF-352A-DC44-ABC3-90682BEB8316}"/>
                  </a:ext>
                </a:extLst>
              </p:cNvPr>
              <p:cNvSpPr txBox="1">
                <a:spLocks noChangeArrowheads="1"/>
              </p:cNvSpPr>
              <p:nvPr/>
            </p:nvSpPr>
            <p:spPr bwMode="auto">
              <a:xfrm>
                <a:off x="419" y="2989"/>
                <a:ext cx="1187" cy="4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65" name="Line 219">
                <a:extLst>
                  <a:ext uri="{FF2B5EF4-FFF2-40B4-BE49-F238E27FC236}">
                    <a16:creationId xmlns:a16="http://schemas.microsoft.com/office/drawing/2014/main" id="{87674141-7331-B643-AD17-90663185B00F}"/>
                  </a:ext>
                </a:extLst>
              </p:cNvPr>
              <p:cNvSpPr>
                <a:spLocks noChangeShapeType="1"/>
              </p:cNvSpPr>
              <p:nvPr/>
            </p:nvSpPr>
            <p:spPr bwMode="auto">
              <a:xfrm>
                <a:off x="471" y="3014"/>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1" name="Freeform 225">
              <a:extLst>
                <a:ext uri="{FF2B5EF4-FFF2-40B4-BE49-F238E27FC236}">
                  <a16:creationId xmlns:a16="http://schemas.microsoft.com/office/drawing/2014/main" id="{D0DF1910-CE16-3F4D-82F2-6661A32D1366}"/>
                </a:ext>
              </a:extLst>
            </p:cNvPr>
            <p:cNvSpPr>
              <a:spLocks/>
            </p:cNvSpPr>
            <p:nvPr/>
          </p:nvSpPr>
          <p:spPr bwMode="auto">
            <a:xfrm>
              <a:off x="1722" y="2129"/>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Freeform 226">
              <a:extLst>
                <a:ext uri="{FF2B5EF4-FFF2-40B4-BE49-F238E27FC236}">
                  <a16:creationId xmlns:a16="http://schemas.microsoft.com/office/drawing/2014/main" id="{C17ADBE8-E774-7744-9627-8EAB27CA498D}"/>
                </a:ext>
              </a:extLst>
            </p:cNvPr>
            <p:cNvSpPr>
              <a:spLocks/>
            </p:cNvSpPr>
            <p:nvPr/>
          </p:nvSpPr>
          <p:spPr bwMode="auto">
            <a:xfrm>
              <a:off x="1791" y="2146"/>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9" name="Group 244">
            <a:extLst>
              <a:ext uri="{FF2B5EF4-FFF2-40B4-BE49-F238E27FC236}">
                <a16:creationId xmlns:a16="http://schemas.microsoft.com/office/drawing/2014/main" id="{E119EB29-C756-884C-BC38-0987621B3623}"/>
              </a:ext>
            </a:extLst>
          </p:cNvPr>
          <p:cNvGrpSpPr>
            <a:grpSpLocks/>
          </p:cNvGrpSpPr>
          <p:nvPr/>
        </p:nvGrpSpPr>
        <p:grpSpPr bwMode="auto">
          <a:xfrm>
            <a:off x="6951663" y="3553730"/>
            <a:ext cx="3022600" cy="1963736"/>
            <a:chOff x="3371" y="2124"/>
            <a:chExt cx="1904" cy="1237"/>
          </a:xfrm>
        </p:grpSpPr>
        <p:grpSp>
          <p:nvGrpSpPr>
            <p:cNvPr id="170" name="Group 201">
              <a:extLst>
                <a:ext uri="{FF2B5EF4-FFF2-40B4-BE49-F238E27FC236}">
                  <a16:creationId xmlns:a16="http://schemas.microsoft.com/office/drawing/2014/main" id="{4F04D146-2950-3743-B95A-4A10EFF81DB8}"/>
                </a:ext>
              </a:extLst>
            </p:cNvPr>
            <p:cNvGrpSpPr>
              <a:grpSpLocks/>
            </p:cNvGrpSpPr>
            <p:nvPr/>
          </p:nvGrpSpPr>
          <p:grpSpPr bwMode="auto">
            <a:xfrm>
              <a:off x="4120" y="2796"/>
              <a:ext cx="1155" cy="565"/>
              <a:chOff x="4142" y="2802"/>
              <a:chExt cx="1155" cy="565"/>
            </a:xfrm>
          </p:grpSpPr>
          <p:sp>
            <p:nvSpPr>
              <p:cNvPr id="172" name="Text Box 202">
                <a:extLst>
                  <a:ext uri="{FF2B5EF4-FFF2-40B4-BE49-F238E27FC236}">
                    <a16:creationId xmlns:a16="http://schemas.microsoft.com/office/drawing/2014/main" id="{9BFA3E4C-9614-6849-975F-C63A42B8182A}"/>
                  </a:ext>
                </a:extLst>
              </p:cNvPr>
              <p:cNvSpPr txBox="1">
                <a:spLocks noChangeArrowheads="1"/>
              </p:cNvSpPr>
              <p:nvPr/>
            </p:nvSpPr>
            <p:spPr bwMode="auto">
              <a:xfrm>
                <a:off x="4142" y="2956"/>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3" name="Line 203">
                <a:extLst>
                  <a:ext uri="{FF2B5EF4-FFF2-40B4-BE49-F238E27FC236}">
                    <a16:creationId xmlns:a16="http://schemas.microsoft.com/office/drawing/2014/main" id="{0526C70E-8831-7543-9A32-E54939C11F43}"/>
                  </a:ext>
                </a:extLst>
              </p:cNvPr>
              <p:cNvSpPr>
                <a:spLocks noChangeShapeType="1"/>
              </p:cNvSpPr>
              <p:nvPr/>
            </p:nvSpPr>
            <p:spPr bwMode="auto">
              <a:xfrm>
                <a:off x="4211" y="2950"/>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Text Box 204">
                <a:extLst>
                  <a:ext uri="{FF2B5EF4-FFF2-40B4-BE49-F238E27FC236}">
                    <a16:creationId xmlns:a16="http://schemas.microsoft.com/office/drawing/2014/main" id="{E38A96D7-56D5-4A41-8FD3-090F5E1651F2}"/>
                  </a:ext>
                </a:extLst>
              </p:cNvPr>
              <p:cNvSpPr txBox="1">
                <a:spLocks noChangeArrowheads="1"/>
              </p:cNvSpPr>
              <p:nvPr/>
            </p:nvSpPr>
            <p:spPr bwMode="auto">
              <a:xfrm>
                <a:off x="4154" y="2802"/>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sp>
          <p:nvSpPr>
            <p:cNvPr id="171" name="Freeform 227">
              <a:extLst>
                <a:ext uri="{FF2B5EF4-FFF2-40B4-BE49-F238E27FC236}">
                  <a16:creationId xmlns:a16="http://schemas.microsoft.com/office/drawing/2014/main" id="{88695EF7-3EC6-874B-9CFA-5F89AE2AD674}"/>
                </a:ext>
              </a:extLst>
            </p:cNvPr>
            <p:cNvSpPr>
              <a:spLocks/>
            </p:cNvSpPr>
            <p:nvPr/>
          </p:nvSpPr>
          <p:spPr bwMode="auto">
            <a:xfrm flipH="1">
              <a:off x="3371" y="2124"/>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243">
            <a:extLst>
              <a:ext uri="{FF2B5EF4-FFF2-40B4-BE49-F238E27FC236}">
                <a16:creationId xmlns:a16="http://schemas.microsoft.com/office/drawing/2014/main" id="{0C2B747B-2F42-7146-A691-54156D653646}"/>
              </a:ext>
            </a:extLst>
          </p:cNvPr>
          <p:cNvGrpSpPr>
            <a:grpSpLocks/>
          </p:cNvGrpSpPr>
          <p:nvPr/>
        </p:nvGrpSpPr>
        <p:grpSpPr bwMode="auto">
          <a:xfrm>
            <a:off x="6716713" y="3579131"/>
            <a:ext cx="1276350" cy="1689099"/>
            <a:chOff x="3223" y="2140"/>
            <a:chExt cx="804" cy="1064"/>
          </a:xfrm>
        </p:grpSpPr>
        <p:sp>
          <p:nvSpPr>
            <p:cNvPr id="176" name="Freeform 228">
              <a:extLst>
                <a:ext uri="{FF2B5EF4-FFF2-40B4-BE49-F238E27FC236}">
                  <a16:creationId xmlns:a16="http://schemas.microsoft.com/office/drawing/2014/main" id="{BFB3D697-0B16-7148-BB51-FD8EA08C4A4A}"/>
                </a:ext>
              </a:extLst>
            </p:cNvPr>
            <p:cNvSpPr>
              <a:spLocks/>
            </p:cNvSpPr>
            <p:nvPr/>
          </p:nvSpPr>
          <p:spPr bwMode="auto">
            <a:xfrm flipH="1">
              <a:off x="3327" y="2140"/>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7" name="Group 229">
              <a:extLst>
                <a:ext uri="{FF2B5EF4-FFF2-40B4-BE49-F238E27FC236}">
                  <a16:creationId xmlns:a16="http://schemas.microsoft.com/office/drawing/2014/main" id="{93E7F93E-B410-1B4A-BF61-0D2CB5DE5C53}"/>
                </a:ext>
              </a:extLst>
            </p:cNvPr>
            <p:cNvGrpSpPr>
              <a:grpSpLocks/>
            </p:cNvGrpSpPr>
            <p:nvPr/>
          </p:nvGrpSpPr>
          <p:grpSpPr bwMode="auto">
            <a:xfrm>
              <a:off x="3223" y="2649"/>
              <a:ext cx="785" cy="555"/>
              <a:chOff x="1015" y="3496"/>
              <a:chExt cx="785" cy="555"/>
            </a:xfrm>
          </p:grpSpPr>
          <p:sp>
            <p:nvSpPr>
              <p:cNvPr id="178" name="Text Box 230">
                <a:extLst>
                  <a:ext uri="{FF2B5EF4-FFF2-40B4-BE49-F238E27FC236}">
                    <a16:creationId xmlns:a16="http://schemas.microsoft.com/office/drawing/2014/main" id="{FAD437E2-871A-9848-91F5-5E5990E0131E}"/>
                  </a:ext>
                </a:extLst>
              </p:cNvPr>
              <p:cNvSpPr txBox="1">
                <a:spLocks noChangeArrowheads="1"/>
              </p:cNvSpPr>
              <p:nvPr/>
            </p:nvSpPr>
            <p:spPr bwMode="auto">
              <a:xfrm>
                <a:off x="1015" y="3640"/>
                <a:ext cx="78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9" name="Group 231">
                <a:extLst>
                  <a:ext uri="{FF2B5EF4-FFF2-40B4-BE49-F238E27FC236}">
                    <a16:creationId xmlns:a16="http://schemas.microsoft.com/office/drawing/2014/main" id="{E00D3831-3686-434C-A9FB-CC62A89C2D35}"/>
                  </a:ext>
                </a:extLst>
              </p:cNvPr>
              <p:cNvGrpSpPr>
                <a:grpSpLocks/>
              </p:cNvGrpSpPr>
              <p:nvPr/>
            </p:nvGrpSpPr>
            <p:grpSpPr bwMode="auto">
              <a:xfrm>
                <a:off x="1190" y="3496"/>
                <a:ext cx="582" cy="160"/>
                <a:chOff x="1190" y="3496"/>
                <a:chExt cx="582" cy="160"/>
              </a:xfrm>
            </p:grpSpPr>
            <p:sp>
              <p:nvSpPr>
                <p:cNvPr id="180" name="Line 232">
                  <a:extLst>
                    <a:ext uri="{FF2B5EF4-FFF2-40B4-BE49-F238E27FC236}">
                      <a16:creationId xmlns:a16="http://schemas.microsoft.com/office/drawing/2014/main" id="{97E85298-2987-D742-8F32-C0FF7A3D4B93}"/>
                    </a:ext>
                  </a:extLst>
                </p:cNvPr>
                <p:cNvSpPr>
                  <a:spLocks noChangeShapeType="1"/>
                </p:cNvSpPr>
                <p:nvPr/>
              </p:nvSpPr>
              <p:spPr bwMode="auto">
                <a:xfrm>
                  <a:off x="1190" y="364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Text Box 233">
                  <a:extLst>
                    <a:ext uri="{FF2B5EF4-FFF2-40B4-BE49-F238E27FC236}">
                      <a16:creationId xmlns:a16="http://schemas.microsoft.com/office/drawing/2014/main" id="{3BF52C9D-20DA-2242-A28A-394E7476B8A1}"/>
                    </a:ext>
                  </a:extLst>
                </p:cNvPr>
                <p:cNvSpPr txBox="1">
                  <a:spLocks noChangeArrowheads="1"/>
                </p:cNvSpPr>
                <p:nvPr/>
              </p:nvSpPr>
              <p:spPr bwMode="auto">
                <a:xfrm>
                  <a:off x="1287" y="3496"/>
                  <a:ext cx="48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grpSp>
      </p:grpSp>
      <p:grpSp>
        <p:nvGrpSpPr>
          <p:cNvPr id="182" name="Group 241">
            <a:extLst>
              <a:ext uri="{FF2B5EF4-FFF2-40B4-BE49-F238E27FC236}">
                <a16:creationId xmlns:a16="http://schemas.microsoft.com/office/drawing/2014/main" id="{CDA92C42-F115-FC40-A5F8-C407673481F7}"/>
              </a:ext>
            </a:extLst>
          </p:cNvPr>
          <p:cNvGrpSpPr>
            <a:grpSpLocks/>
          </p:cNvGrpSpPr>
          <p:nvPr/>
        </p:nvGrpSpPr>
        <p:grpSpPr bwMode="auto">
          <a:xfrm>
            <a:off x="2386012" y="1545544"/>
            <a:ext cx="5038723" cy="2706689"/>
            <a:chOff x="495" y="859"/>
            <a:chExt cx="3174" cy="1705"/>
          </a:xfrm>
        </p:grpSpPr>
        <p:grpSp>
          <p:nvGrpSpPr>
            <p:cNvPr id="183" name="Group 161">
              <a:extLst>
                <a:ext uri="{FF2B5EF4-FFF2-40B4-BE49-F238E27FC236}">
                  <a16:creationId xmlns:a16="http://schemas.microsoft.com/office/drawing/2014/main" id="{7F0341B7-207C-3E40-8EC6-5911313C0608}"/>
                </a:ext>
              </a:extLst>
            </p:cNvPr>
            <p:cNvGrpSpPr>
              <a:grpSpLocks/>
            </p:cNvGrpSpPr>
            <p:nvPr/>
          </p:nvGrpSpPr>
          <p:grpSpPr bwMode="auto">
            <a:xfrm>
              <a:off x="1329" y="1320"/>
              <a:ext cx="800" cy="754"/>
              <a:chOff x="996" y="1773"/>
              <a:chExt cx="800" cy="754"/>
            </a:xfrm>
          </p:grpSpPr>
          <p:sp>
            <p:nvSpPr>
              <p:cNvPr id="204" name="Oval 162">
                <a:extLst>
                  <a:ext uri="{FF2B5EF4-FFF2-40B4-BE49-F238E27FC236}">
                    <a16:creationId xmlns:a16="http://schemas.microsoft.com/office/drawing/2014/main" id="{85E503DF-C6D4-9C4A-947F-F93B4C816434}"/>
                  </a:ext>
                </a:extLst>
              </p:cNvPr>
              <p:cNvSpPr>
                <a:spLocks noChangeArrowheads="1"/>
              </p:cNvSpPr>
              <p:nvPr/>
            </p:nvSpPr>
            <p:spPr bwMode="auto">
              <a:xfrm>
                <a:off x="996" y="1773"/>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Text Box 163">
                <a:extLst>
                  <a:ext uri="{FF2B5EF4-FFF2-40B4-BE49-F238E27FC236}">
                    <a16:creationId xmlns:a16="http://schemas.microsoft.com/office/drawing/2014/main" id="{30575E3B-F1CE-CF43-A7C5-219046488BC3}"/>
                  </a:ext>
                </a:extLst>
              </p:cNvPr>
              <p:cNvSpPr txBox="1">
                <a:spLocks noChangeArrowheads="1"/>
              </p:cNvSpPr>
              <p:nvPr/>
            </p:nvSpPr>
            <p:spPr bwMode="auto">
              <a:xfrm>
                <a:off x="1159" y="1946"/>
                <a:ext cx="485"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slow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start</a:t>
                </a:r>
              </a:p>
            </p:txBody>
          </p:sp>
        </p:grpSp>
        <p:grpSp>
          <p:nvGrpSpPr>
            <p:cNvPr id="184" name="Group 177">
              <a:extLst>
                <a:ext uri="{FF2B5EF4-FFF2-40B4-BE49-F238E27FC236}">
                  <a16:creationId xmlns:a16="http://schemas.microsoft.com/office/drawing/2014/main" id="{5836A4F2-D62D-B147-A532-A57E3C2474B2}"/>
                </a:ext>
              </a:extLst>
            </p:cNvPr>
            <p:cNvGrpSpPr>
              <a:grpSpLocks/>
            </p:cNvGrpSpPr>
            <p:nvPr/>
          </p:nvGrpSpPr>
          <p:grpSpPr bwMode="auto">
            <a:xfrm>
              <a:off x="496" y="2026"/>
              <a:ext cx="1187" cy="538"/>
              <a:chOff x="384" y="2713"/>
              <a:chExt cx="1187" cy="538"/>
            </a:xfrm>
          </p:grpSpPr>
          <p:sp>
            <p:nvSpPr>
              <p:cNvPr id="201" name="Text Box 178">
                <a:extLst>
                  <a:ext uri="{FF2B5EF4-FFF2-40B4-BE49-F238E27FC236}">
                    <a16:creationId xmlns:a16="http://schemas.microsoft.com/office/drawing/2014/main" id="{1852AE28-C2EC-5542-A261-91B127FC6EEC}"/>
                  </a:ext>
                </a:extLst>
              </p:cNvPr>
              <p:cNvSpPr txBox="1">
                <a:spLocks noChangeArrowheads="1"/>
              </p:cNvSpPr>
              <p:nvPr/>
            </p:nvSpPr>
            <p:spPr bwMode="auto">
              <a:xfrm>
                <a:off x="777" y="2713"/>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202" name="Text Box 179">
                <a:extLst>
                  <a:ext uri="{FF2B5EF4-FFF2-40B4-BE49-F238E27FC236}">
                    <a16:creationId xmlns:a16="http://schemas.microsoft.com/office/drawing/2014/main" id="{238E26A7-D428-7446-B0EA-57A95D6A24D0}"/>
                  </a:ext>
                </a:extLst>
              </p:cNvPr>
              <p:cNvSpPr txBox="1">
                <a:spLocks noChangeArrowheads="1"/>
              </p:cNvSpPr>
              <p:nvPr/>
            </p:nvSpPr>
            <p:spPr bwMode="auto">
              <a:xfrm>
                <a:off x="384" y="2840"/>
                <a:ext cx="1187"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203" name="Line 180">
                <a:extLst>
                  <a:ext uri="{FF2B5EF4-FFF2-40B4-BE49-F238E27FC236}">
                    <a16:creationId xmlns:a16="http://schemas.microsoft.com/office/drawing/2014/main" id="{4D339203-1563-3844-9642-20DAA4DBE4B3}"/>
                  </a:ext>
                </a:extLst>
              </p:cNvPr>
              <p:cNvSpPr>
                <a:spLocks noChangeShapeType="1"/>
              </p:cNvSpPr>
              <p:nvPr/>
            </p:nvSpPr>
            <p:spPr bwMode="auto">
              <a:xfrm>
                <a:off x="709" y="285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85" name="Group 186">
              <a:extLst>
                <a:ext uri="{FF2B5EF4-FFF2-40B4-BE49-F238E27FC236}">
                  <a16:creationId xmlns:a16="http://schemas.microsoft.com/office/drawing/2014/main" id="{F5B6412F-86EA-644E-B751-4756A58400F6}"/>
                </a:ext>
              </a:extLst>
            </p:cNvPr>
            <p:cNvGrpSpPr>
              <a:grpSpLocks/>
            </p:cNvGrpSpPr>
            <p:nvPr/>
          </p:nvGrpSpPr>
          <p:grpSpPr bwMode="auto">
            <a:xfrm>
              <a:off x="2173" y="960"/>
              <a:ext cx="1496" cy="561"/>
              <a:chOff x="2683" y="798"/>
              <a:chExt cx="1496" cy="561"/>
            </a:xfrm>
          </p:grpSpPr>
          <p:sp>
            <p:nvSpPr>
              <p:cNvPr id="198" name="Text Box 187">
                <a:extLst>
                  <a:ext uri="{FF2B5EF4-FFF2-40B4-BE49-F238E27FC236}">
                    <a16:creationId xmlns:a16="http://schemas.microsoft.com/office/drawing/2014/main" id="{33745650-56D6-E74A-A07A-E27A58809560}"/>
                  </a:ext>
                </a:extLst>
              </p:cNvPr>
              <p:cNvSpPr txBox="1">
                <a:spLocks noChangeArrowheads="1"/>
              </p:cNvSpPr>
              <p:nvPr/>
            </p:nvSpPr>
            <p:spPr bwMode="auto">
              <a:xfrm>
                <a:off x="2683" y="91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cwnd+MSS</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188">
                <a:extLst>
                  <a:ext uri="{FF2B5EF4-FFF2-40B4-BE49-F238E27FC236}">
                    <a16:creationId xmlns:a16="http://schemas.microsoft.com/office/drawing/2014/main" id="{77E99221-132E-174B-8CBE-C1A955C064C2}"/>
                  </a:ext>
                </a:extLst>
              </p:cNvPr>
              <p:cNvSpPr>
                <a:spLocks noChangeShapeType="1"/>
              </p:cNvSpPr>
              <p:nvPr/>
            </p:nvSpPr>
            <p:spPr bwMode="auto">
              <a:xfrm>
                <a:off x="2744" y="93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Text Box 189">
                <a:extLst>
                  <a:ext uri="{FF2B5EF4-FFF2-40B4-BE49-F238E27FC236}">
                    <a16:creationId xmlns:a16="http://schemas.microsoft.com/office/drawing/2014/main" id="{321F9ADE-2971-8D42-964D-F2D594BDE59B}"/>
                  </a:ext>
                </a:extLst>
              </p:cNvPr>
              <p:cNvSpPr txBox="1">
                <a:spLocks noChangeArrowheads="1"/>
              </p:cNvSpPr>
              <p:nvPr/>
            </p:nvSpPr>
            <p:spPr bwMode="auto">
              <a:xfrm>
                <a:off x="2697" y="798"/>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sp>
          <p:nvSpPr>
            <p:cNvPr id="186" name="Freeform 205">
              <a:extLst>
                <a:ext uri="{FF2B5EF4-FFF2-40B4-BE49-F238E27FC236}">
                  <a16:creationId xmlns:a16="http://schemas.microsoft.com/office/drawing/2014/main" id="{B9844AE8-814B-7A49-BCA7-110579E99E1F}"/>
                </a:ext>
              </a:extLst>
            </p:cNvPr>
            <p:cNvSpPr>
              <a:spLocks/>
            </p:cNvSpPr>
            <p:nvPr/>
          </p:nvSpPr>
          <p:spPr bwMode="auto">
            <a:xfrm>
              <a:off x="1601" y="1129"/>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206">
              <a:extLst>
                <a:ext uri="{FF2B5EF4-FFF2-40B4-BE49-F238E27FC236}">
                  <a16:creationId xmlns:a16="http://schemas.microsoft.com/office/drawing/2014/main" id="{750DB278-39B5-E245-8F7C-23929FAC1479}"/>
                </a:ext>
              </a:extLst>
            </p:cNvPr>
            <p:cNvSpPr>
              <a:spLocks/>
            </p:cNvSpPr>
            <p:nvPr/>
          </p:nvSpPr>
          <p:spPr bwMode="auto">
            <a:xfrm rot="2575893">
              <a:off x="1950" y="1316"/>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207">
              <a:extLst>
                <a:ext uri="{FF2B5EF4-FFF2-40B4-BE49-F238E27FC236}">
                  <a16:creationId xmlns:a16="http://schemas.microsoft.com/office/drawing/2014/main" id="{4E427184-7EF7-C840-827D-A9660DD49F4A}"/>
                </a:ext>
              </a:extLst>
            </p:cNvPr>
            <p:cNvGrpSpPr>
              <a:grpSpLocks/>
            </p:cNvGrpSpPr>
            <p:nvPr/>
          </p:nvGrpSpPr>
          <p:grpSpPr bwMode="auto">
            <a:xfrm>
              <a:off x="1445" y="859"/>
              <a:ext cx="740" cy="388"/>
              <a:chOff x="4254" y="2922"/>
              <a:chExt cx="740" cy="388"/>
            </a:xfrm>
          </p:grpSpPr>
          <p:sp>
            <p:nvSpPr>
              <p:cNvPr id="195" name="Text Box 208">
                <a:extLst>
                  <a:ext uri="{FF2B5EF4-FFF2-40B4-BE49-F238E27FC236}">
                    <a16:creationId xmlns:a16="http://schemas.microsoft.com/office/drawing/2014/main" id="{7E5221C3-2422-AB42-AB8F-F98DF12DC47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209">
                <a:extLst>
                  <a:ext uri="{FF2B5EF4-FFF2-40B4-BE49-F238E27FC236}">
                    <a16:creationId xmlns:a16="http://schemas.microsoft.com/office/drawing/2014/main" id="{0ED363ED-03C6-214E-BEF4-679C86095020}"/>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 Box 210">
                <a:extLst>
                  <a:ext uri="{FF2B5EF4-FFF2-40B4-BE49-F238E27FC236}">
                    <a16:creationId xmlns:a16="http://schemas.microsoft.com/office/drawing/2014/main" id="{2593DC72-BD77-FC4D-AA2D-CA14FF49E8C6}"/>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89" name="Freeform 211">
              <a:extLst>
                <a:ext uri="{FF2B5EF4-FFF2-40B4-BE49-F238E27FC236}">
                  <a16:creationId xmlns:a16="http://schemas.microsoft.com/office/drawing/2014/main" id="{3E6B1AA0-4286-9245-837B-6CBC21CE7E5B}"/>
                </a:ext>
              </a:extLst>
            </p:cNvPr>
            <p:cNvSpPr>
              <a:spLocks/>
            </p:cNvSpPr>
            <p:nvPr/>
          </p:nvSpPr>
          <p:spPr bwMode="auto">
            <a:xfrm rot="-8222029">
              <a:off x="1204" y="1903"/>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34">
              <a:extLst>
                <a:ext uri="{FF2B5EF4-FFF2-40B4-BE49-F238E27FC236}">
                  <a16:creationId xmlns:a16="http://schemas.microsoft.com/office/drawing/2014/main" id="{F4D43A0C-EE6E-EC4A-8B33-48E0CE84AD67}"/>
                </a:ext>
              </a:extLst>
            </p:cNvPr>
            <p:cNvSpPr>
              <a:spLocks noChangeShapeType="1"/>
            </p:cNvSpPr>
            <p:nvPr/>
          </p:nvSpPr>
          <p:spPr bwMode="auto">
            <a:xfrm>
              <a:off x="536" y="1649"/>
              <a:ext cx="752" cy="1"/>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235">
              <a:extLst>
                <a:ext uri="{FF2B5EF4-FFF2-40B4-BE49-F238E27FC236}">
                  <a16:creationId xmlns:a16="http://schemas.microsoft.com/office/drawing/2014/main" id="{A04F248C-CB56-5341-9121-CD7548EA20D6}"/>
                </a:ext>
              </a:extLst>
            </p:cNvPr>
            <p:cNvGrpSpPr>
              <a:grpSpLocks/>
            </p:cNvGrpSpPr>
            <p:nvPr/>
          </p:nvGrpSpPr>
          <p:grpSpPr bwMode="auto">
            <a:xfrm>
              <a:off x="495" y="1255"/>
              <a:ext cx="785" cy="429"/>
              <a:chOff x="517" y="936"/>
              <a:chExt cx="785" cy="429"/>
            </a:xfrm>
          </p:grpSpPr>
          <p:sp>
            <p:nvSpPr>
              <p:cNvPr id="192" name="Text Box 236">
                <a:extLst>
                  <a:ext uri="{FF2B5EF4-FFF2-40B4-BE49-F238E27FC236}">
                    <a16:creationId xmlns:a16="http://schemas.microsoft.com/office/drawing/2014/main" id="{DFCAD05B-CECB-F74A-83C0-04809C56403D}"/>
                  </a:ext>
                </a:extLst>
              </p:cNvPr>
              <p:cNvSpPr txBox="1">
                <a:spLocks noChangeArrowheads="1"/>
              </p:cNvSpPr>
              <p:nvPr/>
            </p:nvSpPr>
            <p:spPr bwMode="auto">
              <a:xfrm>
                <a:off x="816" y="936"/>
                <a:ext cx="17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93" name="Text Box 237">
                <a:extLst>
                  <a:ext uri="{FF2B5EF4-FFF2-40B4-BE49-F238E27FC236}">
                    <a16:creationId xmlns:a16="http://schemas.microsoft.com/office/drawing/2014/main" id="{74E71529-C1EB-3448-B321-63BB937B34FE}"/>
                  </a:ext>
                </a:extLst>
              </p:cNvPr>
              <p:cNvSpPr txBox="1">
                <a:spLocks noChangeArrowheads="1"/>
              </p:cNvSpPr>
              <p:nvPr/>
            </p:nvSpPr>
            <p:spPr bwMode="auto">
              <a:xfrm>
                <a:off x="517" y="1063"/>
                <a:ext cx="785" cy="3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64 KB</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238">
                <a:extLst>
                  <a:ext uri="{FF2B5EF4-FFF2-40B4-BE49-F238E27FC236}">
                    <a16:creationId xmlns:a16="http://schemas.microsoft.com/office/drawing/2014/main" id="{6EA26674-D5C9-9744-9287-ED272FC85120}"/>
                  </a:ext>
                </a:extLst>
              </p:cNvPr>
              <p:cNvSpPr>
                <a:spLocks noChangeShapeType="1"/>
              </p:cNvSpPr>
              <p:nvPr/>
            </p:nvSpPr>
            <p:spPr bwMode="auto">
              <a:xfrm>
                <a:off x="641" y="1078"/>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206" name="Group 255">
            <a:extLst>
              <a:ext uri="{FF2B5EF4-FFF2-40B4-BE49-F238E27FC236}">
                <a16:creationId xmlns:a16="http://schemas.microsoft.com/office/drawing/2014/main" id="{A2B043F7-099D-4D44-B22F-E06E9FF1DB1B}"/>
              </a:ext>
            </a:extLst>
          </p:cNvPr>
          <p:cNvGrpSpPr>
            <a:grpSpLocks/>
          </p:cNvGrpSpPr>
          <p:nvPr/>
        </p:nvGrpSpPr>
        <p:grpSpPr bwMode="auto">
          <a:xfrm>
            <a:off x="2405063" y="2982232"/>
            <a:ext cx="3167062" cy="1312862"/>
            <a:chOff x="509" y="1766"/>
            <a:chExt cx="1995" cy="827"/>
          </a:xfrm>
        </p:grpSpPr>
        <p:pic>
          <p:nvPicPr>
            <p:cNvPr id="207" name="Picture 252">
              <a:extLst>
                <a:ext uri="{FF2B5EF4-FFF2-40B4-BE49-F238E27FC236}">
                  <a16:creationId xmlns:a16="http://schemas.microsoft.com/office/drawing/2014/main" id="{13117D26-6951-3D4A-A5F0-C71B4A0E49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09" y="199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8" name="Picture 253">
              <a:extLst>
                <a:ext uri="{FF2B5EF4-FFF2-40B4-BE49-F238E27FC236}">
                  <a16:creationId xmlns:a16="http://schemas.microsoft.com/office/drawing/2014/main" id="{DB7493BD-9E6A-CC43-BB12-1EF71B377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242" y="1766"/>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9" name="Picture 254">
              <a:extLst>
                <a:ext uri="{FF2B5EF4-FFF2-40B4-BE49-F238E27FC236}">
                  <a16:creationId xmlns:a16="http://schemas.microsoft.com/office/drawing/2014/main" id="{919A68A3-008C-A945-88F7-16E52DA21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64" y="2348"/>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210" name="Group 297">
            <a:extLst>
              <a:ext uri="{FF2B5EF4-FFF2-40B4-BE49-F238E27FC236}">
                <a16:creationId xmlns:a16="http://schemas.microsoft.com/office/drawing/2014/main" id="{439C2129-4880-6149-9CCA-EB3347A6F350}"/>
              </a:ext>
            </a:extLst>
          </p:cNvPr>
          <p:cNvGrpSpPr>
            <a:grpSpLocks/>
          </p:cNvGrpSpPr>
          <p:nvPr/>
        </p:nvGrpSpPr>
        <p:grpSpPr bwMode="auto">
          <a:xfrm>
            <a:off x="5102225" y="1208994"/>
            <a:ext cx="4333875" cy="3243263"/>
            <a:chOff x="2205" y="641"/>
            <a:chExt cx="2730" cy="2043"/>
          </a:xfrm>
        </p:grpSpPr>
        <p:grpSp>
          <p:nvGrpSpPr>
            <p:cNvPr id="211" name="Group 282">
              <a:extLst>
                <a:ext uri="{FF2B5EF4-FFF2-40B4-BE49-F238E27FC236}">
                  <a16:creationId xmlns:a16="http://schemas.microsoft.com/office/drawing/2014/main" id="{6BDFE812-AF51-D241-B4AE-BA4F204E8DF8}"/>
                </a:ext>
              </a:extLst>
            </p:cNvPr>
            <p:cNvGrpSpPr>
              <a:grpSpLocks/>
            </p:cNvGrpSpPr>
            <p:nvPr/>
          </p:nvGrpSpPr>
          <p:grpSpPr bwMode="auto">
            <a:xfrm>
              <a:off x="3381" y="2381"/>
              <a:ext cx="583" cy="303"/>
              <a:chOff x="1166" y="3601"/>
              <a:chExt cx="583" cy="303"/>
            </a:xfrm>
          </p:grpSpPr>
          <p:grpSp>
            <p:nvGrpSpPr>
              <p:cNvPr id="222" name="Group 283">
                <a:extLst>
                  <a:ext uri="{FF2B5EF4-FFF2-40B4-BE49-F238E27FC236}">
                    <a16:creationId xmlns:a16="http://schemas.microsoft.com/office/drawing/2014/main" id="{82205633-61E5-A34B-80F4-B06EBB50B0C8}"/>
                  </a:ext>
                </a:extLst>
              </p:cNvPr>
              <p:cNvGrpSpPr>
                <a:grpSpLocks/>
              </p:cNvGrpSpPr>
              <p:nvPr/>
            </p:nvGrpSpPr>
            <p:grpSpPr bwMode="auto">
              <a:xfrm>
                <a:off x="1166" y="3601"/>
                <a:ext cx="583" cy="303"/>
                <a:chOff x="990" y="4570"/>
                <a:chExt cx="597" cy="380"/>
              </a:xfrm>
            </p:grpSpPr>
            <p:pic>
              <p:nvPicPr>
                <p:cNvPr id="224" name="Picture 284">
                  <a:extLst>
                    <a:ext uri="{FF2B5EF4-FFF2-40B4-BE49-F238E27FC236}">
                      <a16:creationId xmlns:a16="http://schemas.microsoft.com/office/drawing/2014/main" id="{123D55D6-C521-5C4A-A99B-9A81EB8858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5" name="Rectangle 285">
                  <a:extLst>
                    <a:ext uri="{FF2B5EF4-FFF2-40B4-BE49-F238E27FC236}">
                      <a16:creationId xmlns:a16="http://schemas.microsoft.com/office/drawing/2014/main" id="{5A2AADA4-95A5-1140-A8E2-F7E1D634D77A}"/>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3" name="Text Box 286">
                <a:extLst>
                  <a:ext uri="{FF2B5EF4-FFF2-40B4-BE49-F238E27FC236}">
                    <a16:creationId xmlns:a16="http://schemas.microsoft.com/office/drawing/2014/main" id="{A04DE5D7-1E27-9345-953B-F2F6817401D2}"/>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2" name="Group 287">
              <a:extLst>
                <a:ext uri="{FF2B5EF4-FFF2-40B4-BE49-F238E27FC236}">
                  <a16:creationId xmlns:a16="http://schemas.microsoft.com/office/drawing/2014/main" id="{0901017F-3507-C540-B99D-306E862349DB}"/>
                </a:ext>
              </a:extLst>
            </p:cNvPr>
            <p:cNvGrpSpPr>
              <a:grpSpLocks/>
            </p:cNvGrpSpPr>
            <p:nvPr/>
          </p:nvGrpSpPr>
          <p:grpSpPr bwMode="auto">
            <a:xfrm>
              <a:off x="2205" y="700"/>
              <a:ext cx="583" cy="303"/>
              <a:chOff x="1166" y="3601"/>
              <a:chExt cx="583" cy="303"/>
            </a:xfrm>
          </p:grpSpPr>
          <p:grpSp>
            <p:nvGrpSpPr>
              <p:cNvPr id="218" name="Group 288">
                <a:extLst>
                  <a:ext uri="{FF2B5EF4-FFF2-40B4-BE49-F238E27FC236}">
                    <a16:creationId xmlns:a16="http://schemas.microsoft.com/office/drawing/2014/main" id="{6BA56D00-0006-F044-83B1-AAE6B004468E}"/>
                  </a:ext>
                </a:extLst>
              </p:cNvPr>
              <p:cNvGrpSpPr>
                <a:grpSpLocks/>
              </p:cNvGrpSpPr>
              <p:nvPr/>
            </p:nvGrpSpPr>
            <p:grpSpPr bwMode="auto">
              <a:xfrm>
                <a:off x="1166" y="3601"/>
                <a:ext cx="583" cy="303"/>
                <a:chOff x="990" y="4570"/>
                <a:chExt cx="597" cy="380"/>
              </a:xfrm>
            </p:grpSpPr>
            <p:pic>
              <p:nvPicPr>
                <p:cNvPr id="220" name="Picture 289">
                  <a:extLst>
                    <a:ext uri="{FF2B5EF4-FFF2-40B4-BE49-F238E27FC236}">
                      <a16:creationId xmlns:a16="http://schemas.microsoft.com/office/drawing/2014/main" id="{C017D357-3300-D245-BAF6-F1F404699D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1" name="Rectangle 290">
                  <a:extLst>
                    <a:ext uri="{FF2B5EF4-FFF2-40B4-BE49-F238E27FC236}">
                      <a16:creationId xmlns:a16="http://schemas.microsoft.com/office/drawing/2014/main" id="{71EEC757-0CB1-5245-8660-0181A2DC62D4}"/>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9" name="Text Box 291">
                <a:extLst>
                  <a:ext uri="{FF2B5EF4-FFF2-40B4-BE49-F238E27FC236}">
                    <a16:creationId xmlns:a16="http://schemas.microsoft.com/office/drawing/2014/main" id="{FEBEF8FC-A920-4A49-A1BF-3B6F2FA29D39}"/>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3" name="Group 292">
              <a:extLst>
                <a:ext uri="{FF2B5EF4-FFF2-40B4-BE49-F238E27FC236}">
                  <a16:creationId xmlns:a16="http://schemas.microsoft.com/office/drawing/2014/main" id="{2201CF4D-D367-D544-9B09-D38B651E98BE}"/>
                </a:ext>
              </a:extLst>
            </p:cNvPr>
            <p:cNvGrpSpPr>
              <a:grpSpLocks/>
            </p:cNvGrpSpPr>
            <p:nvPr/>
          </p:nvGrpSpPr>
          <p:grpSpPr bwMode="auto">
            <a:xfrm>
              <a:off x="4352" y="641"/>
              <a:ext cx="583" cy="303"/>
              <a:chOff x="1166" y="3601"/>
              <a:chExt cx="583" cy="303"/>
            </a:xfrm>
          </p:grpSpPr>
          <p:grpSp>
            <p:nvGrpSpPr>
              <p:cNvPr id="214" name="Group 293">
                <a:extLst>
                  <a:ext uri="{FF2B5EF4-FFF2-40B4-BE49-F238E27FC236}">
                    <a16:creationId xmlns:a16="http://schemas.microsoft.com/office/drawing/2014/main" id="{255AC563-CE69-7346-8853-7B52DB2C3916}"/>
                  </a:ext>
                </a:extLst>
              </p:cNvPr>
              <p:cNvGrpSpPr>
                <a:grpSpLocks/>
              </p:cNvGrpSpPr>
              <p:nvPr/>
            </p:nvGrpSpPr>
            <p:grpSpPr bwMode="auto">
              <a:xfrm>
                <a:off x="1166" y="3601"/>
                <a:ext cx="583" cy="303"/>
                <a:chOff x="990" y="4570"/>
                <a:chExt cx="597" cy="380"/>
              </a:xfrm>
            </p:grpSpPr>
            <p:pic>
              <p:nvPicPr>
                <p:cNvPr id="216" name="Picture 294">
                  <a:extLst>
                    <a:ext uri="{FF2B5EF4-FFF2-40B4-BE49-F238E27FC236}">
                      <a16:creationId xmlns:a16="http://schemas.microsoft.com/office/drawing/2014/main" id="{3CFEE67E-B886-8D4D-9258-34C8D95DCD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17" name="Rectangle 295">
                  <a:extLst>
                    <a:ext uri="{FF2B5EF4-FFF2-40B4-BE49-F238E27FC236}">
                      <a16:creationId xmlns:a16="http://schemas.microsoft.com/office/drawing/2014/main" id="{E84E7D88-9214-BA40-BC66-CD8AA28583A0}"/>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5" name="Text Box 296">
                <a:extLst>
                  <a:ext uri="{FF2B5EF4-FFF2-40B4-BE49-F238E27FC236}">
                    <a16:creationId xmlns:a16="http://schemas.microsoft.com/office/drawing/2014/main" id="{C078F33E-5513-B743-BE29-CF96B31ECD31}"/>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sp>
        <p:nvSpPr>
          <p:cNvPr id="109" name="Slide Number Placeholder 2">
            <a:extLst>
              <a:ext uri="{FF2B5EF4-FFF2-40B4-BE49-F238E27FC236}">
                <a16:creationId xmlns:a16="http://schemas.microsoft.com/office/drawing/2014/main" id="{C089E069-434F-034B-BDE6-6D2F3D363D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129</a:t>
            </a:fld>
            <a:endParaRPr lang="en-US" dirty="0"/>
          </a:p>
        </p:txBody>
      </p:sp>
    </p:spTree>
    <p:extLst>
      <p:ext uri="{BB962C8B-B14F-4D97-AF65-F5344CB8AC3E}">
        <p14:creationId xmlns:p14="http://schemas.microsoft.com/office/powerpoint/2010/main" val="345404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dissolv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wipe(left)">
                                      <p:cBhvr>
                                        <p:cTn id="12" dur="500"/>
                                        <p:tgtEl>
                                          <p:spTgt spid="1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3"/>
                                        </p:tgtEl>
                                        <p:attrNameLst>
                                          <p:attrName>style.visibility</p:attrName>
                                        </p:attrNameLst>
                                      </p:cBhvr>
                                      <p:to>
                                        <p:strVal val="visible"/>
                                      </p:to>
                                    </p:set>
                                    <p:animEffect transition="in" filter="dissolve">
                                      <p:cBhvr>
                                        <p:cTn id="17" dur="500"/>
                                        <p:tgtEl>
                                          <p:spTgt spid="1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right)">
                                      <p:cBhvr>
                                        <p:cTn id="22" dur="500"/>
                                        <p:tgtEl>
                                          <p:spTgt spid="1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69"/>
                                        </p:tgtEl>
                                        <p:attrNameLst>
                                          <p:attrName>style.visibility</p:attrName>
                                        </p:attrNameLst>
                                      </p:cBhvr>
                                      <p:to>
                                        <p:strVal val="visible"/>
                                      </p:to>
                                    </p:set>
                                    <p:animEffect transition="in" filter="wipe(up)">
                                      <p:cBhvr>
                                        <p:cTn id="27" dur="500"/>
                                        <p:tgtEl>
                                          <p:spTgt spid="169"/>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4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wipe(left)">
                                      <p:cBhvr>
                                        <p:cTn id="36" dur="500"/>
                                        <p:tgtEl>
                                          <p:spTgt spid="1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58"/>
                                        </p:tgtEl>
                                        <p:attrNameLst>
                                          <p:attrName>style.visibility</p:attrName>
                                        </p:attrNameLst>
                                      </p:cBhvr>
                                      <p:to>
                                        <p:strVal val="visible"/>
                                      </p:to>
                                    </p:set>
                                    <p:animEffect transition="in" filter="dissolve">
                                      <p:cBhvr>
                                        <p:cTn id="41" dur="500"/>
                                        <p:tgtEl>
                                          <p:spTgt spid="15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0"/>
                                        </p:tgtEl>
                                        <p:attrNameLst>
                                          <p:attrName>style.visibility</p:attrName>
                                        </p:attrNameLst>
                                      </p:cBhvr>
                                      <p:to>
                                        <p:strVal val="visible"/>
                                      </p:to>
                                    </p:set>
                                    <p:animEffect transition="in" filter="dissolve">
                                      <p:cBhvr>
                                        <p:cTn id="5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0"/>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there a better way than AIMD to “probe” for usable bandwidth?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3" name="Group 35">
            <a:extLst>
              <a:ext uri="{FF2B5EF4-FFF2-40B4-BE49-F238E27FC236}">
                <a16:creationId xmlns:a16="http://schemas.microsoft.com/office/drawing/2014/main" id="{2EE3D2DA-7F9E-9E46-80D1-0D5CDE4F3F61}"/>
              </a:ext>
            </a:extLst>
          </p:cNvPr>
          <p:cNvGrpSpPr>
            <a:grpSpLocks/>
          </p:cNvGrpSpPr>
          <p:nvPr/>
        </p:nvGrpSpPr>
        <p:grpSpPr bwMode="auto">
          <a:xfrm>
            <a:off x="1454066" y="4302985"/>
            <a:ext cx="6081713" cy="1998662"/>
            <a:chOff x="73" y="2432"/>
            <a:chExt cx="3831" cy="1259"/>
          </a:xfrm>
        </p:grpSpPr>
        <p:sp>
          <p:nvSpPr>
            <p:cNvPr id="24" name="Freeform 26">
              <a:extLst>
                <a:ext uri="{FF2B5EF4-FFF2-40B4-BE49-F238E27FC236}">
                  <a16:creationId xmlns:a16="http://schemas.microsoft.com/office/drawing/2014/main" id="{008B621F-0741-614A-8345-244B5DFC93FB}"/>
                </a:ext>
              </a:extLst>
            </p:cNvPr>
            <p:cNvSpPr>
              <a:spLocks/>
            </p:cNvSpPr>
            <p:nvPr/>
          </p:nvSpPr>
          <p:spPr bwMode="auto">
            <a:xfrm>
              <a:off x="678" y="2556"/>
              <a:ext cx="3226"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28">
              <a:extLst>
                <a:ext uri="{FF2B5EF4-FFF2-40B4-BE49-F238E27FC236}">
                  <a16:creationId xmlns:a16="http://schemas.microsoft.com/office/drawing/2014/main" id="{ED570B43-3E78-854A-8D18-447961831ECA}"/>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6" name="Line 29">
              <a:extLst>
                <a:ext uri="{FF2B5EF4-FFF2-40B4-BE49-F238E27FC236}">
                  <a16:creationId xmlns:a16="http://schemas.microsoft.com/office/drawing/2014/main" id="{71D85BF0-E5F9-D942-8A3A-EA9F3DC864F7}"/>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7" name="Line 31">
              <a:extLst>
                <a:ext uri="{FF2B5EF4-FFF2-40B4-BE49-F238E27FC236}">
                  <a16:creationId xmlns:a16="http://schemas.microsoft.com/office/drawing/2014/main" id="{EBA91A7D-5FB0-5C49-9AF7-EE6BBAE60D9D}"/>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8" name="Line 32">
              <a:extLst>
                <a:ext uri="{FF2B5EF4-FFF2-40B4-BE49-F238E27FC236}">
                  <a16:creationId xmlns:a16="http://schemas.microsoft.com/office/drawing/2014/main" id="{813289F2-8CBC-7A4B-8370-DD758C216957}"/>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9" name="Text Box 33">
              <a:extLst>
                <a:ext uri="{FF2B5EF4-FFF2-40B4-BE49-F238E27FC236}">
                  <a16:creationId xmlns:a16="http://schemas.microsoft.com/office/drawing/2014/main" id="{82E5BF58-0D1F-F545-B808-E4AEA3158300}"/>
                </a:ext>
              </a:extLst>
            </p:cNvPr>
            <p:cNvSpPr txBox="1">
              <a:spLocks noChangeArrowheads="1"/>
            </p:cNvSpPr>
            <p:nvPr/>
          </p:nvSpPr>
          <p:spPr bwMode="auto">
            <a:xfrm>
              <a:off x="171" y="2437"/>
              <a:ext cx="39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p>
          </p:txBody>
        </p:sp>
        <p:sp>
          <p:nvSpPr>
            <p:cNvPr id="30" name="Text Box 34">
              <a:extLst>
                <a:ext uri="{FF2B5EF4-FFF2-40B4-BE49-F238E27FC236}">
                  <a16:creationId xmlns:a16="http://schemas.microsoft.com/office/drawing/2014/main" id="{75DD065B-3352-E04F-8C6B-CE0E8FB52773}"/>
                </a:ext>
              </a:extLst>
            </p:cNvPr>
            <p:cNvSpPr txBox="1">
              <a:spLocks noChangeArrowheads="1"/>
            </p:cNvSpPr>
            <p:nvPr/>
          </p:nvSpPr>
          <p:spPr bwMode="auto">
            <a:xfrm>
              <a:off x="73" y="2971"/>
              <a:ext cx="51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/2</a:t>
              </a:r>
            </a:p>
          </p:txBody>
        </p:sp>
      </p:grpSp>
      <p:grpSp>
        <p:nvGrpSpPr>
          <p:cNvPr id="7" name="Group 6">
            <a:extLst>
              <a:ext uri="{FF2B5EF4-FFF2-40B4-BE49-F238E27FC236}">
                <a16:creationId xmlns:a16="http://schemas.microsoft.com/office/drawing/2014/main" id="{2C810967-8AFF-0B44-9DE4-94FCCECFF888}"/>
              </a:ext>
            </a:extLst>
          </p:cNvPr>
          <p:cNvGrpSpPr/>
          <p:nvPr/>
        </p:nvGrpSpPr>
        <p:grpSpPr>
          <a:xfrm>
            <a:off x="2427206" y="4523647"/>
            <a:ext cx="842174" cy="851974"/>
            <a:chOff x="4111628" y="4803047"/>
            <a:chExt cx="842174" cy="851974"/>
          </a:xfrm>
        </p:grpSpPr>
        <p:sp>
          <p:nvSpPr>
            <p:cNvPr id="36" name="Freeform 35">
              <a:extLst>
                <a:ext uri="{FF2B5EF4-FFF2-40B4-BE49-F238E27FC236}">
                  <a16:creationId xmlns:a16="http://schemas.microsoft.com/office/drawing/2014/main" id="{2B00668C-21E8-A34C-BCF7-F1A69DC1ECC3}"/>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54D3782B-C45F-4C4D-A0C1-5C619374C102}"/>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D9A4487-C820-ED4F-B12B-B1BCD661A2B6}"/>
              </a:ext>
            </a:extLst>
          </p:cNvPr>
          <p:cNvGrpSpPr/>
          <p:nvPr/>
        </p:nvGrpSpPr>
        <p:grpSpPr>
          <a:xfrm>
            <a:off x="7913115" y="4293106"/>
            <a:ext cx="3050589" cy="1377579"/>
            <a:chOff x="7913115" y="4572506"/>
            <a:chExt cx="3050589" cy="1377579"/>
          </a:xfrm>
        </p:grpSpPr>
        <p:cxnSp>
          <p:nvCxnSpPr>
            <p:cNvPr id="10" name="Straight Connector 9">
              <a:extLst>
                <a:ext uri="{FF2B5EF4-FFF2-40B4-BE49-F238E27FC236}">
                  <a16:creationId xmlns:a16="http://schemas.microsoft.com/office/drawing/2014/main" id="{8E3D1EF1-17F7-B044-80E7-5A8DA0D55C49}"/>
                </a:ext>
              </a:extLst>
            </p:cNvPr>
            <p:cNvCxnSpPr/>
            <p:nvPr/>
          </p:nvCxnSpPr>
          <p:spPr>
            <a:xfrm>
              <a:off x="7913115" y="4779235"/>
              <a:ext cx="866274"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6F42C75B-407D-DB40-8FEF-4D1FACF6CEC7}"/>
                </a:ext>
              </a:extLst>
            </p:cNvPr>
            <p:cNvCxnSpPr/>
            <p:nvPr/>
          </p:nvCxnSpPr>
          <p:spPr>
            <a:xfrm>
              <a:off x="7913115" y="5243961"/>
              <a:ext cx="866274" cy="0"/>
            </a:xfrm>
            <a:prstGeom prst="line">
              <a:avLst/>
            </a:prstGeom>
            <a:ln w="38100">
              <a:solidFill>
                <a:srgbClr val="0000A3"/>
              </a:solidFill>
              <a:prstDash val="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B84D5C4-4382-0A4A-BF0E-103C112E7062}"/>
                </a:ext>
              </a:extLst>
            </p:cNvPr>
            <p:cNvSpPr txBox="1"/>
            <p:nvPr/>
          </p:nvSpPr>
          <p:spPr>
            <a:xfrm>
              <a:off x="8779389" y="4572506"/>
              <a:ext cx="117859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classic TCP</a:t>
              </a:r>
            </a:p>
          </p:txBody>
        </p:sp>
        <p:sp>
          <p:nvSpPr>
            <p:cNvPr id="61" name="TextBox 60">
              <a:extLst>
                <a:ext uri="{FF2B5EF4-FFF2-40B4-BE49-F238E27FC236}">
                  <a16:creationId xmlns:a16="http://schemas.microsoft.com/office/drawing/2014/main" id="{C78FB066-FD15-2E4D-B3E8-33A0CDF65C20}"/>
                </a:ext>
              </a:extLst>
            </p:cNvPr>
            <p:cNvSpPr txBox="1"/>
            <p:nvPr/>
          </p:nvSpPr>
          <p:spPr>
            <a:xfrm>
              <a:off x="8779390" y="5109855"/>
              <a:ext cx="2184314"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TCP CUBIC - higher throughput in this example</a:t>
              </a:r>
            </a:p>
          </p:txBody>
        </p:sp>
      </p:gr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798690" y="1787378"/>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Insight/intuition: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sending rate at which congestion loss was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state of bottleneck link probably (?) hasn’t changed much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7" name="Group 36">
            <a:extLst>
              <a:ext uri="{FF2B5EF4-FFF2-40B4-BE49-F238E27FC236}">
                <a16:creationId xmlns:a16="http://schemas.microsoft.com/office/drawing/2014/main" id="{EA8CEDAB-74CD-5045-B220-F3B6A30DE234}"/>
              </a:ext>
            </a:extLst>
          </p:cNvPr>
          <p:cNvGrpSpPr/>
          <p:nvPr/>
        </p:nvGrpSpPr>
        <p:grpSpPr>
          <a:xfrm>
            <a:off x="3268173" y="4514248"/>
            <a:ext cx="4263455" cy="882027"/>
            <a:chOff x="4952595" y="4780948"/>
            <a:chExt cx="4263455" cy="882027"/>
          </a:xfrm>
        </p:grpSpPr>
        <p:grpSp>
          <p:nvGrpSpPr>
            <p:cNvPr id="39" name="Group 38">
              <a:extLst>
                <a:ext uri="{FF2B5EF4-FFF2-40B4-BE49-F238E27FC236}">
                  <a16:creationId xmlns:a16="http://schemas.microsoft.com/office/drawing/2014/main" id="{9998D466-ABA6-9748-B0B7-3CDDC71A2EE6}"/>
                </a:ext>
              </a:extLst>
            </p:cNvPr>
            <p:cNvGrpSpPr/>
            <p:nvPr/>
          </p:nvGrpSpPr>
          <p:grpSpPr>
            <a:xfrm>
              <a:off x="4952595" y="4811001"/>
              <a:ext cx="842174" cy="851974"/>
              <a:chOff x="4111628" y="4803047"/>
              <a:chExt cx="842174" cy="851974"/>
            </a:xfrm>
          </p:grpSpPr>
          <p:sp>
            <p:nvSpPr>
              <p:cNvPr id="66" name="Freeform 65">
                <a:extLst>
                  <a:ext uri="{FF2B5EF4-FFF2-40B4-BE49-F238E27FC236}">
                    <a16:creationId xmlns:a16="http://schemas.microsoft.com/office/drawing/2014/main" id="{B1533BBF-34AE-D045-87C4-BF94B61A8021}"/>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7" name="Straight Connector 66">
                <a:extLst>
                  <a:ext uri="{FF2B5EF4-FFF2-40B4-BE49-F238E27FC236}">
                    <a16:creationId xmlns:a16="http://schemas.microsoft.com/office/drawing/2014/main" id="{1F8A69D2-1AFF-CA43-A164-55CE61810D68}"/>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341D802-81CF-4E46-9220-44B0752C28D7}"/>
                </a:ext>
              </a:extLst>
            </p:cNvPr>
            <p:cNvGrpSpPr/>
            <p:nvPr/>
          </p:nvGrpSpPr>
          <p:grpSpPr>
            <a:xfrm>
              <a:off x="5815757" y="4805638"/>
              <a:ext cx="842174" cy="851974"/>
              <a:chOff x="4111628" y="4803047"/>
              <a:chExt cx="842174" cy="851974"/>
            </a:xfrm>
          </p:grpSpPr>
          <p:sp>
            <p:nvSpPr>
              <p:cNvPr id="64" name="Freeform 63">
                <a:extLst>
                  <a:ext uri="{FF2B5EF4-FFF2-40B4-BE49-F238E27FC236}">
                    <a16:creationId xmlns:a16="http://schemas.microsoft.com/office/drawing/2014/main" id="{70675808-82EA-D149-9841-1BBE3F7DCA2F}"/>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5" name="Straight Connector 64">
                <a:extLst>
                  <a:ext uri="{FF2B5EF4-FFF2-40B4-BE49-F238E27FC236}">
                    <a16:creationId xmlns:a16="http://schemas.microsoft.com/office/drawing/2014/main" id="{8AE68F9E-06F7-1545-8D8D-00902C6D90A3}"/>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32EF4543-041D-8B43-8CC4-877142E679F4}"/>
                </a:ext>
              </a:extLst>
            </p:cNvPr>
            <p:cNvGrpSpPr/>
            <p:nvPr/>
          </p:nvGrpSpPr>
          <p:grpSpPr>
            <a:xfrm>
              <a:off x="6678918" y="4793293"/>
              <a:ext cx="828566" cy="851974"/>
              <a:chOff x="4111628" y="4803047"/>
              <a:chExt cx="842174" cy="851974"/>
            </a:xfrm>
          </p:grpSpPr>
          <p:sp>
            <p:nvSpPr>
              <p:cNvPr id="60" name="Freeform 59">
                <a:extLst>
                  <a:ext uri="{FF2B5EF4-FFF2-40B4-BE49-F238E27FC236}">
                    <a16:creationId xmlns:a16="http://schemas.microsoft.com/office/drawing/2014/main" id="{1FC6BAEE-2EA6-9A40-9F2E-9323AD251412}"/>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3" name="Straight Connector 62">
                <a:extLst>
                  <a:ext uri="{FF2B5EF4-FFF2-40B4-BE49-F238E27FC236}">
                    <a16:creationId xmlns:a16="http://schemas.microsoft.com/office/drawing/2014/main" id="{30E9A1B0-7A1F-A64E-A21C-56B80108553A}"/>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47C69A79-9B85-7049-BEA1-1E83A975FED9}"/>
                </a:ext>
              </a:extLst>
            </p:cNvPr>
            <p:cNvGrpSpPr/>
            <p:nvPr/>
          </p:nvGrpSpPr>
          <p:grpSpPr>
            <a:xfrm>
              <a:off x="7533201" y="4780948"/>
              <a:ext cx="828566" cy="851974"/>
              <a:chOff x="4111628" y="4803047"/>
              <a:chExt cx="842174" cy="851974"/>
            </a:xfrm>
          </p:grpSpPr>
          <p:sp>
            <p:nvSpPr>
              <p:cNvPr id="57" name="Freeform 56">
                <a:extLst>
                  <a:ext uri="{FF2B5EF4-FFF2-40B4-BE49-F238E27FC236}">
                    <a16:creationId xmlns:a16="http://schemas.microsoft.com/office/drawing/2014/main" id="{10C024C3-43D8-584D-BB47-25DD0DC40555}"/>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8" name="Straight Connector 57">
                <a:extLst>
                  <a:ext uri="{FF2B5EF4-FFF2-40B4-BE49-F238E27FC236}">
                    <a16:creationId xmlns:a16="http://schemas.microsoft.com/office/drawing/2014/main" id="{71DF2745-FBCE-E843-9F7F-31D872B044E6}"/>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sp>
          <p:nvSpPr>
            <p:cNvPr id="56" name="Freeform 55">
              <a:extLst>
                <a:ext uri="{FF2B5EF4-FFF2-40B4-BE49-F238E27FC236}">
                  <a16:creationId xmlns:a16="http://schemas.microsoft.com/office/drawing/2014/main" id="{D5B879B8-621B-914A-80D6-C9E50E57B598}"/>
                </a:ext>
              </a:extLst>
            </p:cNvPr>
            <p:cNvSpPr/>
            <p:nvPr/>
          </p:nvSpPr>
          <p:spPr>
            <a:xfrm>
              <a:off x="8387484" y="4790798"/>
              <a:ext cx="828566"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sp>
        <p:nvSpPr>
          <p:cNvPr id="70" name="Rectangle 3">
            <a:extLst>
              <a:ext uri="{FF2B5EF4-FFF2-40B4-BE49-F238E27FC236}">
                <a16:creationId xmlns:a16="http://schemas.microsoft.com/office/drawing/2014/main" id="{A7440B74-5491-9045-A31F-52B88A90E26D}"/>
              </a:ext>
            </a:extLst>
          </p:cNvPr>
          <p:cNvSpPr txBox="1">
            <a:spLocks noChangeArrowheads="1"/>
          </p:cNvSpPr>
          <p:nvPr/>
        </p:nvSpPr>
        <p:spPr>
          <a:xfrm>
            <a:off x="785990" y="3009900"/>
            <a:ext cx="11164126" cy="8983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after cutting rate/window in half on loss, initially ramp to to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faster</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then approach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slowly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 name="Slide Number Placeholder 2">
            <a:extLst>
              <a:ext uri="{FF2B5EF4-FFF2-40B4-BE49-F238E27FC236}">
                <a16:creationId xmlns:a16="http://schemas.microsoft.com/office/drawing/2014/main" id="{D0F43FDD-DDBC-1047-B2D5-FF3A372F77B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130</a:t>
            </a:fld>
            <a:endParaRPr lang="en-US" dirty="0"/>
          </a:p>
        </p:txBody>
      </p:sp>
    </p:spTree>
    <p:extLst>
      <p:ext uri="{BB962C8B-B14F-4D97-AF65-F5344CB8AC3E}">
        <p14:creationId xmlns:p14="http://schemas.microsoft.com/office/powerpoint/2010/main" val="2174061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0"/>
                                        </p:tgtEl>
                                        <p:attrNameLst>
                                          <p:attrName>style.visibility</p:attrName>
                                        </p:attrNameLst>
                                      </p:cBhvr>
                                      <p:to>
                                        <p:strVal val="visible"/>
                                      </p:to>
                                    </p:set>
                                    <p:animEffect transition="in" filter="dissolve">
                                      <p:cBhvr>
                                        <p:cTn id="12" dur="500"/>
                                        <p:tgtEl>
                                          <p:spTgt spid="7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dissolv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70"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1"/>
            <a:ext cx="11164126" cy="9525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12750" marR="0" lvl="0" indent="-2857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point in time when TCP window size will reach W</a:t>
            </a:r>
            <a:r>
              <a:rPr kumimoji="0" lang="en-US" altLang="en-US" sz="28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p>
          <a:p>
            <a:pPr marL="80327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itself is tunable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952087" y="3043946"/>
            <a:ext cx="10287826" cy="995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larger increases when further away from 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smaller increases (cautious) when nearer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06795CBC-1C6F-B74C-8827-0CEC2A5332FA}"/>
              </a:ext>
            </a:extLst>
          </p:cNvPr>
          <p:cNvGrpSpPr/>
          <p:nvPr/>
        </p:nvGrpSpPr>
        <p:grpSpPr>
          <a:xfrm>
            <a:off x="5030365" y="2893914"/>
            <a:ext cx="5714572" cy="3644759"/>
            <a:chOff x="5030365" y="2893914"/>
            <a:chExt cx="5714572" cy="3644759"/>
          </a:xfrm>
        </p:grpSpPr>
        <p:sp>
          <p:nvSpPr>
            <p:cNvPr id="74" name="TextBox 73">
              <a:extLst>
                <a:ext uri="{FF2B5EF4-FFF2-40B4-BE49-F238E27FC236}">
                  <a16:creationId xmlns:a16="http://schemas.microsoft.com/office/drawing/2014/main" id="{0C00F692-909C-D141-895A-8256B6EEFBF4}"/>
                </a:ext>
              </a:extLst>
            </p:cNvPr>
            <p:cNvSpPr txBox="1"/>
            <p:nvPr/>
          </p:nvSpPr>
          <p:spPr>
            <a:xfrm>
              <a:off x="5030365" y="5185258"/>
              <a:ext cx="808134" cy="887935"/>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TCP</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sending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31048FCC-58D4-4840-8FE9-95840FBDF3F7}"/>
                </a:ext>
              </a:extLst>
            </p:cNvPr>
            <p:cNvCxnSpPr/>
            <p:nvPr/>
          </p:nvCxnSpPr>
          <p:spPr>
            <a:xfrm>
              <a:off x="5801903" y="6262085"/>
              <a:ext cx="4597974" cy="0"/>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59F5CB0B-355B-4E41-BC79-5977C015BC4B}"/>
                </a:ext>
              </a:extLst>
            </p:cNvPr>
            <p:cNvCxnSpPr>
              <a:cxnSpLocks/>
            </p:cNvCxnSpPr>
            <p:nvPr/>
          </p:nvCxnSpPr>
          <p:spPr>
            <a:xfrm flipV="1">
              <a:off x="5801904" y="4039871"/>
              <a:ext cx="0" cy="2222517"/>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39" name="Freeform 38">
              <a:extLst>
                <a:ext uri="{FF2B5EF4-FFF2-40B4-BE49-F238E27FC236}">
                  <a16:creationId xmlns:a16="http://schemas.microsoft.com/office/drawing/2014/main" id="{364F1AB4-D6D0-A349-B4AA-DF5642C1F53E}"/>
                </a:ext>
              </a:extLst>
            </p:cNvPr>
            <p:cNvSpPr/>
            <p:nvPr/>
          </p:nvSpPr>
          <p:spPr>
            <a:xfrm>
              <a:off x="5815989" y="4445300"/>
              <a:ext cx="480875" cy="1811260"/>
            </a:xfrm>
            <a:custGeom>
              <a:avLst/>
              <a:gdLst>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2776"/>
                <a:gd name="connsiteX1" fmla="*/ 777551 w 860489"/>
                <a:gd name="connsiteY1" fmla="*/ 2384490 h 3182776"/>
                <a:gd name="connsiteX2" fmla="*/ 632408 w 860489"/>
                <a:gd name="connsiteY2" fmla="*/ 3084286 h 3182776"/>
                <a:gd name="connsiteX3" fmla="*/ 0 w 860489"/>
                <a:gd name="connsiteY3" fmla="*/ 3182776 h 3182776"/>
                <a:gd name="connsiteX0" fmla="*/ 860489 w 860489"/>
                <a:gd name="connsiteY0" fmla="*/ 0 h 3183334"/>
                <a:gd name="connsiteX1" fmla="*/ 777551 w 860489"/>
                <a:gd name="connsiteY1" fmla="*/ 2384490 h 3183334"/>
                <a:gd name="connsiteX2" fmla="*/ 632408 w 860489"/>
                <a:gd name="connsiteY2" fmla="*/ 3084286 h 3183334"/>
                <a:gd name="connsiteX3" fmla="*/ 0 w 860489"/>
                <a:gd name="connsiteY3" fmla="*/ 3182776 h 3183334"/>
                <a:gd name="connsiteX0" fmla="*/ 860489 w 860489"/>
                <a:gd name="connsiteY0" fmla="*/ 0 h 3185488"/>
                <a:gd name="connsiteX1" fmla="*/ 777551 w 860489"/>
                <a:gd name="connsiteY1" fmla="*/ 2384490 h 3185488"/>
                <a:gd name="connsiteX2" fmla="*/ 632408 w 860489"/>
                <a:gd name="connsiteY2" fmla="*/ 3084286 h 3185488"/>
                <a:gd name="connsiteX3" fmla="*/ 0 w 860489"/>
                <a:gd name="connsiteY3" fmla="*/ 3182776 h 3185488"/>
                <a:gd name="connsiteX0" fmla="*/ 860489 w 860489"/>
                <a:gd name="connsiteY0" fmla="*/ 0 h 3182776"/>
                <a:gd name="connsiteX1" fmla="*/ 777551 w 860489"/>
                <a:gd name="connsiteY1" fmla="*/ 2384490 h 3182776"/>
                <a:gd name="connsiteX2" fmla="*/ 664158 w 860489"/>
                <a:gd name="connsiteY2" fmla="*/ 3043011 h 3182776"/>
                <a:gd name="connsiteX3" fmla="*/ 0 w 860489"/>
                <a:gd name="connsiteY3" fmla="*/ 3182776 h 3182776"/>
                <a:gd name="connsiteX0" fmla="*/ 860489 w 860489"/>
                <a:gd name="connsiteY0" fmla="*/ 0 h 3184087"/>
                <a:gd name="connsiteX1" fmla="*/ 777551 w 860489"/>
                <a:gd name="connsiteY1" fmla="*/ 2384490 h 3184087"/>
                <a:gd name="connsiteX2" fmla="*/ 664158 w 860489"/>
                <a:gd name="connsiteY2" fmla="*/ 3043011 h 3184087"/>
                <a:gd name="connsiteX3" fmla="*/ 0 w 860489"/>
                <a:gd name="connsiteY3" fmla="*/ 3182776 h 3184087"/>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6401"/>
                <a:gd name="connsiteX1" fmla="*/ 793426 w 860489"/>
                <a:gd name="connsiteY1" fmla="*/ 2378140 h 3186401"/>
                <a:gd name="connsiteX2" fmla="*/ 664158 w 860489"/>
                <a:gd name="connsiteY2" fmla="*/ 3043011 h 3186401"/>
                <a:gd name="connsiteX3" fmla="*/ 0 w 860489"/>
                <a:gd name="connsiteY3" fmla="*/ 3182776 h 3186401"/>
                <a:gd name="connsiteX0" fmla="*/ 860489 w 860489"/>
                <a:gd name="connsiteY0" fmla="*/ 0 h 3188070"/>
                <a:gd name="connsiteX1" fmla="*/ 793426 w 860489"/>
                <a:gd name="connsiteY1" fmla="*/ 2378140 h 3188070"/>
                <a:gd name="connsiteX2" fmla="*/ 664158 w 860489"/>
                <a:gd name="connsiteY2" fmla="*/ 3043011 h 3188070"/>
                <a:gd name="connsiteX3" fmla="*/ 0 w 860489"/>
                <a:gd name="connsiteY3" fmla="*/ 3182776 h 3188070"/>
                <a:gd name="connsiteX0" fmla="*/ 860489 w 860489"/>
                <a:gd name="connsiteY0" fmla="*/ 0 h 3182776"/>
                <a:gd name="connsiteX1" fmla="*/ 793426 w 860489"/>
                <a:gd name="connsiteY1" fmla="*/ 2378140 h 3182776"/>
                <a:gd name="connsiteX2" fmla="*/ 676858 w 860489"/>
                <a:gd name="connsiteY2" fmla="*/ 2998561 h 3182776"/>
                <a:gd name="connsiteX3" fmla="*/ 0 w 860489"/>
                <a:gd name="connsiteY3" fmla="*/ 3182776 h 3182776"/>
                <a:gd name="connsiteX0" fmla="*/ 860489 w 860489"/>
                <a:gd name="connsiteY0" fmla="*/ 0 h 3192503"/>
                <a:gd name="connsiteX1" fmla="*/ 793426 w 860489"/>
                <a:gd name="connsiteY1" fmla="*/ 2378140 h 3192503"/>
                <a:gd name="connsiteX2" fmla="*/ 676858 w 860489"/>
                <a:gd name="connsiteY2" fmla="*/ 2998561 h 3192503"/>
                <a:gd name="connsiteX3" fmla="*/ 0 w 860489"/>
                <a:gd name="connsiteY3" fmla="*/ 3182776 h 3192503"/>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Lst>
              <a:ahLst/>
              <a:cxnLst>
                <a:cxn ang="0">
                  <a:pos x="connsiteX0" y="connsiteY0"/>
                </a:cxn>
                <a:cxn ang="0">
                  <a:pos x="connsiteX1" y="connsiteY1"/>
                </a:cxn>
                <a:cxn ang="0">
                  <a:pos x="connsiteX2" y="connsiteY2"/>
                </a:cxn>
                <a:cxn ang="0">
                  <a:pos x="connsiteX3" y="connsiteY3"/>
                </a:cxn>
              </a:cxnLst>
              <a:rect l="l" t="t" r="r" b="b"/>
              <a:pathLst>
                <a:path w="892239" h="3160756">
                  <a:moveTo>
                    <a:pt x="892239" y="0"/>
                  </a:moveTo>
                  <a:cubicBezTo>
                    <a:pt x="857076" y="951096"/>
                    <a:pt x="829323" y="1859859"/>
                    <a:pt x="793426" y="2355915"/>
                  </a:cubicBezTo>
                  <a:cubicBezTo>
                    <a:pt x="757529" y="2851971"/>
                    <a:pt x="751946" y="2746980"/>
                    <a:pt x="676858" y="2976336"/>
                  </a:cubicBezTo>
                  <a:cubicBezTo>
                    <a:pt x="601770" y="3205692"/>
                    <a:pt x="160327" y="3152732"/>
                    <a:pt x="0" y="3160551"/>
                  </a:cubicBezTo>
                </a:path>
              </a:pathLst>
            </a:custGeom>
            <a:ln>
              <a:solidFill>
                <a:schemeClr val="accent3">
                  <a:lumMod val="7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4FD05EC6-A68B-5849-8856-938B7C45AE89}"/>
                </a:ext>
              </a:extLst>
            </p:cNvPr>
            <p:cNvCxnSpPr/>
            <p:nvPr/>
          </p:nvCxnSpPr>
          <p:spPr>
            <a:xfrm>
              <a:off x="6296864" y="4404648"/>
              <a:ext cx="2774587" cy="0"/>
            </a:xfrm>
            <a:prstGeom prst="line">
              <a:avLst/>
            </a:prstGeom>
            <a:ln w="127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53" name="Group 52">
              <a:extLst>
                <a:ext uri="{FF2B5EF4-FFF2-40B4-BE49-F238E27FC236}">
                  <a16:creationId xmlns:a16="http://schemas.microsoft.com/office/drawing/2014/main" id="{652EAE58-A2EB-554B-B3B8-3454BFE59DEC}"/>
                </a:ext>
              </a:extLst>
            </p:cNvPr>
            <p:cNvGrpSpPr/>
            <p:nvPr/>
          </p:nvGrpSpPr>
          <p:grpSpPr>
            <a:xfrm>
              <a:off x="6350326" y="4445306"/>
              <a:ext cx="795772" cy="900465"/>
              <a:chOff x="1257299" y="2448186"/>
              <a:chExt cx="919846" cy="1571364"/>
            </a:xfrm>
          </p:grpSpPr>
          <p:cxnSp>
            <p:nvCxnSpPr>
              <p:cNvPr id="55" name="Straight Connector 54">
                <a:extLst>
                  <a:ext uri="{FF2B5EF4-FFF2-40B4-BE49-F238E27FC236}">
                    <a16:creationId xmlns:a16="http://schemas.microsoft.com/office/drawing/2014/main" id="{2DF299DC-3781-6341-8E4F-B2C15D6BF7C2}"/>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56" name="Freeform 55">
                <a:extLst>
                  <a:ext uri="{FF2B5EF4-FFF2-40B4-BE49-F238E27FC236}">
                    <a16:creationId xmlns:a16="http://schemas.microsoft.com/office/drawing/2014/main" id="{A529C10A-08D6-9A4C-9568-A25D96C81B35}"/>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DD4080B1-FADE-D842-AD17-92CA8673682C}"/>
                </a:ext>
              </a:extLst>
            </p:cNvPr>
            <p:cNvGrpSpPr/>
            <p:nvPr/>
          </p:nvGrpSpPr>
          <p:grpSpPr>
            <a:xfrm>
              <a:off x="7112500" y="4441667"/>
              <a:ext cx="795772" cy="900465"/>
              <a:chOff x="1257299" y="2448186"/>
              <a:chExt cx="919846" cy="1571364"/>
            </a:xfrm>
          </p:grpSpPr>
          <p:cxnSp>
            <p:nvCxnSpPr>
              <p:cNvPr id="58" name="Straight Connector 57">
                <a:extLst>
                  <a:ext uri="{FF2B5EF4-FFF2-40B4-BE49-F238E27FC236}">
                    <a16:creationId xmlns:a16="http://schemas.microsoft.com/office/drawing/2014/main" id="{E69763F8-75EA-0E4A-853F-08C23DD4122F}"/>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0" name="Freeform 59">
                <a:extLst>
                  <a:ext uri="{FF2B5EF4-FFF2-40B4-BE49-F238E27FC236}">
                    <a16:creationId xmlns:a16="http://schemas.microsoft.com/office/drawing/2014/main" id="{35886E94-53B2-7946-B709-218428F049FE}"/>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0F7884A7-F440-334D-B642-94893B5E3BD9}"/>
                </a:ext>
              </a:extLst>
            </p:cNvPr>
            <p:cNvGrpSpPr/>
            <p:nvPr/>
          </p:nvGrpSpPr>
          <p:grpSpPr>
            <a:xfrm>
              <a:off x="7915954" y="4439699"/>
              <a:ext cx="795772" cy="900465"/>
              <a:chOff x="1257299" y="2448186"/>
              <a:chExt cx="919846" cy="1571364"/>
            </a:xfrm>
          </p:grpSpPr>
          <p:cxnSp>
            <p:nvCxnSpPr>
              <p:cNvPr id="64" name="Straight Connector 63">
                <a:extLst>
                  <a:ext uri="{FF2B5EF4-FFF2-40B4-BE49-F238E27FC236}">
                    <a16:creationId xmlns:a16="http://schemas.microsoft.com/office/drawing/2014/main" id="{DBAB8346-F851-4A4A-94B7-DB13B78B3A1D}"/>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5" name="Freeform 64">
                <a:extLst>
                  <a:ext uri="{FF2B5EF4-FFF2-40B4-BE49-F238E27FC236}">
                    <a16:creationId xmlns:a16="http://schemas.microsoft.com/office/drawing/2014/main" id="{5DE2B57B-8EF4-444E-B851-4E3DDA763568}"/>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Group 65">
              <a:extLst>
                <a:ext uri="{FF2B5EF4-FFF2-40B4-BE49-F238E27FC236}">
                  <a16:creationId xmlns:a16="http://schemas.microsoft.com/office/drawing/2014/main" id="{360233D6-13BE-BE49-A1A4-3A07A4A60704}"/>
                </a:ext>
              </a:extLst>
            </p:cNvPr>
            <p:cNvGrpSpPr/>
            <p:nvPr/>
          </p:nvGrpSpPr>
          <p:grpSpPr>
            <a:xfrm>
              <a:off x="8750371" y="4432898"/>
              <a:ext cx="795772" cy="900465"/>
              <a:chOff x="1257299" y="2448186"/>
              <a:chExt cx="919846" cy="1571364"/>
            </a:xfrm>
          </p:grpSpPr>
          <p:cxnSp>
            <p:nvCxnSpPr>
              <p:cNvPr id="67" name="Straight Connector 66">
                <a:extLst>
                  <a:ext uri="{FF2B5EF4-FFF2-40B4-BE49-F238E27FC236}">
                    <a16:creationId xmlns:a16="http://schemas.microsoft.com/office/drawing/2014/main" id="{7592834D-6AF8-EC4B-A694-A322F44A9728}"/>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8" name="Freeform 67">
                <a:extLst>
                  <a:ext uri="{FF2B5EF4-FFF2-40B4-BE49-F238E27FC236}">
                    <a16:creationId xmlns:a16="http://schemas.microsoft.com/office/drawing/2014/main" id="{DC312EC2-306B-AB46-9E55-8D70D2C647CA}"/>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E51034EA-88C3-9948-BD04-CB0734C3B06B}"/>
                </a:ext>
              </a:extLst>
            </p:cNvPr>
            <p:cNvGrpSpPr/>
            <p:nvPr/>
          </p:nvGrpSpPr>
          <p:grpSpPr>
            <a:xfrm rot="10800000">
              <a:off x="9544542" y="3096950"/>
              <a:ext cx="1128132" cy="1337145"/>
              <a:chOff x="873118" y="2448184"/>
              <a:chExt cx="1304027" cy="2333396"/>
            </a:xfrm>
          </p:grpSpPr>
          <p:cxnSp>
            <p:nvCxnSpPr>
              <p:cNvPr id="70" name="Straight Connector 69">
                <a:extLst>
                  <a:ext uri="{FF2B5EF4-FFF2-40B4-BE49-F238E27FC236}">
                    <a16:creationId xmlns:a16="http://schemas.microsoft.com/office/drawing/2014/main" id="{45185064-8B1C-694D-B7B9-BC34AB781C04}"/>
                  </a:ext>
                </a:extLst>
              </p:cNvPr>
              <p:cNvCxnSpPr/>
              <p:nvPr/>
            </p:nvCxnSpPr>
            <p:spPr>
              <a:xfrm rot="10800000" flipV="1">
                <a:off x="873118" y="2448184"/>
                <a:ext cx="1304027" cy="2333396"/>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71" name="Freeform 70">
                <a:extLst>
                  <a:ext uri="{FF2B5EF4-FFF2-40B4-BE49-F238E27FC236}">
                    <a16:creationId xmlns:a16="http://schemas.microsoft.com/office/drawing/2014/main" id="{E1B54475-17A0-F34F-96E0-44994E90BFC9}"/>
                  </a:ext>
                </a:extLst>
              </p:cNvPr>
              <p:cNvSpPr/>
              <p:nvPr/>
            </p:nvSpPr>
            <p:spPr>
              <a:xfrm>
                <a:off x="1252647" y="2450273"/>
                <a:ext cx="858729" cy="1600620"/>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53813 w 1153813"/>
                  <a:gd name="connsiteY0" fmla="*/ 0 h 2154669"/>
                  <a:gd name="connsiteX1" fmla="*/ 0 w 1153813"/>
                  <a:gd name="connsiteY1" fmla="*/ 2154669 h 2154669"/>
                </a:gdLst>
                <a:ahLst/>
                <a:cxnLst>
                  <a:cxn ang="0">
                    <a:pos x="connsiteX0" y="connsiteY0"/>
                  </a:cxn>
                  <a:cxn ang="0">
                    <a:pos x="connsiteX1" y="connsiteY1"/>
                  </a:cxn>
                </a:cxnLst>
                <a:rect l="l" t="t" r="r" b="b"/>
                <a:pathLst>
                  <a:path w="1153813" h="2154669">
                    <a:moveTo>
                      <a:pt x="1153813" y="0"/>
                    </a:moveTo>
                    <a:cubicBezTo>
                      <a:pt x="-31946" y="56892"/>
                      <a:pt x="50361" y="598465"/>
                      <a:pt x="0" y="2154669"/>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72" name="Straight Connector 71">
              <a:extLst>
                <a:ext uri="{FF2B5EF4-FFF2-40B4-BE49-F238E27FC236}">
                  <a16:creationId xmlns:a16="http://schemas.microsoft.com/office/drawing/2014/main" id="{1DFE095F-2D1A-1D4C-9A9A-C62873E0BA38}"/>
                </a:ext>
              </a:extLst>
            </p:cNvPr>
            <p:cNvCxnSpPr/>
            <p:nvPr/>
          </p:nvCxnSpPr>
          <p:spPr>
            <a:xfrm flipH="1">
              <a:off x="10340170" y="2893914"/>
              <a:ext cx="30503" cy="717091"/>
            </a:xfrm>
            <a:prstGeom prst="line">
              <a:avLst/>
            </a:pr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44614631-1328-024A-AD9F-B0CFCCFC596B}"/>
                </a:ext>
              </a:extLst>
            </p:cNvPr>
            <p:cNvSpPr txBox="1"/>
            <p:nvPr/>
          </p:nvSpPr>
          <p:spPr>
            <a:xfrm>
              <a:off x="9881790" y="5941210"/>
              <a:ext cx="51809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time</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41BB1097-C057-5147-9BCD-E5C490AEDE69}"/>
                </a:ext>
              </a:extLst>
            </p:cNvPr>
            <p:cNvSpPr txBox="1"/>
            <p:nvPr/>
          </p:nvSpPr>
          <p:spPr>
            <a:xfrm>
              <a:off x="9472281" y="4611687"/>
              <a:ext cx="1272656" cy="938719"/>
            </a:xfrm>
            <a:prstGeom prst="rect">
              <a:avLst/>
            </a:prstGeom>
            <a:noFill/>
          </p:spPr>
          <p:txBody>
            <a:bodyPr wrap="none" rtlCol="0">
              <a:spAutoFit/>
            </a:bodyPr>
            <a:lstStyle/>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TCP Reno</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mn-cs"/>
                </a:rPr>
                <a:t>TCP CUBIC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Box 75">
              <a:extLst>
                <a:ext uri="{FF2B5EF4-FFF2-40B4-BE49-F238E27FC236}">
                  <a16:creationId xmlns:a16="http://schemas.microsoft.com/office/drawing/2014/main" id="{E65F2412-0F58-C149-8867-B61A2C75E6EC}"/>
                </a:ext>
              </a:extLst>
            </p:cNvPr>
            <p:cNvSpPr txBox="1"/>
            <p:nvPr/>
          </p:nvSpPr>
          <p:spPr>
            <a:xfrm>
              <a:off x="5297976" y="4213131"/>
              <a:ext cx="549173"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max</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17DBE2E0-494D-FA44-BFFB-683AF749D1D8}"/>
                </a:ext>
              </a:extLst>
            </p:cNvPr>
            <p:cNvSpPr txBox="1"/>
            <p:nvPr/>
          </p:nvSpPr>
          <p:spPr>
            <a:xfrm>
              <a:off x="6180953" y="6255332"/>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8" name="TextBox 77">
              <a:extLst>
                <a:ext uri="{FF2B5EF4-FFF2-40B4-BE49-F238E27FC236}">
                  <a16:creationId xmlns:a16="http://schemas.microsoft.com/office/drawing/2014/main" id="{3EF3C689-6B08-054B-A295-70385BDFB1E3}"/>
                </a:ext>
              </a:extLst>
            </p:cNvPr>
            <p:cNvSpPr txBox="1"/>
            <p:nvPr/>
          </p:nvSpPr>
          <p:spPr>
            <a:xfrm>
              <a:off x="6997088" y="625782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1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40A4823D-67A2-DF4C-BA75-8B64BC8EB2AA}"/>
                </a:ext>
              </a:extLst>
            </p:cNvPr>
            <p:cNvSpPr txBox="1"/>
            <p:nvPr/>
          </p:nvSpPr>
          <p:spPr>
            <a:xfrm>
              <a:off x="7796251" y="625714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2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0" name="TextBox 79">
              <a:extLst>
                <a:ext uri="{FF2B5EF4-FFF2-40B4-BE49-F238E27FC236}">
                  <a16:creationId xmlns:a16="http://schemas.microsoft.com/office/drawing/2014/main" id="{D8730D84-4B2F-F440-A574-FDFAF6E53A48}"/>
                </a:ext>
              </a:extLst>
            </p:cNvPr>
            <p:cNvSpPr txBox="1"/>
            <p:nvPr/>
          </p:nvSpPr>
          <p:spPr>
            <a:xfrm>
              <a:off x="8625086" y="625646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3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F758EBF6-5D1E-8E42-BF23-8B6F286B1443}"/>
                </a:ext>
              </a:extLst>
            </p:cNvPr>
            <p:cNvSpPr txBox="1"/>
            <p:nvPr/>
          </p:nvSpPr>
          <p:spPr>
            <a:xfrm>
              <a:off x="9424249" y="625646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4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84" name="Rectangle 3">
            <a:extLst>
              <a:ext uri="{FF2B5EF4-FFF2-40B4-BE49-F238E27FC236}">
                <a16:creationId xmlns:a16="http://schemas.microsoft.com/office/drawing/2014/main" id="{38863743-CAFF-054A-AD43-DD61D083D1B0}"/>
              </a:ext>
            </a:extLst>
          </p:cNvPr>
          <p:cNvSpPr txBox="1">
            <a:spLocks noChangeArrowheads="1"/>
          </p:cNvSpPr>
          <p:nvPr/>
        </p:nvSpPr>
        <p:spPr>
          <a:xfrm>
            <a:off x="797674" y="3941197"/>
            <a:ext cx="3455844"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CUBIC default in Linux, most popular TCP for popular Web servers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1" name="Rectangle 3">
            <a:extLst>
              <a:ext uri="{FF2B5EF4-FFF2-40B4-BE49-F238E27FC236}">
                <a16:creationId xmlns:a16="http://schemas.microsoft.com/office/drawing/2014/main" id="{C54D7C1F-CA72-B74A-9DE5-9484E6A6EE53}"/>
              </a:ext>
            </a:extLst>
          </p:cNvPr>
          <p:cNvSpPr txBox="1">
            <a:spLocks noChangeArrowheads="1"/>
          </p:cNvSpPr>
          <p:nvPr/>
        </p:nvSpPr>
        <p:spPr>
          <a:xfrm>
            <a:off x="785990" y="2146300"/>
            <a:ext cx="11164126"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W as a function of the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cube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the distance between current time  and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2" name="Slide Number Placeholder 2">
            <a:extLst>
              <a:ext uri="{FF2B5EF4-FFF2-40B4-BE49-F238E27FC236}">
                <a16:creationId xmlns:a16="http://schemas.microsoft.com/office/drawing/2014/main" id="{6C8A1230-DDC6-A54E-9B81-5573345B76B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131</a:t>
            </a:fld>
            <a:endParaRPr lang="en-US" dirty="0"/>
          </a:p>
        </p:txBody>
      </p:sp>
    </p:spTree>
    <p:extLst>
      <p:ext uri="{BB962C8B-B14F-4D97-AF65-F5344CB8AC3E}">
        <p14:creationId xmlns:p14="http://schemas.microsoft.com/office/powerpoint/2010/main" val="182315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dissolv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4"/>
                                        </p:tgtEl>
                                        <p:attrNameLst>
                                          <p:attrName>style.visibility</p:attrName>
                                        </p:attrNameLst>
                                      </p:cBhvr>
                                      <p:to>
                                        <p:strVal val="visible"/>
                                      </p:to>
                                    </p:set>
                                    <p:animEffect transition="in" filter="dissolve">
                                      <p:cBhvr>
                                        <p:cTn id="2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84" grpId="0"/>
      <p:bldP spid="41"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4E84376-3A6A-7040-9ABB-E96A5030BD6F}"/>
              </a:ext>
            </a:extLst>
          </p:cNvPr>
          <p:cNvGrpSpPr/>
          <p:nvPr/>
        </p:nvGrpSpPr>
        <p:grpSpPr>
          <a:xfrm>
            <a:off x="4094463" y="4663823"/>
            <a:ext cx="2885057" cy="1508681"/>
            <a:chOff x="4094463" y="4663823"/>
            <a:chExt cx="2885057" cy="1508681"/>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6" name="Freeform 91">
              <a:extLst>
                <a:ext uri="{FF2B5EF4-FFF2-40B4-BE49-F238E27FC236}">
                  <a16:creationId xmlns:a16="http://schemas.microsoft.com/office/drawing/2014/main" id="{B2C57ABF-178C-0F48-BF12-F94AEC32D063}"/>
                </a:ext>
              </a:extLst>
            </p:cNvPr>
            <p:cNvSpPr>
              <a:spLocks/>
            </p:cNvSpPr>
            <p:nvPr/>
          </p:nvSpPr>
          <p:spPr bwMode="auto">
            <a:xfrm flipV="1">
              <a:off x="4860724" y="5735086"/>
              <a:ext cx="178041" cy="104043"/>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91">
              <a:extLst>
                <a:ext uri="{FF2B5EF4-FFF2-40B4-BE49-F238E27FC236}">
                  <a16:creationId xmlns:a16="http://schemas.microsoft.com/office/drawing/2014/main" id="{4D868815-1055-9D47-99AB-5BB4F56217F9}"/>
                </a:ext>
              </a:extLst>
            </p:cNvPr>
            <p:cNvSpPr>
              <a:spLocks/>
            </p:cNvSpPr>
            <p:nvPr/>
          </p:nvSpPr>
          <p:spPr bwMode="auto">
            <a:xfrm flipV="1">
              <a:off x="5445456" y="4663823"/>
              <a:ext cx="45719" cy="202880"/>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8" name="Freeform 92">
              <a:extLst>
                <a:ext uri="{FF2B5EF4-FFF2-40B4-BE49-F238E27FC236}">
                  <a16:creationId xmlns:a16="http://schemas.microsoft.com/office/drawing/2014/main" id="{413D91FB-83FD-B343-90EB-BB6C16387196}"/>
                </a:ext>
              </a:extLst>
            </p:cNvPr>
            <p:cNvSpPr>
              <a:spLocks/>
            </p:cNvSpPr>
            <p:nvPr/>
          </p:nvSpPr>
          <p:spPr bwMode="auto">
            <a:xfrm>
              <a:off x="5532311" y="5746564"/>
              <a:ext cx="336683" cy="244860"/>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6"/>
            <a:ext cx="5073926" cy="1202035"/>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9667"/>
              <a:gd name="connsiteX1" fmla="*/ 6961 w 5156094"/>
              <a:gd name="connsiteY1" fmla="*/ 1166894 h 1559667"/>
              <a:gd name="connsiteX2" fmla="*/ 1387547 w 5156094"/>
              <a:gd name="connsiteY2" fmla="*/ 115085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3959"/>
              <a:gd name="connsiteX1" fmla="*/ 6961 w 5156094"/>
              <a:gd name="connsiteY1" fmla="*/ 1166894 h 1553959"/>
              <a:gd name="connsiteX2" fmla="*/ 1387547 w 5156094"/>
              <a:gd name="connsiteY2" fmla="*/ 1150854 h 1553959"/>
              <a:gd name="connsiteX3" fmla="*/ 1824854 w 5156094"/>
              <a:gd name="connsiteY3" fmla="*/ 1458577 h 1553959"/>
              <a:gd name="connsiteX4" fmla="*/ 2145216 w 5156094"/>
              <a:gd name="connsiteY4" fmla="*/ 1553959 h 1553959"/>
              <a:gd name="connsiteX5" fmla="*/ 2930257 w 5156094"/>
              <a:gd name="connsiteY5" fmla="*/ 1152811 h 1553959"/>
              <a:gd name="connsiteX6" fmla="*/ 5156094 w 5156094"/>
              <a:gd name="connsiteY6" fmla="*/ 1198456 h 1553959"/>
              <a:gd name="connsiteX7" fmla="*/ 5126381 w 5156094"/>
              <a:gd name="connsiteY7" fmla="*/ 64084 h 1553959"/>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930257 w 5156094"/>
              <a:gd name="connsiteY5" fmla="*/ 1152811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063570 w 5156094"/>
              <a:gd name="connsiteY4" fmla="*/ 144367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43677"/>
              <a:gd name="connsiteX1" fmla="*/ 6961 w 5156094"/>
              <a:gd name="connsiteY1" fmla="*/ 1166894 h 1443677"/>
              <a:gd name="connsiteX2" fmla="*/ 1387547 w 5156094"/>
              <a:gd name="connsiteY2" fmla="*/ 1150854 h 1443677"/>
              <a:gd name="connsiteX3" fmla="*/ 1832629 w 5156094"/>
              <a:gd name="connsiteY3" fmla="*/ 1440196 h 1443677"/>
              <a:gd name="connsiteX4" fmla="*/ 2063570 w 5156094"/>
              <a:gd name="connsiteY4" fmla="*/ 1443677 h 1443677"/>
              <a:gd name="connsiteX5" fmla="*/ 2809732 w 5156094"/>
              <a:gd name="connsiteY5" fmla="*/ 1093074 h 1443677"/>
              <a:gd name="connsiteX6" fmla="*/ 5156094 w 5156094"/>
              <a:gd name="connsiteY6" fmla="*/ 1198456 h 1443677"/>
              <a:gd name="connsiteX7" fmla="*/ 5126381 w 5156094"/>
              <a:gd name="connsiteY7" fmla="*/ 64084 h 144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443677">
                <a:moveTo>
                  <a:pt x="0" y="0"/>
                </a:moveTo>
                <a:cubicBezTo>
                  <a:pt x="2320" y="388965"/>
                  <a:pt x="4641" y="777929"/>
                  <a:pt x="6961" y="1166894"/>
                </a:cubicBezTo>
                <a:lnTo>
                  <a:pt x="1387547" y="1150854"/>
                </a:lnTo>
                <a:lnTo>
                  <a:pt x="1832629" y="1440196"/>
                </a:lnTo>
                <a:lnTo>
                  <a:pt x="2063570" y="1443677"/>
                </a:lnTo>
                <a:lnTo>
                  <a:pt x="2809732" y="1093074"/>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4" name="TextBox 123">
            <a:extLst>
              <a:ext uri="{FF2B5EF4-FFF2-40B4-BE49-F238E27FC236}">
                <a16:creationId xmlns:a16="http://schemas.microsoft.com/office/drawing/2014/main" id="{02FCACC2-D909-7B41-AC13-34D894243B2B}"/>
              </a:ext>
            </a:extLst>
          </p:cNvPr>
          <p:cNvSpPr txBox="1"/>
          <p:nvPr/>
        </p:nvSpPr>
        <p:spPr>
          <a:xfrm>
            <a:off x="4692557" y="6277338"/>
            <a:ext cx="318138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bottleneck link (almost always busy)</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3284F9A-6893-1E4D-8B94-17F64D75D82E}"/>
              </a:ext>
            </a:extLst>
          </p:cNvPr>
          <p:cNvCxnSpPr>
            <a:cxnSpLocks/>
          </p:cNvCxnSpPr>
          <p:nvPr/>
        </p:nvCxnSpPr>
        <p:spPr>
          <a:xfrm>
            <a:off x="5609507" y="5767851"/>
            <a:ext cx="0" cy="566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F4DEBF33-EEFE-AC4E-A6EE-FBEFE3D21B68}"/>
              </a:ext>
            </a:extLst>
          </p:cNvPr>
          <p:cNvGrpSpPr/>
          <p:nvPr/>
        </p:nvGrpSpPr>
        <p:grpSpPr>
          <a:xfrm>
            <a:off x="860107" y="5151058"/>
            <a:ext cx="4764459" cy="830997"/>
            <a:chOff x="703842" y="5262044"/>
            <a:chExt cx="4764459" cy="830997"/>
          </a:xfrm>
        </p:grpSpPr>
        <p:sp>
          <p:nvSpPr>
            <p:cNvPr id="135" name="TextBox 134">
              <a:extLst>
                <a:ext uri="{FF2B5EF4-FFF2-40B4-BE49-F238E27FC236}">
                  <a16:creationId xmlns:a16="http://schemas.microsoft.com/office/drawing/2014/main" id="{7C56DC91-6524-264F-BD66-68BD34152AAA}"/>
                </a:ext>
              </a:extLst>
            </p:cNvPr>
            <p:cNvSpPr txBox="1"/>
            <p:nvPr/>
          </p:nvSpPr>
          <p:spPr>
            <a:xfrm>
              <a:off x="703842" y="5262044"/>
              <a:ext cx="2330267" cy="83099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packet queue almost never empty, sometimes overflows packet (loss)</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03C26690-6ACA-ED46-8053-4773384B91BB}"/>
                </a:ext>
              </a:extLst>
            </p:cNvPr>
            <p:cNvGrpSpPr/>
            <p:nvPr/>
          </p:nvGrpSpPr>
          <p:grpSpPr>
            <a:xfrm>
              <a:off x="4921820" y="5505951"/>
              <a:ext cx="546481" cy="386071"/>
              <a:chOff x="4621648" y="3046041"/>
              <a:chExt cx="1120964" cy="769030"/>
            </a:xfrm>
          </p:grpSpPr>
          <p:grpSp>
            <p:nvGrpSpPr>
              <p:cNvPr id="199" name="Group 58">
                <a:extLst>
                  <a:ext uri="{FF2B5EF4-FFF2-40B4-BE49-F238E27FC236}">
                    <a16:creationId xmlns:a16="http://schemas.microsoft.com/office/drawing/2014/main" id="{9C8DCF2E-441E-E74C-B545-52E572FFE3EF}"/>
                  </a:ext>
                </a:extLst>
              </p:cNvPr>
              <p:cNvGrpSpPr>
                <a:grpSpLocks/>
              </p:cNvGrpSpPr>
              <p:nvPr/>
            </p:nvGrpSpPr>
            <p:grpSpPr bwMode="auto">
              <a:xfrm>
                <a:off x="5247312" y="3046041"/>
                <a:ext cx="495300" cy="760413"/>
                <a:chOff x="333961" y="4406169"/>
                <a:chExt cx="1255305" cy="2136353"/>
              </a:xfrm>
            </p:grpSpPr>
            <p:sp>
              <p:nvSpPr>
                <p:cNvPr id="200" name="Freeform 199">
                  <a:extLst>
                    <a:ext uri="{FF2B5EF4-FFF2-40B4-BE49-F238E27FC236}">
                      <a16:creationId xmlns:a16="http://schemas.microsoft.com/office/drawing/2014/main" id="{4B041975-A7A0-664F-80BD-680D4E755238}"/>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1" name="Freeform 200">
                  <a:extLst>
                    <a:ext uri="{FF2B5EF4-FFF2-40B4-BE49-F238E27FC236}">
                      <a16:creationId xmlns:a16="http://schemas.microsoft.com/office/drawing/2014/main" id="{1FFD2B64-546C-2643-AD7C-08944962BECA}"/>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2" name="Rectangle 68">
                  <a:extLst>
                    <a:ext uri="{FF2B5EF4-FFF2-40B4-BE49-F238E27FC236}">
                      <a16:creationId xmlns:a16="http://schemas.microsoft.com/office/drawing/2014/main" id="{4B96C577-1D41-C041-9B20-7071CF6D3F91}"/>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4" name="Group 58">
                <a:extLst>
                  <a:ext uri="{FF2B5EF4-FFF2-40B4-BE49-F238E27FC236}">
                    <a16:creationId xmlns:a16="http://schemas.microsoft.com/office/drawing/2014/main" id="{28D67BA5-B51E-1F4B-9F91-6C8CB9B77825}"/>
                  </a:ext>
                </a:extLst>
              </p:cNvPr>
              <p:cNvGrpSpPr>
                <a:grpSpLocks/>
              </p:cNvGrpSpPr>
              <p:nvPr/>
            </p:nvGrpSpPr>
            <p:grpSpPr bwMode="auto">
              <a:xfrm>
                <a:off x="5041006" y="3051076"/>
                <a:ext cx="495300" cy="760413"/>
                <a:chOff x="333961" y="4406169"/>
                <a:chExt cx="1255305" cy="2136353"/>
              </a:xfrm>
            </p:grpSpPr>
            <p:sp>
              <p:nvSpPr>
                <p:cNvPr id="152" name="Freeform 151">
                  <a:extLst>
                    <a:ext uri="{FF2B5EF4-FFF2-40B4-BE49-F238E27FC236}">
                      <a16:creationId xmlns:a16="http://schemas.microsoft.com/office/drawing/2014/main" id="{56F3A370-4056-4D4B-9032-355AAB97EFC1}"/>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3" name="Freeform 152">
                  <a:extLst>
                    <a:ext uri="{FF2B5EF4-FFF2-40B4-BE49-F238E27FC236}">
                      <a16:creationId xmlns:a16="http://schemas.microsoft.com/office/drawing/2014/main" id="{FC9A9D04-FD70-E345-8B40-8B52B4895FD3}"/>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4" name="Rectangle 68">
                  <a:extLst>
                    <a:ext uri="{FF2B5EF4-FFF2-40B4-BE49-F238E27FC236}">
                      <a16:creationId xmlns:a16="http://schemas.microsoft.com/office/drawing/2014/main" id="{DB9F22EB-34DD-B44E-B8F0-F93A80887B1A}"/>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7" name="Group 61">
                <a:extLst>
                  <a:ext uri="{FF2B5EF4-FFF2-40B4-BE49-F238E27FC236}">
                    <a16:creationId xmlns:a16="http://schemas.microsoft.com/office/drawing/2014/main" id="{8EBA6A47-608B-5949-888D-EE10ACCBFCAC}"/>
                  </a:ext>
                </a:extLst>
              </p:cNvPr>
              <p:cNvGrpSpPr>
                <a:grpSpLocks/>
              </p:cNvGrpSpPr>
              <p:nvPr/>
            </p:nvGrpSpPr>
            <p:grpSpPr bwMode="auto">
              <a:xfrm>
                <a:off x="4816091" y="3049780"/>
                <a:ext cx="494208" cy="761128"/>
                <a:chOff x="335231" y="4405745"/>
                <a:chExt cx="1252537" cy="2138362"/>
              </a:xfrm>
            </p:grpSpPr>
            <p:sp>
              <p:nvSpPr>
                <p:cNvPr id="149" name="Freeform 148">
                  <a:extLst>
                    <a:ext uri="{FF2B5EF4-FFF2-40B4-BE49-F238E27FC236}">
                      <a16:creationId xmlns:a16="http://schemas.microsoft.com/office/drawing/2014/main" id="{8B0E7BF7-08BC-9E4B-BA69-36C0B14D8D1C}"/>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0" name="Freeform 149">
                  <a:extLst>
                    <a:ext uri="{FF2B5EF4-FFF2-40B4-BE49-F238E27FC236}">
                      <a16:creationId xmlns:a16="http://schemas.microsoft.com/office/drawing/2014/main" id="{671F6074-CF54-2643-81D7-12EC582C9E91}"/>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1" name="Rectangle 65">
                  <a:extLst>
                    <a:ext uri="{FF2B5EF4-FFF2-40B4-BE49-F238E27FC236}">
                      <a16:creationId xmlns:a16="http://schemas.microsoft.com/office/drawing/2014/main" id="{24B1948E-031B-0E41-806A-4FBC399FCA5C}"/>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203" name="Group 61">
                <a:extLst>
                  <a:ext uri="{FF2B5EF4-FFF2-40B4-BE49-F238E27FC236}">
                    <a16:creationId xmlns:a16="http://schemas.microsoft.com/office/drawing/2014/main" id="{A84018EA-3016-6944-815C-BDA0454861B8}"/>
                  </a:ext>
                </a:extLst>
              </p:cNvPr>
              <p:cNvGrpSpPr>
                <a:grpSpLocks/>
              </p:cNvGrpSpPr>
              <p:nvPr/>
            </p:nvGrpSpPr>
            <p:grpSpPr bwMode="auto">
              <a:xfrm>
                <a:off x="4621648" y="3053943"/>
                <a:ext cx="494208" cy="761128"/>
                <a:chOff x="335231" y="4405745"/>
                <a:chExt cx="1252537" cy="2138362"/>
              </a:xfrm>
            </p:grpSpPr>
            <p:sp>
              <p:nvSpPr>
                <p:cNvPr id="204" name="Freeform 203">
                  <a:extLst>
                    <a:ext uri="{FF2B5EF4-FFF2-40B4-BE49-F238E27FC236}">
                      <a16:creationId xmlns:a16="http://schemas.microsoft.com/office/drawing/2014/main" id="{A877B87A-03DB-5F4A-A8C2-6E39BA84A1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5" name="Freeform 204">
                  <a:extLst>
                    <a:ext uri="{FF2B5EF4-FFF2-40B4-BE49-F238E27FC236}">
                      <a16:creationId xmlns:a16="http://schemas.microsoft.com/office/drawing/2014/main" id="{D4629751-292C-9C46-8380-46F69573297B}"/>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6" name="Rectangle 65">
                  <a:extLst>
                    <a:ext uri="{FF2B5EF4-FFF2-40B4-BE49-F238E27FC236}">
                      <a16:creationId xmlns:a16="http://schemas.microsoft.com/office/drawing/2014/main" id="{549A4DDD-F461-2345-B6CC-E7011D8916B0}"/>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cxnSp>
          <p:nvCxnSpPr>
            <p:cNvPr id="17" name="Straight Connector 16">
              <a:extLst>
                <a:ext uri="{FF2B5EF4-FFF2-40B4-BE49-F238E27FC236}">
                  <a16:creationId xmlns:a16="http://schemas.microsoft.com/office/drawing/2014/main" id="{E9EDF9F3-6222-AB41-A132-50D0D344E84F}"/>
                </a:ext>
              </a:extLst>
            </p:cNvPr>
            <p:cNvCxnSpPr>
              <a:cxnSpLocks/>
            </p:cNvCxnSpPr>
            <p:nvPr/>
          </p:nvCxnSpPr>
          <p:spPr>
            <a:xfrm flipH="1">
              <a:off x="2972773" y="5696183"/>
              <a:ext cx="193163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CF8F38F-0026-3541-8248-4367CE19639B}"/>
              </a:ext>
            </a:extLst>
          </p:cNvPr>
          <p:cNvGrpSpPr/>
          <p:nvPr/>
        </p:nvGrpSpPr>
        <p:grpSpPr>
          <a:xfrm>
            <a:off x="5397500" y="4063641"/>
            <a:ext cx="609600" cy="628987"/>
            <a:chOff x="5486400" y="4101741"/>
            <a:chExt cx="609600" cy="628987"/>
          </a:xfrm>
        </p:grpSpPr>
        <p:sp>
          <p:nvSpPr>
            <p:cNvPr id="112" name="Freeform 10">
              <a:extLst>
                <a:ext uri="{FF2B5EF4-FFF2-40B4-BE49-F238E27FC236}">
                  <a16:creationId xmlns:a16="http://schemas.microsoft.com/office/drawing/2014/main" id="{7793E5EB-2CBF-704E-8E72-9F0A5CB5A075}"/>
                </a:ext>
              </a:extLst>
            </p:cNvPr>
            <p:cNvSpPr>
              <a:spLocks/>
            </p:cNvSpPr>
            <p:nvPr/>
          </p:nvSpPr>
          <p:spPr bwMode="auto">
            <a:xfrm flipH="1">
              <a:off x="5658360" y="4102100"/>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7" name="Group 190">
              <a:extLst>
                <a:ext uri="{FF2B5EF4-FFF2-40B4-BE49-F238E27FC236}">
                  <a16:creationId xmlns:a16="http://schemas.microsoft.com/office/drawing/2014/main" id="{AC979BFC-E642-744F-9DC1-BADB697791A8}"/>
                </a:ext>
              </a:extLst>
            </p:cNvPr>
            <p:cNvGrpSpPr>
              <a:grpSpLocks/>
            </p:cNvGrpSpPr>
            <p:nvPr/>
          </p:nvGrpSpPr>
          <p:grpSpPr bwMode="auto">
            <a:xfrm flipH="1">
              <a:off x="5486400" y="4355542"/>
              <a:ext cx="350533" cy="375186"/>
              <a:chOff x="-44" y="1473"/>
              <a:chExt cx="981" cy="1105"/>
            </a:xfrm>
          </p:grpSpPr>
          <p:pic>
            <p:nvPicPr>
              <p:cNvPr id="118" name="Picture 191" descr="desktop_computer_stylized_medium">
                <a:extLst>
                  <a:ext uri="{FF2B5EF4-FFF2-40B4-BE49-F238E27FC236}">
                    <a16:creationId xmlns:a16="http://schemas.microsoft.com/office/drawing/2014/main" id="{736C455F-8687-0644-9BAB-D641A51B10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192">
                <a:extLst>
                  <a:ext uri="{FF2B5EF4-FFF2-40B4-BE49-F238E27FC236}">
                    <a16:creationId xmlns:a16="http://schemas.microsoft.com/office/drawing/2014/main" id="{2F5B8C3C-D867-384D-B512-9A636B471BA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 name="Group 22">
              <a:extLst>
                <a:ext uri="{FF2B5EF4-FFF2-40B4-BE49-F238E27FC236}">
                  <a16:creationId xmlns:a16="http://schemas.microsoft.com/office/drawing/2014/main" id="{353C0199-62D3-6F48-8939-D9C39B61FAF4}"/>
                </a:ext>
              </a:extLst>
            </p:cNvPr>
            <p:cNvGrpSpPr/>
            <p:nvPr/>
          </p:nvGrpSpPr>
          <p:grpSpPr>
            <a:xfrm>
              <a:off x="5831973" y="4101741"/>
              <a:ext cx="264027" cy="451210"/>
              <a:chOff x="5831973" y="4101740"/>
              <a:chExt cx="295777" cy="502587"/>
            </a:xfrm>
          </p:grpSpPr>
          <p:sp>
            <p:nvSpPr>
              <p:cNvPr id="114" name="Rectangle 24">
                <a:extLst>
                  <a:ext uri="{FF2B5EF4-FFF2-40B4-BE49-F238E27FC236}">
                    <a16:creationId xmlns:a16="http://schemas.microsoft.com/office/drawing/2014/main" id="{429B5AEE-1F47-7F43-9636-D936822F588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E5D92F00-ABB5-E44E-A2E6-C8C218DD732B}"/>
                  </a:ext>
                </a:extLst>
              </p:cNvPr>
              <p:cNvGrpSpPr/>
              <p:nvPr/>
            </p:nvGrpSpPr>
            <p:grpSpPr>
              <a:xfrm>
                <a:off x="5832475" y="4197350"/>
                <a:ext cx="295275" cy="307975"/>
                <a:chOff x="5832475" y="4197350"/>
                <a:chExt cx="295275" cy="307975"/>
              </a:xfrm>
            </p:grpSpPr>
            <p:cxnSp>
              <p:nvCxnSpPr>
                <p:cNvPr id="11" name="Straight Connector 10">
                  <a:extLst>
                    <a:ext uri="{FF2B5EF4-FFF2-40B4-BE49-F238E27FC236}">
                      <a16:creationId xmlns:a16="http://schemas.microsoft.com/office/drawing/2014/main" id="{8C633B10-A8EE-F749-A263-B00982789560}"/>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C585E959-0F41-AC45-8ACF-4B548946D1F2}"/>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F4A0E50-9EDE-554A-A2C3-B6C198AF3E55}"/>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EFFB3B-ABD3-F54B-AC79-99F2EC5F3CBA}"/>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5" name="Group 24">
            <a:extLst>
              <a:ext uri="{FF2B5EF4-FFF2-40B4-BE49-F238E27FC236}">
                <a16:creationId xmlns:a16="http://schemas.microsoft.com/office/drawing/2014/main" id="{E2F18F8F-3DE9-9D40-A6F4-642CE6C034E9}"/>
              </a:ext>
            </a:extLst>
          </p:cNvPr>
          <p:cNvGrpSpPr/>
          <p:nvPr/>
        </p:nvGrpSpPr>
        <p:grpSpPr>
          <a:xfrm>
            <a:off x="3630569" y="5751891"/>
            <a:ext cx="719335" cy="546078"/>
            <a:chOff x="6454273" y="3133725"/>
            <a:chExt cx="719335" cy="546078"/>
          </a:xfrm>
        </p:grpSpPr>
        <p:sp>
          <p:nvSpPr>
            <p:cNvPr id="157" name="Freeform 10">
              <a:extLst>
                <a:ext uri="{FF2B5EF4-FFF2-40B4-BE49-F238E27FC236}">
                  <a16:creationId xmlns:a16="http://schemas.microsoft.com/office/drawing/2014/main" id="{A3E08F8A-79F3-664D-94EC-D6F2A56013FD}"/>
                </a:ext>
              </a:extLst>
            </p:cNvPr>
            <p:cNvSpPr>
              <a:spLocks/>
            </p:cNvSpPr>
            <p:nvPr/>
          </p:nvSpPr>
          <p:spPr bwMode="auto">
            <a:xfrm>
              <a:off x="6709285" y="3133725"/>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8" name="Group 190">
              <a:extLst>
                <a:ext uri="{FF2B5EF4-FFF2-40B4-BE49-F238E27FC236}">
                  <a16:creationId xmlns:a16="http://schemas.microsoft.com/office/drawing/2014/main" id="{F12EFD77-1ED9-6B45-9162-440ED30B8E2D}"/>
                </a:ext>
              </a:extLst>
            </p:cNvPr>
            <p:cNvGrpSpPr>
              <a:grpSpLocks/>
            </p:cNvGrpSpPr>
            <p:nvPr/>
          </p:nvGrpSpPr>
          <p:grpSpPr bwMode="auto">
            <a:xfrm flipH="1">
              <a:off x="6823075" y="3304617"/>
              <a:ext cx="350533" cy="375186"/>
              <a:chOff x="-44" y="1473"/>
              <a:chExt cx="981" cy="1105"/>
            </a:xfrm>
          </p:grpSpPr>
          <p:pic>
            <p:nvPicPr>
              <p:cNvPr id="194" name="Picture 191" descr="desktop_computer_stylized_medium">
                <a:extLst>
                  <a:ext uri="{FF2B5EF4-FFF2-40B4-BE49-F238E27FC236}">
                    <a16:creationId xmlns:a16="http://schemas.microsoft.com/office/drawing/2014/main" id="{86973CCF-C1DF-0841-9018-188BE9D90B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92">
                <a:extLst>
                  <a:ext uri="{FF2B5EF4-FFF2-40B4-BE49-F238E27FC236}">
                    <a16:creationId xmlns:a16="http://schemas.microsoft.com/office/drawing/2014/main" id="{1BA2C98A-B2E0-1342-9C53-DFB6BA77407C}"/>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B7C3CAC9-57A9-1945-80E8-09659DEFBF5A}"/>
                </a:ext>
              </a:extLst>
            </p:cNvPr>
            <p:cNvGrpSpPr/>
            <p:nvPr/>
          </p:nvGrpSpPr>
          <p:grpSpPr>
            <a:xfrm>
              <a:off x="6454273" y="3142891"/>
              <a:ext cx="264027" cy="451210"/>
              <a:chOff x="5831973" y="4101740"/>
              <a:chExt cx="295777" cy="502587"/>
            </a:xfrm>
          </p:grpSpPr>
          <p:sp>
            <p:nvSpPr>
              <p:cNvPr id="160" name="Rectangle 24">
                <a:extLst>
                  <a:ext uri="{FF2B5EF4-FFF2-40B4-BE49-F238E27FC236}">
                    <a16:creationId xmlns:a16="http://schemas.microsoft.com/office/drawing/2014/main" id="{9BCBF979-1AB3-4D4C-B901-DF34754E95C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1" name="Group 160">
                <a:extLst>
                  <a:ext uri="{FF2B5EF4-FFF2-40B4-BE49-F238E27FC236}">
                    <a16:creationId xmlns:a16="http://schemas.microsoft.com/office/drawing/2014/main" id="{20089A24-B476-774D-9E8B-49EF82FD4800}"/>
                  </a:ext>
                </a:extLst>
              </p:cNvPr>
              <p:cNvGrpSpPr/>
              <p:nvPr/>
            </p:nvGrpSpPr>
            <p:grpSpPr>
              <a:xfrm>
                <a:off x="5832475" y="4197350"/>
                <a:ext cx="295275" cy="307975"/>
                <a:chOff x="5832475" y="4197350"/>
                <a:chExt cx="295275" cy="307975"/>
              </a:xfrm>
            </p:grpSpPr>
            <p:cxnSp>
              <p:nvCxnSpPr>
                <p:cNvPr id="162" name="Straight Connector 161">
                  <a:extLst>
                    <a:ext uri="{FF2B5EF4-FFF2-40B4-BE49-F238E27FC236}">
                      <a16:creationId xmlns:a16="http://schemas.microsoft.com/office/drawing/2014/main" id="{5F09FA03-D6E3-7A4D-8049-92D0A194764C}"/>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A0EBC5D-D027-824C-A722-68415C4F414C}"/>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05A996D-CE7D-CE46-9EA4-5FC548A3380F}"/>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5C053301-7047-704A-A52B-F49445AABC22}"/>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Freeform 26">
            <a:extLst>
              <a:ext uri="{FF2B5EF4-FFF2-40B4-BE49-F238E27FC236}">
                <a16:creationId xmlns:a16="http://schemas.microsoft.com/office/drawing/2014/main" id="{F36AC441-14B9-214A-9BCB-978EA6F915F7}"/>
              </a:ext>
            </a:extLst>
          </p:cNvPr>
          <p:cNvSpPr/>
          <p:nvPr/>
        </p:nvSpPr>
        <p:spPr>
          <a:xfrm>
            <a:off x="4223838" y="4617911"/>
            <a:ext cx="1958882" cy="1476814"/>
          </a:xfrm>
          <a:custGeom>
            <a:avLst/>
            <a:gdLst>
              <a:gd name="connsiteX0" fmla="*/ 0 w 1809670"/>
              <a:gd name="connsiteY0" fmla="*/ 1560984 h 1560984"/>
              <a:gd name="connsiteX1" fmla="*/ 0 w 1809670"/>
              <a:gd name="connsiteY1" fmla="*/ 1560984 h 1560984"/>
              <a:gd name="connsiteX2" fmla="*/ 765188 w 1809670"/>
              <a:gd name="connsiteY2" fmla="*/ 1059786 h 1560984"/>
              <a:gd name="connsiteX3" fmla="*/ 1086567 w 1809670"/>
              <a:gd name="connsiteY3" fmla="*/ 1055960 h 1560984"/>
              <a:gd name="connsiteX4" fmla="*/ 1798193 w 1809670"/>
              <a:gd name="connsiteY4" fmla="*/ 780492 h 1560984"/>
              <a:gd name="connsiteX5" fmla="*/ 1809670 w 1809670"/>
              <a:gd name="connsiteY5" fmla="*/ 623629 h 1560984"/>
              <a:gd name="connsiteX6" fmla="*/ 1136305 w 1809670"/>
              <a:gd name="connsiteY6" fmla="*/ 218079 h 1560984"/>
              <a:gd name="connsiteX7" fmla="*/ 1178390 w 1809670"/>
              <a:gd name="connsiteY7" fmla="*/ 0 h 1560984"/>
              <a:gd name="connsiteX0" fmla="*/ 3826 w 1813496"/>
              <a:gd name="connsiteY0" fmla="*/ 1560984 h 1560984"/>
              <a:gd name="connsiteX1" fmla="*/ 0 w 1813496"/>
              <a:gd name="connsiteY1" fmla="*/ 1358209 h 1560984"/>
              <a:gd name="connsiteX2" fmla="*/ 769014 w 1813496"/>
              <a:gd name="connsiteY2" fmla="*/ 1059786 h 1560984"/>
              <a:gd name="connsiteX3" fmla="*/ 1090393 w 1813496"/>
              <a:gd name="connsiteY3" fmla="*/ 1055960 h 1560984"/>
              <a:gd name="connsiteX4" fmla="*/ 1802019 w 1813496"/>
              <a:gd name="connsiteY4" fmla="*/ 780492 h 1560984"/>
              <a:gd name="connsiteX5" fmla="*/ 1813496 w 1813496"/>
              <a:gd name="connsiteY5" fmla="*/ 623629 h 1560984"/>
              <a:gd name="connsiteX6" fmla="*/ 1140131 w 1813496"/>
              <a:gd name="connsiteY6" fmla="*/ 218079 h 1560984"/>
              <a:gd name="connsiteX7" fmla="*/ 1182216 w 1813496"/>
              <a:gd name="connsiteY7" fmla="*/ 0 h 1560984"/>
              <a:gd name="connsiteX0" fmla="*/ 57824 w 1867494"/>
              <a:gd name="connsiteY0" fmla="*/ 1560984 h 1560984"/>
              <a:gd name="connsiteX1" fmla="*/ 53998 w 1867494"/>
              <a:gd name="connsiteY1" fmla="*/ 1358209 h 1560984"/>
              <a:gd name="connsiteX2" fmla="*/ 796231 w 1867494"/>
              <a:gd name="connsiteY2" fmla="*/ 1048308 h 1560984"/>
              <a:gd name="connsiteX3" fmla="*/ 1144391 w 1867494"/>
              <a:gd name="connsiteY3" fmla="*/ 1055960 h 1560984"/>
              <a:gd name="connsiteX4" fmla="*/ 1856017 w 1867494"/>
              <a:gd name="connsiteY4" fmla="*/ 780492 h 1560984"/>
              <a:gd name="connsiteX5" fmla="*/ 1867494 w 1867494"/>
              <a:gd name="connsiteY5" fmla="*/ 623629 h 1560984"/>
              <a:gd name="connsiteX6" fmla="*/ 1194129 w 1867494"/>
              <a:gd name="connsiteY6" fmla="*/ 218079 h 1560984"/>
              <a:gd name="connsiteX7" fmla="*/ 1236214 w 1867494"/>
              <a:gd name="connsiteY7" fmla="*/ 0 h 1560984"/>
              <a:gd name="connsiteX0" fmla="*/ 0 w 1809670"/>
              <a:gd name="connsiteY0" fmla="*/ 1560984 h 1560984"/>
              <a:gd name="connsiteX1" fmla="*/ 738407 w 1809670"/>
              <a:gd name="connsiteY1" fmla="*/ 1048308 h 1560984"/>
              <a:gd name="connsiteX2" fmla="*/ 1086567 w 1809670"/>
              <a:gd name="connsiteY2" fmla="*/ 1055960 h 1560984"/>
              <a:gd name="connsiteX3" fmla="*/ 1798193 w 1809670"/>
              <a:gd name="connsiteY3" fmla="*/ 780492 h 1560984"/>
              <a:gd name="connsiteX4" fmla="*/ 1809670 w 1809670"/>
              <a:gd name="connsiteY4" fmla="*/ 623629 h 1560984"/>
              <a:gd name="connsiteX5" fmla="*/ 1136305 w 1809670"/>
              <a:gd name="connsiteY5" fmla="*/ 218079 h 1560984"/>
              <a:gd name="connsiteX6" fmla="*/ 1178390 w 1809670"/>
              <a:gd name="connsiteY6" fmla="*/ 0 h 1560984"/>
              <a:gd name="connsiteX0" fmla="*/ 0 w 1882363"/>
              <a:gd name="connsiteY0" fmla="*/ 1476814 h 1476814"/>
              <a:gd name="connsiteX1" fmla="*/ 811100 w 1882363"/>
              <a:gd name="connsiteY1" fmla="*/ 1048308 h 1476814"/>
              <a:gd name="connsiteX2" fmla="*/ 1159260 w 1882363"/>
              <a:gd name="connsiteY2" fmla="*/ 1055960 h 1476814"/>
              <a:gd name="connsiteX3" fmla="*/ 1870886 w 1882363"/>
              <a:gd name="connsiteY3" fmla="*/ 780492 h 1476814"/>
              <a:gd name="connsiteX4" fmla="*/ 1882363 w 1882363"/>
              <a:gd name="connsiteY4" fmla="*/ 623629 h 1476814"/>
              <a:gd name="connsiteX5" fmla="*/ 1208998 w 1882363"/>
              <a:gd name="connsiteY5" fmla="*/ 218079 h 1476814"/>
              <a:gd name="connsiteX6" fmla="*/ 1251083 w 1882363"/>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882" h="1476814">
                <a:moveTo>
                  <a:pt x="0" y="1476814"/>
                </a:moveTo>
                <a:cubicBezTo>
                  <a:pt x="192094" y="1377658"/>
                  <a:pt x="706525" y="1132479"/>
                  <a:pt x="887619" y="1048308"/>
                </a:cubicBezTo>
                <a:lnTo>
                  <a:pt x="1235779" y="1055960"/>
                </a:lnTo>
                <a:lnTo>
                  <a:pt x="1947405" y="780492"/>
                </a:lnTo>
                <a:lnTo>
                  <a:pt x="1958882" y="623629"/>
                </a:lnTo>
                <a:lnTo>
                  <a:pt x="1285517" y="218079"/>
                </a:lnTo>
                <a:lnTo>
                  <a:pt x="1327602" y="0"/>
                </a:lnTo>
              </a:path>
            </a:pathLst>
          </a:cu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 name="Oval 27">
            <a:extLst>
              <a:ext uri="{FF2B5EF4-FFF2-40B4-BE49-F238E27FC236}">
                <a16:creationId xmlns:a16="http://schemas.microsoft.com/office/drawing/2014/main" id="{47B171D8-935D-0F43-9FDB-7A32B04E971D}"/>
              </a:ext>
            </a:extLst>
          </p:cNvPr>
          <p:cNvSpPr/>
          <p:nvPr/>
        </p:nvSpPr>
        <p:spPr>
          <a:xfrm>
            <a:off x="5543550" y="5391150"/>
            <a:ext cx="133350" cy="371475"/>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9" name="Slide Number Placeholder 2">
            <a:extLst>
              <a:ext uri="{FF2B5EF4-FFF2-40B4-BE49-F238E27FC236}">
                <a16:creationId xmlns:a16="http://schemas.microsoft.com/office/drawing/2014/main" id="{CE78A417-FD79-B646-BFE4-E2CED177C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132</a:t>
            </a:fld>
            <a:endParaRPr lang="en-US" dirty="0"/>
          </a:p>
        </p:txBody>
      </p:sp>
    </p:spTree>
    <p:extLst>
      <p:ext uri="{BB962C8B-B14F-4D97-AF65-F5344CB8AC3E}">
        <p14:creationId xmlns:p14="http://schemas.microsoft.com/office/powerpoint/2010/main" val="226618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1EBE03E1-A40C-1E40-BB55-6DDFE64A0442}"/>
              </a:ext>
            </a:extLst>
          </p:cNvPr>
          <p:cNvGrpSpPr/>
          <p:nvPr/>
        </p:nvGrpSpPr>
        <p:grpSpPr>
          <a:xfrm>
            <a:off x="4094463" y="4691367"/>
            <a:ext cx="2885057" cy="1481137"/>
            <a:chOff x="4094463" y="4691367"/>
            <a:chExt cx="2885057" cy="1481137"/>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Rectangle 4">
            <a:extLst>
              <a:ext uri="{FF2B5EF4-FFF2-40B4-BE49-F238E27FC236}">
                <a16:creationId xmlns:a16="http://schemas.microsoft.com/office/drawing/2014/main" id="{0B86E12D-57F9-004F-9A98-0E80FDFD03ED}"/>
              </a:ext>
            </a:extLst>
          </p:cNvPr>
          <p:cNvSpPr txBox="1">
            <a:spLocks noChangeArrowheads="1"/>
          </p:cNvSpPr>
          <p:nvPr/>
        </p:nvSpPr>
        <p:spPr>
          <a:xfrm>
            <a:off x="640467" y="2288196"/>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understanding congestion: useful to focus on congested bottleneck link</a:t>
            </a:r>
          </a:p>
        </p:txBody>
      </p:sp>
      <p:grpSp>
        <p:nvGrpSpPr>
          <p:cNvPr id="16" name="Group 15">
            <a:extLst>
              <a:ext uri="{FF2B5EF4-FFF2-40B4-BE49-F238E27FC236}">
                <a16:creationId xmlns:a16="http://schemas.microsoft.com/office/drawing/2014/main" id="{9F054DCB-F0FC-6040-B6B9-B0434AA6A860}"/>
              </a:ext>
            </a:extLst>
          </p:cNvPr>
          <p:cNvGrpSpPr/>
          <p:nvPr/>
        </p:nvGrpSpPr>
        <p:grpSpPr>
          <a:xfrm>
            <a:off x="4839045" y="5517878"/>
            <a:ext cx="876995" cy="403711"/>
            <a:chOff x="5033182" y="4091488"/>
            <a:chExt cx="876995" cy="403711"/>
          </a:xfrm>
        </p:grpSpPr>
        <p:cxnSp>
          <p:nvCxnSpPr>
            <p:cNvPr id="15" name="Straight Connector 14">
              <a:extLst>
                <a:ext uri="{FF2B5EF4-FFF2-40B4-BE49-F238E27FC236}">
                  <a16:creationId xmlns:a16="http://schemas.microsoft.com/office/drawing/2014/main" id="{D3004F00-B27A-6543-B345-6627D113767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7689B243-A85D-9243-A088-8DCC1C93FE82}"/>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68C9EE21-A866-EF40-B74B-25BD15BDB166}"/>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6E71FDDD-28C2-D944-937D-A37D3B73085B}"/>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9709E3FA-52FC-C645-9DA2-F1100115207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377D666-34E2-244E-B3D8-6FE1A4596746}"/>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16E7784A-7CF2-DB4E-B801-AE25BE617B3D}"/>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F5A847F-7DB0-4448-866C-A04E3D418E75}"/>
              </a:ext>
            </a:extLst>
          </p:cNvPr>
          <p:cNvGrpSpPr/>
          <p:nvPr/>
        </p:nvGrpSpPr>
        <p:grpSpPr>
          <a:xfrm>
            <a:off x="3613959" y="3330565"/>
            <a:ext cx="4288552" cy="1038257"/>
            <a:chOff x="3613959" y="3330565"/>
            <a:chExt cx="4288552" cy="1038257"/>
          </a:xfrm>
        </p:grpSpPr>
        <p:sp>
          <p:nvSpPr>
            <p:cNvPr id="18" name="TextBox 17">
              <a:extLst>
                <a:ext uri="{FF2B5EF4-FFF2-40B4-BE49-F238E27FC236}">
                  <a16:creationId xmlns:a16="http://schemas.microsoft.com/office/drawing/2014/main" id="{72BF638B-27BF-9A44-BC9B-E5A7126F9971}"/>
                </a:ext>
              </a:extLst>
            </p:cNvPr>
            <p:cNvSpPr txBox="1"/>
            <p:nvPr/>
          </p:nvSpPr>
          <p:spPr>
            <a:xfrm>
              <a:off x="3932559" y="3330565"/>
              <a:ext cx="3969952" cy="840230"/>
            </a:xfrm>
            <a:prstGeom prst="rect">
              <a:avLst/>
            </a:prstGeom>
            <a:noFill/>
          </p:spPr>
          <p:txBody>
            <a:bodyPr wrap="square" rtlCol="0">
              <a:spAutoFit/>
            </a:bodyPr>
            <a:lstStyle/>
            <a:p>
              <a:pPr marL="460375" marR="0" lvl="0" indent="-460375"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will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end-end throughout with congested bottleneck</a:t>
              </a:r>
            </a:p>
          </p:txBody>
        </p:sp>
        <p:cxnSp>
          <p:nvCxnSpPr>
            <p:cNvPr id="20" name="Straight Connector 19">
              <a:extLst>
                <a:ext uri="{FF2B5EF4-FFF2-40B4-BE49-F238E27FC236}">
                  <a16:creationId xmlns:a16="http://schemas.microsoft.com/office/drawing/2014/main" id="{61879EEE-DD1C-214C-8FBA-E99A26753318}"/>
                </a:ext>
              </a:extLst>
            </p:cNvPr>
            <p:cNvCxnSpPr>
              <a:cxnSpLocks/>
            </p:cNvCxnSpPr>
            <p:nvPr/>
          </p:nvCxnSpPr>
          <p:spPr>
            <a:xfrm flipH="1">
              <a:off x="3613959" y="3751185"/>
              <a:ext cx="738967" cy="617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C456841-AE6B-A44B-9596-8457DAC42D7B}"/>
              </a:ext>
            </a:extLst>
          </p:cNvPr>
          <p:cNvGrpSpPr/>
          <p:nvPr/>
        </p:nvGrpSpPr>
        <p:grpSpPr>
          <a:xfrm>
            <a:off x="477143" y="5329279"/>
            <a:ext cx="4243986" cy="840230"/>
            <a:chOff x="477143" y="5329279"/>
            <a:chExt cx="4243986" cy="840230"/>
          </a:xfrm>
        </p:grpSpPr>
        <p:sp>
          <p:nvSpPr>
            <p:cNvPr id="110" name="TextBox 109">
              <a:extLst>
                <a:ext uri="{FF2B5EF4-FFF2-40B4-BE49-F238E27FC236}">
                  <a16:creationId xmlns:a16="http://schemas.microsoft.com/office/drawing/2014/main" id="{67AC24E6-353D-7641-8425-F6A26F20ABC7}"/>
                </a:ext>
              </a:extLst>
            </p:cNvPr>
            <p:cNvSpPr txBox="1"/>
            <p:nvPr/>
          </p:nvSpPr>
          <p:spPr>
            <a:xfrm>
              <a:off x="477143" y="5329279"/>
              <a:ext cx="2818708" cy="840230"/>
            </a:xfrm>
            <a:prstGeom prst="rect">
              <a:avLst/>
            </a:prstGeom>
            <a:noFill/>
          </p:spPr>
          <p:txBody>
            <a:bodyPr wrap="square" rtlCol="0">
              <a:spAutoFit/>
            </a:bodyPr>
            <a:lstStyle/>
            <a:p>
              <a:pPr marL="460375" marR="0" lvl="0" indent="-460375" algn="r"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will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measured RTT</a:t>
              </a:r>
            </a:p>
          </p:txBody>
        </p:sp>
        <p:cxnSp>
          <p:nvCxnSpPr>
            <p:cNvPr id="25" name="Straight Connector 24">
              <a:extLst>
                <a:ext uri="{FF2B5EF4-FFF2-40B4-BE49-F238E27FC236}">
                  <a16:creationId xmlns:a16="http://schemas.microsoft.com/office/drawing/2014/main" id="{AFA3AC7C-9D37-4246-A57A-7A9F9DD69A66}"/>
                </a:ext>
              </a:extLst>
            </p:cNvPr>
            <p:cNvCxnSpPr/>
            <p:nvPr/>
          </p:nvCxnSpPr>
          <p:spPr>
            <a:xfrm>
              <a:off x="3375025" y="5714069"/>
              <a:ext cx="134610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Straight Connector 27">
            <a:extLst>
              <a:ext uri="{FF2B5EF4-FFF2-40B4-BE49-F238E27FC236}">
                <a16:creationId xmlns:a16="http://schemas.microsoft.com/office/drawing/2014/main" id="{D625C25C-416C-5C4E-AFF1-F6889ED15803}"/>
              </a:ext>
            </a:extLst>
          </p:cNvPr>
          <p:cNvCxnSpPr/>
          <p:nvPr/>
        </p:nvCxnSpPr>
        <p:spPr>
          <a:xfrm>
            <a:off x="3375025" y="6443089"/>
            <a:ext cx="5028511" cy="0"/>
          </a:xfrm>
          <a:prstGeom prst="line">
            <a:avLst/>
          </a:prstGeom>
          <a:ln w="15875">
            <a:solidFill>
              <a:schemeClr val="tx1"/>
            </a:solidFill>
            <a:headEnd type="triangle"/>
            <a:tailEnd type="triangle" w="lg" len="med"/>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B205F52A-5790-B345-9AB7-858A5F8D4937}"/>
              </a:ext>
            </a:extLst>
          </p:cNvPr>
          <p:cNvSpPr txBox="1"/>
          <p:nvPr/>
        </p:nvSpPr>
        <p:spPr>
          <a:xfrm>
            <a:off x="4970635" y="6269341"/>
            <a:ext cx="535018"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sp>
        <p:nvSpPr>
          <p:cNvPr id="31" name="TextBox 30">
            <a:extLst>
              <a:ext uri="{FF2B5EF4-FFF2-40B4-BE49-F238E27FC236}">
                <a16:creationId xmlns:a16="http://schemas.microsoft.com/office/drawing/2014/main" id="{AB18F1EA-ED80-CE47-9C3C-647F034AB95E}"/>
              </a:ext>
            </a:extLst>
          </p:cNvPr>
          <p:cNvSpPr txBox="1"/>
          <p:nvPr/>
        </p:nvSpPr>
        <p:spPr>
          <a:xfrm>
            <a:off x="5618466" y="5874964"/>
            <a:ext cx="7584409" cy="424732"/>
          </a:xfrm>
          <a:prstGeom prst="rect">
            <a:avLst/>
          </a:prstGeom>
          <a:noFill/>
        </p:spPr>
        <p:txBody>
          <a:bodyPr wrap="square" rtlCol="0">
            <a:spAutoFit/>
          </a:bodyPr>
          <a:lstStyle/>
          <a:p>
            <a:pPr marL="587375" marR="0" lvl="0" indent="-587375" algn="l" defTabSz="914400" rtl="0" eaLnBrk="1" fontAlgn="auto" latinLnBrk="0" hangingPunct="1">
              <a:lnSpc>
                <a:spcPct val="9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A3"/>
                </a:solidFill>
                <a:effectLst/>
                <a:uLnTx/>
                <a:uFillTx/>
                <a:latin typeface="Calibri" panose="020F0502020204030204"/>
                <a:ea typeface="+mn-ea"/>
                <a:cs typeface="+mn-cs"/>
              </a:rPr>
              <a:t>Goal: </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“keep the end-end pipe just full, but not fuller”</a:t>
            </a:r>
          </a:p>
        </p:txBody>
      </p:sp>
      <p:sp>
        <p:nvSpPr>
          <p:cNvPr id="106" name="Slide Number Placeholder 2">
            <a:extLst>
              <a:ext uri="{FF2B5EF4-FFF2-40B4-BE49-F238E27FC236}">
                <a16:creationId xmlns:a16="http://schemas.microsoft.com/office/drawing/2014/main" id="{C4CCE602-07A6-B94E-8022-E968DB6C61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133</a:t>
            </a:fld>
            <a:endParaRPr lang="en-US" dirty="0"/>
          </a:p>
        </p:txBody>
      </p:sp>
    </p:spTree>
    <p:extLst>
      <p:ext uri="{BB962C8B-B14F-4D97-AF65-F5344CB8AC3E}">
        <p14:creationId xmlns:p14="http://schemas.microsoft.com/office/powerpoint/2010/main" val="392805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xit" presetSubtype="0" fill="hold" nodeType="withEffect">
                                  <p:stCondLst>
                                    <p:cond delay="0"/>
                                  </p:stCondLst>
                                  <p:childTnLst>
                                    <p:animEffect transition="out" filter="dissolve">
                                      <p:cBhvr>
                                        <p:cTn id="9" dur="500"/>
                                        <p:tgtEl>
                                          <p:spTgt spid="7"/>
                                        </p:tgtEl>
                                      </p:cBhvr>
                                    </p:animEffect>
                                    <p:set>
                                      <p:cBhvr>
                                        <p:cTn id="10" dur="1" fill="hold">
                                          <p:stCondLst>
                                            <p:cond delay="499"/>
                                          </p:stCondLst>
                                        </p:cTn>
                                        <p:tgtEl>
                                          <p:spTgt spid="7"/>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dissolv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dissolve">
                                      <p:cBhvr>
                                        <p:cTn id="20" dur="5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dissolve">
                                      <p:cBhvr>
                                        <p:cTn id="2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31"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Delay-based TCP </a:t>
            </a:r>
            <a:r>
              <a:rPr lang="en-US" dirty="0"/>
              <a:t>c</a:t>
            </a:r>
            <a:r>
              <a:rPr lang="en-US" sz="4400" dirty="0"/>
              <a:t>ongestion </a:t>
            </a:r>
            <a:r>
              <a:rPr lang="en-US" dirty="0"/>
              <a:t>c</a:t>
            </a:r>
            <a:r>
              <a:rPr lang="en-US" sz="4400" dirty="0"/>
              <a:t>ontrol</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30271" y="1334752"/>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marR="0" lvl="0" indent="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Keeping sender-to-receiver pipe “just full enough, but no fuller”: keep bottleneck link busy transmitting, but avoid high delays/buffering</a:t>
            </a:r>
          </a:p>
        </p:txBody>
      </p:sp>
      <p:grpSp>
        <p:nvGrpSpPr>
          <p:cNvPr id="23" name="Group 22">
            <a:extLst>
              <a:ext uri="{FF2B5EF4-FFF2-40B4-BE49-F238E27FC236}">
                <a16:creationId xmlns:a16="http://schemas.microsoft.com/office/drawing/2014/main" id="{136B4431-4002-B74D-B3BA-B0C220251CB6}"/>
              </a:ext>
            </a:extLst>
          </p:cNvPr>
          <p:cNvGrpSpPr/>
          <p:nvPr/>
        </p:nvGrpSpPr>
        <p:grpSpPr>
          <a:xfrm>
            <a:off x="1216626" y="2508955"/>
            <a:ext cx="5802008" cy="918937"/>
            <a:chOff x="2365663" y="2430127"/>
            <a:chExt cx="5802008" cy="918937"/>
          </a:xfrm>
        </p:grpSpPr>
        <p:grpSp>
          <p:nvGrpSpPr>
            <p:cNvPr id="212" name="Group 190">
              <a:extLst>
                <a:ext uri="{FF2B5EF4-FFF2-40B4-BE49-F238E27FC236}">
                  <a16:creationId xmlns:a16="http://schemas.microsoft.com/office/drawing/2014/main" id="{1BEB02B0-C16F-034C-BBAD-5DB73C96AD78}"/>
                </a:ext>
              </a:extLst>
            </p:cNvPr>
            <p:cNvGrpSpPr>
              <a:grpSpLocks/>
            </p:cNvGrpSpPr>
            <p:nvPr/>
          </p:nvGrpSpPr>
          <p:grpSpPr bwMode="auto">
            <a:xfrm flipH="1">
              <a:off x="2365663" y="2430127"/>
              <a:ext cx="673100" cy="701675"/>
              <a:chOff x="-44" y="1473"/>
              <a:chExt cx="981" cy="1105"/>
            </a:xfrm>
          </p:grpSpPr>
          <p:pic>
            <p:nvPicPr>
              <p:cNvPr id="213" name="Picture 191" descr="desktop_computer_stylized_medium">
                <a:extLst>
                  <a:ext uri="{FF2B5EF4-FFF2-40B4-BE49-F238E27FC236}">
                    <a16:creationId xmlns:a16="http://schemas.microsoft.com/office/drawing/2014/main" id="{5230AF6F-A0E4-0F40-90F2-B49DEE901C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192">
                <a:extLst>
                  <a:ext uri="{FF2B5EF4-FFF2-40B4-BE49-F238E27FC236}">
                    <a16:creationId xmlns:a16="http://schemas.microsoft.com/office/drawing/2014/main" id="{EB8220CB-48C1-504B-9215-0FA50BED28A3}"/>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190">
              <a:extLst>
                <a:ext uri="{FF2B5EF4-FFF2-40B4-BE49-F238E27FC236}">
                  <a16:creationId xmlns:a16="http://schemas.microsoft.com/office/drawing/2014/main" id="{0F072356-83E5-7644-BFC6-AA47F8D1DC03}"/>
                </a:ext>
              </a:extLst>
            </p:cNvPr>
            <p:cNvGrpSpPr>
              <a:grpSpLocks/>
            </p:cNvGrpSpPr>
            <p:nvPr/>
          </p:nvGrpSpPr>
          <p:grpSpPr bwMode="auto">
            <a:xfrm flipH="1">
              <a:off x="7493993" y="2467744"/>
              <a:ext cx="673678" cy="702006"/>
              <a:chOff x="-44" y="1473"/>
              <a:chExt cx="981" cy="1105"/>
            </a:xfrm>
          </p:grpSpPr>
          <p:pic>
            <p:nvPicPr>
              <p:cNvPr id="230" name="Picture 191" descr="desktop_computer_stylized_medium">
                <a:extLst>
                  <a:ext uri="{FF2B5EF4-FFF2-40B4-BE49-F238E27FC236}">
                    <a16:creationId xmlns:a16="http://schemas.microsoft.com/office/drawing/2014/main" id="{4507DD2C-8D56-7644-B5AF-0C0A90DF92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 name="Freeform 192">
                <a:extLst>
                  <a:ext uri="{FF2B5EF4-FFF2-40B4-BE49-F238E27FC236}">
                    <a16:creationId xmlns:a16="http://schemas.microsoft.com/office/drawing/2014/main" id="{2838DBD0-6CF7-2B4C-AF1C-FC929CAD15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3" name="Group 232">
              <a:extLst>
                <a:ext uri="{FF2B5EF4-FFF2-40B4-BE49-F238E27FC236}">
                  <a16:creationId xmlns:a16="http://schemas.microsoft.com/office/drawing/2014/main" id="{44545816-4C7B-7846-8988-A05301734F47}"/>
                </a:ext>
              </a:extLst>
            </p:cNvPr>
            <p:cNvGrpSpPr/>
            <p:nvPr/>
          </p:nvGrpSpPr>
          <p:grpSpPr>
            <a:xfrm>
              <a:off x="5227521" y="2574515"/>
              <a:ext cx="876995" cy="403711"/>
              <a:chOff x="5033182" y="4091488"/>
              <a:chExt cx="876995" cy="403711"/>
            </a:xfrm>
          </p:grpSpPr>
          <p:cxnSp>
            <p:nvCxnSpPr>
              <p:cNvPr id="234" name="Straight Connector 233">
                <a:extLst>
                  <a:ext uri="{FF2B5EF4-FFF2-40B4-BE49-F238E27FC236}">
                    <a16:creationId xmlns:a16="http://schemas.microsoft.com/office/drawing/2014/main" id="{3D51E61F-DA54-2643-BAD4-268E7575F59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5" name="Rectangle 234">
                <a:extLst>
                  <a:ext uri="{FF2B5EF4-FFF2-40B4-BE49-F238E27FC236}">
                    <a16:creationId xmlns:a16="http://schemas.microsoft.com/office/drawing/2014/main" id="{8123A8E9-67AB-C74F-925C-E7D244041419}"/>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640BDC0F-EFFD-484D-83D9-2FB005386232}"/>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37" name="Straight Connector 236">
                <a:extLst>
                  <a:ext uri="{FF2B5EF4-FFF2-40B4-BE49-F238E27FC236}">
                    <a16:creationId xmlns:a16="http://schemas.microsoft.com/office/drawing/2014/main" id="{1BCB38CC-A870-9B4A-A5DB-98356F6B39AA}"/>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CF902B15-3C54-A647-A9A9-535E0C74301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3171852F-D884-A742-885D-93002D5B0D9D}"/>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40" name="Rectangle 239">
                <a:extLst>
                  <a:ext uri="{FF2B5EF4-FFF2-40B4-BE49-F238E27FC236}">
                    <a16:creationId xmlns:a16="http://schemas.microsoft.com/office/drawing/2014/main" id="{D2D019EE-47E4-224B-BBF8-5443E4900165}"/>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7B009AAC-9DFA-ED4A-91AE-DA00BB581A0B}"/>
                </a:ext>
              </a:extLst>
            </p:cNvPr>
            <p:cNvGrpSpPr/>
            <p:nvPr/>
          </p:nvGrpSpPr>
          <p:grpSpPr>
            <a:xfrm>
              <a:off x="3067072" y="2776371"/>
              <a:ext cx="4456450" cy="344905"/>
              <a:chOff x="3391522" y="3946678"/>
              <a:chExt cx="4456450" cy="344905"/>
            </a:xfrm>
          </p:grpSpPr>
          <p:cxnSp>
            <p:nvCxnSpPr>
              <p:cNvPr id="247" name="Straight Connector 246">
                <a:extLst>
                  <a:ext uri="{FF2B5EF4-FFF2-40B4-BE49-F238E27FC236}">
                    <a16:creationId xmlns:a16="http://schemas.microsoft.com/office/drawing/2014/main" id="{434B4871-78D8-4E49-92B1-439A3541CBD6}"/>
                  </a:ext>
                </a:extLst>
              </p:cNvPr>
              <p:cNvCxnSpPr>
                <a:cxnSpLocks/>
              </p:cNvCxnSpPr>
              <p:nvPr/>
            </p:nvCxnSpPr>
            <p:spPr>
              <a:xfrm>
                <a:off x="3391522" y="3946678"/>
                <a:ext cx="4456450" cy="0"/>
              </a:xfrm>
              <a:prstGeom prst="line">
                <a:avLst/>
              </a:prstGeom>
              <a:ln w="15875">
                <a:solidFill>
                  <a:schemeClr val="tx1"/>
                </a:solidFill>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05D2D98D-623A-FC44-9A40-156B6A2B4E10}"/>
                  </a:ext>
                </a:extLst>
              </p:cNvPr>
              <p:cNvCxnSpPr>
                <a:cxnSpLocks/>
              </p:cNvCxnSpPr>
              <p:nvPr/>
            </p:nvCxnSpPr>
            <p:spPr>
              <a:xfrm>
                <a:off x="3391522" y="4291583"/>
                <a:ext cx="4456450" cy="0"/>
              </a:xfrm>
              <a:prstGeom prst="line">
                <a:avLst/>
              </a:prstGeom>
              <a:ln w="15875">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5A69AD9-CFF6-7544-A126-02A8879C32D5}"/>
                  </a:ext>
                </a:extLst>
              </p:cNvPr>
              <p:cNvCxnSpPr>
                <a:cxnSpLocks/>
              </p:cNvCxnSpPr>
              <p:nvPr/>
            </p:nvCxnSpPr>
            <p:spPr>
              <a:xfrm>
                <a:off x="7847972" y="3946678"/>
                <a:ext cx="0" cy="34490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3235E34B-03D9-694A-B4F9-262BA47FDC5E}"/>
                </a:ext>
              </a:extLst>
            </p:cNvPr>
            <p:cNvSpPr txBox="1"/>
            <p:nvPr/>
          </p:nvSpPr>
          <p:spPr>
            <a:xfrm>
              <a:off x="3454066" y="2887399"/>
              <a:ext cx="1465722"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measured</a:t>
              </a:r>
              <a:endPar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750855" y="3728780"/>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Delay-based approach:</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min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 minimum observed RTT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sym typeface="Wingdings" pitchFamily="2" charset="2"/>
              </a:rPr>
              <a:t> (uncongested path)</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uncongested throughput with congestion window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cwnd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is cwnd/RTT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min</a:t>
            </a:r>
          </a:p>
        </p:txBody>
      </p:sp>
      <p:sp>
        <p:nvSpPr>
          <p:cNvPr id="21" name="TextBox 20">
            <a:extLst>
              <a:ext uri="{FF2B5EF4-FFF2-40B4-BE49-F238E27FC236}">
                <a16:creationId xmlns:a16="http://schemas.microsoft.com/office/drawing/2014/main" id="{1AB6FF2A-EB61-BB4D-9956-9ED80C80ECD5}"/>
              </a:ext>
            </a:extLst>
          </p:cNvPr>
          <p:cNvSpPr txBox="1"/>
          <p:nvPr/>
        </p:nvSpPr>
        <p:spPr>
          <a:xfrm>
            <a:off x="2305029" y="5206661"/>
            <a:ext cx="7555832"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if measured throughput “very close” to  uncongested throughput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increase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cwnd</a:t>
            </a:r>
            <a:r>
              <a:rPr kumimoji="0" lang="en-US" sz="2000" b="0" i="0" u="none" strike="noStrike" kern="1200" cap="none" spc="0" normalizeH="0" baseline="0" noProof="0" dirty="0">
                <a:ln>
                  <a:noFill/>
                </a:ln>
                <a:solidFill>
                  <a:prstClr val="black"/>
                </a:solidFill>
                <a:effectLst/>
                <a:uLnTx/>
                <a:uFillTx/>
                <a:latin typeface="Calibri"/>
                <a:ea typeface="+mn-ea"/>
                <a:cs typeface="+mn-cs"/>
              </a:rPr>
              <a:t> linearly                /* since path not congested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else if measured throughput “far below” uncongested throughout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      decrease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cwnd </a:t>
            </a:r>
            <a:r>
              <a:rPr kumimoji="0" lang="en-US" sz="2000" b="0" i="0" u="none" strike="noStrike" kern="1200" cap="none" spc="0" normalizeH="0" baseline="0" noProof="0" dirty="0">
                <a:ln>
                  <a:noFill/>
                </a:ln>
                <a:solidFill>
                  <a:prstClr val="black"/>
                </a:solidFill>
                <a:effectLst/>
                <a:uLnTx/>
                <a:uFillTx/>
                <a:latin typeface="Calibri"/>
                <a:ea typeface="+mn-ea"/>
                <a:cs typeface="+mn-cs"/>
              </a:rPr>
              <a:t>linearly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since path is congested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C2C7C675-E90D-E541-926D-0B3366A93379}"/>
              </a:ext>
            </a:extLst>
          </p:cNvPr>
          <p:cNvGrpSpPr/>
          <p:nvPr/>
        </p:nvGrpSpPr>
        <p:grpSpPr>
          <a:xfrm>
            <a:off x="7368304" y="2588834"/>
            <a:ext cx="3548062" cy="1114151"/>
            <a:chOff x="7481866" y="2350865"/>
            <a:chExt cx="3548062" cy="1114151"/>
          </a:xfrm>
        </p:grpSpPr>
        <p:sp>
          <p:nvSpPr>
            <p:cNvPr id="250" name="TextBox 249">
              <a:extLst>
                <a:ext uri="{FF2B5EF4-FFF2-40B4-BE49-F238E27FC236}">
                  <a16:creationId xmlns:a16="http://schemas.microsoft.com/office/drawing/2014/main" id="{762B06AF-6E17-B749-AF47-CA83D0FA5E18}"/>
                </a:ext>
              </a:extLst>
            </p:cNvPr>
            <p:cNvSpPr txBox="1"/>
            <p:nvPr/>
          </p:nvSpPr>
          <p:spPr>
            <a:xfrm>
              <a:off x="9172199" y="2941796"/>
              <a:ext cx="1675523"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measured</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22" name="Group 21">
              <a:extLst>
                <a:ext uri="{FF2B5EF4-FFF2-40B4-BE49-F238E27FC236}">
                  <a16:creationId xmlns:a16="http://schemas.microsoft.com/office/drawing/2014/main" id="{AE435EA1-68BC-6A43-9BBF-6B0256C5B6AB}"/>
                </a:ext>
              </a:extLst>
            </p:cNvPr>
            <p:cNvGrpSpPr/>
            <p:nvPr/>
          </p:nvGrpSpPr>
          <p:grpSpPr>
            <a:xfrm>
              <a:off x="7481866" y="2350865"/>
              <a:ext cx="3548062" cy="923986"/>
              <a:chOff x="7519640" y="2453981"/>
              <a:chExt cx="3548062" cy="923986"/>
            </a:xfrm>
          </p:grpSpPr>
          <p:sp>
            <p:nvSpPr>
              <p:cNvPr id="15" name="TextBox 14">
                <a:extLst>
                  <a:ext uri="{FF2B5EF4-FFF2-40B4-BE49-F238E27FC236}">
                    <a16:creationId xmlns:a16="http://schemas.microsoft.com/office/drawing/2014/main" id="{A8DCC063-E112-F040-9122-97D83F370C02}"/>
                  </a:ext>
                </a:extLst>
              </p:cNvPr>
              <p:cNvSpPr txBox="1"/>
              <p:nvPr/>
            </p:nvSpPr>
            <p:spPr>
              <a:xfrm>
                <a:off x="7519640" y="2731636"/>
                <a:ext cx="1371594" cy="646331"/>
              </a:xfrm>
              <a:prstGeom prst="rect">
                <a:avLst/>
              </a:prstGeom>
              <a:noFill/>
            </p:spPr>
            <p:txBody>
              <a:bodyPr wrap="none" rtlCol="0">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measured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throughput</a:t>
                </a:r>
              </a:p>
            </p:txBody>
          </p:sp>
          <p:cxnSp>
            <p:nvCxnSpPr>
              <p:cNvPr id="20" name="Straight Connector 19">
                <a:extLst>
                  <a:ext uri="{FF2B5EF4-FFF2-40B4-BE49-F238E27FC236}">
                    <a16:creationId xmlns:a16="http://schemas.microsoft.com/office/drawing/2014/main" id="{501FADCE-D52D-A546-A51C-7C5C0F44A9F9}"/>
                  </a:ext>
                </a:extLst>
              </p:cNvPr>
              <p:cNvCxnSpPr/>
              <p:nvPr/>
            </p:nvCxnSpPr>
            <p:spPr>
              <a:xfrm>
                <a:off x="9284574" y="3075516"/>
                <a:ext cx="914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51" name="TextBox 250">
                <a:extLst>
                  <a:ext uri="{FF2B5EF4-FFF2-40B4-BE49-F238E27FC236}">
                    <a16:creationId xmlns:a16="http://schemas.microsoft.com/office/drawing/2014/main" id="{7B4D3BB6-3CFB-6C45-940A-E4E94F854B53}"/>
                  </a:ext>
                </a:extLst>
              </p:cNvPr>
              <p:cNvSpPr txBox="1"/>
              <p:nvPr/>
            </p:nvSpPr>
            <p:spPr>
              <a:xfrm>
                <a:off x="8852626" y="2855966"/>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52" name="TextBox 251">
                <a:extLst>
                  <a:ext uri="{FF2B5EF4-FFF2-40B4-BE49-F238E27FC236}">
                    <a16:creationId xmlns:a16="http://schemas.microsoft.com/office/drawing/2014/main" id="{5FFFB67C-3E95-CC4C-A770-35AB56ED6EDF}"/>
                  </a:ext>
                </a:extLst>
              </p:cNvPr>
              <p:cNvSpPr txBox="1"/>
              <p:nvPr/>
            </p:nvSpPr>
            <p:spPr>
              <a:xfrm>
                <a:off x="9209973" y="2453981"/>
                <a:ext cx="1857729" cy="6463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bytes sent in last RTT interval</a:t>
                </a:r>
              </a:p>
            </p:txBody>
          </p:sp>
        </p:grpSp>
      </p:grpSp>
      <p:sp>
        <p:nvSpPr>
          <p:cNvPr id="33" name="Slide Number Placeholder 2">
            <a:extLst>
              <a:ext uri="{FF2B5EF4-FFF2-40B4-BE49-F238E27FC236}">
                <a16:creationId xmlns:a16="http://schemas.microsoft.com/office/drawing/2014/main" id="{B15398F9-10A7-C54A-90AA-7094BBDF22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134</a:t>
            </a:fld>
            <a:endParaRPr lang="en-US" dirty="0"/>
          </a:p>
        </p:txBody>
      </p:sp>
    </p:spTree>
    <p:extLst>
      <p:ext uri="{BB962C8B-B14F-4D97-AF65-F5344CB8AC3E}">
        <p14:creationId xmlns:p14="http://schemas.microsoft.com/office/powerpoint/2010/main" val="3374082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9"/>
                                        </p:tgtEl>
                                        <p:attrNameLst>
                                          <p:attrName>style.visibility</p:attrName>
                                        </p:attrNameLst>
                                      </p:cBhvr>
                                      <p:to>
                                        <p:strVal val="visible"/>
                                      </p:to>
                                    </p:set>
                                    <p:animEffect transition="in" filter="dissolve">
                                      <p:cBhvr>
                                        <p:cTn id="7" dur="500"/>
                                        <p:tgtEl>
                                          <p:spTgt spid="24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dissolve">
                                      <p:cBhvr>
                                        <p:cTn id="12" dur="5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 grpId="0"/>
      <p:bldP spid="21"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Delay-based TCP </a:t>
            </a:r>
            <a:r>
              <a:rPr lang="en-US" dirty="0"/>
              <a:t>c</a:t>
            </a:r>
            <a:r>
              <a:rPr lang="en-US" sz="4400" dirty="0"/>
              <a:t>ongestion </a:t>
            </a:r>
            <a:r>
              <a:rPr lang="en-US" dirty="0"/>
              <a:t>c</a:t>
            </a:r>
            <a:r>
              <a:rPr lang="en-US" sz="4400" dirty="0"/>
              <a:t>ontrol</a:t>
            </a:r>
            <a:endParaRPr lang="en-US" sz="4400" b="0" dirty="0"/>
          </a:p>
        </p:txBody>
      </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574392" y="16141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 without inducing/forcing loss</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maximizing throughout (“keeping the just pipe full… ”) while keeping delay low (“…but not fuller”)</a:t>
            </a:r>
          </a:p>
        </p:txBody>
      </p:sp>
      <p:sp>
        <p:nvSpPr>
          <p:cNvPr id="5" name="Rectangle 4">
            <a:extLst>
              <a:ext uri="{FF2B5EF4-FFF2-40B4-BE49-F238E27FC236}">
                <a16:creationId xmlns:a16="http://schemas.microsoft.com/office/drawing/2014/main" id="{F758D649-2F31-494F-B74A-CEF30A4B3B0E}"/>
              </a:ext>
            </a:extLst>
          </p:cNvPr>
          <p:cNvSpPr txBox="1">
            <a:spLocks noChangeArrowheads="1"/>
          </p:cNvSpPr>
          <p:nvPr/>
        </p:nvSpPr>
        <p:spPr>
          <a:xfrm>
            <a:off x="561692" y="29603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 number of deployed TCPs take a delay-based approach</a:t>
            </a:r>
          </a:p>
          <a:p>
            <a:pPr marL="866775" marR="0" lvl="1" indent="-2825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BBR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deployed on Google’s (internal) backbone network</a:t>
            </a:r>
          </a:p>
        </p:txBody>
      </p:sp>
      <p:sp>
        <p:nvSpPr>
          <p:cNvPr id="6" name="Slide Number Placeholder 2">
            <a:extLst>
              <a:ext uri="{FF2B5EF4-FFF2-40B4-BE49-F238E27FC236}">
                <a16:creationId xmlns:a16="http://schemas.microsoft.com/office/drawing/2014/main" id="{5CA7437E-E0FF-0640-BE1C-5EF5D43C1DD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135</a:t>
            </a:fld>
            <a:endParaRPr lang="en-US" dirty="0"/>
          </a:p>
        </p:txBody>
      </p:sp>
    </p:spTree>
    <p:extLst>
      <p:ext uri="{BB962C8B-B14F-4D97-AF65-F5344CB8AC3E}">
        <p14:creationId xmlns:p14="http://schemas.microsoft.com/office/powerpoint/2010/main" val="4171275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Explicit congestion notification </a:t>
            </a:r>
            <a:r>
              <a:rPr lang="en-US" sz="3600" dirty="0"/>
              <a:t>(ECN)</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deployments often implement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network-assisted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bits in IP header (ToS field) marked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by network router</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indicate congestion</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policy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determine marking chosen by network operator</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congestion indication carried to destination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involves both IP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(IP header ECN bit marking)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and 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(TCP header C,E bit marking)</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IP datagram</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136</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DDBB9026-12F2-A349-BFEF-8C31C7F86092}"/>
              </a:ext>
            </a:extLst>
          </p:cNvPr>
          <p:cNvGrpSpPr/>
          <p:nvPr/>
        </p:nvGrpSpPr>
        <p:grpSpPr>
          <a:xfrm>
            <a:off x="7593761" y="3434252"/>
            <a:ext cx="1100814" cy="719137"/>
            <a:chOff x="7493876" y="2774731"/>
            <a:chExt cx="1481958" cy="894622"/>
          </a:xfrm>
        </p:grpSpPr>
        <p:sp>
          <p:nvSpPr>
            <p:cNvPr id="104" name="Freeform 103">
              <a:extLst>
                <a:ext uri="{FF2B5EF4-FFF2-40B4-BE49-F238E27FC236}">
                  <a16:creationId xmlns:a16="http://schemas.microsoft.com/office/drawing/2014/main" id="{2EAD1D45-E7DC-F546-BF28-5736213413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5" name="Oval 104">
              <a:extLst>
                <a:ext uri="{FF2B5EF4-FFF2-40B4-BE49-F238E27FC236}">
                  <a16:creationId xmlns:a16="http://schemas.microsoft.com/office/drawing/2014/main" id="{C917A520-A78E-6F4B-A627-C017D0408DA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6" name="Group 105">
              <a:extLst>
                <a:ext uri="{FF2B5EF4-FFF2-40B4-BE49-F238E27FC236}">
                  <a16:creationId xmlns:a16="http://schemas.microsoft.com/office/drawing/2014/main" id="{515FCDD6-C861-564F-B521-7551F1A8280E}"/>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EB9B6B9B-3107-CD48-AEC1-E65E25BE6AC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B5DD3803-6AF8-3847-B395-2589873795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DA65177F-9EDB-4144-8C88-7E37D8240A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97906B30-472F-354C-82AF-33220C002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70DB66D8-759D-3E45-8AD9-CC358022D572}"/>
              </a:ext>
            </a:extLst>
          </p:cNvPr>
          <p:cNvGrpSpPr/>
          <p:nvPr/>
        </p:nvGrpSpPr>
        <p:grpSpPr>
          <a:xfrm>
            <a:off x="5720127" y="3438633"/>
            <a:ext cx="1100814" cy="719137"/>
            <a:chOff x="7493876" y="2774731"/>
            <a:chExt cx="1481958" cy="894622"/>
          </a:xfrm>
        </p:grpSpPr>
        <p:sp>
          <p:nvSpPr>
            <p:cNvPr id="96" name="Freeform 95">
              <a:extLst>
                <a:ext uri="{FF2B5EF4-FFF2-40B4-BE49-F238E27FC236}">
                  <a16:creationId xmlns:a16="http://schemas.microsoft.com/office/drawing/2014/main" id="{E483E17D-400D-C84C-8056-02B78CDD0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318D9153-5EE4-3340-BCD3-478931CFC7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DAAFD939-A5C2-6A45-BE89-14CD8870A57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762F9A94-D8D0-934F-94BA-2BF1A64428C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205790B6-6F8F-394F-AEFC-DC10F8B5D5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355156BC-1504-E74B-8008-40A919B5BE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216A1E01-4397-904B-AF75-454F94DE10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719" y="271755"/>
            <a:ext cx="11393310" cy="894622"/>
          </a:xfrm>
        </p:spPr>
        <p:txBody>
          <a:bodyPr>
            <a:normAutofit/>
          </a:bodyPr>
          <a:lstStyle/>
          <a:p>
            <a:r>
              <a:rPr lang="en-US" sz="4800" dirty="0"/>
              <a:t>TCP fairness</a:t>
            </a:r>
            <a:endParaRPr lang="en-US" sz="4400" b="0" dirty="0"/>
          </a:p>
        </p:txBody>
      </p:sp>
      <p:sp>
        <p:nvSpPr>
          <p:cNvPr id="15" name="Rectangle 4">
            <a:extLst>
              <a:ext uri="{FF2B5EF4-FFF2-40B4-BE49-F238E27FC236}">
                <a16:creationId xmlns:a16="http://schemas.microsoft.com/office/drawing/2014/main" id="{FC515608-44C0-AE4F-9716-2C57F89C9FF4}"/>
              </a:ext>
            </a:extLst>
          </p:cNvPr>
          <p:cNvSpPr txBox="1">
            <a:spLocks noChangeArrowheads="1"/>
          </p:cNvSpPr>
          <p:nvPr/>
        </p:nvSpPr>
        <p:spPr>
          <a:xfrm>
            <a:off x="876300" y="1271325"/>
            <a:ext cx="10174288" cy="1089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Fairness goal:</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if</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K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sessions share same bottleneck link of bandwidth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each should have average rate of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R/K</a:t>
            </a:r>
          </a:p>
        </p:txBody>
      </p:sp>
      <p:sp>
        <p:nvSpPr>
          <p:cNvPr id="61" name="Line 68">
            <a:extLst>
              <a:ext uri="{FF2B5EF4-FFF2-40B4-BE49-F238E27FC236}">
                <a16:creationId xmlns:a16="http://schemas.microsoft.com/office/drawing/2014/main" id="{CDC7342A-49E4-EA42-944C-558FC96B498E}"/>
              </a:ext>
            </a:extLst>
          </p:cNvPr>
          <p:cNvSpPr>
            <a:spLocks noChangeShapeType="1"/>
          </p:cNvSpPr>
          <p:nvPr/>
        </p:nvSpPr>
        <p:spPr bwMode="auto">
          <a:xfrm flipV="1">
            <a:off x="6816123" y="3752849"/>
            <a:ext cx="819151" cy="8919"/>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0" name="Rectangle 25">
            <a:extLst>
              <a:ext uri="{FF2B5EF4-FFF2-40B4-BE49-F238E27FC236}">
                <a16:creationId xmlns:a16="http://schemas.microsoft.com/office/drawing/2014/main" id="{75F28C3D-FB3C-2547-B5A0-31713944D0F9}"/>
              </a:ext>
            </a:extLst>
          </p:cNvPr>
          <p:cNvSpPr>
            <a:spLocks noChangeArrowheads="1"/>
          </p:cNvSpPr>
          <p:nvPr/>
        </p:nvSpPr>
        <p:spPr bwMode="auto">
          <a:xfrm>
            <a:off x="698658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1" name="Rectangle 26">
            <a:extLst>
              <a:ext uri="{FF2B5EF4-FFF2-40B4-BE49-F238E27FC236}">
                <a16:creationId xmlns:a16="http://schemas.microsoft.com/office/drawing/2014/main" id="{2FFB7F49-0A17-8244-A6C8-A042CD8FF570}"/>
              </a:ext>
            </a:extLst>
          </p:cNvPr>
          <p:cNvSpPr>
            <a:spLocks noChangeArrowheads="1"/>
          </p:cNvSpPr>
          <p:nvPr/>
        </p:nvSpPr>
        <p:spPr bwMode="auto">
          <a:xfrm>
            <a:off x="6296025" y="3614738"/>
            <a:ext cx="147638"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2" name="Rectangle 27">
            <a:extLst>
              <a:ext uri="{FF2B5EF4-FFF2-40B4-BE49-F238E27FC236}">
                <a16:creationId xmlns:a16="http://schemas.microsoft.com/office/drawing/2014/main" id="{506AE97C-512B-D047-B5C2-A8583E61E051}"/>
              </a:ext>
            </a:extLst>
          </p:cNvPr>
          <p:cNvSpPr>
            <a:spLocks noChangeArrowheads="1"/>
          </p:cNvSpPr>
          <p:nvPr/>
        </p:nvSpPr>
        <p:spPr bwMode="auto">
          <a:xfrm>
            <a:off x="658653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28">
            <a:extLst>
              <a:ext uri="{FF2B5EF4-FFF2-40B4-BE49-F238E27FC236}">
                <a16:creationId xmlns:a16="http://schemas.microsoft.com/office/drawing/2014/main" id="{D7035546-992D-A546-9880-E3DFD92C39EA}"/>
              </a:ext>
            </a:extLst>
          </p:cNvPr>
          <p:cNvSpPr txBox="1">
            <a:spLocks noChangeArrowheads="1"/>
          </p:cNvSpPr>
          <p:nvPr/>
        </p:nvSpPr>
        <p:spPr bwMode="auto">
          <a:xfrm>
            <a:off x="2370566" y="2468215"/>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1</a:t>
            </a:r>
          </a:p>
        </p:txBody>
      </p:sp>
      <p:sp>
        <p:nvSpPr>
          <p:cNvPr id="84" name="Text Box 29">
            <a:extLst>
              <a:ext uri="{FF2B5EF4-FFF2-40B4-BE49-F238E27FC236}">
                <a16:creationId xmlns:a16="http://schemas.microsoft.com/office/drawing/2014/main" id="{7297E699-0BA6-F14E-9015-0764C0BCD193}"/>
              </a:ext>
            </a:extLst>
          </p:cNvPr>
          <p:cNvSpPr txBox="1">
            <a:spLocks noChangeArrowheads="1"/>
          </p:cNvSpPr>
          <p:nvPr/>
        </p:nvSpPr>
        <p:spPr bwMode="auto">
          <a:xfrm>
            <a:off x="5510979" y="4275418"/>
            <a:ext cx="1518813"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bottleneck</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router</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capacity R</a:t>
            </a:r>
          </a:p>
        </p:txBody>
      </p:sp>
      <p:sp>
        <p:nvSpPr>
          <p:cNvPr id="85" name="Freeform 40">
            <a:extLst>
              <a:ext uri="{FF2B5EF4-FFF2-40B4-BE49-F238E27FC236}">
                <a16:creationId xmlns:a16="http://schemas.microsoft.com/office/drawing/2014/main" id="{7B18511C-E0F5-ED42-B886-442969765A2C}"/>
              </a:ext>
            </a:extLst>
          </p:cNvPr>
          <p:cNvSpPr>
            <a:spLocks/>
          </p:cNvSpPr>
          <p:nvPr/>
        </p:nvSpPr>
        <p:spPr bwMode="auto">
          <a:xfrm>
            <a:off x="4765675" y="2967952"/>
            <a:ext cx="4227323" cy="719138"/>
          </a:xfrm>
          <a:custGeom>
            <a:avLst/>
            <a:gdLst>
              <a:gd name="T0" fmla="*/ 0 w 2412"/>
              <a:gd name="T1" fmla="*/ 0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0"/>
                </a:moveTo>
                <a:cubicBezTo>
                  <a:pt x="93" y="65"/>
                  <a:pt x="156" y="318"/>
                  <a:pt x="558" y="390"/>
                </a:cubicBezTo>
                <a:cubicBezTo>
                  <a:pt x="959" y="453"/>
                  <a:pt x="2026" y="423"/>
                  <a:pt x="2412" y="432"/>
                </a:cubicBezTo>
              </a:path>
            </a:pathLst>
          </a:custGeom>
          <a:noFill/>
          <a:ln w="38100" cap="flat" cmpd="sng">
            <a:solidFill>
              <a:srgbClr val="0099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Rectangle 41">
            <a:extLst>
              <a:ext uri="{FF2B5EF4-FFF2-40B4-BE49-F238E27FC236}">
                <a16:creationId xmlns:a16="http://schemas.microsoft.com/office/drawing/2014/main" id="{B87FB624-4166-674A-B3AB-E61FF504C187}"/>
              </a:ext>
            </a:extLst>
          </p:cNvPr>
          <p:cNvSpPr>
            <a:spLocks noChangeArrowheads="1"/>
          </p:cNvSpPr>
          <p:nvPr/>
        </p:nvSpPr>
        <p:spPr bwMode="auto">
          <a:xfrm>
            <a:off x="6457950" y="3614738"/>
            <a:ext cx="147638" cy="200025"/>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Freeform 42">
            <a:extLst>
              <a:ext uri="{FF2B5EF4-FFF2-40B4-BE49-F238E27FC236}">
                <a16:creationId xmlns:a16="http://schemas.microsoft.com/office/drawing/2014/main" id="{219FFC1B-3A12-DC4B-B53E-9BB5E48658B7}"/>
              </a:ext>
            </a:extLst>
          </p:cNvPr>
          <p:cNvSpPr>
            <a:spLocks/>
          </p:cNvSpPr>
          <p:nvPr/>
        </p:nvSpPr>
        <p:spPr bwMode="auto">
          <a:xfrm>
            <a:off x="4724400" y="3763963"/>
            <a:ext cx="4268598" cy="719137"/>
          </a:xfrm>
          <a:custGeom>
            <a:avLst/>
            <a:gdLst>
              <a:gd name="T0" fmla="*/ 0 w 2412"/>
              <a:gd name="T1" fmla="*/ 2147483647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453"/>
                </a:moveTo>
                <a:cubicBezTo>
                  <a:pt x="93" y="388"/>
                  <a:pt x="156" y="134"/>
                  <a:pt x="558" y="63"/>
                </a:cubicBezTo>
                <a:cubicBezTo>
                  <a:pt x="959" y="0"/>
                  <a:pt x="2026" y="36"/>
                  <a:pt x="2412" y="29"/>
                </a:cubicBezTo>
              </a:path>
            </a:pathLst>
          </a:custGeom>
          <a:noFill/>
          <a:ln w="38100" cap="flat" cmpd="sng">
            <a:solidFill>
              <a:srgbClr val="3333CC"/>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48">
            <a:extLst>
              <a:ext uri="{FF2B5EF4-FFF2-40B4-BE49-F238E27FC236}">
                <a16:creationId xmlns:a16="http://schemas.microsoft.com/office/drawing/2014/main" id="{1859B4C2-A97D-4B48-B306-9FC98BD5A129}"/>
              </a:ext>
            </a:extLst>
          </p:cNvPr>
          <p:cNvSpPr txBox="1">
            <a:spLocks noChangeArrowheads="1"/>
          </p:cNvSpPr>
          <p:nvPr/>
        </p:nvSpPr>
        <p:spPr bwMode="auto">
          <a:xfrm>
            <a:off x="2354381" y="4692948"/>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2</a:t>
            </a:r>
          </a:p>
        </p:txBody>
      </p:sp>
      <p:grpSp>
        <p:nvGrpSpPr>
          <p:cNvPr id="89" name="Group 69">
            <a:extLst>
              <a:ext uri="{FF2B5EF4-FFF2-40B4-BE49-F238E27FC236}">
                <a16:creationId xmlns:a16="http://schemas.microsoft.com/office/drawing/2014/main" id="{E41C4D8C-20B4-204B-B9D2-EF53C43D06A8}"/>
              </a:ext>
            </a:extLst>
          </p:cNvPr>
          <p:cNvGrpSpPr>
            <a:grpSpLocks/>
          </p:cNvGrpSpPr>
          <p:nvPr/>
        </p:nvGrpSpPr>
        <p:grpSpPr bwMode="auto">
          <a:xfrm>
            <a:off x="3975100" y="2860675"/>
            <a:ext cx="766763" cy="704850"/>
            <a:chOff x="-44" y="1473"/>
            <a:chExt cx="981" cy="1105"/>
          </a:xfrm>
        </p:grpSpPr>
        <p:pic>
          <p:nvPicPr>
            <p:cNvPr id="90" name="Picture 70" descr="desktop_computer_stylized_medium">
              <a:extLst>
                <a:ext uri="{FF2B5EF4-FFF2-40B4-BE49-F238E27FC236}">
                  <a16:creationId xmlns:a16="http://schemas.microsoft.com/office/drawing/2014/main" id="{0A14B506-3AAE-F546-9A74-AC6072F150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71">
              <a:extLst>
                <a:ext uri="{FF2B5EF4-FFF2-40B4-BE49-F238E27FC236}">
                  <a16:creationId xmlns:a16="http://schemas.microsoft.com/office/drawing/2014/main" id="{F6DE560E-4DD1-2842-AD9C-065090AD368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2" name="Group 72">
            <a:extLst>
              <a:ext uri="{FF2B5EF4-FFF2-40B4-BE49-F238E27FC236}">
                <a16:creationId xmlns:a16="http://schemas.microsoft.com/office/drawing/2014/main" id="{D4B132ED-F65A-8349-9956-0282CD84A913}"/>
              </a:ext>
            </a:extLst>
          </p:cNvPr>
          <p:cNvGrpSpPr>
            <a:grpSpLocks/>
          </p:cNvGrpSpPr>
          <p:nvPr/>
        </p:nvGrpSpPr>
        <p:grpSpPr bwMode="auto">
          <a:xfrm>
            <a:off x="3978275" y="4106863"/>
            <a:ext cx="766763" cy="704850"/>
            <a:chOff x="-44" y="1473"/>
            <a:chExt cx="981" cy="1105"/>
          </a:xfrm>
        </p:grpSpPr>
        <p:pic>
          <p:nvPicPr>
            <p:cNvPr id="93" name="Picture 73" descr="desktop_computer_stylized_medium">
              <a:extLst>
                <a:ext uri="{FF2B5EF4-FFF2-40B4-BE49-F238E27FC236}">
                  <a16:creationId xmlns:a16="http://schemas.microsoft.com/office/drawing/2014/main" id="{4A386E2E-C0EC-8A47-9B1E-88CB80A47D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Freeform 74">
              <a:extLst>
                <a:ext uri="{FF2B5EF4-FFF2-40B4-BE49-F238E27FC236}">
                  <a16:creationId xmlns:a16="http://schemas.microsoft.com/office/drawing/2014/main" id="{021EC07F-1EE7-F54E-88B9-7C2A3644AA1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BB114D03-0978-4146-94B8-68FCC4AA26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137</a:t>
            </a:fld>
            <a:endParaRPr lang="en-US" dirty="0"/>
          </a:p>
        </p:txBody>
      </p:sp>
    </p:spTree>
    <p:extLst>
      <p:ext uri="{BB962C8B-B14F-4D97-AF65-F5344CB8AC3E}">
        <p14:creationId xmlns:p14="http://schemas.microsoft.com/office/powerpoint/2010/main" val="304157362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34526"/>
            <a:ext cx="11393310" cy="894622"/>
          </a:xfrm>
        </p:spPr>
        <p:txBody>
          <a:bodyPr>
            <a:normAutofit/>
          </a:bodyPr>
          <a:lstStyle/>
          <a:p>
            <a:r>
              <a:rPr lang="en-US" sz="4800" dirty="0"/>
              <a:t>Q: is TCP Fair?</a:t>
            </a:r>
            <a:endParaRPr lang="en-US" sz="4400" b="0" dirty="0"/>
          </a:p>
        </p:txBody>
      </p:sp>
      <p:sp>
        <p:nvSpPr>
          <p:cNvPr id="37" name="Rectangle 3">
            <a:extLst>
              <a:ext uri="{FF2B5EF4-FFF2-40B4-BE49-F238E27FC236}">
                <a16:creationId xmlns:a16="http://schemas.microsoft.com/office/drawing/2014/main" id="{F376200C-B032-3845-A02F-653A6DB1CA80}"/>
              </a:ext>
            </a:extLst>
          </p:cNvPr>
          <p:cNvSpPr txBox="1">
            <a:spLocks noChangeArrowheads="1"/>
          </p:cNvSpPr>
          <p:nvPr/>
        </p:nvSpPr>
        <p:spPr>
          <a:xfrm>
            <a:off x="1028116" y="1209675"/>
            <a:ext cx="1064318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two competing TCP sessions: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additive increase gives slope of 1, as throughout increases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multiplicative decrease decreases throughput proportionally </a:t>
            </a:r>
          </a:p>
        </p:txBody>
      </p:sp>
      <p:sp>
        <p:nvSpPr>
          <p:cNvPr id="58" name="Line 4">
            <a:extLst>
              <a:ext uri="{FF2B5EF4-FFF2-40B4-BE49-F238E27FC236}">
                <a16:creationId xmlns:a16="http://schemas.microsoft.com/office/drawing/2014/main" id="{DBA281FC-CC2B-3B4C-8CA6-4EDCC95E7FC5}"/>
              </a:ext>
            </a:extLst>
          </p:cNvPr>
          <p:cNvSpPr>
            <a:spLocks noChangeShapeType="1"/>
          </p:cNvSpPr>
          <p:nvPr/>
        </p:nvSpPr>
        <p:spPr bwMode="auto">
          <a:xfrm>
            <a:off x="1701800" y="6091237"/>
            <a:ext cx="3638550" cy="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5">
            <a:extLst>
              <a:ext uri="{FF2B5EF4-FFF2-40B4-BE49-F238E27FC236}">
                <a16:creationId xmlns:a16="http://schemas.microsoft.com/office/drawing/2014/main" id="{B4E196DB-854B-3549-98E9-F41F0D1F00AE}"/>
              </a:ext>
            </a:extLst>
          </p:cNvPr>
          <p:cNvSpPr>
            <a:spLocks noChangeShapeType="1"/>
          </p:cNvSpPr>
          <p:nvPr/>
        </p:nvSpPr>
        <p:spPr bwMode="auto">
          <a:xfrm flipV="1">
            <a:off x="1701800" y="2995612"/>
            <a:ext cx="0" cy="308610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6">
            <a:extLst>
              <a:ext uri="{FF2B5EF4-FFF2-40B4-BE49-F238E27FC236}">
                <a16:creationId xmlns:a16="http://schemas.microsoft.com/office/drawing/2014/main" id="{5542C2C0-67F6-994A-AEFC-E5B2460F1F4B}"/>
              </a:ext>
            </a:extLst>
          </p:cNvPr>
          <p:cNvSpPr>
            <a:spLocks noChangeShapeType="1"/>
          </p:cNvSpPr>
          <p:nvPr/>
        </p:nvSpPr>
        <p:spPr bwMode="auto">
          <a:xfrm rot="-2938105" flipH="1" flipV="1">
            <a:off x="1095375" y="4730750"/>
            <a:ext cx="3560763" cy="14287"/>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7">
            <a:extLst>
              <a:ext uri="{FF2B5EF4-FFF2-40B4-BE49-F238E27FC236}">
                <a16:creationId xmlns:a16="http://schemas.microsoft.com/office/drawing/2014/main" id="{7A0A4AB6-5EF9-8440-BAF1-06A321FDC132}"/>
              </a:ext>
            </a:extLst>
          </p:cNvPr>
          <p:cNvSpPr>
            <a:spLocks noChangeShapeType="1"/>
          </p:cNvSpPr>
          <p:nvPr/>
        </p:nvSpPr>
        <p:spPr bwMode="auto">
          <a:xfrm>
            <a:off x="1682750" y="3243262"/>
            <a:ext cx="2819400" cy="2809875"/>
          </a:xfrm>
          <a:prstGeom prst="line">
            <a:avLst/>
          </a:prstGeom>
          <a:noFill/>
          <a:ln w="38100">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Text Box 8">
            <a:extLst>
              <a:ext uri="{FF2B5EF4-FFF2-40B4-BE49-F238E27FC236}">
                <a16:creationId xmlns:a16="http://schemas.microsoft.com/office/drawing/2014/main" id="{17AEECBA-CCAD-AA47-9887-C9E20B6826AC}"/>
              </a:ext>
            </a:extLst>
          </p:cNvPr>
          <p:cNvSpPr txBox="1">
            <a:spLocks noChangeArrowheads="1"/>
          </p:cNvSpPr>
          <p:nvPr/>
        </p:nvSpPr>
        <p:spPr bwMode="auto">
          <a:xfrm>
            <a:off x="1331913" y="3071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Text Box 9">
            <a:extLst>
              <a:ext uri="{FF2B5EF4-FFF2-40B4-BE49-F238E27FC236}">
                <a16:creationId xmlns:a16="http://schemas.microsoft.com/office/drawing/2014/main" id="{5D2A8ED6-62FA-AA4E-B95C-0B1A80981086}"/>
              </a:ext>
            </a:extLst>
          </p:cNvPr>
          <p:cNvSpPr txBox="1">
            <a:spLocks noChangeArrowheads="1"/>
          </p:cNvSpPr>
          <p:nvPr/>
        </p:nvSpPr>
        <p:spPr bwMode="auto">
          <a:xfrm>
            <a:off x="4284663" y="6119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Text Box 10">
            <a:extLst>
              <a:ext uri="{FF2B5EF4-FFF2-40B4-BE49-F238E27FC236}">
                <a16:creationId xmlns:a16="http://schemas.microsoft.com/office/drawing/2014/main" id="{B2E2FDC0-B672-3448-804D-624A98C1841A}"/>
              </a:ext>
            </a:extLst>
          </p:cNvPr>
          <p:cNvSpPr txBox="1">
            <a:spLocks noChangeArrowheads="1"/>
          </p:cNvSpPr>
          <p:nvPr/>
        </p:nvSpPr>
        <p:spPr bwMode="auto">
          <a:xfrm>
            <a:off x="2560638" y="3062287"/>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equal bandwidth share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11">
            <a:extLst>
              <a:ext uri="{FF2B5EF4-FFF2-40B4-BE49-F238E27FC236}">
                <a16:creationId xmlns:a16="http://schemas.microsoft.com/office/drawing/2014/main" id="{14F93699-B5A1-D14D-8FB0-AA9B53890B69}"/>
              </a:ext>
            </a:extLst>
          </p:cNvPr>
          <p:cNvSpPr txBox="1">
            <a:spLocks noChangeArrowheads="1"/>
          </p:cNvSpPr>
          <p:nvPr/>
        </p:nvSpPr>
        <p:spPr bwMode="auto">
          <a:xfrm>
            <a:off x="1141413" y="6100762"/>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1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Text Box 12">
            <a:extLst>
              <a:ext uri="{FF2B5EF4-FFF2-40B4-BE49-F238E27FC236}">
                <a16:creationId xmlns:a16="http://schemas.microsoft.com/office/drawing/2014/main" id="{21CCCAB1-09D9-8E4C-AB43-05B1CC4E61F5}"/>
              </a:ext>
            </a:extLst>
          </p:cNvPr>
          <p:cNvSpPr txBox="1">
            <a:spLocks noChangeArrowheads="1"/>
          </p:cNvSpPr>
          <p:nvPr/>
        </p:nvSpPr>
        <p:spPr bwMode="auto">
          <a:xfrm rot="-5396642">
            <a:off x="-273844" y="4639469"/>
            <a:ext cx="3546475"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2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3">
            <a:extLst>
              <a:ext uri="{FF2B5EF4-FFF2-40B4-BE49-F238E27FC236}">
                <a16:creationId xmlns:a16="http://schemas.microsoft.com/office/drawing/2014/main" id="{5F5EBC46-A27F-8D4B-BB71-A9A69889B2CA}"/>
              </a:ext>
            </a:extLst>
          </p:cNvPr>
          <p:cNvSpPr>
            <a:spLocks noChangeShapeType="1"/>
          </p:cNvSpPr>
          <p:nvPr/>
        </p:nvSpPr>
        <p:spPr bwMode="auto">
          <a:xfrm rot="-2938105" flipH="1" flipV="1">
            <a:off x="2805112" y="5348288"/>
            <a:ext cx="1293813" cy="4762"/>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Text Box 14">
            <a:extLst>
              <a:ext uri="{FF2B5EF4-FFF2-40B4-BE49-F238E27FC236}">
                <a16:creationId xmlns:a16="http://schemas.microsoft.com/office/drawing/2014/main" id="{40C340D3-D186-C146-A88F-B4C6DA375773}"/>
              </a:ext>
            </a:extLst>
          </p:cNvPr>
          <p:cNvSpPr txBox="1">
            <a:spLocks noChangeArrowheads="1"/>
          </p:cNvSpPr>
          <p:nvPr/>
        </p:nvSpPr>
        <p:spPr bwMode="auto">
          <a:xfrm>
            <a:off x="3475038" y="4919662"/>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15">
            <a:extLst>
              <a:ext uri="{FF2B5EF4-FFF2-40B4-BE49-F238E27FC236}">
                <a16:creationId xmlns:a16="http://schemas.microsoft.com/office/drawing/2014/main" id="{F674B59D-1466-9848-98C7-F85A4B7C2667}"/>
              </a:ext>
            </a:extLst>
          </p:cNvPr>
          <p:cNvSpPr>
            <a:spLocks noChangeShapeType="1"/>
          </p:cNvSpPr>
          <p:nvPr/>
        </p:nvSpPr>
        <p:spPr bwMode="auto">
          <a:xfrm flipH="1">
            <a:off x="2692400" y="4881562"/>
            <a:ext cx="1171575" cy="63182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16">
            <a:extLst>
              <a:ext uri="{FF2B5EF4-FFF2-40B4-BE49-F238E27FC236}">
                <a16:creationId xmlns:a16="http://schemas.microsoft.com/office/drawing/2014/main" id="{0A077D32-CBC6-0E40-85C7-A1E8D5167F22}"/>
              </a:ext>
            </a:extLst>
          </p:cNvPr>
          <p:cNvSpPr txBox="1">
            <a:spLocks noChangeArrowheads="1"/>
          </p:cNvSpPr>
          <p:nvPr/>
        </p:nvSpPr>
        <p:spPr bwMode="auto">
          <a:xfrm>
            <a:off x="4006850" y="4675187"/>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17">
            <a:extLst>
              <a:ext uri="{FF2B5EF4-FFF2-40B4-BE49-F238E27FC236}">
                <a16:creationId xmlns:a16="http://schemas.microsoft.com/office/drawing/2014/main" id="{B9476A6C-10EE-1541-8903-FE6263CE8822}"/>
              </a:ext>
            </a:extLst>
          </p:cNvPr>
          <p:cNvSpPr>
            <a:spLocks noChangeShapeType="1"/>
          </p:cNvSpPr>
          <p:nvPr/>
        </p:nvSpPr>
        <p:spPr bwMode="auto">
          <a:xfrm rot="-2938105" flipH="1" flipV="1">
            <a:off x="2484438" y="5021262"/>
            <a:ext cx="1303337" cy="23813"/>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3" name="Text Box 18">
            <a:extLst>
              <a:ext uri="{FF2B5EF4-FFF2-40B4-BE49-F238E27FC236}">
                <a16:creationId xmlns:a16="http://schemas.microsoft.com/office/drawing/2014/main" id="{FCED3372-6EB5-0244-B6B3-A1566B98227B}"/>
              </a:ext>
            </a:extLst>
          </p:cNvPr>
          <p:cNvSpPr txBox="1">
            <a:spLocks noChangeArrowheads="1"/>
          </p:cNvSpPr>
          <p:nvPr/>
        </p:nvSpPr>
        <p:spPr bwMode="auto">
          <a:xfrm>
            <a:off x="3189288" y="4433887"/>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19">
            <a:extLst>
              <a:ext uri="{FF2B5EF4-FFF2-40B4-BE49-F238E27FC236}">
                <a16:creationId xmlns:a16="http://schemas.microsoft.com/office/drawing/2014/main" id="{4E5DDD32-0D26-E049-B9F7-C4FBF7E6512E}"/>
              </a:ext>
            </a:extLst>
          </p:cNvPr>
          <p:cNvSpPr>
            <a:spLocks noChangeShapeType="1"/>
          </p:cNvSpPr>
          <p:nvPr/>
        </p:nvSpPr>
        <p:spPr bwMode="auto">
          <a:xfrm flipH="1">
            <a:off x="2549525" y="4595812"/>
            <a:ext cx="981075" cy="76517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5" name="Text Box 20">
            <a:extLst>
              <a:ext uri="{FF2B5EF4-FFF2-40B4-BE49-F238E27FC236}">
                <a16:creationId xmlns:a16="http://schemas.microsoft.com/office/drawing/2014/main" id="{A03E8186-B72C-F340-B288-4F7DBF876180}"/>
              </a:ext>
            </a:extLst>
          </p:cNvPr>
          <p:cNvSpPr txBox="1">
            <a:spLocks noChangeArrowheads="1"/>
          </p:cNvSpPr>
          <p:nvPr/>
        </p:nvSpPr>
        <p:spPr bwMode="auto">
          <a:xfrm>
            <a:off x="3606800" y="4227512"/>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21">
            <a:extLst>
              <a:ext uri="{FF2B5EF4-FFF2-40B4-BE49-F238E27FC236}">
                <a16:creationId xmlns:a16="http://schemas.microsoft.com/office/drawing/2014/main" id="{23ACBCF3-355B-D845-A208-0AA50EB86E08}"/>
              </a:ext>
            </a:extLst>
          </p:cNvPr>
          <p:cNvSpPr>
            <a:spLocks noChangeShapeType="1"/>
          </p:cNvSpPr>
          <p:nvPr/>
        </p:nvSpPr>
        <p:spPr bwMode="auto">
          <a:xfrm rot="-2938105" flipH="1" flipV="1">
            <a:off x="2340769" y="48744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22">
            <a:extLst>
              <a:ext uri="{FF2B5EF4-FFF2-40B4-BE49-F238E27FC236}">
                <a16:creationId xmlns:a16="http://schemas.microsoft.com/office/drawing/2014/main" id="{E273C730-C7D8-1A43-9E3B-00ABA35C5306}"/>
              </a:ext>
            </a:extLst>
          </p:cNvPr>
          <p:cNvSpPr>
            <a:spLocks noChangeShapeType="1"/>
          </p:cNvSpPr>
          <p:nvPr/>
        </p:nvSpPr>
        <p:spPr bwMode="auto">
          <a:xfrm flipH="1">
            <a:off x="2482850" y="4414837"/>
            <a:ext cx="911225" cy="889000"/>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3">
            <a:extLst>
              <a:ext uri="{FF2B5EF4-FFF2-40B4-BE49-F238E27FC236}">
                <a16:creationId xmlns:a16="http://schemas.microsoft.com/office/drawing/2014/main" id="{D3308B5F-47D8-A74E-B415-FFCEF8B0042F}"/>
              </a:ext>
            </a:extLst>
          </p:cNvPr>
          <p:cNvSpPr>
            <a:spLocks noChangeShapeType="1"/>
          </p:cNvSpPr>
          <p:nvPr/>
        </p:nvSpPr>
        <p:spPr bwMode="auto">
          <a:xfrm rot="-2938105" flipH="1" flipV="1">
            <a:off x="2261394" y="48109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27161D4D-6036-7840-9C2A-DD136DFE6AC3}"/>
              </a:ext>
            </a:extLst>
          </p:cNvPr>
          <p:cNvGrpSpPr/>
          <p:nvPr/>
        </p:nvGrpSpPr>
        <p:grpSpPr>
          <a:xfrm>
            <a:off x="7983110" y="3205277"/>
            <a:ext cx="3864041" cy="2713458"/>
            <a:chOff x="7983110" y="3205277"/>
            <a:chExt cx="3864041" cy="2713458"/>
          </a:xfrm>
        </p:grpSpPr>
        <p:sp>
          <p:nvSpPr>
            <p:cNvPr id="4" name="TextBox 3">
              <a:extLst>
                <a:ext uri="{FF2B5EF4-FFF2-40B4-BE49-F238E27FC236}">
                  <a16:creationId xmlns:a16="http://schemas.microsoft.com/office/drawing/2014/main" id="{4F689499-145C-2146-9B69-DB52B42A4EDB}"/>
                </a:ext>
              </a:extLst>
            </p:cNvPr>
            <p:cNvSpPr txBox="1"/>
            <p:nvPr/>
          </p:nvSpPr>
          <p:spPr>
            <a:xfrm>
              <a:off x="8130707" y="3671674"/>
              <a:ext cx="3703160" cy="21975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Yes, under idealized assumptions:</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same RTT</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fixed number of sessions only in congestion avoidance </a:t>
              </a:r>
            </a:p>
          </p:txBody>
        </p:sp>
        <p:sp>
          <p:nvSpPr>
            <p:cNvPr id="5" name="Rectangle 4">
              <a:extLst>
                <a:ext uri="{FF2B5EF4-FFF2-40B4-BE49-F238E27FC236}">
                  <a16:creationId xmlns:a16="http://schemas.microsoft.com/office/drawing/2014/main" id="{81B3A82D-3CAE-9B48-AD89-484CB7470DDC}"/>
                </a:ext>
              </a:extLst>
            </p:cNvPr>
            <p:cNvSpPr/>
            <p:nvPr/>
          </p:nvSpPr>
          <p:spPr>
            <a:xfrm>
              <a:off x="7983110" y="3468687"/>
              <a:ext cx="3864041" cy="2450048"/>
            </a:xfrm>
            <a:prstGeom prst="rect">
              <a:avLst/>
            </a:pr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810BBF2-F84D-F54A-8EA9-8C4CDEC1F8FC}"/>
                </a:ext>
              </a:extLst>
            </p:cNvPr>
            <p:cNvSpPr/>
            <p:nvPr/>
          </p:nvSpPr>
          <p:spPr>
            <a:xfrm>
              <a:off x="8338252" y="3328994"/>
              <a:ext cx="1762727" cy="255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AF32648-965E-544D-9501-D321D85B1D2E}"/>
                </a:ext>
              </a:extLst>
            </p:cNvPr>
            <p:cNvSpPr txBox="1"/>
            <p:nvPr/>
          </p:nvSpPr>
          <p:spPr>
            <a:xfrm>
              <a:off x="8332482" y="3205277"/>
              <a:ext cx="176849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Is</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TCP fair?</a:t>
              </a:r>
            </a:p>
          </p:txBody>
        </p:sp>
      </p:grpSp>
      <p:sp>
        <p:nvSpPr>
          <p:cNvPr id="9" name="Oval 8">
            <a:extLst>
              <a:ext uri="{FF2B5EF4-FFF2-40B4-BE49-F238E27FC236}">
                <a16:creationId xmlns:a16="http://schemas.microsoft.com/office/drawing/2014/main" id="{7F874365-E6FC-E74F-ABF0-F2402AFDE7DD}"/>
              </a:ext>
            </a:extLst>
          </p:cNvPr>
          <p:cNvSpPr/>
          <p:nvPr/>
        </p:nvSpPr>
        <p:spPr>
          <a:xfrm>
            <a:off x="2998274" y="5695379"/>
            <a:ext cx="166255" cy="166255"/>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Slide Number Placeholder 2">
            <a:extLst>
              <a:ext uri="{FF2B5EF4-FFF2-40B4-BE49-F238E27FC236}">
                <a16:creationId xmlns:a16="http://schemas.microsoft.com/office/drawing/2014/main" id="{06E0EBD2-9213-6D40-8DF6-4E431B8B6AC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138</a:t>
            </a:fld>
            <a:endParaRPr lang="en-US" dirty="0"/>
          </a:p>
        </p:txBody>
      </p:sp>
    </p:spTree>
    <p:extLst>
      <p:ext uri="{BB962C8B-B14F-4D97-AF65-F5344CB8AC3E}">
        <p14:creationId xmlns:p14="http://schemas.microsoft.com/office/powerpoint/2010/main" val="1295824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500"/>
                                        <p:tgtEl>
                                          <p:spTgt spid="68"/>
                                        </p:tgtEl>
                                      </p:cBhvr>
                                    </p:animEffect>
                                  </p:childTnLst>
                                </p:cTn>
                              </p:par>
                              <p:par>
                                <p:cTn id="8" presetID="9" presetClass="exit" presetSubtype="0" fill="hold" grpId="0" nodeType="withEffect">
                                  <p:stCondLst>
                                    <p:cond delay="0"/>
                                  </p:stCondLst>
                                  <p:childTnLst>
                                    <p:animEffect transition="out" filter="dissolve">
                                      <p:cBhvr>
                                        <p:cTn id="9" dur="500"/>
                                        <p:tgtEl>
                                          <p:spTgt spid="9"/>
                                        </p:tgtEl>
                                      </p:cBhvr>
                                    </p:animEffect>
                                    <p:set>
                                      <p:cBhvr>
                                        <p:cTn id="10" dur="1" fill="hold">
                                          <p:stCondLst>
                                            <p:cond delay="499"/>
                                          </p:stCondLst>
                                        </p:cTn>
                                        <p:tgtEl>
                                          <p:spTgt spid="9"/>
                                        </p:tgtEl>
                                        <p:attrNameLst>
                                          <p:attrName>style.visibility</p:attrName>
                                        </p:attrNameLst>
                                      </p:cBhvr>
                                      <p:to>
                                        <p:strVal val="hidden"/>
                                      </p:to>
                                    </p:set>
                                  </p:childTnLst>
                                </p:cTn>
                              </p:par>
                            </p:childTnLst>
                          </p:cTn>
                        </p:par>
                        <p:par>
                          <p:cTn id="11" fill="hold">
                            <p:stCondLst>
                              <p:cond delay="500"/>
                            </p:stCondLst>
                            <p:childTnLst>
                              <p:par>
                                <p:cTn id="12" presetID="9"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dissolve">
                                      <p:cBhvr>
                                        <p:cTn id="14" dur="500"/>
                                        <p:tgtEl>
                                          <p:spTgt spid="69"/>
                                        </p:tgtEl>
                                      </p:cBhvr>
                                    </p:animEffect>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right)">
                                      <p:cBhvr>
                                        <p:cTn id="19" dur="500"/>
                                        <p:tgtEl>
                                          <p:spTgt spid="70"/>
                                        </p:tgtEl>
                                      </p:cBhvr>
                                    </p:animEffec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dissolve">
                                      <p:cBhvr>
                                        <p:cTn id="23" dur="5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left)">
                                      <p:cBhvr>
                                        <p:cTn id="28" dur="500"/>
                                        <p:tgtEl>
                                          <p:spTgt spid="72"/>
                                        </p:tgtEl>
                                      </p:cBhvr>
                                    </p:animEffect>
                                  </p:childTnLst>
                                </p:cTn>
                              </p:par>
                            </p:childTnLst>
                          </p:cTn>
                        </p:par>
                        <p:par>
                          <p:cTn id="29" fill="hold">
                            <p:stCondLst>
                              <p:cond delay="500"/>
                            </p:stCondLst>
                            <p:childTnLst>
                              <p:par>
                                <p:cTn id="30" presetID="9" presetClass="entr" presetSubtype="0" fill="hold" grpId="0" nodeType="after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dissolve">
                                      <p:cBhvr>
                                        <p:cTn id="32" dur="500"/>
                                        <p:tgtEl>
                                          <p:spTgt spid="73"/>
                                        </p:tgtEl>
                                      </p:cBhvr>
                                    </p:animEffect>
                                  </p:childTnLst>
                                  <p:subTnLst>
                                    <p:set>
                                      <p:cBhvr override="childStyle">
                                        <p:cTn dur="1" fill="hold" display="0" masterRel="nextClick" afterEffect="1"/>
                                        <p:tgtEl>
                                          <p:spTgt spid="73"/>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22" presetClass="entr" presetSubtype="2"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right)">
                                      <p:cBhvr>
                                        <p:cTn id="37" dur="500"/>
                                        <p:tgtEl>
                                          <p:spTgt spid="74"/>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5"/>
                                        </p:tgtEl>
                                        <p:attrNameLst>
                                          <p:attrName>style.visibility</p:attrName>
                                        </p:attrNameLst>
                                      </p:cBhvr>
                                      <p:to>
                                        <p:strVal val="visible"/>
                                      </p:to>
                                    </p:set>
                                    <p:animEffect transition="in" filter="dissolve">
                                      <p:cBhvr>
                                        <p:cTn id="41" dur="500"/>
                                        <p:tgtEl>
                                          <p:spTgt spid="75"/>
                                        </p:tgtEl>
                                      </p:cBhvr>
                                    </p:animEffect>
                                  </p:childTnLst>
                                  <p:subTnLst>
                                    <p:set>
                                      <p:cBhvr override="childStyle">
                                        <p:cTn dur="1" fill="hold" display="0" masterRel="nextClick" afterEffect="1"/>
                                        <p:tgtEl>
                                          <p:spTgt spid="75"/>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left)">
                                      <p:cBhvr>
                                        <p:cTn id="46" dur="500"/>
                                        <p:tgtEl>
                                          <p:spTgt spid="7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2" fill="hold" nodeType="clickEffect">
                                  <p:stCondLst>
                                    <p:cond delay="0"/>
                                  </p:stCondLst>
                                  <p:childTnLst>
                                    <p:set>
                                      <p:cBhvr>
                                        <p:cTn id="50" dur="1" fill="hold">
                                          <p:stCondLst>
                                            <p:cond delay="0"/>
                                          </p:stCondLst>
                                        </p:cTn>
                                        <p:tgtEl>
                                          <p:spTgt spid="77"/>
                                        </p:tgtEl>
                                        <p:attrNameLst>
                                          <p:attrName>style.visibility</p:attrName>
                                        </p:attrNameLst>
                                      </p:cBhvr>
                                      <p:to>
                                        <p:strVal val="visible"/>
                                      </p:to>
                                    </p:set>
                                    <p:animEffect transition="in" filter="wipe(right)">
                                      <p:cBhvr>
                                        <p:cTn id="51" dur="500"/>
                                        <p:tgtEl>
                                          <p:spTgt spid="7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78"/>
                                        </p:tgtEl>
                                        <p:attrNameLst>
                                          <p:attrName>style.visibility</p:attrName>
                                        </p:attrNameLst>
                                      </p:cBhvr>
                                      <p:to>
                                        <p:strVal val="visible"/>
                                      </p:to>
                                    </p:set>
                                    <p:animEffect transition="in" filter="wipe(left)">
                                      <p:cBhvr>
                                        <p:cTn id="56" dur="500"/>
                                        <p:tgtEl>
                                          <p:spTgt spid="78"/>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dissolve">
                                      <p:cBhvr>
                                        <p:cTn id="6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utoUpdateAnimBg="0"/>
      <p:bldP spid="71" grpId="0" autoUpdateAnimBg="0"/>
      <p:bldP spid="73" grpId="0" autoUpdateAnimBg="0"/>
      <p:bldP spid="75" grpId="0" autoUpdateAnimBg="0"/>
      <p:bldP spid="9"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80345" y="261078"/>
            <a:ext cx="10834510" cy="894622"/>
          </a:xfrm>
        </p:spPr>
        <p:txBody>
          <a:bodyPr>
            <a:normAutofit/>
          </a:bodyPr>
          <a:lstStyle/>
          <a:p>
            <a:r>
              <a:rPr lang="en-US" sz="4800" dirty="0"/>
              <a:t>Fairness: must all network apps be “fair”?</a:t>
            </a:r>
            <a:endParaRPr lang="en-US" sz="4400" b="0" dirty="0"/>
          </a:p>
        </p:txBody>
      </p:sp>
      <p:sp>
        <p:nvSpPr>
          <p:cNvPr id="30" name="Rectangle 3">
            <a:extLst>
              <a:ext uri="{FF2B5EF4-FFF2-40B4-BE49-F238E27FC236}">
                <a16:creationId xmlns:a16="http://schemas.microsoft.com/office/drawing/2014/main" id="{BC3F9D5B-2A52-F04E-8551-FB9FA3EB2D43}"/>
              </a:ext>
            </a:extLst>
          </p:cNvPr>
          <p:cNvSpPr txBox="1">
            <a:spLocks noChangeArrowheads="1"/>
          </p:cNvSpPr>
          <p:nvPr/>
        </p:nvSpPr>
        <p:spPr>
          <a:xfrm>
            <a:off x="749300" y="1219200"/>
            <a:ext cx="5207000" cy="46482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and UDP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multimedia apps often do not use TCP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 not want rate throttled by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instead use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audio/video at constant rate, tolerate packet loss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there is no “Internet police” policing use of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4">
            <a:extLst>
              <a:ext uri="{FF2B5EF4-FFF2-40B4-BE49-F238E27FC236}">
                <a16:creationId xmlns:a16="http://schemas.microsoft.com/office/drawing/2014/main" id="{87BD890A-15A2-C240-921B-F2A9B54123D0}"/>
              </a:ext>
            </a:extLst>
          </p:cNvPr>
          <p:cNvSpPr txBox="1">
            <a:spLocks noChangeArrowheads="1"/>
          </p:cNvSpPr>
          <p:nvPr/>
        </p:nvSpPr>
        <p:spPr>
          <a:xfrm>
            <a:off x="6210301" y="1193800"/>
            <a:ext cx="5575300" cy="5067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parallel TCP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application can open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multiple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parallel connections between two 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web browsers do this , e.g., link of rate R with 9 existing connections: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 TCP, gets rate R/10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11 TCPs, gets R/2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3FCF3160-EC3C-DC4B-A6F8-97BCA1C983A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139</a:t>
            </a:fld>
            <a:endParaRPr lang="en-US" dirty="0"/>
          </a:p>
        </p:txBody>
      </p:sp>
    </p:spTree>
    <p:extLst>
      <p:ext uri="{BB962C8B-B14F-4D97-AF65-F5344CB8AC3E}">
        <p14:creationId xmlns:p14="http://schemas.microsoft.com/office/powerpoint/2010/main" val="966755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ssolv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140</a:t>
            </a:fld>
            <a:endParaRPr lang="en-US" dirty="0"/>
          </a:p>
        </p:txBody>
      </p:sp>
      <p:pic>
        <p:nvPicPr>
          <p:cNvPr id="6" name="Picture 5">
            <a:extLst>
              <a:ext uri="{FF2B5EF4-FFF2-40B4-BE49-F238E27FC236}">
                <a16:creationId xmlns:a16="http://schemas.microsoft.com/office/drawing/2014/main" id="{B5217D21-27CC-7A47-BB4E-CFF70DA5C97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23820195"/>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25500" y="1489243"/>
            <a:ext cx="10515600" cy="987257"/>
          </a:xfrm>
        </p:spPr>
        <p:txBody>
          <a:bodyPr>
            <a:normAutofit/>
          </a:bodyPr>
          <a:lstStyle/>
          <a:p>
            <a:pPr>
              <a:spcBef>
                <a:spcPts val="600"/>
              </a:spcBef>
            </a:pPr>
            <a:r>
              <a:rPr lang="en-US" dirty="0"/>
              <a:t>TCP, UDP: principal transport protocols for 40 years</a:t>
            </a:r>
            <a:endParaRPr lang="en-US" sz="2600" dirty="0"/>
          </a:p>
          <a:p>
            <a:pPr>
              <a:spcBef>
                <a:spcPts val="600"/>
              </a:spcBef>
            </a:pPr>
            <a:r>
              <a:rPr lang="en-US" dirty="0"/>
              <a:t>different “flavors” of TCP developed, for specific scenarios:</a:t>
            </a:r>
            <a:endParaRPr lang="en-US" sz="2600" dirty="0"/>
          </a:p>
          <a:p>
            <a:pPr marL="463550" lvl="1"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b="0" dirty="0"/>
              <a:t>Evolving transport-layer functionality</a:t>
            </a:r>
            <a:endParaRPr lang="en-US" sz="4400" b="0" dirty="0"/>
          </a:p>
        </p:txBody>
      </p:sp>
      <p:sp>
        <p:nvSpPr>
          <p:cNvPr id="5" name="Content Placeholder 3">
            <a:extLst>
              <a:ext uri="{FF2B5EF4-FFF2-40B4-BE49-F238E27FC236}">
                <a16:creationId xmlns:a16="http://schemas.microsoft.com/office/drawing/2014/main" id="{45FE7A73-4472-5C4F-8062-0327803AB9C7}"/>
              </a:ext>
            </a:extLst>
          </p:cNvPr>
          <p:cNvSpPr txBox="1">
            <a:spLocks/>
          </p:cNvSpPr>
          <p:nvPr/>
        </p:nvSpPr>
        <p:spPr>
          <a:xfrm>
            <a:off x="787400" y="4953000"/>
            <a:ext cx="10515600" cy="1485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moving transport–layer functions to application layer, on top of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HTTP/3: QUIC</a:t>
            </a:r>
          </a:p>
        </p:txBody>
      </p:sp>
      <p:graphicFrame>
        <p:nvGraphicFramePr>
          <p:cNvPr id="10" name="Table 9">
            <a:extLst>
              <a:ext uri="{FF2B5EF4-FFF2-40B4-BE49-F238E27FC236}">
                <a16:creationId xmlns:a16="http://schemas.microsoft.com/office/drawing/2014/main" id="{FDDAA714-AEA1-4F44-A514-E68A84833FFD}"/>
              </a:ext>
            </a:extLst>
          </p:cNvPr>
          <p:cNvGraphicFramePr>
            <a:graphicFrameLocks noGrp="1"/>
          </p:cNvGraphicFramePr>
          <p:nvPr/>
        </p:nvGraphicFramePr>
        <p:xfrm>
          <a:off x="2124074" y="2591594"/>
          <a:ext cx="7921626" cy="2438400"/>
        </p:xfrm>
        <a:graphic>
          <a:graphicData uri="http://schemas.openxmlformats.org/drawingml/2006/table">
            <a:tbl>
              <a:tblPr firstRow="1" firstCol="1" bandRow="1"/>
              <a:tblGrid>
                <a:gridCol w="3451226">
                  <a:extLst>
                    <a:ext uri="{9D8B030D-6E8A-4147-A177-3AD203B41FA5}">
                      <a16:colId xmlns:a16="http://schemas.microsoft.com/office/drawing/2014/main" val="934503476"/>
                    </a:ext>
                  </a:extLst>
                </a:gridCol>
                <a:gridCol w="4470400">
                  <a:extLst>
                    <a:ext uri="{9D8B030D-6E8A-4147-A177-3AD203B41FA5}">
                      <a16:colId xmlns:a16="http://schemas.microsoft.com/office/drawing/2014/main" val="597467060"/>
                    </a:ext>
                  </a:extLst>
                </a:gridCol>
              </a:tblGrid>
              <a:tr h="0">
                <a:tc>
                  <a:txBody>
                    <a:bodyPr/>
                    <a:lstStyle/>
                    <a:p>
                      <a:pPr marL="0" marR="0">
                        <a:spcBef>
                          <a:spcPts val="0"/>
                        </a:spcBef>
                        <a:spcAft>
                          <a:spcPts val="0"/>
                        </a:spcAft>
                      </a:pPr>
                      <a:r>
                        <a:rPr lang="en-US" sz="20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Scenario</a:t>
                      </a:r>
                      <a:endParaRPr lang="en-US" sz="12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marL="0" marR="0">
                        <a:spcBef>
                          <a:spcPts val="0"/>
                        </a:spcBef>
                        <a:spcAft>
                          <a:spcPts val="0"/>
                        </a:spcAft>
                      </a:pPr>
                      <a:r>
                        <a:rPr lang="en-US" sz="2000" dirty="0">
                          <a:solidFill>
                            <a:srgbClr val="FFFFFF"/>
                          </a:solidFill>
                          <a:effectLst/>
                          <a:latin typeface="Calibri" panose="020F0502020204030204" pitchFamily="34" charset="0"/>
                          <a:ea typeface="Calibri" panose="020F0502020204030204" pitchFamily="34" charset="0"/>
                          <a:cs typeface="Times New Roman" panose="02020603050405020304" pitchFamily="18" charset="0"/>
                        </a:rPr>
                        <a:t>Challenges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extLst>
                  <a:ext uri="{0D108BD9-81ED-4DB2-BD59-A6C34878D82A}">
                    <a16:rowId xmlns:a16="http://schemas.microsoft.com/office/drawing/2014/main" val="3750764183"/>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 fat pipes (large data transfers)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Many packets “in flight”; loss shuts down pipeline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94948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Wireless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Loss due to noisy wireless links, mobility; TCP treat this as congestion loss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712956"/>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Long-delay links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Extremely long RTTs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24286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Data center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Latency sensitive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7012720"/>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Background traffic flows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Low priority, “background” TCP flows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71502626"/>
                  </a:ext>
                </a:extLst>
              </a:tr>
            </a:tbl>
          </a:graphicData>
        </a:graphic>
      </p:graphicFrame>
      <p:sp>
        <p:nvSpPr>
          <p:cNvPr id="6" name="Slide Number Placeholder 2">
            <a:extLst>
              <a:ext uri="{FF2B5EF4-FFF2-40B4-BE49-F238E27FC236}">
                <a16:creationId xmlns:a16="http://schemas.microsoft.com/office/drawing/2014/main" id="{82B6E534-05AF-3F4E-8ECD-9B33089B5A3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141</a:t>
            </a:fld>
            <a:endParaRPr lang="en-US" dirty="0"/>
          </a:p>
        </p:txBody>
      </p:sp>
    </p:spTree>
    <p:extLst>
      <p:ext uri="{BB962C8B-B14F-4D97-AF65-F5344CB8AC3E}">
        <p14:creationId xmlns:p14="http://schemas.microsoft.com/office/powerpoint/2010/main" val="1135670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dissolve">
                                      <p:cBhvr>
                                        <p:cTn id="12" dur="500"/>
                                        <p:tgtEl>
                                          <p:spTgt spid="4">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4" name="Slide Number Placeholder 2">
            <a:extLst>
              <a:ext uri="{FF2B5EF4-FFF2-40B4-BE49-F238E27FC236}">
                <a16:creationId xmlns:a16="http://schemas.microsoft.com/office/drawing/2014/main" id="{FD449AB4-BB35-4340-ACBD-E3F11043366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142</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we’ve studied in this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Content Placeholder 6">
            <a:extLst>
              <a:ext uri="{FF2B5EF4-FFF2-40B4-BE49-F238E27FC236}">
                <a16:creationId xmlns:a16="http://schemas.microsoft.com/office/drawing/2014/main" id="{3777E4FE-DA5A-4E48-B610-6339C350A768}"/>
              </a:ext>
            </a:extLst>
          </p:cNvPr>
          <p:cNvSpPr>
            <a:spLocks noGrp="1"/>
          </p:cNvSpPr>
          <p:nvPr>
            <p:ph idx="1"/>
          </p:nvPr>
        </p:nvSpPr>
        <p:spPr>
          <a:xfrm>
            <a:off x="806805" y="4750865"/>
            <a:ext cx="10651413" cy="1675335"/>
          </a:xfrm>
        </p:spPr>
        <p:txBody>
          <a:bodyPr>
            <a:normAutofit/>
          </a:bodyPr>
          <a:lstStyle/>
          <a:p>
            <a:r>
              <a:rPr lang="en-US" dirty="0"/>
              <a:t> multiple application-level “streams” multiplexed over single QUIC connection</a:t>
            </a:r>
          </a:p>
          <a:p>
            <a:pPr lvl="1"/>
            <a:r>
              <a:rPr lang="en-US" dirty="0"/>
              <a:t>separate reliable data transfer, security</a:t>
            </a:r>
          </a:p>
          <a:p>
            <a:pPr lvl="1"/>
            <a:r>
              <a:rPr lang="en-US" dirty="0"/>
              <a:t>common congestion control</a:t>
            </a:r>
          </a:p>
          <a:p>
            <a:endParaRPr lang="en-US" dirty="0"/>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Slide Number Placeholder 2">
            <a:extLst>
              <a:ext uri="{FF2B5EF4-FFF2-40B4-BE49-F238E27FC236}">
                <a16:creationId xmlns:a16="http://schemas.microsoft.com/office/drawing/2014/main" id="{4E07038B-ED19-5842-A33E-2BCFB11646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143</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bldLvl="2"/>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110">
              <a:extLst>
                <a:ext uri="{FF2B5EF4-FFF2-40B4-BE49-F238E27FC236}">
                  <a16:creationId xmlns:a16="http://schemas.microsoft.com/office/drawing/2014/main" id="{142BBA39-1F6E-E049-B451-16DA815897F9}"/>
                </a:ext>
              </a:extLst>
            </p:cNvPr>
            <p:cNvSpPr txBox="1">
              <a:spLocks noChangeArrowheads="1"/>
            </p:cNvSpPr>
            <p:nvPr/>
          </p:nvSpPr>
          <p:spPr bwMode="auto">
            <a:xfrm>
              <a:off x="6385541" y="2649364"/>
              <a:ext cx="1701107"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handshake</a:t>
              </a: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5" name="Slide Number Placeholder 2">
            <a:extLst>
              <a:ext uri="{FF2B5EF4-FFF2-40B4-BE49-F238E27FC236}">
                <a16:creationId xmlns:a16="http://schemas.microsoft.com/office/drawing/2014/main" id="{85D67011-CAAC-B04E-97F1-C640602C28E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144</a:t>
            </a:fld>
            <a:endParaRPr lang="en-US" dirty="0"/>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 streams: parallelism, no HOL blocking</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 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HTTP/2 with QUIC: no HOL blocking</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145</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Chapter 3: summary</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146</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p>
          <a:p>
            <a:pPr marL="393700" indent="-263525">
              <a:buFont typeface="Wingdings" charset="2"/>
              <a:buChar char="§"/>
              <a:defRPr/>
            </a:pPr>
            <a:r>
              <a:rPr lang="en-US" sz="3200" dirty="0"/>
              <a:t>instantiation, implementation in the Internet</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Up next:</a:t>
            </a:r>
          </a:p>
          <a:p>
            <a:pPr marL="393700" indent="-266700"/>
            <a:r>
              <a:rPr lang="en-US" altLang="en-US" sz="3200" dirty="0">
                <a:ea typeface="ＭＳ Ｐゴシック" panose="020B0600070205080204" pitchFamily="34" charset="-128"/>
              </a:rPr>
              <a:t>leaving the network </a:t>
            </a:r>
            <a:r>
              <a:rPr lang="en-US" altLang="ja-JP" sz="3200" dirty="0">
                <a:ea typeface="ＭＳ Ｐゴシック" panose="020B0600070205080204" pitchFamily="34" charset="-128"/>
              </a:rPr>
              <a:t>“edge” </a:t>
            </a:r>
            <a:r>
              <a:rPr lang="en-US" altLang="ja-JP" dirty="0">
                <a:ea typeface="ＭＳ Ｐゴシック" panose="020B0600070205080204" pitchFamily="34" charset="-128"/>
              </a:rPr>
              <a:t>(application, transport layers)</a:t>
            </a:r>
          </a:p>
          <a:p>
            <a:pPr marL="393700" indent="-266700"/>
            <a:r>
              <a:rPr lang="en-US" altLang="en-US" sz="3200" dirty="0">
                <a:ea typeface="ＭＳ Ｐゴシック" panose="020B0600070205080204" pitchFamily="34" charset="-128"/>
              </a:rPr>
              <a:t>into the network “</a:t>
            </a:r>
            <a:r>
              <a:rPr lang="en-US" altLang="ja-JP" sz="3200" dirty="0">
                <a:ea typeface="ＭＳ Ｐゴシック" panose="020B0600070205080204" pitchFamily="34" charset="-128"/>
              </a:rPr>
              <a:t>core”</a:t>
            </a:r>
          </a:p>
          <a:p>
            <a:pPr marL="393700" indent="-266700"/>
            <a:r>
              <a:rPr lang="en-US" altLang="en-US" sz="3200" dirty="0">
                <a:ea typeface="ＭＳ Ｐゴシック" panose="020B0600070205080204" pitchFamily="34" charset="-128"/>
              </a:rPr>
              <a:t>two network-layer chapters</a:t>
            </a:r>
            <a:r>
              <a:rPr lang="en-US" altLang="en-US" dirty="0">
                <a:ea typeface="ＭＳ Ｐゴシック" panose="020B0600070205080204" pitchFamily="34" charset="-128"/>
              </a:rPr>
              <a:t>:</a:t>
            </a:r>
          </a:p>
          <a:p>
            <a:pPr lvl="1"/>
            <a:r>
              <a:rPr lang="en-US" altLang="en-US" sz="2800" dirty="0">
                <a:ea typeface="ＭＳ Ｐゴシック" panose="020B0600070205080204" pitchFamily="34" charset="-128"/>
              </a:rPr>
              <a:t>data plane</a:t>
            </a:r>
          </a:p>
          <a:p>
            <a:pPr lvl="1"/>
            <a:r>
              <a:rPr lang="en-US" altLang="en-US" sz="2800" dirty="0">
                <a:ea typeface="ＭＳ Ｐゴシック" panose="020B0600070205080204" pitchFamily="34" charset="-128"/>
              </a:rPr>
              <a:t>control plane</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9317</TotalTime>
  <Words>15139</Words>
  <Application>Microsoft Office PowerPoint</Application>
  <PresentationFormat>Widescreen</PresentationFormat>
  <Paragraphs>3097</Paragraphs>
  <Slides>146</Slides>
  <Notes>142</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146</vt:i4>
      </vt:variant>
    </vt:vector>
  </HeadingPairs>
  <TitlesOfParts>
    <vt:vector size="162" baseType="lpstr">
      <vt:lpstr>ＭＳ Ｐゴシック</vt:lpstr>
      <vt:lpstr>Arial</vt:lpstr>
      <vt:lpstr>Arial Narrow</vt:lpstr>
      <vt:lpstr>Calibri</vt:lpstr>
      <vt:lpstr>Comic Sans MS</vt:lpstr>
      <vt:lpstr>Courier</vt:lpstr>
      <vt:lpstr>Courier New</vt:lpstr>
      <vt:lpstr>Courier Std</vt:lpstr>
      <vt:lpstr>Gill Sans MT</vt:lpstr>
      <vt:lpstr>Symbol</vt:lpstr>
      <vt:lpstr>Tahoma</vt:lpstr>
      <vt:lpstr>Times New Roman</vt:lpstr>
      <vt:lpstr>Wingdings</vt:lpstr>
      <vt:lpstr>Wingdings 3</vt:lpstr>
      <vt:lpstr>Office Theme</vt:lpstr>
      <vt:lpstr>Picture</vt:lpstr>
      <vt:lpstr>PowerPoint Presentation</vt:lpstr>
      <vt:lpstr>Transport layer: overview</vt:lpstr>
      <vt:lpstr>Transport layer: roadmap</vt:lpstr>
      <vt:lpstr>Transport services and protocols</vt:lpstr>
      <vt:lpstr>Transport vs. network layer services and protocols</vt:lpstr>
      <vt:lpstr>Transport vs. network layer services and protocols</vt:lpstr>
      <vt:lpstr>Transport Layer Actions</vt:lpstr>
      <vt:lpstr>Transport Layer Actions</vt:lpstr>
      <vt:lpstr>Two principal Internet transport protocols</vt:lpstr>
      <vt:lpstr>Chapter 3: roadmap</vt:lpstr>
      <vt:lpstr>Multiplexing/demultiplexing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How demultiplexing works</vt:lpstr>
      <vt:lpstr>Connectionless demultiplexing</vt:lpstr>
      <vt:lpstr>Connectionless demultiplexing: an example</vt:lpstr>
      <vt:lpstr>Connection-oriented demultiplexing</vt:lpstr>
      <vt:lpstr>Connection-oriented demultiplexing: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Internet checksum</vt:lpstr>
      <vt:lpstr>Internet checksum: an example</vt:lpstr>
      <vt:lpstr>Internet checksum: weak protection!</vt:lpstr>
      <vt:lpstr>Summary: UDP</vt:lpstr>
      <vt:lpstr>Chapter 3: roadmap</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rdt2.0: channel with bit errors</vt:lpstr>
      <vt:lpstr>rdt2.0: channel with bit errors</vt:lpstr>
      <vt:lpstr>rdt2.0: FSM specifications</vt:lpstr>
      <vt:lpstr>rdt2.0: FSM specification</vt:lpstr>
      <vt:lpstr>rdt2.0: operation with no errors</vt:lpstr>
      <vt:lpstr>rdt2.0: corrupted packet scenario</vt:lpstr>
      <vt:lpstr>rdt2.0 has a fatal flaw!</vt:lpstr>
      <vt:lpstr>rdt2.1: sender, handling garbled ACK/NAKs</vt:lpstr>
      <vt:lpstr>rdt2.1: receiver, handling garbled ACK/NAKs</vt:lpstr>
      <vt:lpstr>rdt2.1: discussion</vt:lpstr>
      <vt:lpstr>rdt2.2: a NAK-free protocol</vt:lpstr>
      <vt:lpstr>rdt2.2: sender, receiver fragments</vt:lpstr>
      <vt:lpstr>rdt3.0: channels with errors and loss</vt:lpstr>
      <vt:lpstr>rdt3.0: channels with errors and loss</vt:lpstr>
      <vt:lpstr>rdt3.0 sender</vt:lpstr>
      <vt:lpstr>rdt3.0 sender</vt:lpstr>
      <vt:lpstr>rdt3.0 in action</vt:lpstr>
      <vt:lpstr>rdt3.0 in action</vt:lpstr>
      <vt:lpstr>Performance of rdt3.0 (stop-and-wait)</vt:lpstr>
      <vt:lpstr>rdt3.0: stop-and-wait operation</vt:lpstr>
      <vt:lpstr>rdt3.0: stop-and-wait operation</vt:lpstr>
      <vt:lpstr>rdt3.0: pipelined protocols operation</vt:lpstr>
      <vt:lpstr>Pipelining: increased utilization</vt:lpstr>
      <vt:lpstr>Go-Back-N: sender</vt:lpstr>
      <vt:lpstr>Go-Back-N: receiver</vt:lpstr>
      <vt:lpstr>Go-Back-N in action</vt:lpstr>
      <vt:lpstr>Selective repeat: the approach</vt:lpstr>
      <vt:lpstr>Selective repeat: sender, receiver windows</vt:lpstr>
      <vt:lpstr>Selective repeat: sender and receiver</vt:lpstr>
      <vt:lpstr>Selective Repeat in action</vt:lpstr>
      <vt:lpstr>Selective repeat:  a dilemma!</vt:lpstr>
      <vt:lpstr>Selective repeat:  a dilemma!</vt:lpstr>
      <vt:lpstr>Chapter 3: roadmap</vt:lpstr>
      <vt:lpstr>TCP: overview  RFCs: 793,1122, 2018, 5681, 7323</vt:lpstr>
      <vt:lpstr>TCP segment structure</vt:lpstr>
      <vt:lpstr>TCP sequence numbers, ACKs</vt:lpstr>
      <vt:lpstr>TCP sequence numbers, ACKs</vt:lpstr>
      <vt:lpstr>TCP round trip time, timeout</vt:lpstr>
      <vt:lpstr>TCP round trip time, timeout</vt:lpstr>
      <vt:lpstr>TCP round trip time, timeout</vt:lpstr>
      <vt:lpstr>TCP Sender (simplified)</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TCP connection management</vt:lpstr>
      <vt:lpstr>Agreeing to establish a connection</vt:lpstr>
      <vt:lpstr>2-way handshake scenarios</vt:lpstr>
      <vt:lpstr>2-way handshake scenarios</vt:lpstr>
      <vt:lpstr>2-way handshake scenarios</vt:lpstr>
      <vt:lpstr>TCP 3-way handshake</vt:lpstr>
      <vt:lpstr>A human 3-way handshake protocol</vt:lpstr>
      <vt:lpstr>Closing a TCP connection</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3</vt:lpstr>
      <vt:lpstr>Causes/costs of congestion: scenario 3</vt:lpstr>
      <vt:lpstr>Causes/costs of congestion: insights</vt:lpstr>
      <vt:lpstr>Approaches towards congestion control</vt:lpstr>
      <vt:lpstr>Approaches towards congestion control</vt:lpstr>
      <vt:lpstr>Chapter 3: roadmap</vt:lpstr>
      <vt:lpstr>TCP congestion control: AIMD</vt:lpstr>
      <vt:lpstr>TCP AIMD: more</vt:lpstr>
      <vt:lpstr>TCP congestion control: details</vt:lpstr>
      <vt:lpstr>TCP slow start </vt:lpstr>
      <vt:lpstr>TCP: from slow start to congestion avoidance</vt:lpstr>
      <vt:lpstr>Summary: TCP congestion control</vt:lpstr>
      <vt:lpstr>TCP CUBIC</vt:lpstr>
      <vt:lpstr>TCP CUBIC</vt:lpstr>
      <vt:lpstr>TCP and the congested “bottleneck link”</vt:lpstr>
      <vt:lpstr>TCP and the congested “bottleneck link”</vt:lpstr>
      <vt:lpstr>Delay-based TCP congestion control</vt:lpstr>
      <vt:lpstr>Delay-based TCP congestion control</vt:lpstr>
      <vt:lpstr>Explicit congestion notification (ECN)</vt:lpstr>
      <vt:lpstr>TCP fairness</vt:lpstr>
      <vt:lpstr>Q: is TCP Fair?</vt:lpstr>
      <vt:lpstr>Fairness: must all network apps be “fair”?</vt:lpstr>
      <vt:lpstr>Transport layer: roadmap</vt:lpstr>
      <vt:lpstr>Evolving transport-layer functionality</vt:lpstr>
      <vt:lpstr>QUIC: Quick UDP Internet Connections</vt:lpstr>
      <vt:lpstr>QUIC: Quick UDP Internet Connections</vt:lpstr>
      <vt:lpstr>QUIC: Connection establishment</vt:lpstr>
      <vt:lpstr>QUIC: streams: parallelism, no HOL blocking</vt:lpstr>
      <vt:lpstr>Chapter 3: summary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Mohamed Mahfouz Mohamed Elmogy</cp:lastModifiedBy>
  <cp:revision>414</cp:revision>
  <dcterms:created xsi:type="dcterms:W3CDTF">2020-01-18T07:24:59Z</dcterms:created>
  <dcterms:modified xsi:type="dcterms:W3CDTF">2024-11-10T03:52:02Z</dcterms:modified>
</cp:coreProperties>
</file>